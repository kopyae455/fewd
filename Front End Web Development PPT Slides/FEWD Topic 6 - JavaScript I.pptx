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50" r:id="rId5"/>
  </p:sldMasterIdLst>
  <p:notesMasterIdLst>
    <p:notesMasterId r:id="rId56"/>
  </p:notesMasterIdLst>
  <p:handoutMasterIdLst>
    <p:handoutMasterId r:id="rId57"/>
  </p:handoutMasterIdLst>
  <p:sldIdLst>
    <p:sldId id="261" r:id="rId6"/>
    <p:sldId id="263" r:id="rId7"/>
    <p:sldId id="365" r:id="rId8"/>
    <p:sldId id="343" r:id="rId9"/>
    <p:sldId id="372" r:id="rId10"/>
    <p:sldId id="259" r:id="rId11"/>
    <p:sldId id="260" r:id="rId12"/>
    <p:sldId id="275" r:id="rId13"/>
    <p:sldId id="276" r:id="rId14"/>
    <p:sldId id="277" r:id="rId15"/>
    <p:sldId id="373" r:id="rId16"/>
    <p:sldId id="278" r:id="rId17"/>
    <p:sldId id="279" r:id="rId18"/>
    <p:sldId id="280" r:id="rId19"/>
    <p:sldId id="281" r:id="rId20"/>
    <p:sldId id="374" r:id="rId21"/>
    <p:sldId id="283" r:id="rId22"/>
    <p:sldId id="284" r:id="rId23"/>
    <p:sldId id="285" r:id="rId24"/>
    <p:sldId id="309" r:id="rId25"/>
    <p:sldId id="375" r:id="rId26"/>
    <p:sldId id="288" r:id="rId27"/>
    <p:sldId id="289" r:id="rId28"/>
    <p:sldId id="290" r:id="rId29"/>
    <p:sldId id="291" r:id="rId30"/>
    <p:sldId id="292" r:id="rId31"/>
    <p:sldId id="376" r:id="rId32"/>
    <p:sldId id="293" r:id="rId33"/>
    <p:sldId id="294" r:id="rId34"/>
    <p:sldId id="296" r:id="rId35"/>
    <p:sldId id="377" r:id="rId36"/>
    <p:sldId id="298" r:id="rId37"/>
    <p:sldId id="299" r:id="rId38"/>
    <p:sldId id="300" r:id="rId39"/>
    <p:sldId id="301" r:id="rId40"/>
    <p:sldId id="378" r:id="rId41"/>
    <p:sldId id="302" r:id="rId42"/>
    <p:sldId id="303" r:id="rId43"/>
    <p:sldId id="306" r:id="rId44"/>
    <p:sldId id="379" r:id="rId45"/>
    <p:sldId id="351" r:id="rId46"/>
    <p:sldId id="352" r:id="rId47"/>
    <p:sldId id="353" r:id="rId48"/>
    <p:sldId id="357" r:id="rId49"/>
    <p:sldId id="360" r:id="rId50"/>
    <p:sldId id="361" r:id="rId51"/>
    <p:sldId id="362" r:id="rId52"/>
    <p:sldId id="363" r:id="rId53"/>
    <p:sldId id="268" r:id="rId54"/>
    <p:sldId id="262" r:id="rId5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13EB4E-260D-2BEF-3741-5FE299C88150}" name="Liew Pei Ling" initials="PL" userId="S::peiling.liew@nccedu.com::c3090c8e-0726-43ba-95b9-123e980a216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929"/>
    <a:srgbClr val="CB9535"/>
    <a:srgbClr val="974F8E"/>
    <a:srgbClr val="28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422E82-9A26-434B-A985-DDA981F52567}" v="10" dt="2024-03-07T06:49:49.922"/>
  </p1510:revLst>
</p1510:revInfo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1"/>
    <p:restoredTop sz="94648"/>
  </p:normalViewPr>
  <p:slideViewPr>
    <p:cSldViewPr>
      <p:cViewPr varScale="1">
        <p:scale>
          <a:sx n="85" d="100"/>
          <a:sy n="85" d="100"/>
        </p:scale>
        <p:origin x="1614" y="84"/>
      </p:cViewPr>
      <p:guideLst>
        <p:guide orient="horz" pos="2160"/>
        <p:guide pos="2880"/>
        <p:guide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notesMaster" Target="notesMasters/notesMaster1.xml"/><Relationship Id="rId64" Type="http://schemas.microsoft.com/office/2018/10/relationships/authors" Target="author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5C422E82-9A26-434B-A985-DDA981F52567}"/>
    <pc:docChg chg="custSel delSld modSld modMainMaster">
      <pc:chgData name="Liew Pei Ling" userId="c3090c8e-0726-43ba-95b9-123e980a216d" providerId="ADAL" clId="{5C422E82-9A26-434B-A985-DDA981F52567}" dt="2024-03-07T07:19:09.897" v="52" actId="20577"/>
      <pc:docMkLst>
        <pc:docMk/>
      </pc:docMkLst>
      <pc:sldChg chg="modSp mod">
        <pc:chgData name="Liew Pei Ling" userId="c3090c8e-0726-43ba-95b9-123e980a216d" providerId="ADAL" clId="{5C422E82-9A26-434B-A985-DDA981F52567}" dt="2024-03-07T06:44:57.660" v="2" actId="20577"/>
        <pc:sldMkLst>
          <pc:docMk/>
          <pc:sldMk cId="0" sldId="261"/>
        </pc:sldMkLst>
        <pc:spChg chg="mod">
          <ac:chgData name="Liew Pei Ling" userId="c3090c8e-0726-43ba-95b9-123e980a216d" providerId="ADAL" clId="{5C422E82-9A26-434B-A985-DDA981F52567}" dt="2024-03-07T06:44:57.660" v="2" actId="20577"/>
          <ac:spMkLst>
            <pc:docMk/>
            <pc:sldMk cId="0" sldId="261"/>
            <ac:spMk id="6146" creationId="{B92E9123-B563-D6DD-C45D-AD0533731733}"/>
          </ac:spMkLst>
        </pc:spChg>
      </pc:sldChg>
      <pc:sldChg chg="modSp mod">
        <pc:chgData name="Liew Pei Ling" userId="c3090c8e-0726-43ba-95b9-123e980a216d" providerId="ADAL" clId="{5C422E82-9A26-434B-A985-DDA981F52567}" dt="2024-03-07T06:50:16.339" v="35" actId="20577"/>
        <pc:sldMkLst>
          <pc:docMk/>
          <pc:sldMk cId="0" sldId="262"/>
        </pc:sldMkLst>
        <pc:spChg chg="mod">
          <ac:chgData name="Liew Pei Ling" userId="c3090c8e-0726-43ba-95b9-123e980a216d" providerId="ADAL" clId="{5C422E82-9A26-434B-A985-DDA981F52567}" dt="2024-03-07T06:50:16.339" v="35" actId="20577"/>
          <ac:spMkLst>
            <pc:docMk/>
            <pc:sldMk cId="0" sldId="262"/>
            <ac:spMk id="55298" creationId="{E7BF2860-1287-3FA3-C88B-D4CF0D491AB0}"/>
          </ac:spMkLst>
        </pc:spChg>
      </pc:sldChg>
      <pc:sldChg chg="addSp delSp modSp mod">
        <pc:chgData name="Liew Pei Ling" userId="c3090c8e-0726-43ba-95b9-123e980a216d" providerId="ADAL" clId="{5C422E82-9A26-434B-A985-DDA981F52567}" dt="2024-03-07T06:50:09.742" v="31" actId="5793"/>
        <pc:sldMkLst>
          <pc:docMk/>
          <pc:sldMk cId="0" sldId="268"/>
        </pc:sldMkLst>
        <pc:spChg chg="add del mod">
          <ac:chgData name="Liew Pei Ling" userId="c3090c8e-0726-43ba-95b9-123e980a216d" providerId="ADAL" clId="{5C422E82-9A26-434B-A985-DDA981F52567}" dt="2024-03-07T06:49:49.147" v="26" actId="478"/>
          <ac:spMkLst>
            <pc:docMk/>
            <pc:sldMk cId="0" sldId="268"/>
            <ac:spMk id="2" creationId="{1FD4FCCE-D31E-338F-EE26-C09C44EAF84A}"/>
          </ac:spMkLst>
        </pc:spChg>
        <pc:spChg chg="add mod">
          <ac:chgData name="Liew Pei Ling" userId="c3090c8e-0726-43ba-95b9-123e980a216d" providerId="ADAL" clId="{5C422E82-9A26-434B-A985-DDA981F52567}" dt="2024-03-07T06:50:09.742" v="31" actId="5793"/>
          <ac:spMkLst>
            <pc:docMk/>
            <pc:sldMk cId="0" sldId="268"/>
            <ac:spMk id="3" creationId="{A264E5C1-9971-805C-7B1B-6C5409C56F32}"/>
          </ac:spMkLst>
        </pc:spChg>
        <pc:spChg chg="del">
          <ac:chgData name="Liew Pei Ling" userId="c3090c8e-0726-43ba-95b9-123e980a216d" providerId="ADAL" clId="{5C422E82-9A26-434B-A985-DDA981F52567}" dt="2024-03-07T06:49:43.631" v="25" actId="478"/>
          <ac:spMkLst>
            <pc:docMk/>
            <pc:sldMk cId="0" sldId="268"/>
            <ac:spMk id="54275" creationId="{28F72205-D412-0ABE-63CC-4CFAD9B6587E}"/>
          </ac:spMkLst>
        </pc:spChg>
      </pc:sldChg>
      <pc:sldChg chg="del">
        <pc:chgData name="Liew Pei Ling" userId="c3090c8e-0726-43ba-95b9-123e980a216d" providerId="ADAL" clId="{5C422E82-9A26-434B-A985-DDA981F52567}" dt="2024-03-07T06:49:22.717" v="24" actId="47"/>
        <pc:sldMkLst>
          <pc:docMk/>
          <pc:sldMk cId="0" sldId="270"/>
        </pc:sldMkLst>
      </pc:sldChg>
      <pc:sldChg chg="modSp mod delCm">
        <pc:chgData name="Liew Pei Ling" userId="c3090c8e-0726-43ba-95b9-123e980a216d" providerId="ADAL" clId="{5C422E82-9A26-434B-A985-DDA981F52567}" dt="2024-03-07T06:48:13.182" v="16"/>
        <pc:sldMkLst>
          <pc:docMk/>
          <pc:sldMk cId="0" sldId="290"/>
        </pc:sldMkLst>
        <pc:graphicFrameChg chg="mod modGraphic">
          <ac:chgData name="Liew Pei Ling" userId="c3090c8e-0726-43ba-95b9-123e980a216d" providerId="ADAL" clId="{5C422E82-9A26-434B-A985-DDA981F52567}" dt="2024-03-07T06:48:13.182" v="16"/>
          <ac:graphicFrameMkLst>
            <pc:docMk/>
            <pc:sldMk cId="0" sldId="290"/>
            <ac:graphicFrameMk id="26" creationId="{6E60B3D0-8FD3-1890-6582-D015E5785E02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Liew Pei Ling" userId="c3090c8e-0726-43ba-95b9-123e980a216d" providerId="ADAL" clId="{5C422E82-9A26-434B-A985-DDA981F52567}" dt="2024-03-07T06:47:44.598" v="10"/>
              <pc2:cmMkLst xmlns:pc2="http://schemas.microsoft.com/office/powerpoint/2019/9/main/command">
                <pc:docMk/>
                <pc:sldMk cId="0" sldId="290"/>
                <pc2:cmMk id="{F2990F6E-6AB9-4D6F-A5B8-7B9E270C0983}"/>
              </pc2:cmMkLst>
            </pc226:cmChg>
          </p:ext>
        </pc:extLst>
      </pc:sldChg>
      <pc:sldChg chg="modSp mod">
        <pc:chgData name="Liew Pei Ling" userId="c3090c8e-0726-43ba-95b9-123e980a216d" providerId="ADAL" clId="{5C422E82-9A26-434B-A985-DDA981F52567}" dt="2024-03-07T06:45:22.212" v="8" actId="20577"/>
        <pc:sldMkLst>
          <pc:docMk/>
          <pc:sldMk cId="0" sldId="343"/>
        </pc:sldMkLst>
        <pc:graphicFrameChg chg="mod modGraphic">
          <ac:chgData name="Liew Pei Ling" userId="c3090c8e-0726-43ba-95b9-123e980a216d" providerId="ADAL" clId="{5C422E82-9A26-434B-A985-DDA981F52567}" dt="2024-03-07T06:45:22.212" v="8" actId="20577"/>
          <ac:graphicFrameMkLst>
            <pc:docMk/>
            <pc:sldMk cId="0" sldId="343"/>
            <ac:graphicFrameMk id="4" creationId="{0C746561-63CC-B6AA-4311-3584172B2E92}"/>
          </ac:graphicFrameMkLst>
        </pc:graphicFrameChg>
      </pc:sldChg>
      <pc:sldChg chg="modSp mod">
        <pc:chgData name="Liew Pei Ling" userId="c3090c8e-0726-43ba-95b9-123e980a216d" providerId="ADAL" clId="{5C422E82-9A26-434B-A985-DDA981F52567}" dt="2024-03-07T06:45:04.345" v="3" actId="313"/>
        <pc:sldMkLst>
          <pc:docMk/>
          <pc:sldMk cId="0" sldId="365"/>
        </pc:sldMkLst>
        <pc:spChg chg="mod">
          <ac:chgData name="Liew Pei Ling" userId="c3090c8e-0726-43ba-95b9-123e980a216d" providerId="ADAL" clId="{5C422E82-9A26-434B-A985-DDA981F52567}" dt="2024-03-07T06:45:04.345" v="3" actId="313"/>
          <ac:spMkLst>
            <pc:docMk/>
            <pc:sldMk cId="0" sldId="365"/>
            <ac:spMk id="12291" creationId="{A9FD8E16-8302-4D06-F730-BC71E9A84CE8}"/>
          </ac:spMkLst>
        </pc:spChg>
      </pc:sldChg>
      <pc:sldChg chg="del">
        <pc:chgData name="Liew Pei Ling" userId="c3090c8e-0726-43ba-95b9-123e980a216d" providerId="ADAL" clId="{5C422E82-9A26-434B-A985-DDA981F52567}" dt="2024-03-07T06:45:25.327" v="9" actId="47"/>
        <pc:sldMkLst>
          <pc:docMk/>
          <pc:sldMk cId="0" sldId="371"/>
        </pc:sldMkLst>
      </pc:sldChg>
      <pc:sldChg chg="addSp delSp modSp mod modNotesTx">
        <pc:chgData name="Liew Pei Ling" userId="c3090c8e-0726-43ba-95b9-123e980a216d" providerId="ADAL" clId="{5C422E82-9A26-434B-A985-DDA981F52567}" dt="2024-03-07T06:49:03.389" v="23"/>
        <pc:sldMkLst>
          <pc:docMk/>
          <pc:sldMk cId="3633349829" sldId="378"/>
        </pc:sldMkLst>
        <pc:spChg chg="del">
          <ac:chgData name="Liew Pei Ling" userId="c3090c8e-0726-43ba-95b9-123e980a216d" providerId="ADAL" clId="{5C422E82-9A26-434B-A985-DDA981F52567}" dt="2024-03-07T06:48:34.523" v="17" actId="478"/>
          <ac:spMkLst>
            <pc:docMk/>
            <pc:sldMk cId="3633349829" sldId="378"/>
            <ac:spMk id="3" creationId="{F879FE67-FD3B-5DBD-91CC-322D26177E00}"/>
          </ac:spMkLst>
        </pc:spChg>
        <pc:spChg chg="add mod">
          <ac:chgData name="Liew Pei Ling" userId="c3090c8e-0726-43ba-95b9-123e980a216d" providerId="ADAL" clId="{5C422E82-9A26-434B-A985-DDA981F52567}" dt="2024-03-07T06:48:47.766" v="20" actId="1076"/>
          <ac:spMkLst>
            <pc:docMk/>
            <pc:sldMk cId="3633349829" sldId="378"/>
            <ac:spMk id="4" creationId="{B43CA8C7-D916-19C5-61E8-F28A7FC03F5E}"/>
          </ac:spMkLst>
        </pc:spChg>
        <pc:spChg chg="add mod">
          <ac:chgData name="Liew Pei Ling" userId="c3090c8e-0726-43ba-95b9-123e980a216d" providerId="ADAL" clId="{5C422E82-9A26-434B-A985-DDA981F52567}" dt="2024-03-07T06:48:56.916" v="22"/>
          <ac:spMkLst>
            <pc:docMk/>
            <pc:sldMk cId="3633349829" sldId="378"/>
            <ac:spMk id="5" creationId="{DB44E138-5293-DCE4-D777-F23A0A723061}"/>
          </ac:spMkLst>
        </pc:spChg>
      </pc:sldChg>
      <pc:sldMasterChg chg="modSp mod">
        <pc:chgData name="Liew Pei Ling" userId="c3090c8e-0726-43ba-95b9-123e980a216d" providerId="ADAL" clId="{5C422E82-9A26-434B-A985-DDA981F52567}" dt="2024-03-07T07:19:09.897" v="52" actId="20577"/>
        <pc:sldMasterMkLst>
          <pc:docMk/>
          <pc:sldMasterMk cId="0" sldId="2147483648"/>
        </pc:sldMasterMkLst>
        <pc:spChg chg="mod">
          <ac:chgData name="Liew Pei Ling" userId="c3090c8e-0726-43ba-95b9-123e980a216d" providerId="ADAL" clId="{5C422E82-9A26-434B-A985-DDA981F52567}" dt="2024-03-07T07:19:09.897" v="52" actId="20577"/>
          <ac:spMkLst>
            <pc:docMk/>
            <pc:sldMasterMk cId="0" sldId="2147483648"/>
            <ac:spMk id="2" creationId="{BB6D4CB8-5CE2-FBBD-0C27-6FE3500A3AD7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651E271-928B-A38D-8951-B5CD40B9974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615D07F-813D-A6F9-1087-E91926ED944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8874A337-993E-868A-3AC7-9E102838F81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90EA6662-E873-5927-E292-A71BA8512F3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A13C7CEE-1449-4E61-9491-16E9915444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EF72025-D940-85B3-9614-86B21F2178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0641F78-2FC1-7A20-92F8-AE4B10AB68D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0C2F82E-408A-E4A5-8343-44F9B76BD83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D29D499-7FD6-8765-1501-F8A3F7616FF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733F5D5-107A-DBC2-494E-681ACAD038C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850CF9C3-D92C-7261-9A60-7DD89B70A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149C30-3645-4284-85EE-588B39AE21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4A493736-F652-12C6-0BD4-2699E30653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F2BE750-C235-4BB5-AC22-47FD53ADD492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67ED9EA-785C-4DE6-143A-8EFD7F2CB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83370B8-616E-F476-DCA3-FEF32E87F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81191150-8079-0B27-1D02-44BB7D8A97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34B5C6-47FD-401A-AE5E-05462FEDC617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7AE0236-2B27-1E80-077F-9EB1D5A8C8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F30171D7-6EEC-D812-BF73-380627A37F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149C30-3645-4284-85EE-588B39AE2150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019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 C) &lt;script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src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="xxx.js"&gt;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 C) alert("Hello World");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 C) function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myFunction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149C30-3645-4284-85EE-588B39AE2150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511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920A0B0-0786-B55F-BBF3-99998C70C7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FD06546-10F5-403F-AB7F-044A0BA0263D}" type="slidenum">
              <a:rPr lang="en-US" altLang="en-US" sz="1200" smtClean="0"/>
              <a:pPr/>
              <a:t>50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E5134E0-C362-E437-3456-15DA83D7F5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D8D3D81B-867E-0D83-9885-1199224A6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D1C5B1FA-2E70-90BA-00E3-C5718C8F8E6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439025" y="6616700"/>
            <a:ext cx="1684338" cy="242888"/>
            <a:chOff x="4513" y="4156"/>
            <a:chExt cx="1061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BBE24DD3-90AA-3A54-92E7-E6AB5ACDF7B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73" cy="1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881180FA-5132-F841-8582-FE3C9125CC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95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2D73605D-150B-642F-3C92-02DAEA5CD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962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124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4143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845717"/>
            <a:ext cx="4351338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845717"/>
            <a:ext cx="4352925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9420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518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46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32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82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44824"/>
            <a:ext cx="5111750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019276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023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2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179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0050" y="404813"/>
            <a:ext cx="2214563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8" y="404813"/>
            <a:ext cx="6494462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926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10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6C17C509-512B-44BB-8AE7-452A0725E34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1ADADBF3-B929-26CE-489A-3878A8A51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188" y="115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BB6D4CB8-5CE2-FBBD-0C27-6FE3500A3AD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35700" y="0"/>
            <a:ext cx="2908300" cy="2413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JavaScript I Topic 6 - 6.</a:t>
            </a:r>
            <a:fld id="{04804ADB-324F-4209-B752-000FD38E46AB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3A8968EF-4844-C0D0-54DC-99FE711415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846263"/>
            <a:ext cx="88566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  <p:sldLayoutId id="214748401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6588460A-3B62-6E18-BACA-6A4FBB7857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34BF13B6-1279-DE4E-5A35-4A810578C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798763"/>
            <a:ext cx="548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2052" name="Rectangle 15">
            <a:extLst>
              <a:ext uri="{FF2B5EF4-FFF2-40B4-BE49-F238E27FC236}">
                <a16:creationId xmlns:a16="http://schemas.microsoft.com/office/drawing/2014/main" id="{873315C8-7357-7290-7E84-3E6A86774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35150" y="3794125"/>
            <a:ext cx="5486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B92E9123-B563-D6DD-C45D-AD0533731733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779838" y="4365625"/>
            <a:ext cx="4968626" cy="965200"/>
          </a:xfrm>
        </p:spPr>
        <p:txBody>
          <a:bodyPr/>
          <a:lstStyle/>
          <a:p>
            <a:pPr algn="ctr" eaLnBrk="1" hangingPunct="1"/>
            <a:r>
              <a:rPr lang="en-GB" altLang="en-US" sz="1600" b="1" i="0" dirty="0">
                <a:solidFill>
                  <a:schemeClr val="bg1"/>
                </a:solidFill>
                <a:latin typeface="Arial" panose="020B0604020202020204" pitchFamily="34" charset="0"/>
              </a:rPr>
              <a:t>Front End Web Development</a:t>
            </a:r>
          </a:p>
          <a:p>
            <a:pPr algn="ctr" eaLnBrk="1" hangingPunct="1"/>
            <a:r>
              <a:rPr lang="en-GB" altLang="en-US" sz="1600" b="1" i="0" dirty="0">
                <a:solidFill>
                  <a:schemeClr val="bg1"/>
                </a:solidFill>
                <a:latin typeface="Arial" panose="020B0604020202020204" pitchFamily="34" charset="0"/>
              </a:rPr>
              <a:t>Topic 6: </a:t>
            </a:r>
          </a:p>
          <a:p>
            <a:pPr algn="ctr" eaLnBrk="1" hangingPunct="1"/>
            <a:r>
              <a:rPr lang="en-US" altLang="en-US" sz="1600" b="1" i="0" dirty="0">
                <a:solidFill>
                  <a:schemeClr val="bg1"/>
                </a:solidFill>
                <a:latin typeface="Arial" panose="020B0604020202020204" pitchFamily="34" charset="0"/>
              </a:rPr>
              <a:t>JavaScript  I</a:t>
            </a:r>
            <a:endParaRPr lang="en-US" altLang="en-US" sz="1600" i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174959F2-7EEB-3B75-5654-DE5AF6A33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Scope and Coverage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54B4D964-70E7-1C17-033F-F6EB19A3B8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556792"/>
            <a:ext cx="8856663" cy="4319587"/>
          </a:xfrm>
        </p:spPr>
        <p:txBody>
          <a:bodyPr/>
          <a:lstStyle/>
          <a:p>
            <a:pPr eaLnBrk="1" hangingPunct="1"/>
            <a:r>
              <a:rPr lang="en-GB" altLang="en-US" dirty="0"/>
              <a:t>This topic will cover: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JavaScript introduction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Data types 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Variable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Operators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Functions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Popup boxes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Objects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4C7B031C-689A-52ED-A749-2FF7EBECB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Learning Outcomes</a:t>
            </a:r>
            <a:endParaRPr lang="en-US" altLang="en-US"/>
          </a:p>
        </p:txBody>
      </p:sp>
      <p:sp>
        <p:nvSpPr>
          <p:cNvPr id="12291" name="Rectangle 5">
            <a:extLst>
              <a:ext uri="{FF2B5EF4-FFF2-40B4-BE49-F238E27FC236}">
                <a16:creationId xmlns:a16="http://schemas.microsoft.com/office/drawing/2014/main" id="{A9FD8E16-8302-4D06-F730-BC71E9A84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557338"/>
            <a:ext cx="8856662" cy="4319587"/>
          </a:xfrm>
        </p:spPr>
        <p:txBody>
          <a:bodyPr/>
          <a:lstStyle/>
          <a:p>
            <a:pPr eaLnBrk="1" hangingPunct="1"/>
            <a:r>
              <a:rPr lang="en-GB" altLang="en-US" sz="2800" dirty="0"/>
              <a:t>By the end of this topic students will be able to:</a:t>
            </a:r>
          </a:p>
          <a:p>
            <a:pPr lvl="1" eaLnBrk="1" hangingPunct="1"/>
            <a:r>
              <a:rPr lang="en-GB" altLang="en-US" sz="2400" dirty="0">
                <a:latin typeface="Arial" panose="020B0604020202020204" pitchFamily="34" charset="0"/>
              </a:rPr>
              <a:t>Gain an understanding of JavaScript programming language</a:t>
            </a:r>
          </a:p>
          <a:p>
            <a:pPr lvl="1" eaLnBrk="1" hangingPunct="1"/>
            <a:r>
              <a:rPr lang="en-GB" altLang="en-US" sz="2400" dirty="0">
                <a:latin typeface="Arial" panose="020B0604020202020204" pitchFamily="34" charset="0"/>
              </a:rPr>
              <a:t>Build interactive webpages and dynamic webpages using JavaScript</a:t>
            </a:r>
          </a:p>
          <a:p>
            <a:pPr lvl="1" eaLnBrk="1" hangingPunct="1"/>
            <a:r>
              <a:rPr lang="en-GB" altLang="en-US" sz="2400" dirty="0">
                <a:latin typeface="Arial" panose="020B0604020202020204" pitchFamily="34" charset="0"/>
              </a:rPr>
              <a:t>Write  and apply JavaScript programming skills for building dynamic and interactive sites</a:t>
            </a:r>
          </a:p>
          <a:p>
            <a:pPr lvl="1" eaLnBrk="1" hangingPunct="1"/>
            <a:r>
              <a:rPr lang="en-GB" altLang="en-US" sz="2400" dirty="0">
                <a:latin typeface="Arial" panose="020B0604020202020204" pitchFamily="34" charset="0"/>
              </a:rPr>
              <a:t>Explain the different concepts of JavaScript including data types, variables, operators, and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C5ADD14D-A630-90C3-81B1-8DF900479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Unit Roadmap</a:t>
            </a:r>
            <a:endParaRPr lang="en-GB" alt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746561-63CC-B6AA-4311-3584172B2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157526"/>
              </p:ext>
            </p:extLst>
          </p:nvPr>
        </p:nvGraphicFramePr>
        <p:xfrm>
          <a:off x="323528" y="1484784"/>
          <a:ext cx="8564885" cy="4575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4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84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409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7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16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I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84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II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90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Review  and Testing. and Collaboration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0" marR="3857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843"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b="1" kern="1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GB" sz="2000" b="1" kern="1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b="1" kern="1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2000" b="1" kern="1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27" marR="51427" marT="25711" marB="2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DB0039-BD12-FD94-C8C0-311B961E0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60CF3-99DA-0507-9B84-804CEFF5E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388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6D0CB1-2CBF-24B0-2D32-E380CD540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260" dirty="0"/>
              <a:t>What</a:t>
            </a:r>
            <a:r>
              <a:rPr spc="-185" dirty="0"/>
              <a:t> </a:t>
            </a:r>
            <a:r>
              <a:rPr spc="105" dirty="0"/>
              <a:t>is</a:t>
            </a:r>
            <a:r>
              <a:rPr spc="-180" dirty="0"/>
              <a:t> </a:t>
            </a:r>
            <a:r>
              <a:rPr spc="185" dirty="0"/>
              <a:t>JavaScript?</a:t>
            </a:r>
            <a:endParaRPr dirty="0"/>
          </a:p>
        </p:txBody>
      </p:sp>
      <p:sp>
        <p:nvSpPr>
          <p:cNvPr id="12292" name="object 3">
            <a:extLst>
              <a:ext uri="{FF2B5EF4-FFF2-40B4-BE49-F238E27FC236}">
                <a16:creationId xmlns:a16="http://schemas.microsoft.com/office/drawing/2014/main" id="{6168C79E-ADB0-825F-7D7A-7139696E6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5" y="1628800"/>
            <a:ext cx="8492877" cy="365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3975" rIns="0" bIns="0">
            <a:spAutoFit/>
          </a:bodyPr>
          <a:lstStyle>
            <a:lvl1pPr marL="355600" indent="-3429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425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JavaScript is the programming language of HTML and the Web.</a:t>
            </a: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JavaScript was introduced in 1995 as a way to add programs to web pages in the Netscape Navigator browser.</a:t>
            </a:r>
          </a:p>
          <a:p>
            <a:pPr>
              <a:spcBef>
                <a:spcPts val="325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The language has since been adopted by all other major graphical web browsers.</a:t>
            </a: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It has made modern web applications possible. Applications with which you can interact directly without doing a page reload for every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823BC0-061D-1DB4-C991-0220D559ED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320" dirty="0"/>
              <a:t>Why</a:t>
            </a:r>
            <a:r>
              <a:rPr spc="-185" dirty="0"/>
              <a:t> </a:t>
            </a:r>
            <a:r>
              <a:rPr spc="105" dirty="0"/>
              <a:t>Study</a:t>
            </a:r>
            <a:r>
              <a:rPr spc="-200" dirty="0"/>
              <a:t> </a:t>
            </a:r>
            <a:r>
              <a:rPr spc="185" dirty="0"/>
              <a:t>JavaScript?</a:t>
            </a:r>
            <a:endParaRPr dirty="0"/>
          </a:p>
        </p:txBody>
      </p:sp>
      <p:sp>
        <p:nvSpPr>
          <p:cNvPr id="13316" name="object 3">
            <a:extLst>
              <a:ext uri="{FF2B5EF4-FFF2-40B4-BE49-F238E27FC236}">
                <a16:creationId xmlns:a16="http://schemas.microsoft.com/office/drawing/2014/main" id="{1C98E521-6AD2-0164-6E5F-DEB1DDD88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556792"/>
            <a:ext cx="8259514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64135" rIns="0" bIns="0">
            <a:spAutoFit/>
          </a:bodyPr>
          <a:lstStyle>
            <a:lvl1pPr marL="355600" indent="-3429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1213" indent="-3175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4"/>
                </a:solidFill>
                <a:cs typeface="Arial" panose="020B0604020202020204" pitchFamily="34" charset="0"/>
              </a:rPr>
              <a:t>JavaScript is one of the 3 languages all web developers must learn:</a:t>
            </a:r>
          </a:p>
          <a:p>
            <a:pPr lvl="1">
              <a:spcBef>
                <a:spcPts val="313"/>
              </a:spcBef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cs typeface="Arial" panose="020B0604020202020204" pitchFamily="34" charset="0"/>
              </a:rPr>
              <a:t>HTML </a:t>
            </a: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to define the </a:t>
            </a:r>
            <a:r>
              <a:rPr lang="en-US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content </a:t>
            </a: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of web pages</a:t>
            </a:r>
          </a:p>
          <a:p>
            <a:pPr lvl="1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cs typeface="Arial" panose="020B0604020202020204" pitchFamily="34" charset="0"/>
              </a:rPr>
              <a:t>CSS </a:t>
            </a: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to specify the </a:t>
            </a:r>
            <a:r>
              <a:rPr lang="en-US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layout </a:t>
            </a: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of web pages</a:t>
            </a:r>
          </a:p>
          <a:p>
            <a:pPr lvl="1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2060"/>
                </a:solidFill>
                <a:cs typeface="Arial" panose="020B0604020202020204" pitchFamily="34" charset="0"/>
              </a:rPr>
              <a:t>JavaScript </a:t>
            </a: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to program the </a:t>
            </a:r>
            <a:r>
              <a:rPr lang="en-US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behaviour </a:t>
            </a: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of web pages</a:t>
            </a:r>
          </a:p>
          <a:p>
            <a:pPr>
              <a:spcBef>
                <a:spcPts val="263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4"/>
                </a:solidFill>
                <a:cs typeface="Arial" panose="020B0604020202020204" pitchFamily="34" charset="0"/>
              </a:rPr>
              <a:t>Web pages are not the only place where JavaScript is used.</a:t>
            </a:r>
          </a:p>
          <a:p>
            <a:pPr>
              <a:spcBef>
                <a:spcPts val="325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4"/>
                </a:solidFill>
                <a:cs typeface="Arial" panose="020B0604020202020204" pitchFamily="34" charset="0"/>
              </a:rPr>
              <a:t>Many desktop and server programs use JavaScript. Node.js is the best known.</a:t>
            </a: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4"/>
                </a:solidFill>
                <a:cs typeface="Arial" panose="020B0604020202020204" pitchFamily="34" charset="0"/>
              </a:rPr>
              <a:t>Some databases, like MongoDB and CouchDB, also use JavaScript as their programming 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028ADC-6506-D64B-0195-5B889F850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260" dirty="0"/>
              <a:t>What</a:t>
            </a:r>
            <a:r>
              <a:rPr spc="-175" dirty="0"/>
              <a:t> </a:t>
            </a:r>
            <a:r>
              <a:rPr spc="100" dirty="0"/>
              <a:t>Can</a:t>
            </a:r>
            <a:r>
              <a:rPr spc="-180" dirty="0"/>
              <a:t> </a:t>
            </a:r>
            <a:r>
              <a:rPr spc="180" dirty="0"/>
              <a:t>JavaScript</a:t>
            </a:r>
            <a:r>
              <a:rPr spc="-210" dirty="0"/>
              <a:t> </a:t>
            </a:r>
            <a:r>
              <a:rPr lang="en-GB" spc="-210" dirty="0"/>
              <a:t>(JS) </a:t>
            </a:r>
            <a:r>
              <a:rPr spc="140" dirty="0"/>
              <a:t>Do?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6AB5283-A2D8-43D5-F7B2-34A37FFD646C}"/>
              </a:ext>
            </a:extLst>
          </p:cNvPr>
          <p:cNvSpPr txBox="1"/>
          <p:nvPr/>
        </p:nvSpPr>
        <p:spPr>
          <a:xfrm>
            <a:off x="467544" y="1628800"/>
            <a:ext cx="8531671" cy="4473661"/>
          </a:xfrm>
          <a:prstGeom prst="rect">
            <a:avLst/>
          </a:prstGeom>
        </p:spPr>
        <p:txBody>
          <a:bodyPr wrap="square" lIns="0" tIns="64135" rIns="0" bIns="0">
            <a:spAutoFit/>
          </a:bodyPr>
          <a:lstStyle/>
          <a:p>
            <a:pPr marL="355600" indent="-342900">
              <a:spcBef>
                <a:spcPts val="5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pc="30" dirty="0">
                <a:solidFill>
                  <a:schemeClr val="accent4"/>
                </a:solidFill>
                <a:cs typeface="Arial" panose="020B0604020202020204" pitchFamily="34" charset="0"/>
              </a:rPr>
              <a:t>These</a:t>
            </a:r>
            <a:r>
              <a:rPr spc="-9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pc="-25" dirty="0">
                <a:solidFill>
                  <a:schemeClr val="accent4"/>
                </a:solidFill>
                <a:cs typeface="Arial" panose="020B0604020202020204" pitchFamily="34" charset="0"/>
              </a:rPr>
              <a:t>are</a:t>
            </a:r>
            <a:r>
              <a:rPr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pc="40" dirty="0">
                <a:solidFill>
                  <a:schemeClr val="accent4"/>
                </a:solidFill>
                <a:cs typeface="Arial" panose="020B0604020202020204" pitchFamily="34" charset="0"/>
              </a:rPr>
              <a:t>some</a:t>
            </a:r>
            <a:r>
              <a:rPr spc="-9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pc="-5" dirty="0">
                <a:solidFill>
                  <a:schemeClr val="accent4"/>
                </a:solidFill>
                <a:cs typeface="Arial" panose="020B0604020202020204" pitchFamily="34" charset="0"/>
              </a:rPr>
              <a:t>examples</a:t>
            </a:r>
            <a:r>
              <a:rPr spc="-9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pc="-50" dirty="0">
                <a:solidFill>
                  <a:schemeClr val="accent4"/>
                </a:solidFill>
                <a:cs typeface="Arial" panose="020B0604020202020204" pitchFamily="34" charset="0"/>
              </a:rPr>
              <a:t>of</a:t>
            </a:r>
            <a:r>
              <a:rPr spc="-9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pc="-50" dirty="0">
                <a:solidFill>
                  <a:schemeClr val="accent4"/>
                </a:solidFill>
                <a:cs typeface="Arial" panose="020B0604020202020204" pitchFamily="34" charset="0"/>
              </a:rPr>
              <a:t>what</a:t>
            </a:r>
            <a:r>
              <a:rPr spc="-9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pc="90" dirty="0">
                <a:solidFill>
                  <a:schemeClr val="accent4"/>
                </a:solidFill>
                <a:cs typeface="Arial" panose="020B0604020202020204" pitchFamily="34" charset="0"/>
              </a:rPr>
              <a:t>JS</a:t>
            </a:r>
            <a:r>
              <a:rPr spc="-9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dirty="0">
                <a:solidFill>
                  <a:schemeClr val="accent4"/>
                </a:solidFill>
                <a:cs typeface="Arial" panose="020B0604020202020204" pitchFamily="34" charset="0"/>
              </a:rPr>
              <a:t>can</a:t>
            </a:r>
            <a:r>
              <a:rPr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pc="45" dirty="0">
                <a:solidFill>
                  <a:schemeClr val="accent4"/>
                </a:solidFill>
                <a:cs typeface="Arial" panose="020B0604020202020204" pitchFamily="34" charset="0"/>
              </a:rPr>
              <a:t>do</a:t>
            </a:r>
            <a:r>
              <a:rPr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pc="-75" dirty="0">
                <a:solidFill>
                  <a:schemeClr val="accent4"/>
                </a:solidFill>
                <a:cs typeface="Arial" panose="020B0604020202020204" pitchFamily="34" charset="0"/>
              </a:rPr>
              <a:t>with</a:t>
            </a:r>
            <a:r>
              <a:rPr spc="-10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pc="5" dirty="0">
                <a:solidFill>
                  <a:schemeClr val="accent4"/>
                </a:solidFill>
                <a:cs typeface="Arial" panose="020B0604020202020204" pitchFamily="34" charset="0"/>
              </a:rPr>
              <a:t>HTML:</a:t>
            </a:r>
            <a:endParaRPr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 marL="837565" lvl="1" indent="-342900"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812165" algn="l"/>
                <a:tab pos="812800" algn="l"/>
              </a:tabLst>
              <a:defRPr/>
            </a:pPr>
            <a:r>
              <a:rPr sz="2000" spc="70" dirty="0">
                <a:solidFill>
                  <a:schemeClr val="accent4"/>
                </a:solidFill>
                <a:cs typeface="Arial" panose="020B0604020202020204" pitchFamily="34" charset="0"/>
              </a:rPr>
              <a:t>JS</a:t>
            </a:r>
            <a:r>
              <a:rPr sz="2000" spc="-8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4"/>
                </a:solidFill>
                <a:cs typeface="Arial" panose="020B0604020202020204" pitchFamily="34" charset="0"/>
              </a:rPr>
              <a:t>can</a:t>
            </a:r>
            <a:r>
              <a:rPr sz="2000"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25" dirty="0">
                <a:solidFill>
                  <a:schemeClr val="accent4"/>
                </a:solidFill>
                <a:cs typeface="Arial" panose="020B0604020202020204" pitchFamily="34" charset="0"/>
              </a:rPr>
              <a:t>change</a:t>
            </a:r>
            <a:r>
              <a:rPr sz="2000" spc="-10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55" dirty="0">
                <a:solidFill>
                  <a:schemeClr val="accent4"/>
                </a:solidFill>
                <a:cs typeface="Arial" panose="020B0604020202020204" pitchFamily="34" charset="0"/>
              </a:rPr>
              <a:t>HTML</a:t>
            </a:r>
            <a:r>
              <a:rPr sz="2000" spc="-7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b="1" spc="-30" dirty="0">
                <a:solidFill>
                  <a:srgbClr val="002060"/>
                </a:solidFill>
                <a:cs typeface="Arial" panose="020B0604020202020204" pitchFamily="34" charset="0"/>
              </a:rPr>
              <a:t>content</a:t>
            </a:r>
            <a:endParaRPr sz="2000" b="1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837565" lvl="1" indent="-342900"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812165" algn="l"/>
                <a:tab pos="812800" algn="l"/>
              </a:tabLst>
              <a:defRPr/>
            </a:pPr>
            <a:r>
              <a:rPr sz="2000" spc="-5" dirty="0">
                <a:solidFill>
                  <a:schemeClr val="accent4"/>
                </a:solidFill>
                <a:cs typeface="Arial" panose="020B0604020202020204" pitchFamily="34" charset="0"/>
              </a:rPr>
              <a:t>J</a:t>
            </a:r>
            <a:r>
              <a:rPr sz="2000" spc="145" dirty="0">
                <a:solidFill>
                  <a:schemeClr val="accent4"/>
                </a:solidFill>
                <a:cs typeface="Arial" panose="020B0604020202020204" pitchFamily="34" charset="0"/>
              </a:rPr>
              <a:t>S</a:t>
            </a:r>
            <a:r>
              <a:rPr sz="2000" spc="-7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4"/>
                </a:solidFill>
                <a:cs typeface="Arial" panose="020B0604020202020204" pitchFamily="34" charset="0"/>
              </a:rPr>
              <a:t>ca</a:t>
            </a:r>
            <a:r>
              <a:rPr sz="2000" spc="5" dirty="0">
                <a:solidFill>
                  <a:schemeClr val="accent4"/>
                </a:solidFill>
                <a:cs typeface="Arial" panose="020B0604020202020204" pitchFamily="34" charset="0"/>
              </a:rPr>
              <a:t>n</a:t>
            </a:r>
            <a:r>
              <a:rPr sz="2000" spc="-7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5" dirty="0">
                <a:solidFill>
                  <a:schemeClr val="accent4"/>
                </a:solidFill>
                <a:cs typeface="Arial" panose="020B0604020202020204" pitchFamily="34" charset="0"/>
              </a:rPr>
              <a:t>ch</a:t>
            </a:r>
            <a:r>
              <a:rPr sz="2000" spc="10" dirty="0">
                <a:solidFill>
                  <a:schemeClr val="accent4"/>
                </a:solidFill>
                <a:cs typeface="Arial" panose="020B0604020202020204" pitchFamily="34" charset="0"/>
              </a:rPr>
              <a:t>a</a:t>
            </a:r>
            <a:r>
              <a:rPr sz="2000" spc="-5" dirty="0">
                <a:solidFill>
                  <a:schemeClr val="accent4"/>
                </a:solidFill>
                <a:cs typeface="Arial" panose="020B0604020202020204" pitchFamily="34" charset="0"/>
              </a:rPr>
              <a:t>n</a:t>
            </a:r>
            <a:r>
              <a:rPr sz="2000" spc="65" dirty="0">
                <a:solidFill>
                  <a:schemeClr val="accent4"/>
                </a:solidFill>
                <a:cs typeface="Arial" panose="020B0604020202020204" pitchFamily="34" charset="0"/>
              </a:rPr>
              <a:t>ge</a:t>
            </a:r>
            <a:r>
              <a:rPr sz="2000" spc="-9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70" dirty="0">
                <a:solidFill>
                  <a:schemeClr val="accent4"/>
                </a:solidFill>
                <a:cs typeface="Arial" panose="020B0604020202020204" pitchFamily="34" charset="0"/>
              </a:rPr>
              <a:t>HTM</a:t>
            </a:r>
            <a:r>
              <a:rPr sz="2000" spc="5" dirty="0">
                <a:solidFill>
                  <a:schemeClr val="accent4"/>
                </a:solidFill>
                <a:cs typeface="Arial" panose="020B0604020202020204" pitchFamily="34" charset="0"/>
              </a:rPr>
              <a:t>L</a:t>
            </a:r>
            <a:r>
              <a:rPr sz="2000" spc="-6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lang="en-GB" sz="2000" b="1" spc="-30" dirty="0">
                <a:solidFill>
                  <a:srgbClr val="002060"/>
                </a:solidFill>
                <a:cs typeface="Arial" panose="020B0604020202020204" pitchFamily="34" charset="0"/>
              </a:rPr>
              <a:t>attribute </a:t>
            </a:r>
            <a:r>
              <a:rPr sz="2000" b="1" spc="-30" dirty="0">
                <a:solidFill>
                  <a:srgbClr val="002060"/>
                </a:solidFill>
                <a:cs typeface="Arial" panose="020B0604020202020204" pitchFamily="34" charset="0"/>
              </a:rPr>
              <a:t>values</a:t>
            </a:r>
          </a:p>
          <a:p>
            <a:pPr marL="837565" lvl="1" indent="-342900"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812165" algn="l"/>
                <a:tab pos="812800" algn="l"/>
              </a:tabLst>
              <a:defRPr/>
            </a:pPr>
            <a:r>
              <a:rPr sz="2000" spc="70" dirty="0">
                <a:solidFill>
                  <a:schemeClr val="accent4"/>
                </a:solidFill>
                <a:cs typeface="Arial" panose="020B0604020202020204" pitchFamily="34" charset="0"/>
              </a:rPr>
              <a:t>JS</a:t>
            </a:r>
            <a:r>
              <a:rPr sz="2000"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4"/>
                </a:solidFill>
                <a:cs typeface="Arial" panose="020B0604020202020204" pitchFamily="34" charset="0"/>
              </a:rPr>
              <a:t>can</a:t>
            </a:r>
            <a:r>
              <a:rPr sz="2000" spc="-7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25" dirty="0">
                <a:solidFill>
                  <a:schemeClr val="accent4"/>
                </a:solidFill>
                <a:cs typeface="Arial" panose="020B0604020202020204" pitchFamily="34" charset="0"/>
              </a:rPr>
              <a:t>change</a:t>
            </a:r>
            <a:r>
              <a:rPr sz="2000" spc="-9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55" dirty="0">
                <a:solidFill>
                  <a:schemeClr val="accent4"/>
                </a:solidFill>
                <a:cs typeface="Arial" panose="020B0604020202020204" pitchFamily="34" charset="0"/>
              </a:rPr>
              <a:t>HTML</a:t>
            </a:r>
            <a:r>
              <a:rPr sz="2000" spc="-6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b="1" spc="-30" dirty="0">
                <a:solidFill>
                  <a:srgbClr val="002060"/>
                </a:solidFill>
                <a:cs typeface="Arial" panose="020B0604020202020204" pitchFamily="34" charset="0"/>
              </a:rPr>
              <a:t>styles (CSS)</a:t>
            </a:r>
          </a:p>
          <a:p>
            <a:pPr marL="837565" lvl="1" indent="-342900">
              <a:spcBef>
                <a:spcPts val="250"/>
              </a:spcBef>
              <a:buFont typeface="Arial" panose="020B0604020202020204" pitchFamily="34" charset="0"/>
              <a:buChar char="•"/>
              <a:tabLst>
                <a:tab pos="812165" algn="l"/>
                <a:tab pos="812800" algn="l"/>
              </a:tabLst>
              <a:defRPr/>
            </a:pPr>
            <a:r>
              <a:rPr sz="2000" spc="75" dirty="0">
                <a:solidFill>
                  <a:schemeClr val="accent4"/>
                </a:solidFill>
                <a:cs typeface="Arial" panose="020B0604020202020204" pitchFamily="34" charset="0"/>
              </a:rPr>
              <a:t>JS</a:t>
            </a:r>
            <a:r>
              <a:rPr sz="2000"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5" dirty="0">
                <a:solidFill>
                  <a:schemeClr val="accent4"/>
                </a:solidFill>
                <a:cs typeface="Arial" panose="020B0604020202020204" pitchFamily="34" charset="0"/>
              </a:rPr>
              <a:t>can</a:t>
            </a:r>
            <a:r>
              <a:rPr sz="2000" spc="-7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002060"/>
                </a:solidFill>
                <a:cs typeface="Arial" panose="020B0604020202020204" pitchFamily="34" charset="0"/>
              </a:rPr>
              <a:t>hide</a:t>
            </a:r>
            <a:r>
              <a:rPr sz="2000" spc="-8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50" dirty="0">
                <a:solidFill>
                  <a:schemeClr val="accent4"/>
                </a:solidFill>
                <a:cs typeface="Arial" panose="020B0604020202020204" pitchFamily="34" charset="0"/>
              </a:rPr>
              <a:t>HTML</a:t>
            </a:r>
            <a:r>
              <a:rPr sz="2000"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-15" dirty="0">
                <a:solidFill>
                  <a:schemeClr val="accent4"/>
                </a:solidFill>
                <a:cs typeface="Arial" panose="020B0604020202020204" pitchFamily="34" charset="0"/>
              </a:rPr>
              <a:t>elements</a:t>
            </a:r>
            <a:endParaRPr sz="2000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 marL="837565" lvl="1" indent="-342900">
              <a:spcBef>
                <a:spcPts val="254"/>
              </a:spcBef>
              <a:buFont typeface="Arial" panose="020B0604020202020204" pitchFamily="34" charset="0"/>
              <a:buChar char="•"/>
              <a:tabLst>
                <a:tab pos="812165" algn="l"/>
                <a:tab pos="812800" algn="l"/>
              </a:tabLst>
              <a:defRPr/>
            </a:pPr>
            <a:r>
              <a:rPr sz="2000" spc="70" dirty="0">
                <a:solidFill>
                  <a:schemeClr val="accent4"/>
                </a:solidFill>
                <a:cs typeface="Arial" panose="020B0604020202020204" pitchFamily="34" charset="0"/>
              </a:rPr>
              <a:t>JS</a:t>
            </a:r>
            <a:r>
              <a:rPr sz="2000"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4"/>
                </a:solidFill>
                <a:cs typeface="Arial" panose="020B0604020202020204" pitchFamily="34" charset="0"/>
              </a:rPr>
              <a:t>can</a:t>
            </a:r>
            <a:r>
              <a:rPr sz="2000"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b="1" spc="30" dirty="0">
                <a:solidFill>
                  <a:srgbClr val="002060"/>
                </a:solidFill>
                <a:cs typeface="Arial" panose="020B0604020202020204" pitchFamily="34" charset="0"/>
              </a:rPr>
              <a:t>show</a:t>
            </a:r>
            <a:r>
              <a:rPr sz="2000" spc="-8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55" dirty="0">
                <a:solidFill>
                  <a:schemeClr val="accent4"/>
                </a:solidFill>
                <a:cs typeface="Arial" panose="020B0604020202020204" pitchFamily="34" charset="0"/>
              </a:rPr>
              <a:t>HTML</a:t>
            </a:r>
            <a:r>
              <a:rPr sz="2000"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-15" dirty="0">
                <a:solidFill>
                  <a:schemeClr val="accent4"/>
                </a:solidFill>
                <a:cs typeface="Arial" panose="020B0604020202020204" pitchFamily="34" charset="0"/>
              </a:rPr>
              <a:t>elements</a:t>
            </a:r>
            <a:endParaRPr sz="2000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 marL="837565" lvl="1" indent="-342900">
              <a:spcBef>
                <a:spcPts val="254"/>
              </a:spcBef>
              <a:buFont typeface="Arial" panose="020B0604020202020204" pitchFamily="34" charset="0"/>
              <a:buChar char="•"/>
              <a:tabLst>
                <a:tab pos="812165" algn="l"/>
                <a:tab pos="812800" algn="l"/>
              </a:tabLst>
              <a:defRPr/>
            </a:pPr>
            <a:r>
              <a:rPr lang="en-GB" sz="2000" b="1" spc="55" dirty="0">
                <a:solidFill>
                  <a:srgbClr val="002060"/>
                </a:solidFill>
                <a:cs typeface="Arial" panose="020B0604020202020204" pitchFamily="34" charset="0"/>
              </a:rPr>
              <a:t>React</a:t>
            </a:r>
            <a:r>
              <a:rPr lang="en-GB" sz="2000" b="1" spc="-70" dirty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GB" sz="2000" b="1" spc="55" dirty="0">
                <a:solidFill>
                  <a:srgbClr val="002060"/>
                </a:solidFill>
                <a:cs typeface="Arial" panose="020B0604020202020204" pitchFamily="34" charset="0"/>
              </a:rPr>
              <a:t>to</a:t>
            </a:r>
            <a:r>
              <a:rPr lang="en-GB" sz="2000" b="1" spc="-75" dirty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GB" sz="2000" b="1" spc="70" dirty="0">
                <a:solidFill>
                  <a:srgbClr val="002060"/>
                </a:solidFill>
                <a:cs typeface="Arial" panose="020B0604020202020204" pitchFamily="34" charset="0"/>
              </a:rPr>
              <a:t>events</a:t>
            </a:r>
            <a:r>
              <a:rPr lang="en-GB" sz="2000" b="1" spc="-90" dirty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sz="2000" spc="-35" dirty="0">
                <a:solidFill>
                  <a:schemeClr val="accent4"/>
                </a:solidFill>
                <a:cs typeface="Arial" panose="020B0604020202020204" pitchFamily="34" charset="0"/>
              </a:rPr>
              <a:t>(A</a:t>
            </a:r>
            <a:r>
              <a:rPr sz="2000" spc="-6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-35" dirty="0">
                <a:solidFill>
                  <a:schemeClr val="accent4"/>
                </a:solidFill>
                <a:cs typeface="Arial" panose="020B0604020202020204" pitchFamily="34" charset="0"/>
              </a:rPr>
              <a:t>button</a:t>
            </a:r>
            <a:r>
              <a:rPr sz="2000" spc="-6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4"/>
                </a:solidFill>
                <a:cs typeface="Arial" panose="020B0604020202020204" pitchFamily="34" charset="0"/>
              </a:rPr>
              <a:t>is</a:t>
            </a:r>
            <a:r>
              <a:rPr sz="2000" spc="-6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25" dirty="0">
                <a:solidFill>
                  <a:schemeClr val="accent4"/>
                </a:solidFill>
                <a:cs typeface="Arial" panose="020B0604020202020204" pitchFamily="34" charset="0"/>
              </a:rPr>
              <a:t>pressed</a:t>
            </a:r>
            <a:r>
              <a:rPr sz="2000" spc="-170" dirty="0">
                <a:solidFill>
                  <a:schemeClr val="accent4"/>
                </a:solidFill>
                <a:cs typeface="Arial" panose="020B0604020202020204" pitchFamily="34" charset="0"/>
              </a:rPr>
              <a:t>)</a:t>
            </a:r>
            <a:endParaRPr sz="2000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>
              <a:spcBef>
                <a:spcPts val="40"/>
              </a:spcBef>
              <a:defRPr/>
            </a:pPr>
            <a:endParaRPr sz="2000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 marL="38100">
              <a:spcBef>
                <a:spcPts val="5"/>
              </a:spcBef>
              <a:buSzPct val="77777"/>
              <a:tabLst>
                <a:tab pos="354965" algn="l"/>
                <a:tab pos="355600" algn="l"/>
              </a:tabLst>
              <a:defRPr/>
            </a:pPr>
            <a:r>
              <a:rPr sz="2000" dirty="0">
                <a:solidFill>
                  <a:schemeClr val="accent4"/>
                </a:solidFill>
                <a:cs typeface="Arial" panose="020B0604020202020204" pitchFamily="34" charset="0"/>
              </a:rPr>
              <a:t>For</a:t>
            </a:r>
            <a:r>
              <a:rPr sz="2000" spc="-13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spc="-45" dirty="0">
                <a:solidFill>
                  <a:schemeClr val="accent4"/>
                </a:solidFill>
                <a:cs typeface="Arial" panose="020B0604020202020204" pitchFamily="34" charset="0"/>
              </a:rPr>
              <a:t>example:</a:t>
            </a:r>
            <a:endParaRPr sz="2000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 marL="640081" lvl="1" indent="-285750">
              <a:spcBef>
                <a:spcPts val="315"/>
              </a:spcBef>
              <a:buFont typeface="Arial" panose="020B0604020202020204" pitchFamily="34" charset="0"/>
              <a:buChar char="•"/>
              <a:tabLst>
                <a:tab pos="465455" algn="l"/>
              </a:tabLst>
              <a:defRPr/>
            </a:pPr>
            <a:r>
              <a:rPr sz="2000" i="1" spc="50" dirty="0">
                <a:solidFill>
                  <a:schemeClr val="accent4"/>
                </a:solidFill>
                <a:cs typeface="Arial" panose="020B0604020202020204" pitchFamily="34" charset="0"/>
              </a:rPr>
              <a:t>Add</a:t>
            </a:r>
            <a:r>
              <a:rPr sz="2000" i="1" spc="-8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dirty="0">
                <a:solidFill>
                  <a:schemeClr val="accent4"/>
                </a:solidFill>
                <a:cs typeface="Arial" panose="020B0604020202020204" pitchFamily="34" charset="0"/>
              </a:rPr>
              <a:t>a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dirty="0">
                <a:solidFill>
                  <a:schemeClr val="accent4"/>
                </a:solidFill>
                <a:cs typeface="Arial" panose="020B0604020202020204" pitchFamily="34" charset="0"/>
              </a:rPr>
              <a:t>paragraph</a:t>
            </a:r>
            <a:r>
              <a:rPr sz="2000" i="1" spc="-10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35" dirty="0">
                <a:solidFill>
                  <a:schemeClr val="accent4"/>
                </a:solidFill>
                <a:cs typeface="Arial" panose="020B0604020202020204" pitchFamily="34" charset="0"/>
              </a:rPr>
              <a:t>of</a:t>
            </a:r>
            <a:r>
              <a:rPr sz="2000" i="1" spc="-5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75" dirty="0">
                <a:solidFill>
                  <a:schemeClr val="accent4"/>
                </a:solidFill>
                <a:cs typeface="Arial" panose="020B0604020202020204" pitchFamily="34" charset="0"/>
              </a:rPr>
              <a:t>text</a:t>
            </a:r>
            <a:r>
              <a:rPr sz="2000" i="1" spc="-7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65" dirty="0">
                <a:solidFill>
                  <a:schemeClr val="accent4"/>
                </a:solidFill>
                <a:cs typeface="Arial" panose="020B0604020202020204" pitchFamily="34" charset="0"/>
              </a:rPr>
              <a:t>after</a:t>
            </a:r>
            <a:r>
              <a:rPr sz="2000" i="1" spc="-6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40" dirty="0">
                <a:solidFill>
                  <a:schemeClr val="accent4"/>
                </a:solidFill>
                <a:cs typeface="Arial" panose="020B0604020202020204" pitchFamily="34" charset="0"/>
              </a:rPr>
              <a:t>the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70" dirty="0">
                <a:solidFill>
                  <a:schemeClr val="accent4"/>
                </a:solidFill>
                <a:cs typeface="Arial" panose="020B0604020202020204" pitchFamily="34" charset="0"/>
              </a:rPr>
              <a:t>first</a:t>
            </a:r>
            <a:r>
              <a:rPr sz="2000" i="1" spc="-6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45" dirty="0">
                <a:solidFill>
                  <a:schemeClr val="accent4"/>
                </a:solidFill>
                <a:cs typeface="Arial" panose="020B0604020202020204" pitchFamily="34" charset="0"/>
              </a:rPr>
              <a:t>&lt;hl&gt;</a:t>
            </a:r>
            <a:r>
              <a:rPr sz="2000" i="1" spc="-6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30" dirty="0">
                <a:solidFill>
                  <a:schemeClr val="accent4"/>
                </a:solidFill>
                <a:cs typeface="Arial" panose="020B0604020202020204" pitchFamily="34" charset="0"/>
              </a:rPr>
              <a:t>element</a:t>
            </a:r>
            <a:endParaRPr sz="2000" i="1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 marL="640081" lvl="1" indent="-285750">
              <a:spcBef>
                <a:spcPts val="254"/>
              </a:spcBef>
              <a:buFont typeface="Arial" panose="020B0604020202020204" pitchFamily="34" charset="0"/>
              <a:buChar char="•"/>
              <a:tabLst>
                <a:tab pos="465455" algn="l"/>
              </a:tabLst>
              <a:defRPr/>
            </a:pPr>
            <a:r>
              <a:rPr sz="2000" i="1" spc="40" dirty="0">
                <a:solidFill>
                  <a:schemeClr val="accent4"/>
                </a:solidFill>
                <a:cs typeface="Arial" panose="020B0604020202020204" pitchFamily="34" charset="0"/>
              </a:rPr>
              <a:t>Change</a:t>
            </a:r>
            <a:r>
              <a:rPr sz="2000" i="1" spc="-7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40" dirty="0">
                <a:solidFill>
                  <a:schemeClr val="accent4"/>
                </a:solidFill>
                <a:cs typeface="Arial" panose="020B0604020202020204" pitchFamily="34" charset="0"/>
              </a:rPr>
              <a:t>the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15" dirty="0">
                <a:solidFill>
                  <a:schemeClr val="accent4"/>
                </a:solidFill>
                <a:cs typeface="Arial" panose="020B0604020202020204" pitchFamily="34" charset="0"/>
              </a:rPr>
              <a:t>value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35" dirty="0">
                <a:solidFill>
                  <a:schemeClr val="accent4"/>
                </a:solidFill>
                <a:cs typeface="Arial" panose="020B0604020202020204" pitchFamily="34" charset="0"/>
              </a:rPr>
              <a:t>of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10" dirty="0">
                <a:solidFill>
                  <a:schemeClr val="accent4"/>
                </a:solidFill>
                <a:cs typeface="Arial" panose="020B0604020202020204" pitchFamily="34" charset="0"/>
              </a:rPr>
              <a:t>class</a:t>
            </a:r>
            <a:r>
              <a:rPr sz="2000" i="1" spc="-6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50" dirty="0">
                <a:solidFill>
                  <a:schemeClr val="accent4"/>
                </a:solidFill>
                <a:cs typeface="Arial" panose="020B0604020202020204" pitchFamily="34" charset="0"/>
              </a:rPr>
              <a:t>attributes</a:t>
            </a:r>
            <a:r>
              <a:rPr sz="2000" i="1" spc="-6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50" dirty="0">
                <a:solidFill>
                  <a:schemeClr val="accent4"/>
                </a:solidFill>
                <a:cs typeface="Arial" panose="020B0604020202020204" pitchFamily="34" charset="0"/>
              </a:rPr>
              <a:t>to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25" dirty="0">
                <a:solidFill>
                  <a:schemeClr val="accent4"/>
                </a:solidFill>
                <a:cs typeface="Arial" panose="020B0604020202020204" pitchFamily="34" charset="0"/>
              </a:rPr>
              <a:t>trigger</a:t>
            </a:r>
            <a:r>
              <a:rPr sz="2000" i="1" spc="-7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dirty="0">
                <a:solidFill>
                  <a:schemeClr val="accent4"/>
                </a:solidFill>
                <a:cs typeface="Arial" panose="020B0604020202020204" pitchFamily="34" charset="0"/>
              </a:rPr>
              <a:t>new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135" dirty="0">
                <a:solidFill>
                  <a:schemeClr val="accent4"/>
                </a:solidFill>
                <a:cs typeface="Arial" panose="020B0604020202020204" pitchFamily="34" charset="0"/>
              </a:rPr>
              <a:t>CSS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15" dirty="0">
                <a:solidFill>
                  <a:schemeClr val="accent4"/>
                </a:solidFill>
                <a:cs typeface="Arial" panose="020B0604020202020204" pitchFamily="34" charset="0"/>
              </a:rPr>
              <a:t>rules</a:t>
            </a:r>
            <a:r>
              <a:rPr sz="2000" i="1" spc="-7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50" dirty="0">
                <a:solidFill>
                  <a:schemeClr val="accent4"/>
                </a:solidFill>
                <a:cs typeface="Arial" panose="020B0604020202020204" pitchFamily="34" charset="0"/>
              </a:rPr>
              <a:t>for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dirty="0">
                <a:solidFill>
                  <a:schemeClr val="accent4"/>
                </a:solidFill>
                <a:cs typeface="Arial" panose="020B0604020202020204" pitchFamily="34" charset="0"/>
              </a:rPr>
              <a:t>those</a:t>
            </a:r>
            <a:r>
              <a:rPr sz="2000" i="1" spc="-7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15" dirty="0">
                <a:solidFill>
                  <a:schemeClr val="accent4"/>
                </a:solidFill>
                <a:cs typeface="Arial" panose="020B0604020202020204" pitchFamily="34" charset="0"/>
              </a:rPr>
              <a:t>elements</a:t>
            </a:r>
            <a:endParaRPr sz="2000" i="1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 marL="640081" lvl="1" indent="-285750">
              <a:spcBef>
                <a:spcPts val="250"/>
              </a:spcBef>
              <a:buFont typeface="Arial" panose="020B0604020202020204" pitchFamily="34" charset="0"/>
              <a:buChar char="•"/>
              <a:tabLst>
                <a:tab pos="465455" algn="l"/>
              </a:tabLst>
              <a:defRPr/>
            </a:pPr>
            <a:r>
              <a:rPr sz="2000" i="1" spc="40" dirty="0">
                <a:solidFill>
                  <a:schemeClr val="accent4"/>
                </a:solidFill>
                <a:cs typeface="Arial" panose="020B0604020202020204" pitchFamily="34" charset="0"/>
              </a:rPr>
              <a:t>Change</a:t>
            </a:r>
            <a:r>
              <a:rPr sz="2000" i="1" spc="-8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40" dirty="0">
                <a:solidFill>
                  <a:schemeClr val="accent4"/>
                </a:solidFill>
                <a:cs typeface="Arial" panose="020B0604020202020204" pitchFamily="34" charset="0"/>
              </a:rPr>
              <a:t>the</a:t>
            </a:r>
            <a:r>
              <a:rPr sz="2000" i="1" spc="-6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dirty="0">
                <a:solidFill>
                  <a:schemeClr val="accent4"/>
                </a:solidFill>
                <a:cs typeface="Arial" panose="020B0604020202020204" pitchFamily="34" charset="0"/>
              </a:rPr>
              <a:t>size</a:t>
            </a:r>
            <a:r>
              <a:rPr sz="2000" i="1" spc="-6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15" dirty="0">
                <a:solidFill>
                  <a:schemeClr val="accent4"/>
                </a:solidFill>
                <a:cs typeface="Arial" panose="020B0604020202020204" pitchFamily="34" charset="0"/>
              </a:rPr>
              <a:t>or</a:t>
            </a:r>
            <a:r>
              <a:rPr sz="2000" i="1" spc="-6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15" dirty="0">
                <a:solidFill>
                  <a:schemeClr val="accent4"/>
                </a:solidFill>
                <a:cs typeface="Arial" panose="020B0604020202020204" pitchFamily="34" charset="0"/>
              </a:rPr>
              <a:t>position</a:t>
            </a:r>
            <a:r>
              <a:rPr sz="2000" i="1" spc="-7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35" dirty="0">
                <a:solidFill>
                  <a:schemeClr val="accent4"/>
                </a:solidFill>
                <a:cs typeface="Arial" panose="020B0604020202020204" pitchFamily="34" charset="0"/>
              </a:rPr>
              <a:t>of</a:t>
            </a:r>
            <a:r>
              <a:rPr sz="2000" i="1" spc="-6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5" dirty="0">
                <a:solidFill>
                  <a:schemeClr val="accent4"/>
                </a:solidFill>
                <a:cs typeface="Arial" panose="020B0604020202020204" pitchFamily="34" charset="0"/>
              </a:rPr>
              <a:t>an</a:t>
            </a:r>
            <a:r>
              <a:rPr sz="2000" i="1" spc="-5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15" dirty="0">
                <a:solidFill>
                  <a:schemeClr val="accent4"/>
                </a:solidFill>
                <a:cs typeface="Arial" panose="020B0604020202020204" pitchFamily="34" charset="0"/>
              </a:rPr>
              <a:t>&lt;img&gt;</a:t>
            </a:r>
            <a:r>
              <a:rPr sz="2000" i="1" spc="-85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sz="2000" i="1" spc="-30" dirty="0">
                <a:solidFill>
                  <a:schemeClr val="accent4"/>
                </a:solidFill>
                <a:cs typeface="Arial" panose="020B0604020202020204" pitchFamily="34" charset="0"/>
              </a:rPr>
              <a:t>element</a:t>
            </a:r>
            <a:endParaRPr sz="2000" i="1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E76008-B86E-8C95-EBA0-8E2E769F4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225" dirty="0"/>
              <a:t>Where</a:t>
            </a:r>
            <a:r>
              <a:rPr spc="-185" dirty="0"/>
              <a:t> </a:t>
            </a:r>
            <a:r>
              <a:rPr spc="280" dirty="0"/>
              <a:t>To</a:t>
            </a:r>
            <a:r>
              <a:rPr spc="-170" dirty="0"/>
              <a:t> </a:t>
            </a:r>
            <a:r>
              <a:rPr spc="265" dirty="0"/>
              <a:t>Write</a:t>
            </a:r>
            <a:r>
              <a:rPr spc="-185" dirty="0"/>
              <a:t> </a:t>
            </a:r>
            <a:r>
              <a:rPr spc="285" dirty="0"/>
              <a:t>JS?</a:t>
            </a:r>
            <a:endParaRPr dirty="0"/>
          </a:p>
        </p:txBody>
      </p:sp>
      <p:sp>
        <p:nvSpPr>
          <p:cNvPr id="15364" name="object 3">
            <a:extLst>
              <a:ext uri="{FF2B5EF4-FFF2-40B4-BE49-F238E27FC236}">
                <a16:creationId xmlns:a16="http://schemas.microsoft.com/office/drawing/2014/main" id="{FA1F0160-49FB-98FE-E5EE-E93C6D3AE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52" y="1556792"/>
            <a:ext cx="8553896" cy="4380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3340" rIns="0" bIns="0">
            <a:spAutoFit/>
          </a:bodyPr>
          <a:lstStyle>
            <a:lvl1pPr marL="377825" indent="-342900">
              <a:tabLst>
                <a:tab pos="3778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778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778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778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778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925" indent="0">
              <a:spcBef>
                <a:spcPts val="425"/>
              </a:spcBef>
            </a:pPr>
            <a:r>
              <a:rPr lang="en-US" altLang="en-US" sz="2000" b="1" dirty="0">
                <a:solidFill>
                  <a:schemeClr val="accent6"/>
                </a:solidFill>
                <a:cs typeface="Arial" panose="020B0604020202020204" pitchFamily="34" charset="0"/>
              </a:rPr>
              <a:t>Internal JS</a:t>
            </a: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4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&lt;script&gt; </a:t>
            </a:r>
            <a:r>
              <a:rPr lang="en-US" altLang="en-US" sz="2000" dirty="0">
                <a:solidFill>
                  <a:schemeClr val="accent4"/>
                </a:solidFill>
                <a:cs typeface="Arial" panose="020B0604020202020204" pitchFamily="34" charset="0"/>
              </a:rPr>
              <a:t>Tag: In HTML, JavaScript code must be inserted between &lt;script&gt;  and &lt;/script&gt; tags.</a:t>
            </a:r>
          </a:p>
          <a:p>
            <a:pPr>
              <a:spcBef>
                <a:spcPts val="32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4"/>
                </a:solidFill>
                <a:cs typeface="Arial" panose="020B0604020202020204" pitchFamily="34" charset="0"/>
              </a:rPr>
              <a:t>Scripts can be placed in the &lt;body&gt;, or in the &lt;head&gt; section of an HTML page, or in both.</a:t>
            </a:r>
          </a:p>
          <a:p>
            <a:pPr lvl="5">
              <a:spcBef>
                <a:spcPts val="125"/>
              </a:spcBef>
            </a:pPr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&lt;script&gt;</a:t>
            </a:r>
            <a:endParaRPr lang="en-US" altLang="en-US" sz="2000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 lvl="5"/>
            <a:r>
              <a:rPr lang="en-US" altLang="en-US" sz="2000" dirty="0">
                <a:solidFill>
                  <a:schemeClr val="accent4"/>
                </a:solidFill>
                <a:cs typeface="Arial" panose="020B0604020202020204" pitchFamily="34" charset="0"/>
              </a:rPr>
              <a:t>… JavaScript code goes here</a:t>
            </a:r>
          </a:p>
          <a:p>
            <a:pPr lvl="5"/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&lt;/script&gt;</a:t>
            </a:r>
            <a:endParaRPr lang="en-US" altLang="en-US" sz="2000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>
              <a:spcBef>
                <a:spcPts val="200"/>
              </a:spcBef>
              <a:buFont typeface="Trebuchet MS" panose="020B0603020202020204" pitchFamily="34" charset="0"/>
              <a:buChar char="●"/>
            </a:pPr>
            <a:endParaRPr lang="en-US" altLang="en-US" sz="2000" b="1" dirty="0">
              <a:solidFill>
                <a:schemeClr val="accent4"/>
              </a:solidFill>
              <a:cs typeface="Arial" panose="020B0604020202020204" pitchFamily="34" charset="0"/>
            </a:endParaRPr>
          </a:p>
          <a:p>
            <a:pPr marL="34925" indent="0">
              <a:spcBef>
                <a:spcPts val="200"/>
              </a:spcBef>
            </a:pPr>
            <a:r>
              <a:rPr lang="en-US" altLang="en-US" sz="2000" b="1" dirty="0">
                <a:solidFill>
                  <a:schemeClr val="accent6"/>
                </a:solidFill>
                <a:cs typeface="Arial" panose="020B0604020202020204" pitchFamily="34" charset="0"/>
              </a:rPr>
              <a:t>External</a:t>
            </a:r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chemeClr val="accent6"/>
                </a:solidFill>
                <a:cs typeface="Arial" panose="020B0604020202020204" pitchFamily="34" charset="0"/>
              </a:rPr>
              <a:t>JS</a:t>
            </a: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4"/>
                </a:solidFill>
                <a:cs typeface="Arial" panose="020B0604020202020204" pitchFamily="34" charset="0"/>
              </a:rPr>
              <a:t>Scripts can also be placed in external </a:t>
            </a:r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*.</a:t>
            </a:r>
            <a:r>
              <a:rPr lang="en-US" altLang="en-US" sz="2000" b="1" dirty="0" err="1">
                <a:solidFill>
                  <a:schemeClr val="accent4"/>
                </a:solidFill>
                <a:cs typeface="Arial" panose="020B0604020202020204" pitchFamily="34" charset="0"/>
              </a:rPr>
              <a:t>js</a:t>
            </a:r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accent4"/>
                </a:solidFill>
                <a:cs typeface="Arial" panose="020B0604020202020204" pitchFamily="34" charset="0"/>
              </a:rPr>
              <a:t>files. To use an external script, put  the name of the script file in the </a:t>
            </a:r>
            <a:r>
              <a:rPr lang="en-US" altLang="en-US" sz="2000" b="1" dirty="0" err="1">
                <a:solidFill>
                  <a:schemeClr val="accent4"/>
                </a:solidFill>
                <a:cs typeface="Arial" panose="020B0604020202020204" pitchFamily="34" charset="0"/>
              </a:rPr>
              <a:t>src</a:t>
            </a:r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accent4"/>
                </a:solidFill>
                <a:cs typeface="Arial" panose="020B0604020202020204" pitchFamily="34" charset="0"/>
              </a:rPr>
              <a:t>attribute of a </a:t>
            </a:r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&lt;script&gt; </a:t>
            </a:r>
            <a:r>
              <a:rPr lang="en-US" altLang="en-US" sz="2000" dirty="0">
                <a:solidFill>
                  <a:schemeClr val="accent4"/>
                </a:solidFill>
                <a:cs typeface="Arial" panose="020B0604020202020204" pitchFamily="34" charset="0"/>
              </a:rPr>
              <a:t>tag</a:t>
            </a:r>
          </a:p>
          <a:p>
            <a:pPr lvl="4">
              <a:spcBef>
                <a:spcPts val="325"/>
              </a:spcBef>
            </a:pPr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&lt;script </a:t>
            </a:r>
            <a:r>
              <a:rPr lang="en-US" altLang="en-US" sz="2000" b="1" dirty="0" err="1">
                <a:solidFill>
                  <a:schemeClr val="accent4"/>
                </a:solidFill>
                <a:cs typeface="Arial" panose="020B0604020202020204" pitchFamily="34" charset="0"/>
              </a:rPr>
              <a:t>src</a:t>
            </a:r>
            <a:r>
              <a:rPr lang="en-US" altLang="en-US" sz="2000" b="1" dirty="0">
                <a:solidFill>
                  <a:schemeClr val="accent4"/>
                </a:solidFill>
                <a:cs typeface="Arial" panose="020B0604020202020204" pitchFamily="34" charset="0"/>
              </a:rPr>
              <a:t>="my_script.js"&gt;&lt;/script&gt;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56977E-8946-B419-A724-C2EF93D71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225" dirty="0"/>
              <a:t>Where</a:t>
            </a:r>
            <a:r>
              <a:rPr spc="-185" dirty="0"/>
              <a:t> </a:t>
            </a:r>
            <a:r>
              <a:rPr spc="280" dirty="0"/>
              <a:t>To</a:t>
            </a:r>
            <a:r>
              <a:rPr spc="-170" dirty="0"/>
              <a:t> </a:t>
            </a:r>
            <a:r>
              <a:rPr spc="265" dirty="0"/>
              <a:t>Write</a:t>
            </a:r>
            <a:r>
              <a:rPr spc="-185" dirty="0"/>
              <a:t> </a:t>
            </a:r>
            <a:r>
              <a:rPr spc="285" dirty="0"/>
              <a:t>JS?</a:t>
            </a:r>
            <a:r>
              <a:rPr lang="en-GB" spc="285" dirty="0"/>
              <a:t> Example 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72481DA-C2D7-A48E-7576-323D21FDF514}"/>
              </a:ext>
            </a:extLst>
          </p:cNvPr>
          <p:cNvSpPr txBox="1"/>
          <p:nvPr/>
        </p:nvSpPr>
        <p:spPr>
          <a:xfrm>
            <a:off x="504824" y="2095500"/>
            <a:ext cx="3779143" cy="38215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pc="10" dirty="0">
                <a:solidFill>
                  <a:schemeClr val="accent6"/>
                </a:solidFill>
                <a:cs typeface="Arial" panose="020B0604020202020204" pitchFamily="34" charset="0"/>
              </a:rPr>
              <a:t>I</a:t>
            </a:r>
            <a:r>
              <a:rPr spc="5" dirty="0">
                <a:solidFill>
                  <a:schemeClr val="accent6"/>
                </a:solidFill>
                <a:cs typeface="Arial" panose="020B0604020202020204" pitchFamily="34" charset="0"/>
              </a:rPr>
              <a:t>n</a:t>
            </a:r>
            <a:r>
              <a:rPr spc="-50" dirty="0">
                <a:solidFill>
                  <a:schemeClr val="accent6"/>
                </a:solidFill>
                <a:cs typeface="Arial" panose="020B0604020202020204" pitchFamily="34" charset="0"/>
              </a:rPr>
              <a:t>t</a:t>
            </a:r>
            <a:r>
              <a:rPr spc="-65" dirty="0">
                <a:solidFill>
                  <a:schemeClr val="accent6"/>
                </a:solidFill>
                <a:cs typeface="Arial" panose="020B0604020202020204" pitchFamily="34" charset="0"/>
              </a:rPr>
              <a:t>e</a:t>
            </a:r>
            <a:r>
              <a:rPr spc="-40" dirty="0">
                <a:solidFill>
                  <a:schemeClr val="accent6"/>
                </a:solidFill>
                <a:cs typeface="Arial" panose="020B0604020202020204" pitchFamily="34" charset="0"/>
              </a:rPr>
              <a:t>r</a:t>
            </a:r>
            <a:r>
              <a:rPr spc="-75" dirty="0">
                <a:solidFill>
                  <a:schemeClr val="accent6"/>
                </a:solidFill>
                <a:cs typeface="Arial" panose="020B0604020202020204" pitchFamily="34" charset="0"/>
              </a:rPr>
              <a:t>n</a:t>
            </a:r>
            <a:r>
              <a:rPr spc="20" dirty="0">
                <a:solidFill>
                  <a:schemeClr val="accent6"/>
                </a:solidFill>
                <a:cs typeface="Arial" panose="020B0604020202020204" pitchFamily="34" charset="0"/>
              </a:rPr>
              <a:t>a</a:t>
            </a:r>
            <a:r>
              <a:rPr spc="-55" dirty="0">
                <a:solidFill>
                  <a:schemeClr val="accent6"/>
                </a:solidFill>
                <a:cs typeface="Arial" panose="020B0604020202020204" pitchFamily="34" charset="0"/>
              </a:rPr>
              <a:t>l</a:t>
            </a:r>
            <a:r>
              <a:rPr spc="-80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spc="50" dirty="0">
                <a:solidFill>
                  <a:schemeClr val="accent6"/>
                </a:solidFill>
                <a:cs typeface="Arial" panose="020B0604020202020204" pitchFamily="34" charset="0"/>
              </a:rPr>
              <a:t>JS</a:t>
            </a:r>
            <a:endParaRPr dirty="0">
              <a:solidFill>
                <a:schemeClr val="accent6"/>
              </a:solidFill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967DE88-9DC8-2347-DE72-C4558D33633D}"/>
              </a:ext>
            </a:extLst>
          </p:cNvPr>
          <p:cNvSpPr txBox="1"/>
          <p:nvPr/>
        </p:nvSpPr>
        <p:spPr>
          <a:xfrm>
            <a:off x="504824" y="3652838"/>
            <a:ext cx="2987055" cy="38215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pc="-40" dirty="0">
                <a:solidFill>
                  <a:schemeClr val="accent6"/>
                </a:solidFill>
                <a:cs typeface="Arial" panose="020B0604020202020204" pitchFamily="34" charset="0"/>
              </a:rPr>
              <a:t>Exter</a:t>
            </a:r>
            <a:r>
              <a:rPr spc="-70" dirty="0">
                <a:solidFill>
                  <a:schemeClr val="accent6"/>
                </a:solidFill>
                <a:cs typeface="Arial" panose="020B0604020202020204" pitchFamily="34" charset="0"/>
              </a:rPr>
              <a:t>n</a:t>
            </a:r>
            <a:r>
              <a:rPr spc="20" dirty="0">
                <a:solidFill>
                  <a:schemeClr val="accent6"/>
                </a:solidFill>
                <a:cs typeface="Arial" panose="020B0604020202020204" pitchFamily="34" charset="0"/>
              </a:rPr>
              <a:t>a</a:t>
            </a:r>
            <a:r>
              <a:rPr spc="-55" dirty="0">
                <a:solidFill>
                  <a:schemeClr val="accent6"/>
                </a:solidFill>
                <a:cs typeface="Arial" panose="020B0604020202020204" pitchFamily="34" charset="0"/>
              </a:rPr>
              <a:t>l</a:t>
            </a:r>
            <a:r>
              <a:rPr spc="-75" dirty="0">
                <a:solidFill>
                  <a:schemeClr val="accent6"/>
                </a:solidFill>
                <a:cs typeface="Arial" panose="020B0604020202020204" pitchFamily="34" charset="0"/>
              </a:rPr>
              <a:t> </a:t>
            </a:r>
            <a:r>
              <a:rPr spc="45" dirty="0">
                <a:solidFill>
                  <a:schemeClr val="accent6"/>
                </a:solidFill>
                <a:cs typeface="Arial" panose="020B0604020202020204" pitchFamily="34" charset="0"/>
              </a:rPr>
              <a:t>JS</a:t>
            </a:r>
            <a:endParaRPr dirty="0">
              <a:solidFill>
                <a:schemeClr val="accent6"/>
              </a:solidFill>
              <a:cs typeface="Arial" panose="020B0604020202020204" pitchFamily="34" charset="0"/>
            </a:endParaRPr>
          </a:p>
        </p:txBody>
      </p:sp>
      <p:pic>
        <p:nvPicPr>
          <p:cNvPr id="16390" name="object 5">
            <a:extLst>
              <a:ext uri="{FF2B5EF4-FFF2-40B4-BE49-F238E27FC236}">
                <a16:creationId xmlns:a16="http://schemas.microsoft.com/office/drawing/2014/main" id="{0A0D5067-DF82-0787-EEFC-FD322D36B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84" y="2543174"/>
            <a:ext cx="8290315" cy="99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object 6">
            <a:extLst>
              <a:ext uri="{FF2B5EF4-FFF2-40B4-BE49-F238E27FC236}">
                <a16:creationId xmlns:a16="http://schemas.microsoft.com/office/drawing/2014/main" id="{8C806677-1B47-173F-D2F3-4AB19EF26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4164013"/>
            <a:ext cx="5899374" cy="409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BA9669-E6AA-5F84-F01E-E9619299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74757-4D5B-2091-6D45-48BFFFA58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697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bject 5">
            <a:extLst>
              <a:ext uri="{FF2B5EF4-FFF2-40B4-BE49-F238E27FC236}">
                <a16:creationId xmlns:a16="http://schemas.microsoft.com/office/drawing/2014/main" id="{AECD67B3-1A13-ECD1-1A8E-26DEECBA6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1" y="1557338"/>
            <a:ext cx="8564562" cy="339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3335" rIns="0" bIns="0">
            <a:spAutoFit/>
          </a:bodyPr>
          <a:lstStyle>
            <a:lvl1pPr marL="285750" indent="-2730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560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JavaScript can be implemented using JavaScript statements that are placed within the</a:t>
            </a:r>
          </a:p>
          <a:p>
            <a:pPr marL="12700" indent="0" algn="just"/>
            <a:r>
              <a:rPr lang="en-US" altLang="en-US" sz="2000" b="1" dirty="0">
                <a:cs typeface="Arial" panose="020B0604020202020204" pitchFamily="34" charset="0"/>
              </a:rPr>
              <a:t>	&lt;script&gt;... &lt;/script&gt; </a:t>
            </a:r>
            <a:r>
              <a:rPr lang="en-US" altLang="en-US" sz="2000" dirty="0">
                <a:cs typeface="Arial" panose="020B0604020202020204" pitchFamily="34" charset="0"/>
              </a:rPr>
              <a:t>HTML tags in a web page.</a:t>
            </a:r>
          </a:p>
          <a:p>
            <a:pPr marL="3556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You can place the </a:t>
            </a:r>
            <a:r>
              <a:rPr lang="en-US" altLang="en-US" sz="2000" b="1" dirty="0">
                <a:cs typeface="Arial" panose="020B0604020202020204" pitchFamily="34" charset="0"/>
              </a:rPr>
              <a:t>&lt;script&gt; </a:t>
            </a:r>
            <a:r>
              <a:rPr lang="en-US" altLang="en-US" sz="2000" dirty="0">
                <a:cs typeface="Arial" panose="020B0604020202020204" pitchFamily="34" charset="0"/>
              </a:rPr>
              <a:t>tags, containing the JavaScript, anywhere within the web page, but  it is normally recommended that it is kept within the </a:t>
            </a:r>
            <a:r>
              <a:rPr lang="en-US" altLang="en-US" sz="2000" b="1" dirty="0">
                <a:cs typeface="Arial" panose="020B0604020202020204" pitchFamily="34" charset="0"/>
              </a:rPr>
              <a:t>&lt;head&gt; </a:t>
            </a:r>
            <a:r>
              <a:rPr lang="en-US" altLang="en-US" sz="2000" dirty="0">
                <a:cs typeface="Arial" panose="020B0604020202020204" pitchFamily="34" charset="0"/>
              </a:rPr>
              <a:t>tags.</a:t>
            </a:r>
          </a:p>
          <a:p>
            <a:pPr marL="3556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B03E9A"/>
              </a:solidFill>
              <a:cs typeface="Arial" panose="020B0604020202020204" pitchFamily="34" charset="0"/>
            </a:endParaRPr>
          </a:p>
          <a:p>
            <a:pPr marL="3556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The &lt;script&gt; tag alerts the browser program to  start interpreting all the text between these tags as a script.</a:t>
            </a:r>
          </a:p>
        </p:txBody>
      </p:sp>
      <p:sp>
        <p:nvSpPr>
          <p:cNvPr id="17411" name="Title 8">
            <a:extLst>
              <a:ext uri="{FF2B5EF4-FFF2-40B4-BE49-F238E27FC236}">
                <a16:creationId xmlns:a16="http://schemas.microsoft.com/office/drawing/2014/main" id="{3E2057BF-62F1-827E-8695-B18237A74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JS Syntax</a:t>
            </a:r>
            <a:endParaRPr lang="en-GB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FCCFCCB-CE35-37D5-BB9D-63B47066E4DC}"/>
              </a:ext>
            </a:extLst>
          </p:cNvPr>
          <p:cNvSpPr txBox="1"/>
          <p:nvPr/>
        </p:nvSpPr>
        <p:spPr>
          <a:xfrm>
            <a:off x="467544" y="4453844"/>
            <a:ext cx="7500937" cy="1583767"/>
          </a:xfrm>
          <a:prstGeom prst="rect">
            <a:avLst/>
          </a:prstGeom>
          <a:noFill/>
          <a:ln w="39623">
            <a:solidFill>
              <a:srgbClr val="852A49"/>
            </a:solidFill>
          </a:ln>
        </p:spPr>
        <p:txBody>
          <a:bodyPr lIns="0" tIns="135890" rIns="0" bIns="0">
            <a:spAutoFit/>
          </a:bodyPr>
          <a:lstStyle/>
          <a:p>
            <a:pPr marL="91440">
              <a:spcBef>
                <a:spcPts val="1070"/>
              </a:spcBef>
              <a:defRPr/>
            </a:pPr>
            <a:r>
              <a:rPr sz="2000" spc="-5" dirty="0">
                <a:solidFill>
                  <a:schemeClr val="accent2"/>
                </a:solidFill>
                <a:latin typeface="Trebuchet MS"/>
                <a:cs typeface="Trebuchet MS"/>
              </a:rPr>
              <a:t>&lt;script</a:t>
            </a:r>
            <a:r>
              <a:rPr sz="2000" spc="-25" dirty="0">
                <a:solidFill>
                  <a:schemeClr val="accent2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chemeClr val="accent2"/>
                </a:solidFill>
                <a:latin typeface="Trebuchet MS"/>
                <a:cs typeface="Trebuchet MS"/>
              </a:rPr>
              <a:t>language="javascript"</a:t>
            </a:r>
            <a:r>
              <a:rPr sz="2000" spc="20" dirty="0">
                <a:solidFill>
                  <a:schemeClr val="accent2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chemeClr val="accent2"/>
                </a:solidFill>
                <a:latin typeface="Trebuchet MS"/>
                <a:cs typeface="Trebuchet MS"/>
              </a:rPr>
              <a:t>type="text/javascript"&gt;</a:t>
            </a:r>
            <a:endParaRPr sz="2000" dirty="0">
              <a:solidFill>
                <a:schemeClr val="accent2"/>
              </a:solidFill>
              <a:latin typeface="Trebuchet MS"/>
              <a:cs typeface="Trebuchet MS"/>
            </a:endParaRPr>
          </a:p>
          <a:p>
            <a:pPr>
              <a:spcBef>
                <a:spcPts val="10"/>
              </a:spcBef>
              <a:defRPr/>
            </a:pPr>
            <a:r>
              <a:rPr lang="en-GB" sz="1600" dirty="0">
                <a:solidFill>
                  <a:schemeClr val="accent2"/>
                </a:solidFill>
                <a:latin typeface="Trebuchet MS"/>
                <a:cs typeface="Trebuchet MS"/>
              </a:rPr>
              <a:t>  </a:t>
            </a:r>
            <a:endParaRPr sz="1600" dirty="0">
              <a:solidFill>
                <a:schemeClr val="accent2"/>
              </a:solidFill>
              <a:latin typeface="Trebuchet MS"/>
              <a:cs typeface="Trebuchet MS"/>
            </a:endParaRPr>
          </a:p>
          <a:p>
            <a:pPr marL="548640" lvl="1">
              <a:spcBef>
                <a:spcPts val="5"/>
              </a:spcBef>
              <a:defRPr/>
            </a:pPr>
            <a:r>
              <a:rPr sz="2000" i="1" spc="-5" dirty="0">
                <a:solidFill>
                  <a:schemeClr val="accent2"/>
                </a:solidFill>
                <a:latin typeface="Trebuchet MS"/>
                <a:cs typeface="Trebuchet MS"/>
              </a:rPr>
              <a:t>JavaScript</a:t>
            </a:r>
            <a:r>
              <a:rPr sz="2000" i="1" spc="-35" dirty="0">
                <a:solidFill>
                  <a:schemeClr val="accent2"/>
                </a:solidFill>
                <a:latin typeface="Trebuchet MS"/>
                <a:cs typeface="Trebuchet MS"/>
              </a:rPr>
              <a:t> </a:t>
            </a:r>
            <a:r>
              <a:rPr sz="2000" i="1" spc="-5" dirty="0">
                <a:solidFill>
                  <a:schemeClr val="accent2"/>
                </a:solidFill>
                <a:latin typeface="Trebuchet MS"/>
                <a:cs typeface="Trebuchet MS"/>
              </a:rPr>
              <a:t>code</a:t>
            </a:r>
            <a:endParaRPr sz="2000" i="1" dirty="0">
              <a:solidFill>
                <a:schemeClr val="accent2"/>
              </a:solidFill>
              <a:latin typeface="Trebuchet MS"/>
              <a:cs typeface="Trebuchet MS"/>
            </a:endParaRPr>
          </a:p>
          <a:p>
            <a:pPr>
              <a:spcBef>
                <a:spcPts val="10"/>
              </a:spcBef>
              <a:defRPr/>
            </a:pPr>
            <a:r>
              <a:rPr lang="en-GB" sz="1600" dirty="0">
                <a:solidFill>
                  <a:schemeClr val="accent2"/>
                </a:solidFill>
                <a:latin typeface="Trebuchet MS"/>
                <a:cs typeface="Trebuchet MS"/>
              </a:rPr>
              <a:t> </a:t>
            </a:r>
            <a:endParaRPr sz="1600" dirty="0">
              <a:solidFill>
                <a:schemeClr val="accent2"/>
              </a:solidFill>
              <a:latin typeface="Trebuchet MS"/>
              <a:cs typeface="Trebuchet MS"/>
            </a:endParaRPr>
          </a:p>
          <a:p>
            <a:pPr marL="91440">
              <a:defRPr/>
            </a:pPr>
            <a:r>
              <a:rPr sz="2000" dirty="0">
                <a:solidFill>
                  <a:schemeClr val="accent2"/>
                </a:solidFill>
                <a:latin typeface="Trebuchet MS"/>
                <a:cs typeface="Trebuchet MS"/>
              </a:rPr>
              <a:t>&lt;/script&gt;</a:t>
            </a:r>
          </a:p>
        </p:txBody>
      </p:sp>
      <p:sp>
        <p:nvSpPr>
          <p:cNvPr id="18436" name="object 5">
            <a:extLst>
              <a:ext uri="{FF2B5EF4-FFF2-40B4-BE49-F238E27FC236}">
                <a16:creationId xmlns:a16="http://schemas.microsoft.com/office/drawing/2014/main" id="{464220D3-B296-FB07-0912-722BB3F28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36" y="1388902"/>
            <a:ext cx="8352928" cy="306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700" rIns="0" bIns="0">
            <a:spAutoFit/>
          </a:bodyPr>
          <a:lstStyle>
            <a:lvl1pPr marL="285750" indent="-2730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</a:pPr>
            <a:r>
              <a:rPr lang="en-US" altLang="en-US" sz="2000" dirty="0">
                <a:cs typeface="Arial" panose="020B0604020202020204" pitchFamily="34" charset="0"/>
              </a:rPr>
              <a:t>The script tag takes two important attributes:</a:t>
            </a:r>
            <a:endParaRPr lang="en-US" altLang="en-US" sz="2000" dirty="0">
              <a:solidFill>
                <a:srgbClr val="B03E9A"/>
              </a:solidFill>
              <a:cs typeface="Arial" panose="020B0604020202020204" pitchFamily="34" charset="0"/>
            </a:endParaRPr>
          </a:p>
          <a:p>
            <a:pPr marL="12700" indent="0">
              <a:spcBef>
                <a:spcPts val="100"/>
              </a:spcBef>
            </a:pPr>
            <a:r>
              <a:rPr lang="en-US" altLang="en-US" sz="2000" b="1" dirty="0">
                <a:cs typeface="Arial" panose="020B0604020202020204" pitchFamily="34" charset="0"/>
              </a:rPr>
              <a:t>Language: </a:t>
            </a:r>
          </a:p>
          <a:p>
            <a:pPr marL="298450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Specifies the scripting language to be used </a:t>
            </a:r>
          </a:p>
          <a:p>
            <a:pPr marL="298450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Typically, its value will be JavaScript </a:t>
            </a:r>
          </a:p>
          <a:p>
            <a:pPr marL="298450" indent="-2857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Recent versions of HTML  (and XHTML, its successor) have phased out the use of this attribute.</a:t>
            </a:r>
          </a:p>
          <a:p>
            <a:pPr>
              <a:spcBef>
                <a:spcPts val="600"/>
              </a:spcBef>
            </a:pPr>
            <a:r>
              <a:rPr lang="en-US" altLang="en-US" sz="2000" b="1" dirty="0">
                <a:cs typeface="Arial" panose="020B0604020202020204" pitchFamily="34" charset="0"/>
              </a:rPr>
              <a:t>Type:</a:t>
            </a:r>
          </a:p>
          <a:p>
            <a:pPr marL="2984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Indicates the scripting language in use </a:t>
            </a:r>
          </a:p>
          <a:p>
            <a:pPr marL="2984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Value should be set to  "text/</a:t>
            </a:r>
            <a:r>
              <a:rPr lang="en-US" altLang="en-US" sz="2000" dirty="0" err="1">
                <a:cs typeface="Arial" panose="020B0604020202020204" pitchFamily="34" charset="0"/>
              </a:rPr>
              <a:t>javascript</a:t>
            </a:r>
            <a:r>
              <a:rPr lang="en-US" altLang="en-US" sz="2000" dirty="0">
                <a:cs typeface="Arial" panose="020B0604020202020204" pitchFamily="34" charset="0"/>
              </a:rPr>
              <a:t>"</a:t>
            </a:r>
          </a:p>
        </p:txBody>
      </p:sp>
      <p:sp>
        <p:nvSpPr>
          <p:cNvPr id="18437" name="Title 5">
            <a:extLst>
              <a:ext uri="{FF2B5EF4-FFF2-40B4-BE49-F238E27FC236}">
                <a16:creationId xmlns:a16="http://schemas.microsoft.com/office/drawing/2014/main" id="{01F8CE3C-1A20-7CD9-2CF6-AD14D5C6E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JS Syntax</a:t>
            </a:r>
            <a:endParaRPr lang="en-GB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object 7">
            <a:extLst>
              <a:ext uri="{FF2B5EF4-FFF2-40B4-BE49-F238E27FC236}">
                <a16:creationId xmlns:a16="http://schemas.microsoft.com/office/drawing/2014/main" id="{497A5C04-F4FD-A9A1-D252-8FBC5AD03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306416"/>
            <a:ext cx="7848600" cy="127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285750" indent="-2730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560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The comment ends with a "//-- &gt;“</a:t>
            </a:r>
          </a:p>
          <a:p>
            <a:pPr marL="35560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"//" signifies a  comment in JavaScript </a:t>
            </a:r>
          </a:p>
          <a:p>
            <a:pPr marL="35560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Function </a:t>
            </a:r>
            <a:r>
              <a:rPr lang="en-US" altLang="en-US" sz="2000" b="1" dirty="0" err="1">
                <a:cs typeface="Arial" panose="020B0604020202020204" pitchFamily="34" charset="0"/>
              </a:rPr>
              <a:t>document.write</a:t>
            </a:r>
            <a:r>
              <a:rPr lang="en-US" altLang="en-US" sz="2000" b="1" dirty="0"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which writes a string into our HTML  document.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4F5E3D0-1F09-0901-4997-452C884A2C7F}"/>
              </a:ext>
            </a:extLst>
          </p:cNvPr>
          <p:cNvSpPr txBox="1"/>
          <p:nvPr/>
        </p:nvSpPr>
        <p:spPr>
          <a:xfrm>
            <a:off x="2555776" y="5728293"/>
            <a:ext cx="3357562" cy="338138"/>
          </a:xfrm>
          <a:prstGeom prst="rect">
            <a:avLst/>
          </a:prstGeom>
        </p:spPr>
        <p:txBody>
          <a:bodyPr lIns="0" tIns="59690" rIns="0" bIns="0">
            <a:spAutoFit/>
          </a:bodyPr>
          <a:lstStyle/>
          <a:p>
            <a:pPr algn="ctr">
              <a:spcBef>
                <a:spcPts val="470"/>
              </a:spcBef>
              <a:defRPr/>
            </a:pPr>
            <a:r>
              <a:rPr sz="1800" b="1" spc="-5" dirty="0">
                <a:solidFill>
                  <a:schemeClr val="accent5">
                    <a:lumMod val="50000"/>
                  </a:schemeClr>
                </a:solidFill>
                <a:cs typeface="Arial" panose="020B0604020202020204" pitchFamily="34" charset="0"/>
              </a:rPr>
              <a:t>OUTPUT-</a:t>
            </a:r>
            <a:r>
              <a:rPr lang="en-US" sz="1800" b="1" spc="-5" dirty="0">
                <a:solidFill>
                  <a:schemeClr val="accent5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1800" b="1" spc="-5" dirty="0">
                <a:solidFill>
                  <a:schemeClr val="accent5">
                    <a:lumMod val="50000"/>
                  </a:schemeClr>
                </a:solidFill>
                <a:cs typeface="Arial" panose="020B0604020202020204" pitchFamily="34" charset="0"/>
              </a:rPr>
              <a:t>Hello</a:t>
            </a:r>
            <a:r>
              <a:rPr sz="1800" b="1" spc="-55" dirty="0">
                <a:solidFill>
                  <a:schemeClr val="accent5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1800" b="1" spc="-20" dirty="0">
                <a:solidFill>
                  <a:schemeClr val="accent5">
                    <a:lumMod val="50000"/>
                  </a:schemeClr>
                </a:solidFill>
                <a:cs typeface="Arial" panose="020B0604020202020204" pitchFamily="34" charset="0"/>
              </a:rPr>
              <a:t>World!</a:t>
            </a:r>
            <a:endParaRPr sz="1800" b="1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F75B7927-A1C7-146E-919B-B62A9500D443}"/>
              </a:ext>
            </a:extLst>
          </p:cNvPr>
          <p:cNvSpPr txBox="1">
            <a:spLocks/>
          </p:cNvSpPr>
          <p:nvPr/>
        </p:nvSpPr>
        <p:spPr>
          <a:xfrm>
            <a:off x="103188" y="260648"/>
            <a:ext cx="8785225" cy="75319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JS Syntax - Example</a:t>
            </a:r>
            <a:endParaRPr lang="en-GB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95E5AB-3045-86E6-5E33-4A15E61A0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96" y="2576636"/>
            <a:ext cx="8283863" cy="31516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3">
            <a:extLst>
              <a:ext uri="{FF2B5EF4-FFF2-40B4-BE49-F238E27FC236}">
                <a16:creationId xmlns:a16="http://schemas.microsoft.com/office/drawing/2014/main" id="{436FF552-7E13-7AE8-0E30-658C6F8A4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JS Syntax</a:t>
            </a:r>
            <a:endParaRPr lang="en-GB" altLang="en-US" dirty="0"/>
          </a:p>
        </p:txBody>
      </p:sp>
      <p:sp>
        <p:nvSpPr>
          <p:cNvPr id="20483" name="Content Placeholder 4">
            <a:extLst>
              <a:ext uri="{FF2B5EF4-FFF2-40B4-BE49-F238E27FC236}">
                <a16:creationId xmlns:a16="http://schemas.microsoft.com/office/drawing/2014/main" id="{7E235147-8F22-2533-95E1-BB6FC693C08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29048" y="1556792"/>
            <a:ext cx="8352482" cy="4319587"/>
          </a:xfrm>
        </p:spPr>
        <p:txBody>
          <a:bodyPr/>
          <a:lstStyle/>
          <a:p>
            <a:pPr marL="12700" indent="0" algn="just">
              <a:spcBef>
                <a:spcPts val="413"/>
              </a:spcBef>
            </a:pPr>
            <a:r>
              <a:rPr lang="en-US" altLang="en-US" sz="20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Semicolons are Optional</a:t>
            </a:r>
            <a:endParaRPr lang="en-US" altLang="en-US" sz="2000" i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 algn="just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 in JavaScript are generally followed by a semicolon.</a:t>
            </a:r>
          </a:p>
          <a:p>
            <a:pPr marL="298450" indent="-285750" algn="just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Option.to omit this semicolon if each of the statements are placed on a separate line.</a:t>
            </a:r>
          </a:p>
          <a:p>
            <a:pPr marL="298450" indent="-285750" algn="just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US" sz="2000" i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0" lvl="0" indent="0" algn="just" defTabSz="914400" rtl="0" eaLnBrk="0" fontAlgn="base" latinLnBrk="0" hangingPunct="0">
              <a:lnSpc>
                <a:spcPct val="100000"/>
              </a:lnSpc>
              <a:spcBef>
                <a:spcPts val="413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Case Sensitivity</a:t>
            </a:r>
          </a:p>
          <a:p>
            <a:pPr marL="298450" marR="0" lvl="0" indent="-285750" algn="just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JavaScript is a case-sensitive language.</a:t>
            </a:r>
          </a:p>
          <a:p>
            <a:pPr marL="298450" marR="0" lvl="0" indent="-285750" algn="just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i="0" dirty="0">
                <a:solidFill>
                  <a:srgbClr val="000000"/>
                </a:solidFill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Implies that the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 language keywords, variables,  function names, and any other identifiers must always be typed with a consistent capitalization of letters</a:t>
            </a:r>
          </a:p>
          <a:p>
            <a:pPr marL="2984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38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000" b="1" i="0" dirty="0">
                <a:solidFill>
                  <a:schemeClr val="tx1"/>
                </a:solidFill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Example</a:t>
            </a: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: the identifiers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Time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and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TIME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will convey different meanings in JavaScript.</a:t>
            </a:r>
          </a:p>
          <a:p>
            <a:pPr marL="12700" indent="0" algn="just"/>
            <a:endParaRPr lang="en-GB" alt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280862-F6C2-259B-0746-AF5D04AF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Js</a:t>
            </a:r>
            <a:r>
              <a:rPr lang="en-US" dirty="0"/>
              <a:t> variables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15ADB2-7EB9-1CE2-66EB-43EC40400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62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object 9">
            <a:extLst>
              <a:ext uri="{FF2B5EF4-FFF2-40B4-BE49-F238E27FC236}">
                <a16:creationId xmlns:a16="http://schemas.microsoft.com/office/drawing/2014/main" id="{9BA4FDB4-FE80-5120-1627-F9D742460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700213"/>
            <a:ext cx="8567737" cy="2874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8265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00"/>
              </a:spcBef>
            </a:pPr>
            <a:r>
              <a:rPr lang="en-US" altLang="en-US" sz="2800" b="1" dirty="0">
                <a:cs typeface="Arial" panose="020B0604020202020204" pitchFamily="34" charset="0"/>
              </a:rPr>
              <a:t>JavaScript Datatypes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marL="4699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Variables are used to store values.</a:t>
            </a:r>
          </a:p>
          <a:p>
            <a:pPr marL="4699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JavaScript supports three data types:</a:t>
            </a:r>
          </a:p>
          <a:p>
            <a:pPr marL="108585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b="1" dirty="0">
                <a:cs typeface="Arial" panose="020B0604020202020204" pitchFamily="34" charset="0"/>
              </a:rPr>
              <a:t>Numbers</a:t>
            </a:r>
            <a:r>
              <a:rPr lang="en-US" altLang="en-US" dirty="0">
                <a:cs typeface="Arial" panose="020B0604020202020204" pitchFamily="34" charset="0"/>
              </a:rPr>
              <a:t>, e.g., 123, 120.50 etc.</a:t>
            </a:r>
          </a:p>
          <a:p>
            <a:pPr marL="108585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b="1" dirty="0">
                <a:cs typeface="Arial" panose="020B0604020202020204" pitchFamily="34" charset="0"/>
              </a:rPr>
              <a:t>Strings </a:t>
            </a:r>
            <a:r>
              <a:rPr lang="en-US" altLang="en-US" dirty="0">
                <a:cs typeface="Arial" panose="020B0604020202020204" pitchFamily="34" charset="0"/>
              </a:rPr>
              <a:t>of text, e.g. "This text string" etc.</a:t>
            </a:r>
          </a:p>
          <a:p>
            <a:pPr marL="108585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b="1" dirty="0">
                <a:cs typeface="Arial" panose="020B0604020202020204" pitchFamily="34" charset="0"/>
              </a:rPr>
              <a:t>Boolean</a:t>
            </a:r>
            <a:r>
              <a:rPr lang="en-US" altLang="en-US" dirty="0">
                <a:cs typeface="Arial" panose="020B0604020202020204" pitchFamily="34" charset="0"/>
              </a:rPr>
              <a:t>, e.g. true or false.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94366E69-61A5-8C54-BD48-F39ADC3BAC3B}"/>
              </a:ext>
            </a:extLst>
          </p:cNvPr>
          <p:cNvSpPr txBox="1">
            <a:spLocks/>
          </p:cNvSpPr>
          <p:nvPr/>
        </p:nvSpPr>
        <p:spPr>
          <a:xfrm>
            <a:off x="107504" y="332656"/>
            <a:ext cx="8785225" cy="78221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JS Variables</a:t>
            </a:r>
            <a:endParaRPr lang="en-GB" kern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object 2">
            <a:extLst>
              <a:ext uri="{FF2B5EF4-FFF2-40B4-BE49-F238E27FC236}">
                <a16:creationId xmlns:a16="http://schemas.microsoft.com/office/drawing/2014/main" id="{46D66F68-9242-D88A-A5AE-D088A1C7F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00213"/>
            <a:ext cx="8352730" cy="3252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2705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588"/>
              </a:lnSpc>
              <a:spcBef>
                <a:spcPts val="650"/>
              </a:spcBef>
            </a:pPr>
            <a:r>
              <a:rPr lang="en-US" altLang="en-US" b="1" dirty="0">
                <a:solidFill>
                  <a:schemeClr val="accent6"/>
                </a:solidFill>
                <a:cs typeface="Arial" panose="020B0604020202020204" pitchFamily="34" charset="0"/>
              </a:rPr>
              <a:t>Rules to follow for naming variables:</a:t>
            </a:r>
          </a:p>
          <a:p>
            <a:pPr marL="355600" indent="-3429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Avoid reserved keywords as a variable name</a:t>
            </a:r>
          </a:p>
          <a:p>
            <a:pPr>
              <a:lnSpc>
                <a:spcPct val="90000"/>
              </a:lnSpc>
              <a:spcBef>
                <a:spcPts val="563"/>
              </a:spcBef>
            </a:pPr>
            <a:r>
              <a:rPr lang="en-US" altLang="en-US" dirty="0">
                <a:cs typeface="Arial" panose="020B0604020202020204" pitchFamily="34" charset="0"/>
              </a:rPr>
              <a:t>	Example: </a:t>
            </a:r>
            <a:r>
              <a:rPr lang="en-US" altLang="en-US" b="1" dirty="0">
                <a:cs typeface="Arial" panose="020B0604020202020204" pitchFamily="34" charset="0"/>
              </a:rPr>
              <a:t>break </a:t>
            </a:r>
            <a:r>
              <a:rPr lang="en-US" altLang="en-US" dirty="0">
                <a:cs typeface="Arial" panose="020B0604020202020204" pitchFamily="34" charset="0"/>
              </a:rPr>
              <a:t>or </a:t>
            </a:r>
            <a:r>
              <a:rPr lang="en-US" altLang="en-US" b="1" dirty="0" err="1">
                <a:cs typeface="Arial" panose="020B0604020202020204" pitchFamily="34" charset="0"/>
              </a:rPr>
              <a:t>boolean</a:t>
            </a:r>
            <a:r>
              <a:rPr lang="en-US" altLang="en-US" b="1" dirty="0">
                <a:cs typeface="Arial" panose="020B0604020202020204" pitchFamily="34" charset="0"/>
              </a:rPr>
              <a:t> </a:t>
            </a:r>
          </a:p>
          <a:p>
            <a:pPr marL="355600" indent="-3429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Variable names should not start with a numeral (0-9)</a:t>
            </a:r>
          </a:p>
          <a:p>
            <a:pPr marL="355600" indent="-3429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They must begin with a letter or  an underscore character</a:t>
            </a:r>
          </a:p>
          <a:p>
            <a:pPr>
              <a:lnSpc>
                <a:spcPct val="90000"/>
              </a:lnSpc>
              <a:spcBef>
                <a:spcPts val="563"/>
              </a:spcBef>
            </a:pPr>
            <a:r>
              <a:rPr lang="en-US" altLang="en-US" dirty="0">
                <a:cs typeface="Arial" panose="020B0604020202020204" pitchFamily="34" charset="0"/>
              </a:rPr>
              <a:t>	Example: </a:t>
            </a:r>
            <a:r>
              <a:rPr lang="en-US" altLang="en-US" b="1" dirty="0">
                <a:cs typeface="Arial" panose="020B0604020202020204" pitchFamily="34" charset="0"/>
              </a:rPr>
              <a:t>123test  </a:t>
            </a:r>
            <a:r>
              <a:rPr lang="en-US" altLang="en-US" dirty="0">
                <a:cs typeface="Arial" panose="020B0604020202020204" pitchFamily="34" charset="0"/>
              </a:rPr>
              <a:t>is invalid but </a:t>
            </a:r>
            <a:r>
              <a:rPr lang="en-US" altLang="en-US" b="1" i="1" dirty="0">
                <a:cs typeface="Arial" panose="020B0604020202020204" pitchFamily="34" charset="0"/>
              </a:rPr>
              <a:t>_</a:t>
            </a:r>
            <a:r>
              <a:rPr lang="en-US" altLang="en-US" b="1" dirty="0">
                <a:cs typeface="Arial" panose="020B0604020202020204" pitchFamily="34" charset="0"/>
              </a:rPr>
              <a:t>123test </a:t>
            </a:r>
            <a:r>
              <a:rPr lang="en-US" altLang="en-US" dirty="0">
                <a:cs typeface="Arial" panose="020B0604020202020204" pitchFamily="34" charset="0"/>
              </a:rPr>
              <a:t>is valid</a:t>
            </a:r>
          </a:p>
          <a:p>
            <a:pPr marL="3556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Variable names are case-sensitive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dirty="0">
                <a:cs typeface="Arial" panose="020B0604020202020204" pitchFamily="34" charset="0"/>
              </a:rPr>
              <a:t>	Example: </a:t>
            </a:r>
            <a:r>
              <a:rPr lang="en-US" altLang="en-US" b="1" dirty="0">
                <a:cs typeface="Arial" panose="020B0604020202020204" pitchFamily="34" charset="0"/>
              </a:rPr>
              <a:t>Name </a:t>
            </a:r>
            <a:r>
              <a:rPr lang="en-US" altLang="en-US" dirty="0">
                <a:cs typeface="Arial" panose="020B0604020202020204" pitchFamily="34" charset="0"/>
              </a:rPr>
              <a:t>and </a:t>
            </a:r>
            <a:r>
              <a:rPr lang="en-US" altLang="en-US" b="1" dirty="0">
                <a:cs typeface="Arial" panose="020B0604020202020204" pitchFamily="34" charset="0"/>
              </a:rPr>
              <a:t>name </a:t>
            </a:r>
            <a:r>
              <a:rPr lang="en-US" altLang="en-US" dirty="0">
                <a:cs typeface="Arial" panose="020B0604020202020204" pitchFamily="34" charset="0"/>
              </a:rPr>
              <a:t>are two different variables.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D529E9-8BDB-DF61-3F29-690EA24AFF89}"/>
              </a:ext>
            </a:extLst>
          </p:cNvPr>
          <p:cNvSpPr txBox="1">
            <a:spLocks/>
          </p:cNvSpPr>
          <p:nvPr/>
        </p:nvSpPr>
        <p:spPr>
          <a:xfrm>
            <a:off x="179387" y="332656"/>
            <a:ext cx="8785225" cy="78221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JS Variables</a:t>
            </a:r>
            <a:endParaRPr lang="en-GB" kern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object 7">
            <a:extLst>
              <a:ext uri="{FF2B5EF4-FFF2-40B4-BE49-F238E27FC236}">
                <a16:creationId xmlns:a16="http://schemas.microsoft.com/office/drawing/2014/main" id="{EE3D76F9-6935-012A-21CC-66DAEB831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844675"/>
            <a:ext cx="7200900" cy="2609850"/>
          </a:xfrm>
          <a:prstGeom prst="rect">
            <a:avLst/>
          </a:prstGeom>
          <a:noFill/>
          <a:ln w="39623">
            <a:solidFill>
              <a:srgbClr val="852A4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24765" rIns="0" bIns="0">
            <a:spAutoFit/>
          </a:bodyPr>
          <a:lstStyle>
            <a:lvl1pPr marL="904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200"/>
              </a:spcBef>
            </a:pPr>
            <a:r>
              <a:rPr lang="en-US" altLang="en-US" dirty="0">
                <a:latin typeface="Trebuchet MS" panose="020B0603020202020204" pitchFamily="34" charset="0"/>
              </a:rPr>
              <a:t>&lt;script type="text/</a:t>
            </a:r>
            <a:r>
              <a:rPr lang="en-US" altLang="en-US" dirty="0" err="1">
                <a:latin typeface="Trebuchet MS" panose="020B0603020202020204" pitchFamily="34" charset="0"/>
              </a:rPr>
              <a:t>javascript</a:t>
            </a:r>
            <a:r>
              <a:rPr lang="en-US" altLang="en-US" dirty="0">
                <a:latin typeface="Trebuchet MS" panose="020B0603020202020204" pitchFamily="34" charset="0"/>
              </a:rPr>
              <a:t>"&gt;</a:t>
            </a:r>
          </a:p>
          <a:p>
            <a:r>
              <a:rPr lang="en-US" altLang="en-US" dirty="0">
                <a:latin typeface="Trebuchet MS" panose="020B0603020202020204" pitchFamily="34" charset="0"/>
              </a:rPr>
              <a:t>&lt;</a:t>
            </a:r>
          </a:p>
          <a:p>
            <a:r>
              <a:rPr lang="en-US" altLang="en-US" dirty="0">
                <a:latin typeface="Trebuchet MS" panose="020B0603020202020204" pitchFamily="34" charset="0"/>
              </a:rPr>
              <a:t>var name = "Ali";  var money;  money = 2000.50;</a:t>
            </a:r>
          </a:p>
          <a:p>
            <a:r>
              <a:rPr lang="en-US" altLang="en-US" dirty="0">
                <a:latin typeface="Trebuchet MS" panose="020B0603020202020204" pitchFamily="34" charset="0"/>
              </a:rPr>
              <a:t>//--&gt;</a:t>
            </a:r>
          </a:p>
          <a:p>
            <a:r>
              <a:rPr lang="en-US" altLang="en-US" dirty="0">
                <a:latin typeface="Trebuchet MS" panose="020B0603020202020204" pitchFamily="34" charset="0"/>
              </a:rPr>
              <a:t>&lt;/script&gt;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E8583C8-A81A-357A-18E0-EB238FC42E6C}"/>
              </a:ext>
            </a:extLst>
          </p:cNvPr>
          <p:cNvSpPr txBox="1">
            <a:spLocks/>
          </p:cNvSpPr>
          <p:nvPr/>
        </p:nvSpPr>
        <p:spPr>
          <a:xfrm>
            <a:off x="103188" y="260648"/>
            <a:ext cx="8785225" cy="99824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Variables - Example</a:t>
            </a:r>
            <a:endParaRPr lang="en-GB" kern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AA33077B-97DE-8770-8A8C-7696060AE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188" y="260648"/>
            <a:ext cx="8785225" cy="918543"/>
          </a:xfrm>
        </p:spPr>
        <p:txBody>
          <a:bodyPr/>
          <a:lstStyle/>
          <a:p>
            <a:r>
              <a:rPr lang="en-US" altLang="en-US" dirty="0"/>
              <a:t>Reserved Words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D8CCC-A09A-CF3D-C35F-08D9157A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2776"/>
            <a:ext cx="3419872" cy="4319587"/>
          </a:xfrm>
        </p:spPr>
        <p:txBody>
          <a:bodyPr/>
          <a:lstStyle/>
          <a:p>
            <a:pPr marL="0" indent="0">
              <a:defRPr/>
            </a:pPr>
            <a:r>
              <a:rPr lang="en-US" sz="2400" i="0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Reserved words </a:t>
            </a:r>
            <a:r>
              <a:rPr lang="en-US" sz="2400" i="0" spc="-5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cannot </a:t>
            </a:r>
            <a:r>
              <a:rPr lang="en-US" sz="2400" i="0" spc="-770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i="0" spc="-5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 used as: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000" spc="-5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JavaScript variables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000" spc="-5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Functions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Methods</a:t>
            </a:r>
            <a:endParaRPr lang="en-US" sz="2000" spc="-5" dirty="0">
              <a:solidFill>
                <a:prstClr val="black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000" spc="-5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Loop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labels</a:t>
            </a:r>
          </a:p>
          <a:p>
            <a:pPr marL="901700" lvl="1" indent="-457200">
              <a:buFont typeface="Arial" panose="020B0604020202020204" pitchFamily="34" charset="0"/>
              <a:buChar char="•"/>
              <a:defRPr/>
            </a:pPr>
            <a:r>
              <a:rPr lang="en-US" sz="2000" spc="-5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Any</a:t>
            </a:r>
            <a:r>
              <a:rPr lang="en-US" sz="2000" spc="5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object</a:t>
            </a:r>
            <a:r>
              <a:rPr lang="en-US" sz="2000" spc="-20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000" spc="-5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names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object 2">
            <a:extLst>
              <a:ext uri="{FF2B5EF4-FFF2-40B4-BE49-F238E27FC236}">
                <a16:creationId xmlns:a16="http://schemas.microsoft.com/office/drawing/2014/main" id="{60FB4CA4-A288-11B4-578B-17B39935E34F}"/>
              </a:ext>
            </a:extLst>
          </p:cNvPr>
          <p:cNvGrpSpPr>
            <a:grpSpLocks/>
          </p:cNvGrpSpPr>
          <p:nvPr/>
        </p:nvGrpSpPr>
        <p:grpSpPr bwMode="auto">
          <a:xfrm>
            <a:off x="3851920" y="1389454"/>
            <a:ext cx="5148064" cy="4847491"/>
            <a:chOff x="928877" y="526510"/>
            <a:chExt cx="6762750" cy="6048375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BB1606DB-AA59-2EC6-990F-CD95E7D834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877" y="526510"/>
              <a:ext cx="6762750" cy="604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F092B72-CDC4-F01C-5230-8468AADA8E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835" y="571499"/>
              <a:ext cx="6598919" cy="5884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0BE3CD7-F43F-2C98-AF41-A1A93ACF9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785" y="552449"/>
              <a:ext cx="6637020" cy="5922645"/>
            </a:xfrm>
            <a:custGeom>
              <a:avLst/>
              <a:gdLst>
                <a:gd name="T0" fmla="*/ 0 w 6637020"/>
                <a:gd name="T1" fmla="*/ 5922264 h 5922645"/>
                <a:gd name="T2" fmla="*/ 6637019 w 6637020"/>
                <a:gd name="T3" fmla="*/ 5922264 h 5922645"/>
                <a:gd name="T4" fmla="*/ 6637019 w 6637020"/>
                <a:gd name="T5" fmla="*/ 0 h 5922645"/>
                <a:gd name="T6" fmla="*/ 0 w 6637020"/>
                <a:gd name="T7" fmla="*/ 0 h 5922645"/>
                <a:gd name="T8" fmla="*/ 0 w 6637020"/>
                <a:gd name="T9" fmla="*/ 5922264 h 5922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37020" h="5922645">
                  <a:moveTo>
                    <a:pt x="0" y="5922264"/>
                  </a:moveTo>
                  <a:lnTo>
                    <a:pt x="6637019" y="5922264"/>
                  </a:lnTo>
                  <a:lnTo>
                    <a:pt x="6637019" y="0"/>
                  </a:lnTo>
                  <a:lnTo>
                    <a:pt x="0" y="0"/>
                  </a:lnTo>
                  <a:lnTo>
                    <a:pt x="0" y="5922264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17719C-0FA6-136D-8A18-D12B4AA8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operators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F4272-00A1-0AB5-D306-54F69F082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552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object 11">
            <a:extLst>
              <a:ext uri="{FF2B5EF4-FFF2-40B4-BE49-F238E27FC236}">
                <a16:creationId xmlns:a16="http://schemas.microsoft.com/office/drawing/2014/main" id="{324DB051-0B9D-1678-01CE-16B831F44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456" y="1556792"/>
            <a:ext cx="7920806" cy="287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889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en-US" sz="2600" dirty="0">
                <a:cs typeface="Arial" panose="020B0604020202020204" pitchFamily="34" charset="0"/>
              </a:rPr>
              <a:t>JavaScript  supports the following types of operators:</a:t>
            </a:r>
          </a:p>
          <a:p>
            <a:pPr marL="4699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cs typeface="Arial" panose="020B0604020202020204" pitchFamily="34" charset="0"/>
              </a:rPr>
              <a:t>Arithmetic Operators</a:t>
            </a:r>
          </a:p>
          <a:p>
            <a:pPr marL="4699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cs typeface="Arial" panose="020B0604020202020204" pitchFamily="34" charset="0"/>
              </a:rPr>
              <a:t>Comparison Operators</a:t>
            </a:r>
          </a:p>
          <a:p>
            <a:pPr marL="4699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cs typeface="Arial" panose="020B0604020202020204" pitchFamily="34" charset="0"/>
              </a:rPr>
              <a:t>Logical (or Relational) Operators</a:t>
            </a:r>
          </a:p>
          <a:p>
            <a:pPr marL="4699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cs typeface="Arial" panose="020B0604020202020204" pitchFamily="34" charset="0"/>
              </a:rPr>
              <a:t>Assignment Operators</a:t>
            </a:r>
          </a:p>
          <a:p>
            <a:pPr marL="4699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600" dirty="0">
                <a:cs typeface="Arial" panose="020B0604020202020204" pitchFamily="34" charset="0"/>
              </a:rPr>
              <a:t>Conditional (or ternary) Operators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BDCE485-4E2A-E78A-143F-67AD1B96BB93}"/>
              </a:ext>
            </a:extLst>
          </p:cNvPr>
          <p:cNvSpPr txBox="1">
            <a:spLocks/>
          </p:cNvSpPr>
          <p:nvPr/>
        </p:nvSpPr>
        <p:spPr>
          <a:xfrm>
            <a:off x="22247" y="332656"/>
            <a:ext cx="8785225" cy="72008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Operators</a:t>
            </a:r>
            <a:endParaRPr lang="en-GB" kern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>
            <a:extLst>
              <a:ext uri="{FF2B5EF4-FFF2-40B4-BE49-F238E27FC236}">
                <a16:creationId xmlns:a16="http://schemas.microsoft.com/office/drawing/2014/main" id="{7F9CF63C-401E-D19D-7BE3-CDEE756FA7DE}"/>
              </a:ext>
            </a:extLst>
          </p:cNvPr>
          <p:cNvSpPr txBox="1"/>
          <p:nvPr/>
        </p:nvSpPr>
        <p:spPr>
          <a:xfrm>
            <a:off x="393700" y="1657350"/>
            <a:ext cx="1685925" cy="4127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ts val="3185"/>
              </a:lnSpc>
              <a:defRPr/>
            </a:pPr>
            <a:r>
              <a:rPr sz="2800" spc="-5" dirty="0">
                <a:latin typeface="Trebuchet MS"/>
                <a:cs typeface="Trebuchet MS"/>
              </a:rPr>
              <a:t>Ari</a:t>
            </a:r>
            <a:r>
              <a:rPr sz="2800" spc="-15" dirty="0">
                <a:latin typeface="Trebuchet MS"/>
                <a:cs typeface="Trebuchet MS"/>
              </a:rPr>
              <a:t>t</a:t>
            </a:r>
            <a:r>
              <a:rPr sz="2800" spc="-10" dirty="0">
                <a:latin typeface="Trebuchet MS"/>
                <a:cs typeface="Trebuchet MS"/>
              </a:rPr>
              <a:t>hme</a:t>
            </a:r>
            <a:r>
              <a:rPr sz="2800" spc="-20" dirty="0">
                <a:latin typeface="Trebuchet MS"/>
                <a:cs typeface="Trebuchet MS"/>
              </a:rPr>
              <a:t>t</a:t>
            </a:r>
            <a:r>
              <a:rPr sz="2800" spc="-10" dirty="0">
                <a:latin typeface="Trebuchet MS"/>
                <a:cs typeface="Trebuchet MS"/>
              </a:rPr>
              <a:t>ic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7ACD062-9B7E-399D-CA4F-10098C792D7D}"/>
              </a:ext>
            </a:extLst>
          </p:cNvPr>
          <p:cNvSpPr txBox="1"/>
          <p:nvPr/>
        </p:nvSpPr>
        <p:spPr>
          <a:xfrm>
            <a:off x="2192338" y="1657350"/>
            <a:ext cx="1568450" cy="4127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ts val="3185"/>
              </a:lnSpc>
              <a:defRPr/>
            </a:pPr>
            <a:r>
              <a:rPr sz="2800" spc="-5" dirty="0">
                <a:latin typeface="Trebuchet MS"/>
                <a:cs typeface="Trebuchet MS"/>
              </a:rPr>
              <a:t>Operators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7653" name="object 25">
            <a:extLst>
              <a:ext uri="{FF2B5EF4-FFF2-40B4-BE49-F238E27FC236}">
                <a16:creationId xmlns:a16="http://schemas.microsoft.com/office/drawing/2014/main" id="{AFFBB49F-856A-F844-B2D1-BE6C7585A8AA}"/>
              </a:ext>
            </a:extLst>
          </p:cNvPr>
          <p:cNvSpPr>
            <a:spLocks/>
          </p:cNvSpPr>
          <p:nvPr/>
        </p:nvSpPr>
        <p:spPr bwMode="auto">
          <a:xfrm>
            <a:off x="285750" y="1617663"/>
            <a:ext cx="4732338" cy="814387"/>
          </a:xfrm>
          <a:custGeom>
            <a:avLst/>
            <a:gdLst>
              <a:gd name="T0" fmla="*/ 1802517 w 4732655"/>
              <a:gd name="T1" fmla="*/ 0 h 814069"/>
              <a:gd name="T2" fmla="*/ 0 w 4732655"/>
              <a:gd name="T3" fmla="*/ 0 h 814069"/>
              <a:gd name="T4" fmla="*/ 0 w 4732655"/>
              <a:gd name="T5" fmla="*/ 814146 h 814069"/>
              <a:gd name="T6" fmla="*/ 1802517 w 4732655"/>
              <a:gd name="T7" fmla="*/ 814146 h 814069"/>
              <a:gd name="T8" fmla="*/ 1802517 w 4732655"/>
              <a:gd name="T9" fmla="*/ 0 h 814069"/>
              <a:gd name="T10" fmla="*/ 4731728 w 4732655"/>
              <a:gd name="T11" fmla="*/ 0 h 814069"/>
              <a:gd name="T12" fmla="*/ 1802542 w 4732655"/>
              <a:gd name="T13" fmla="*/ 0 h 814069"/>
              <a:gd name="T14" fmla="*/ 1802542 w 4732655"/>
              <a:gd name="T15" fmla="*/ 814146 h 814069"/>
              <a:gd name="T16" fmla="*/ 4731728 w 4732655"/>
              <a:gd name="T17" fmla="*/ 814146 h 814069"/>
              <a:gd name="T18" fmla="*/ 4731728 w 4732655"/>
              <a:gd name="T19" fmla="*/ 0 h 81406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732655" h="814069">
                <a:moveTo>
                  <a:pt x="1802638" y="0"/>
                </a:moveTo>
                <a:lnTo>
                  <a:pt x="0" y="0"/>
                </a:lnTo>
                <a:lnTo>
                  <a:pt x="0" y="813828"/>
                </a:lnTo>
                <a:lnTo>
                  <a:pt x="1802638" y="813828"/>
                </a:lnTo>
                <a:lnTo>
                  <a:pt x="1802638" y="0"/>
                </a:lnTo>
                <a:close/>
              </a:path>
              <a:path w="4732655" h="814069">
                <a:moveTo>
                  <a:pt x="4732045" y="0"/>
                </a:moveTo>
                <a:lnTo>
                  <a:pt x="1802663" y="0"/>
                </a:lnTo>
                <a:lnTo>
                  <a:pt x="1802663" y="813828"/>
                </a:lnTo>
                <a:lnTo>
                  <a:pt x="4732045" y="813828"/>
                </a:lnTo>
                <a:lnTo>
                  <a:pt x="473204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GB"/>
          </a:p>
        </p:txBody>
      </p:sp>
      <p:graphicFrame>
        <p:nvGraphicFramePr>
          <p:cNvPr id="27" name="object 27">
            <a:extLst>
              <a:ext uri="{FF2B5EF4-FFF2-40B4-BE49-F238E27FC236}">
                <a16:creationId xmlns:a16="http://schemas.microsoft.com/office/drawing/2014/main" id="{45B24FE1-4425-4E8F-7F2C-5080C2E35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271850"/>
              </p:ext>
            </p:extLst>
          </p:nvPr>
        </p:nvGraphicFramePr>
        <p:xfrm>
          <a:off x="285750" y="1268761"/>
          <a:ext cx="8282755" cy="5024668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261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1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3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348"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1250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1250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920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1250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920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8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1250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51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20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x=2, y=2 ,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x+y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=?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15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15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508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Subtraction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508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20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x=5, y=2,  x-y = ? 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508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15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15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508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1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Multiplication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20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x=5, y=4, x*y =?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63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Division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20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15/5</a:t>
                      </a:r>
                    </a:p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3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5/2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15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15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  <a:p>
                      <a:pPr marL="15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3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27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Modulus (division remainder)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20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5%2</a:t>
                      </a:r>
                    </a:p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3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10%8</a:t>
                      </a:r>
                    </a:p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3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10%2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15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15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pPr marL="15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3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pPr marL="15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3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69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++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Increment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20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x=5</a:t>
                      </a:r>
                    </a:p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3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x++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x=6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9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Decrement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92075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x=5</a:t>
                      </a:r>
                    </a:p>
                    <a:p>
                      <a:pPr marL="92075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38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x--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x=4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Title 1">
            <a:extLst>
              <a:ext uri="{FF2B5EF4-FFF2-40B4-BE49-F238E27FC236}">
                <a16:creationId xmlns:a16="http://schemas.microsoft.com/office/drawing/2014/main" id="{81519C3C-FE7B-B66B-062B-33F01ACFF837}"/>
              </a:ext>
            </a:extLst>
          </p:cNvPr>
          <p:cNvSpPr txBox="1">
            <a:spLocks/>
          </p:cNvSpPr>
          <p:nvPr/>
        </p:nvSpPr>
        <p:spPr>
          <a:xfrm>
            <a:off x="128588" y="280988"/>
            <a:ext cx="8785225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Operators (Arithmetical)</a:t>
            </a:r>
            <a:endParaRPr lang="en-GB" kern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6E60B3D0-8FD3-1890-6582-D015E5785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881218"/>
              </p:ext>
            </p:extLst>
          </p:nvPr>
        </p:nvGraphicFramePr>
        <p:xfrm>
          <a:off x="1115616" y="1423988"/>
          <a:ext cx="6840761" cy="443239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1996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2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8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  <a:r>
                        <a:rPr sz="2000" b="1" spc="-3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1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r>
                        <a:rPr sz="2000" b="1" spc="-2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1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</a:t>
                      </a:r>
                      <a:r>
                        <a:rPr sz="2000" b="1" spc="-1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36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</a:p>
                  </a:txBody>
                  <a:tcPr marL="0" marR="0" marT="476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x=y</a:t>
                      </a:r>
                    </a:p>
                  </a:txBody>
                  <a:tcPr marL="0" marR="0" marT="476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lang="en-GB"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y=x</a:t>
                      </a:r>
                    </a:p>
                  </a:txBody>
                  <a:tcPr marL="0" marR="0" marT="476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658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+=</a:t>
                      </a:r>
                    </a:p>
                  </a:txBody>
                  <a:tcPr marL="0" marR="0" marT="476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x+=y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76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x=x+y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76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537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-=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76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spc="-1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x-=y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76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spc="-1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x=x-y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76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657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spc="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*=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825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x*=y</a:t>
                      </a:r>
                    </a:p>
                  </a:txBody>
                  <a:tcPr marL="0" marR="0" marT="4825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x=x*y</a:t>
                      </a:r>
                    </a:p>
                  </a:txBody>
                  <a:tcPr marL="0" marR="0" marT="4825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561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/=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825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x/=y</a:t>
                      </a:r>
                      <a:endParaRPr sz="200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825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x=x/y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825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597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%=</a:t>
                      </a:r>
                    </a:p>
                  </a:txBody>
                  <a:tcPr marL="0" marR="0" marT="4825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x%=y</a:t>
                      </a:r>
                      <a:endParaRPr sz="200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825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x=x%y</a:t>
                      </a:r>
                    </a:p>
                  </a:txBody>
                  <a:tcPr marL="0" marR="0" marT="4825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Title 1">
            <a:extLst>
              <a:ext uri="{FF2B5EF4-FFF2-40B4-BE49-F238E27FC236}">
                <a16:creationId xmlns:a16="http://schemas.microsoft.com/office/drawing/2014/main" id="{E5C9BAAA-36F5-8E02-D79F-4FBA24CB2A3C}"/>
              </a:ext>
            </a:extLst>
          </p:cNvPr>
          <p:cNvSpPr txBox="1">
            <a:spLocks/>
          </p:cNvSpPr>
          <p:nvPr/>
        </p:nvSpPr>
        <p:spPr>
          <a:xfrm>
            <a:off x="179387" y="248125"/>
            <a:ext cx="8785225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Operators (Arithmetical)</a:t>
            </a:r>
            <a:endParaRPr lang="en-GB" kern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6436AD11-8514-1648-3F14-72412C7EFFDA}"/>
              </a:ext>
            </a:extLst>
          </p:cNvPr>
          <p:cNvSpPr txBox="1">
            <a:spLocks/>
          </p:cNvSpPr>
          <p:nvPr/>
        </p:nvSpPr>
        <p:spPr>
          <a:xfrm>
            <a:off x="128588" y="280988"/>
            <a:ext cx="8785225" cy="84375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Operators (Comparison )</a:t>
            </a:r>
            <a:endParaRPr lang="en-GB" kern="0" dirty="0"/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E90C4992-A3FB-568C-0689-7C035BC69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982304"/>
              </p:ext>
            </p:extLst>
          </p:nvPr>
        </p:nvGraphicFramePr>
        <p:xfrm>
          <a:off x="1259632" y="1556792"/>
          <a:ext cx="6120680" cy="4032449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373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296">
                <a:tc>
                  <a:txBody>
                    <a:bodyPr/>
                    <a:lstStyle/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Operator </a:t>
                      </a: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Description </a:t>
                      </a: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64333"/>
                  </a:ext>
                </a:extLst>
              </a:tr>
              <a:tr h="671934"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!=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not equal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539"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greater than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748"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less than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992"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greater than or equal to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940"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90488">
                        <a:spcBef>
                          <a:spcPct val="20000"/>
                        </a:spcBef>
                        <a:defRPr sz="2600" i="1">
                          <a:solidFill>
                            <a:srgbClr val="002060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bg2"/>
                        </a:buClr>
                        <a:defRPr sz="24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Gill Sans" charset="0"/>
                        <a:defRPr sz="20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>
                          <a:solidFill>
                            <a:schemeClr val="bg2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bg2"/>
                          </a:solidFill>
                          <a:latin typeface="Gill Sans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90488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63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less than or equal to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Arial" panose="020B0604020202020204" pitchFamily="34" charset="0"/>
                      </a:endParaRPr>
                    </a:p>
                  </a:txBody>
                  <a:tcPr marL="0" marR="0" marT="4635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7">
            <a:extLst>
              <a:ext uri="{FF2B5EF4-FFF2-40B4-BE49-F238E27FC236}">
                <a16:creationId xmlns:a16="http://schemas.microsoft.com/office/drawing/2014/main" id="{8DA4486F-541C-6D29-7BB2-6A33BB6F7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835622"/>
              </p:ext>
            </p:extLst>
          </p:nvPr>
        </p:nvGraphicFramePr>
        <p:xfrm>
          <a:off x="899592" y="1423988"/>
          <a:ext cx="6552728" cy="3877221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65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65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-1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65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071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1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&amp;&amp;</a:t>
                      </a:r>
                      <a:endParaRPr sz="200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x=6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y=3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(x</a:t>
                      </a:r>
                      <a:r>
                        <a:rPr sz="2000" spc="-1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sz="2000" spc="-2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sz="2000" spc="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1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&amp;&amp;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</a:t>
                      </a:r>
                      <a:r>
                        <a:rPr sz="2000" spc="-1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sz="2000" spc="-1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1) returns</a:t>
                      </a:r>
                      <a:r>
                        <a:rPr sz="2000" spc="1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571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21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||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1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x=6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y=3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(x==5</a:t>
                      </a:r>
                      <a:r>
                        <a:rPr sz="2000" spc="-3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||</a:t>
                      </a:r>
                      <a:r>
                        <a:rPr sz="2000" spc="-2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y==5)</a:t>
                      </a:r>
                      <a:r>
                        <a:rPr sz="2000" spc="-2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</a:t>
                      </a:r>
                      <a:r>
                        <a:rPr sz="2000" spc="3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1591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</a:t>
                      </a:r>
                    </a:p>
                  </a:txBody>
                  <a:tcPr marL="0" marR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x=6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y=3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2075" algn="l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!(x==y)</a:t>
                      </a:r>
                      <a:r>
                        <a:rPr sz="2000" spc="-5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</a:t>
                      </a:r>
                      <a:r>
                        <a:rPr sz="200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spc="-5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sz="200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Title 1">
            <a:extLst>
              <a:ext uri="{FF2B5EF4-FFF2-40B4-BE49-F238E27FC236}">
                <a16:creationId xmlns:a16="http://schemas.microsoft.com/office/drawing/2014/main" id="{BB3644D6-3D22-2CCD-FEAA-34481D23D9DE}"/>
              </a:ext>
            </a:extLst>
          </p:cNvPr>
          <p:cNvSpPr txBox="1">
            <a:spLocks/>
          </p:cNvSpPr>
          <p:nvPr/>
        </p:nvSpPr>
        <p:spPr>
          <a:xfrm>
            <a:off x="128588" y="280988"/>
            <a:ext cx="8785225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Operators (Logical Operators)</a:t>
            </a:r>
            <a:endParaRPr lang="en-GB" kern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162A-A244-C09B-C8B0-888B73DF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and loops in </a:t>
            </a:r>
            <a:r>
              <a:rPr lang="en-US" dirty="0" err="1"/>
              <a:t>js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4EBC2-A011-DA2A-768F-67591D13D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835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1B4AFD9-05BE-02E1-8B63-72CB94F31C77}"/>
              </a:ext>
            </a:extLst>
          </p:cNvPr>
          <p:cNvSpPr txBox="1"/>
          <p:nvPr/>
        </p:nvSpPr>
        <p:spPr>
          <a:xfrm>
            <a:off x="576263" y="5218113"/>
            <a:ext cx="858837" cy="29845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1800" spc="-5" dirty="0">
                <a:solidFill>
                  <a:srgbClr val="FFFFFF"/>
                </a:solidFill>
                <a:latin typeface="Trebuchet MS"/>
                <a:cs typeface="Trebuchet MS"/>
              </a:rPr>
              <a:t>html&gt;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98C5B89-52E0-8E9D-007B-205E0ECB5BED}"/>
              </a:ext>
            </a:extLst>
          </p:cNvPr>
          <p:cNvSpPr txBox="1">
            <a:spLocks/>
          </p:cNvSpPr>
          <p:nvPr/>
        </p:nvSpPr>
        <p:spPr>
          <a:xfrm>
            <a:off x="128588" y="280988"/>
            <a:ext cx="8785225" cy="84375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If - Else</a:t>
            </a:r>
            <a:endParaRPr lang="en-GB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CC0D8D-7718-16BA-A190-0E1AB58EF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2" y="1315478"/>
            <a:ext cx="8399248" cy="4561794"/>
          </a:xfrm>
          <a:prstGeom prst="rect">
            <a:avLst/>
          </a:prstGeom>
        </p:spPr>
      </p:pic>
      <p:sp>
        <p:nvSpPr>
          <p:cNvPr id="31750" name="TextBox 25">
            <a:extLst>
              <a:ext uri="{FF2B5EF4-FFF2-40B4-BE49-F238E27FC236}">
                <a16:creationId xmlns:a16="http://schemas.microsoft.com/office/drawing/2014/main" id="{28583E3E-EE3F-4184-3ED1-D25BF7D01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887" y="5179554"/>
            <a:ext cx="6070005" cy="1015663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 b="1" dirty="0">
                <a:solidFill>
                  <a:srgbClr val="002060"/>
                </a:solidFill>
              </a:rPr>
              <a:t>Output: </a:t>
            </a:r>
          </a:p>
          <a:p>
            <a:r>
              <a:rPr lang="en-US" altLang="en-US" sz="2000" dirty="0">
                <a:solidFill>
                  <a:srgbClr val="002060"/>
                </a:solidFill>
              </a:rPr>
              <a:t>Qualifies for driving</a:t>
            </a:r>
          </a:p>
          <a:p>
            <a:r>
              <a:rPr lang="en-US" altLang="en-US" sz="2000" dirty="0">
                <a:solidFill>
                  <a:srgbClr val="002060"/>
                </a:solidFill>
              </a:rPr>
              <a:t>Set the variable to different value and then try...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D657265-CB64-CFFC-8919-8C579FF16C1E}"/>
              </a:ext>
            </a:extLst>
          </p:cNvPr>
          <p:cNvSpPr txBox="1">
            <a:spLocks/>
          </p:cNvSpPr>
          <p:nvPr/>
        </p:nvSpPr>
        <p:spPr>
          <a:xfrm>
            <a:off x="179387" y="375515"/>
            <a:ext cx="8785225" cy="71085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Switch - Case</a:t>
            </a:r>
            <a:endParaRPr lang="en-GB" kern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B3DC1B-3EEC-BFDE-19EC-BF6A1B200B5D}"/>
              </a:ext>
            </a:extLst>
          </p:cNvPr>
          <p:cNvSpPr txBox="1"/>
          <p:nvPr/>
        </p:nvSpPr>
        <p:spPr>
          <a:xfrm>
            <a:off x="5722937" y="3861048"/>
            <a:ext cx="3241675" cy="1738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Output</a:t>
            </a:r>
          </a:p>
          <a:p>
            <a:pPr>
              <a:defRPr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Entering switch block</a:t>
            </a:r>
          </a:p>
          <a:p>
            <a:pPr>
              <a:defRPr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Good job</a:t>
            </a:r>
          </a:p>
          <a:p>
            <a:pPr>
              <a:defRPr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Exiting switch block</a:t>
            </a:r>
          </a:p>
          <a:p>
            <a:pPr>
              <a:defRPr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Set the variable to different value and then try...</a:t>
            </a:r>
          </a:p>
          <a:p>
            <a:pPr>
              <a:defRPr/>
            </a:pPr>
            <a:endParaRPr lang="en-US" sz="11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3C64BC-216F-AC4B-4692-45E159DBE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9" y="1484784"/>
            <a:ext cx="5391902" cy="42868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9">
            <a:extLst>
              <a:ext uri="{FF2B5EF4-FFF2-40B4-BE49-F238E27FC236}">
                <a16:creationId xmlns:a16="http://schemas.microsoft.com/office/drawing/2014/main" id="{4FB47A7E-1B6C-C0D5-F04E-B14163045C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 Loop</a:t>
            </a:r>
            <a:endParaRPr lang="en-GB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8E1C33-DB8A-DB6C-0C72-C84E4B883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8" y="1412776"/>
            <a:ext cx="5163271" cy="3458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6CA5BC-E63B-2242-BED1-43A62860F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700" y="2784389"/>
            <a:ext cx="3575046" cy="32294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43F4F1-4824-682D-6139-220F08456DF3}"/>
              </a:ext>
            </a:extLst>
          </p:cNvPr>
          <p:cNvSpPr txBox="1"/>
          <p:nvPr/>
        </p:nvSpPr>
        <p:spPr>
          <a:xfrm>
            <a:off x="6228184" y="2322724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Output</a:t>
            </a:r>
            <a:endParaRPr lang="en-GB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B424B1-3108-E325-F622-C83AAEAC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</a:t>
            </a:r>
            <a:r>
              <a:rPr lang="en-US" dirty="0" err="1"/>
              <a:t>js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983EA-A66A-AB71-A492-79DC5CE66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614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object 6">
            <a:extLst>
              <a:ext uri="{FF2B5EF4-FFF2-40B4-BE49-F238E27FC236}">
                <a16:creationId xmlns:a16="http://schemas.microsoft.com/office/drawing/2014/main" id="{D05909F7-F596-9917-4625-EDD6FF07D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582738"/>
            <a:ext cx="8567738" cy="401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354013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A function is a sequence of reusable code</a:t>
            </a:r>
          </a:p>
          <a:p>
            <a:pPr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Called anywhere in your program</a:t>
            </a:r>
          </a:p>
          <a:p>
            <a:pPr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Eliminates the need of writing the same code again</a:t>
            </a:r>
          </a:p>
          <a:p>
            <a:pPr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Modular code</a:t>
            </a:r>
          </a:p>
          <a:p>
            <a:pPr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Functions divide a big program into a  number of small and manageable parts (modules)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panose="020B0604020202020204" pitchFamily="34" charset="0"/>
              </a:rPr>
              <a:t>Functions accept parameters to perform operations</a:t>
            </a:r>
          </a:p>
        </p:txBody>
      </p:sp>
      <p:sp>
        <p:nvSpPr>
          <p:cNvPr id="8" name="Title 19">
            <a:extLst>
              <a:ext uri="{FF2B5EF4-FFF2-40B4-BE49-F238E27FC236}">
                <a16:creationId xmlns:a16="http://schemas.microsoft.com/office/drawing/2014/main" id="{C8362FFA-AE3D-5F78-B4C1-E48D1CB1FE14}"/>
              </a:ext>
            </a:extLst>
          </p:cNvPr>
          <p:cNvSpPr txBox="1">
            <a:spLocks/>
          </p:cNvSpPr>
          <p:nvPr/>
        </p:nvSpPr>
        <p:spPr>
          <a:xfrm>
            <a:off x="131763" y="188640"/>
            <a:ext cx="8785225" cy="92623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Functions</a:t>
            </a:r>
            <a:endParaRPr lang="en-GB" kern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object 8">
            <a:extLst>
              <a:ext uri="{FF2B5EF4-FFF2-40B4-BE49-F238E27FC236}">
                <a16:creationId xmlns:a16="http://schemas.microsoft.com/office/drawing/2014/main" id="{7A31B93D-54BC-5F79-4350-D60730276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597732"/>
            <a:ext cx="8139113" cy="1911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285750" indent="-2730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</a:pPr>
            <a:r>
              <a:rPr lang="en-US" altLang="en-US" dirty="0">
                <a:cs typeface="Arial" panose="020B0604020202020204" pitchFamily="34" charset="0"/>
              </a:rPr>
              <a:t>The syntax of function in JavaScript is:</a:t>
            </a:r>
          </a:p>
          <a:p>
            <a:pPr>
              <a:spcBef>
                <a:spcPts val="100"/>
              </a:spcBef>
            </a:pPr>
            <a:r>
              <a:rPr lang="en-US" altLang="en-US" b="1" dirty="0">
                <a:cs typeface="Arial" panose="020B0604020202020204" pitchFamily="34" charset="0"/>
              </a:rPr>
              <a:t>function </a:t>
            </a:r>
            <a:r>
              <a:rPr lang="en-US" altLang="en-US" dirty="0">
                <a:cs typeface="Arial" panose="020B0604020202020204" pitchFamily="34" charset="0"/>
              </a:rPr>
              <a:t>keyword followed by:</a:t>
            </a:r>
          </a:p>
          <a:p>
            <a:pPr marL="527050" indent="-514350">
              <a:spcBef>
                <a:spcPts val="100"/>
              </a:spcBef>
              <a:buFont typeface="+mj-lt"/>
              <a:buAutoNum type="arabicPeriod"/>
            </a:pPr>
            <a:r>
              <a:rPr lang="en-US" altLang="en-US" dirty="0">
                <a:cs typeface="Arial" panose="020B0604020202020204" pitchFamily="34" charset="0"/>
              </a:rPr>
              <a:t>A unique  function name</a:t>
            </a:r>
          </a:p>
          <a:p>
            <a:pPr marL="527050" indent="-514350">
              <a:spcBef>
                <a:spcPts val="100"/>
              </a:spcBef>
              <a:buFont typeface="+mj-lt"/>
              <a:buAutoNum type="arabicPeriod"/>
            </a:pPr>
            <a:r>
              <a:rPr lang="en-US" altLang="en-US" dirty="0">
                <a:cs typeface="Arial" panose="020B0604020202020204" pitchFamily="34" charset="0"/>
              </a:rPr>
              <a:t>A list of parameters (that might be empty)</a:t>
            </a:r>
          </a:p>
          <a:p>
            <a:pPr marL="527050" indent="-514350">
              <a:spcBef>
                <a:spcPts val="100"/>
              </a:spcBef>
              <a:buFont typeface="+mj-lt"/>
              <a:buAutoNum type="arabicPeriod"/>
            </a:pPr>
            <a:r>
              <a:rPr lang="en-US" altLang="en-US" dirty="0">
                <a:cs typeface="Arial" panose="020B0604020202020204" pitchFamily="34" charset="0"/>
              </a:rPr>
              <a:t>A statement block surrounded by curly brackets.</a:t>
            </a:r>
          </a:p>
        </p:txBody>
      </p:sp>
      <p:sp>
        <p:nvSpPr>
          <p:cNvPr id="10" name="Title 19">
            <a:extLst>
              <a:ext uri="{FF2B5EF4-FFF2-40B4-BE49-F238E27FC236}">
                <a16:creationId xmlns:a16="http://schemas.microsoft.com/office/drawing/2014/main" id="{3D7E7C55-7E73-8004-850B-7D052A3653E0}"/>
              </a:ext>
            </a:extLst>
          </p:cNvPr>
          <p:cNvSpPr txBox="1">
            <a:spLocks/>
          </p:cNvSpPr>
          <p:nvPr/>
        </p:nvSpPr>
        <p:spPr>
          <a:xfrm>
            <a:off x="107504" y="331912"/>
            <a:ext cx="8785225" cy="72082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Function Syntax</a:t>
            </a:r>
            <a:endParaRPr lang="en-GB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298DD-D344-D1D3-AD94-711B3F9F3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4054149"/>
            <a:ext cx="7023679" cy="183501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16DA31E7-9BB6-A266-8F82-E48D53259077}"/>
              </a:ext>
            </a:extLst>
          </p:cNvPr>
          <p:cNvSpPr txBox="1">
            <a:spLocks/>
          </p:cNvSpPr>
          <p:nvPr/>
        </p:nvSpPr>
        <p:spPr>
          <a:xfrm>
            <a:off x="103188" y="260648"/>
            <a:ext cx="8785225" cy="79208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Function - Example</a:t>
            </a:r>
            <a:endParaRPr lang="en-GB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CACA22-C405-B72C-638D-51C464AB6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86" y="1340768"/>
            <a:ext cx="7581787" cy="480737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object 2">
            <a:extLst>
              <a:ext uri="{FF2B5EF4-FFF2-40B4-BE49-F238E27FC236}">
                <a16:creationId xmlns:a16="http://schemas.microsoft.com/office/drawing/2014/main" id="{B12DFDC7-FD1F-BB36-312E-5BD6E1445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1298904"/>
            <a:ext cx="8501260" cy="2535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object 3">
            <a:extLst>
              <a:ext uri="{FF2B5EF4-FFF2-40B4-BE49-F238E27FC236}">
                <a16:creationId xmlns:a16="http://schemas.microsoft.com/office/drawing/2014/main" id="{91535CFF-C2A8-792B-5C8F-3439E8F01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3907610"/>
            <a:ext cx="8645276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9">
            <a:extLst>
              <a:ext uri="{FF2B5EF4-FFF2-40B4-BE49-F238E27FC236}">
                <a16:creationId xmlns:a16="http://schemas.microsoft.com/office/drawing/2014/main" id="{BB64E542-7B94-D603-943F-4FB0AD55CB9F}"/>
              </a:ext>
            </a:extLst>
          </p:cNvPr>
          <p:cNvSpPr txBox="1">
            <a:spLocks/>
          </p:cNvSpPr>
          <p:nvPr/>
        </p:nvSpPr>
        <p:spPr>
          <a:xfrm>
            <a:off x="103188" y="115888"/>
            <a:ext cx="8785225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Function – Example with Output </a:t>
            </a:r>
            <a:endParaRPr lang="en-GB" kern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0231-6BDF-9B7C-8CDF-07891781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3CA8C7-D916-19C5-61E8-F28A7FC03F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188" y="1412776"/>
            <a:ext cx="8890575" cy="44012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What is the correct syntax for referring to an external script called "xxx.js"?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&lt;script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href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="xxx.js"&gt;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&lt;script name="xxx.js"&gt;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&lt;script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src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="xxx.js"&gt;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How do you write "Hello World" in an alert box in JavaScript?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alertBox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("Hello World");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msg("Hello World");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alert("Hello World");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How do you create a function in JavaScript?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function =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myFunction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function:myFunction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function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myFunction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()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3498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object 3">
            <a:extLst>
              <a:ext uri="{FF2B5EF4-FFF2-40B4-BE49-F238E27FC236}">
                <a16:creationId xmlns:a16="http://schemas.microsoft.com/office/drawing/2014/main" id="{3B773B81-975A-9507-F6D3-2FF8265F1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590053"/>
            <a:ext cx="7992888" cy="1493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3335" rIns="0" bIns="0">
            <a:spAutoFit/>
          </a:bodyPr>
          <a:lstStyle>
            <a:lvl1pPr marL="533400" indent="-228600"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647700" indent="-3429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300" dirty="0">
                <a:cs typeface="Arial" panose="020B0604020202020204" pitchFamily="34" charset="0"/>
              </a:rPr>
              <a:t>An alert box is often used if you want to make  sure information comes through to the user.</a:t>
            </a:r>
          </a:p>
          <a:p>
            <a:pPr marL="647700" indent="-342900">
              <a:spcBef>
                <a:spcPts val="488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300" dirty="0">
                <a:cs typeface="Arial" panose="020B0604020202020204" pitchFamily="34" charset="0"/>
              </a:rPr>
              <a:t>When an alert box pops up, the user will have to  click "OK" to proceed.</a:t>
            </a:r>
          </a:p>
        </p:txBody>
      </p:sp>
      <p:sp>
        <p:nvSpPr>
          <p:cNvPr id="4" name="Title 19">
            <a:extLst>
              <a:ext uri="{FF2B5EF4-FFF2-40B4-BE49-F238E27FC236}">
                <a16:creationId xmlns:a16="http://schemas.microsoft.com/office/drawing/2014/main" id="{8D934DE9-7F72-F7B5-8848-E41CFCE893E4}"/>
              </a:ext>
            </a:extLst>
          </p:cNvPr>
          <p:cNvSpPr txBox="1">
            <a:spLocks/>
          </p:cNvSpPr>
          <p:nvPr/>
        </p:nvSpPr>
        <p:spPr>
          <a:xfrm>
            <a:off x="179387" y="271365"/>
            <a:ext cx="8785225" cy="85422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Popup Boxes</a:t>
            </a:r>
            <a:endParaRPr lang="en-GB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7591F-2605-439A-2651-AEBC5B809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546955"/>
            <a:ext cx="5463638" cy="21854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object 9">
            <a:extLst>
              <a:ext uri="{FF2B5EF4-FFF2-40B4-BE49-F238E27FC236}">
                <a16:creationId xmlns:a16="http://schemas.microsoft.com/office/drawing/2014/main" id="{C06A59F2-F557-9BFD-DA25-28C745DDB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1412776"/>
            <a:ext cx="9040812" cy="137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3335" rIns="0" bIns="0">
            <a:spAutoFit/>
          </a:bodyPr>
          <a:lstStyle>
            <a:lvl1pPr marL="241300" indent="-22860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5600" indent="-342900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A 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confirm</a:t>
            </a:r>
            <a:r>
              <a:rPr lang="en-US" altLang="en-US" sz="2000" dirty="0">
                <a:cs typeface="Arial" panose="020B0604020202020204" pitchFamily="34" charset="0"/>
              </a:rPr>
              <a:t> box is used if you want the user to verify or accept something.</a:t>
            </a:r>
          </a:p>
          <a:p>
            <a:pPr marL="355600" indent="-342900">
              <a:spcBef>
                <a:spcPts val="488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When 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confirm </a:t>
            </a:r>
            <a:r>
              <a:rPr lang="en-US" altLang="en-US" sz="2000" dirty="0">
                <a:cs typeface="Arial" panose="020B0604020202020204" pitchFamily="34" charset="0"/>
              </a:rPr>
              <a:t>box pops up, user must click either </a:t>
            </a:r>
            <a:r>
              <a:rPr lang="en-US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"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OK"</a:t>
            </a:r>
            <a:r>
              <a:rPr lang="en-US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or 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"Cancel</a:t>
            </a:r>
            <a:r>
              <a:rPr lang="en-US" altLang="en-US" sz="2000" dirty="0">
                <a:cs typeface="Arial" panose="020B0604020202020204" pitchFamily="34" charset="0"/>
              </a:rPr>
              <a:t>" to proceed.</a:t>
            </a:r>
          </a:p>
          <a:p>
            <a:pPr marL="355600" indent="-342900"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If "OK", the box returns 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true</a:t>
            </a:r>
            <a:r>
              <a:rPr lang="en-US" altLang="en-US" sz="2000" dirty="0">
                <a:cs typeface="Arial" panose="020B0604020202020204" pitchFamily="34" charset="0"/>
              </a:rPr>
              <a:t>. If  "Cancel", the box returns 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false</a:t>
            </a:r>
            <a:r>
              <a:rPr lang="en-US" altLang="en-US" sz="2000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39939" name="Title 9">
            <a:extLst>
              <a:ext uri="{FF2B5EF4-FFF2-40B4-BE49-F238E27FC236}">
                <a16:creationId xmlns:a16="http://schemas.microsoft.com/office/drawing/2014/main" id="{6098DF50-2553-147B-A6BB-7F56927AD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Popup Boxes</a:t>
            </a:r>
            <a:endParaRPr lang="en-GB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1338CC-4490-2F6C-B5CC-D50AA194C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53" y="2785588"/>
            <a:ext cx="6489959" cy="337971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object 9">
            <a:extLst>
              <a:ext uri="{FF2B5EF4-FFF2-40B4-BE49-F238E27FC236}">
                <a16:creationId xmlns:a16="http://schemas.microsoft.com/office/drawing/2014/main" id="{F63E804C-2852-4182-D0B5-C4F778DA6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57" y="1291565"/>
            <a:ext cx="8564885" cy="168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3335" rIns="0" bIns="0">
            <a:spAutoFit/>
          </a:bodyPr>
          <a:lstStyle>
            <a:lvl1pPr marL="354013" indent="-34290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ts val="1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A 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prompt</a:t>
            </a:r>
            <a:r>
              <a:rPr lang="en-US" altLang="en-US" sz="2000" dirty="0">
                <a:cs typeface="Arial" panose="020B0604020202020204" pitchFamily="34" charset="0"/>
              </a:rPr>
              <a:t> box is used if you want user to input a value before entering a page.</a:t>
            </a:r>
          </a:p>
          <a:p>
            <a:pPr algn="just">
              <a:spcBef>
                <a:spcPts val="488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When 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prompt box </a:t>
            </a:r>
            <a:r>
              <a:rPr lang="en-US" altLang="en-US" sz="2000" dirty="0">
                <a:cs typeface="Arial" panose="020B0604020202020204" pitchFamily="34" charset="0"/>
              </a:rPr>
              <a:t>pops up, the user must click "OK" or "Cancel" to proceed after entering an input value.</a:t>
            </a:r>
          </a:p>
          <a:p>
            <a:pPr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If "OK“, the box returns the input value. If "Cancel“, the box returns null.</a:t>
            </a:r>
          </a:p>
        </p:txBody>
      </p:sp>
      <p:sp>
        <p:nvSpPr>
          <p:cNvPr id="11" name="Title 9">
            <a:extLst>
              <a:ext uri="{FF2B5EF4-FFF2-40B4-BE49-F238E27FC236}">
                <a16:creationId xmlns:a16="http://schemas.microsoft.com/office/drawing/2014/main" id="{F97B4127-8681-4839-DF08-BDB4A144E399}"/>
              </a:ext>
            </a:extLst>
          </p:cNvPr>
          <p:cNvSpPr txBox="1">
            <a:spLocks/>
          </p:cNvSpPr>
          <p:nvPr/>
        </p:nvSpPr>
        <p:spPr bwMode="auto">
          <a:xfrm>
            <a:off x="103188" y="181556"/>
            <a:ext cx="8785225" cy="9262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defRPr/>
            </a:pPr>
            <a:r>
              <a:rPr lang="en-US" kern="0" dirty="0"/>
              <a:t>Prompt Boxes</a:t>
            </a:r>
            <a:endParaRPr lang="en-GB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C45B2-0627-380E-D718-351A263A4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93" y="2972153"/>
            <a:ext cx="7713371" cy="319315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47D3FC-4FED-2E9F-029B-36D8F587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Objects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F90C9-927B-89CD-3A02-A892E334E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4521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CF0464-810E-42E3-BC04-6D8B8183EC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528" y="260648"/>
            <a:ext cx="5826125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300" dirty="0"/>
              <a:t>JS</a:t>
            </a:r>
            <a:r>
              <a:rPr spc="-235" dirty="0"/>
              <a:t> </a:t>
            </a:r>
            <a:r>
              <a:rPr spc="45" dirty="0"/>
              <a:t>Objects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2D6B54B-2CC0-A384-A39E-FB50A49B097A}"/>
              </a:ext>
            </a:extLst>
          </p:cNvPr>
          <p:cNvSpPr txBox="1"/>
          <p:nvPr/>
        </p:nvSpPr>
        <p:spPr>
          <a:xfrm>
            <a:off x="179512" y="1484784"/>
            <a:ext cx="8640960" cy="3899144"/>
          </a:xfrm>
          <a:prstGeom prst="rect">
            <a:avLst/>
          </a:prstGeom>
        </p:spPr>
        <p:txBody>
          <a:bodyPr wrap="square" lIns="0" tIns="53975" rIns="0" bIns="0">
            <a:spAutoFit/>
          </a:bodyPr>
          <a:lstStyle>
            <a:lvl1pPr marL="355600" indent="-3429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98450" indent="-285750">
              <a:spcBef>
                <a:spcPts val="42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Objects are variables that can contain many values.</a:t>
            </a:r>
          </a:p>
          <a:p>
            <a:pPr marL="2984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The values are written as </a:t>
            </a:r>
            <a:r>
              <a:rPr lang="en-US" altLang="en-US" sz="2000" b="1" dirty="0" err="1">
                <a:cs typeface="Arial" panose="020B0604020202020204" pitchFamily="34" charset="0"/>
              </a:rPr>
              <a:t>name:value</a:t>
            </a:r>
            <a:r>
              <a:rPr lang="en-US" altLang="en-US" sz="2000" b="1" dirty="0"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pairs (name and value separated by a colon : ) </a:t>
            </a:r>
          </a:p>
          <a:p>
            <a:pPr marL="2984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They are referred to as </a:t>
            </a:r>
            <a:r>
              <a:rPr lang="en-US" altLang="en-US" sz="2000" b="1" dirty="0">
                <a:cs typeface="Arial" panose="020B0604020202020204" pitchFamily="34" charset="0"/>
              </a:rPr>
              <a:t>properties</a:t>
            </a:r>
            <a:r>
              <a:rPr lang="en-US" altLang="en-US" sz="2000" dirty="0">
                <a:cs typeface="Arial" panose="020B0604020202020204" pitchFamily="34" charset="0"/>
              </a:rPr>
              <a:t>.</a:t>
            </a:r>
          </a:p>
          <a:p>
            <a:pPr marL="298450" indent="-285750">
              <a:spcBef>
                <a:spcPts val="32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Define (and create) a JavaScript object with an object literal.</a:t>
            </a:r>
          </a:p>
          <a:p>
            <a:pPr marL="354013">
              <a:lnSpc>
                <a:spcPct val="11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Spaces and line breaks are not important. An object definition can span multiple lines.</a:t>
            </a:r>
          </a:p>
          <a:p>
            <a:pPr marL="354013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You can access object properties in two ways:   </a:t>
            </a:r>
            <a:r>
              <a:rPr lang="en-US" altLang="en-US" sz="2000" dirty="0" err="1">
                <a:solidFill>
                  <a:srgbClr val="002060"/>
                </a:solidFill>
                <a:cs typeface="Arial" panose="020B0604020202020204" pitchFamily="34" charset="0"/>
              </a:rPr>
              <a:t>objectName.propertyName</a:t>
            </a: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  </a:t>
            </a:r>
          </a:p>
          <a:p>
            <a:pPr marL="11113" indent="0">
              <a:lnSpc>
                <a:spcPct val="115000"/>
              </a:lnSpc>
            </a:pP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     </a:t>
            </a:r>
            <a:r>
              <a:rPr lang="en-US" altLang="en-US" sz="2000" dirty="0" err="1">
                <a:solidFill>
                  <a:srgbClr val="002060"/>
                </a:solidFill>
                <a:cs typeface="Arial" panose="020B0604020202020204" pitchFamily="34" charset="0"/>
              </a:rPr>
              <a:t>objectName</a:t>
            </a: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["</a:t>
            </a:r>
            <a:r>
              <a:rPr lang="en-US" altLang="en-US" sz="2000" dirty="0" err="1">
                <a:solidFill>
                  <a:srgbClr val="002060"/>
                </a:solidFill>
                <a:cs typeface="Arial" panose="020B0604020202020204" pitchFamily="34" charset="0"/>
              </a:rPr>
              <a:t>propertyName</a:t>
            </a:r>
            <a:r>
              <a:rPr lang="en-US" altLang="en-US" sz="2000" dirty="0">
                <a:solidFill>
                  <a:srgbClr val="002060"/>
                </a:solidFill>
                <a:cs typeface="Arial" panose="020B0604020202020204" pitchFamily="34" charset="0"/>
              </a:rPr>
              <a:t>"]</a:t>
            </a:r>
          </a:p>
          <a:p>
            <a:pPr marL="298450" indent="-285750">
              <a:spcBef>
                <a:spcPts val="325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552FA-4929-D4E2-9DAB-5AA531A3A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478" y="3861048"/>
            <a:ext cx="3431522" cy="23113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14EF06E-9D43-9DCA-F261-9778A0D805F1}"/>
              </a:ext>
            </a:extLst>
          </p:cNvPr>
          <p:cNvSpPr txBox="1"/>
          <p:nvPr/>
        </p:nvSpPr>
        <p:spPr>
          <a:xfrm>
            <a:off x="323528" y="1352896"/>
            <a:ext cx="7975600" cy="1426673"/>
          </a:xfrm>
          <a:prstGeom prst="rect">
            <a:avLst/>
          </a:prstGeom>
        </p:spPr>
        <p:txBody>
          <a:bodyPr lIns="0" tIns="53975" rIns="0" bIns="0">
            <a:spAutoFit/>
          </a:bodyPr>
          <a:lstStyle/>
          <a:p>
            <a:pPr marL="298450" indent="-285750"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z="2000" spc="-20" dirty="0">
                <a:cs typeface="Arial" panose="020B0604020202020204" pitchFamily="34" charset="0"/>
              </a:rPr>
              <a:t>Objects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can</a:t>
            </a:r>
            <a:r>
              <a:rPr sz="2000" spc="-80" dirty="0">
                <a:cs typeface="Arial" panose="020B0604020202020204" pitchFamily="34" charset="0"/>
              </a:rPr>
              <a:t> </a:t>
            </a:r>
            <a:r>
              <a:rPr sz="2000" spc="10" dirty="0">
                <a:cs typeface="Arial" panose="020B0604020202020204" pitchFamily="34" charset="0"/>
              </a:rPr>
              <a:t>also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10" dirty="0">
                <a:cs typeface="Arial" panose="020B0604020202020204" pitchFamily="34" charset="0"/>
              </a:rPr>
              <a:t>have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b="1" spc="-25" dirty="0">
                <a:cs typeface="Arial" panose="020B0604020202020204" pitchFamily="34" charset="0"/>
              </a:rPr>
              <a:t>methods</a:t>
            </a:r>
            <a:r>
              <a:rPr lang="en-GB" sz="2000" b="1" spc="-25" dirty="0">
                <a:cs typeface="Arial" panose="020B0604020202020204" pitchFamily="34" charset="0"/>
              </a:rPr>
              <a:t>.</a:t>
            </a:r>
            <a:endParaRPr lang="en-US" sz="2000" b="1" spc="-25" dirty="0">
              <a:cs typeface="Arial" panose="020B0604020202020204" pitchFamily="34" charset="0"/>
            </a:endParaRPr>
          </a:p>
          <a:p>
            <a:pPr marL="298450" indent="-285750"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z="2000" spc="30" dirty="0">
                <a:cs typeface="Arial" panose="020B0604020202020204" pitchFamily="34" charset="0"/>
              </a:rPr>
              <a:t>Methods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spc="-25" dirty="0">
                <a:cs typeface="Arial" panose="020B0604020202020204" pitchFamily="34" charset="0"/>
              </a:rPr>
              <a:t>are</a:t>
            </a:r>
            <a:r>
              <a:rPr sz="2000" spc="-75" dirty="0">
                <a:cs typeface="Arial" panose="020B0604020202020204" pitchFamily="34" charset="0"/>
              </a:rPr>
              <a:t> </a:t>
            </a:r>
            <a:r>
              <a:rPr sz="2000" spc="-20" dirty="0">
                <a:cs typeface="Arial" panose="020B0604020202020204" pitchFamily="34" charset="0"/>
              </a:rPr>
              <a:t>actions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-25" dirty="0">
                <a:cs typeface="Arial" panose="020B0604020202020204" pitchFamily="34" charset="0"/>
              </a:rPr>
              <a:t>performed</a:t>
            </a:r>
            <a:r>
              <a:rPr lang="en-US" sz="2000" spc="-25" dirty="0">
                <a:cs typeface="Arial" panose="020B0604020202020204" pitchFamily="34" charset="0"/>
              </a:rPr>
              <a:t> </a:t>
            </a:r>
            <a:r>
              <a:rPr sz="2000" spc="35" dirty="0">
                <a:cs typeface="Arial" panose="020B0604020202020204" pitchFamily="34" charset="0"/>
              </a:rPr>
              <a:t>on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-30" dirty="0">
                <a:cs typeface="Arial" panose="020B0604020202020204" pitchFamily="34" charset="0"/>
              </a:rPr>
              <a:t>obje</a:t>
            </a:r>
            <a:r>
              <a:rPr sz="2000" spc="-40" dirty="0">
                <a:cs typeface="Arial" panose="020B0604020202020204" pitchFamily="34" charset="0"/>
              </a:rPr>
              <a:t>c</a:t>
            </a:r>
            <a:r>
              <a:rPr sz="2000" spc="-110" dirty="0">
                <a:cs typeface="Arial" panose="020B0604020202020204" pitchFamily="34" charset="0"/>
              </a:rPr>
              <a:t>ts.</a:t>
            </a:r>
            <a:endParaRPr lang="en-US" sz="2000" spc="-95" dirty="0">
              <a:cs typeface="Arial" panose="020B0604020202020204" pitchFamily="34" charset="0"/>
            </a:endParaRPr>
          </a:p>
          <a:p>
            <a:pPr marL="298450" indent="-285750"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z="2000" spc="114" dirty="0">
                <a:cs typeface="Arial" panose="020B0604020202020204" pitchFamily="34" charset="0"/>
              </a:rPr>
              <a:t>M</a:t>
            </a:r>
            <a:r>
              <a:rPr sz="2000" spc="80" dirty="0">
                <a:cs typeface="Arial" panose="020B0604020202020204" pitchFamily="34" charset="0"/>
              </a:rPr>
              <a:t>e</a:t>
            </a:r>
            <a:r>
              <a:rPr sz="2000" spc="5" dirty="0">
                <a:cs typeface="Arial" panose="020B0604020202020204" pitchFamily="34" charset="0"/>
              </a:rPr>
              <a:t>thods</a:t>
            </a:r>
            <a:r>
              <a:rPr sz="2000" spc="-80" dirty="0">
                <a:cs typeface="Arial" panose="020B0604020202020204" pitchFamily="34" charset="0"/>
              </a:rPr>
              <a:t> </a:t>
            </a:r>
            <a:r>
              <a:rPr sz="2000" spc="-25" dirty="0">
                <a:cs typeface="Arial" panose="020B0604020202020204" pitchFamily="34" charset="0"/>
              </a:rPr>
              <a:t>are</a:t>
            </a:r>
            <a:r>
              <a:rPr sz="2000" spc="-80" dirty="0">
                <a:cs typeface="Arial" panose="020B0604020202020204" pitchFamily="34" charset="0"/>
              </a:rPr>
              <a:t> </a:t>
            </a:r>
            <a:r>
              <a:rPr sz="2000" spc="-35" dirty="0">
                <a:cs typeface="Arial" panose="020B0604020202020204" pitchFamily="34" charset="0"/>
              </a:rPr>
              <a:t>sto</a:t>
            </a:r>
            <a:r>
              <a:rPr sz="2000" spc="-25" dirty="0">
                <a:cs typeface="Arial" panose="020B0604020202020204" pitchFamily="34" charset="0"/>
              </a:rPr>
              <a:t>r</a:t>
            </a:r>
            <a:r>
              <a:rPr sz="2000" spc="20" dirty="0">
                <a:cs typeface="Arial" panose="020B0604020202020204" pitchFamily="34" charset="0"/>
              </a:rPr>
              <a:t>e</a:t>
            </a:r>
            <a:r>
              <a:rPr sz="2000" spc="30" dirty="0">
                <a:cs typeface="Arial" panose="020B0604020202020204" pitchFamily="34" charset="0"/>
              </a:rPr>
              <a:t>d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spc="-50" dirty="0">
                <a:cs typeface="Arial" panose="020B0604020202020204" pitchFamily="34" charset="0"/>
              </a:rPr>
              <a:t>in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-50" dirty="0">
                <a:cs typeface="Arial" panose="020B0604020202020204" pitchFamily="34" charset="0"/>
              </a:rPr>
              <a:t>p</a:t>
            </a:r>
            <a:r>
              <a:rPr sz="2000" spc="-30" dirty="0">
                <a:cs typeface="Arial" panose="020B0604020202020204" pitchFamily="34" charset="0"/>
              </a:rPr>
              <a:t>r</a:t>
            </a:r>
            <a:r>
              <a:rPr sz="2000" dirty="0">
                <a:cs typeface="Arial" panose="020B0604020202020204" pitchFamily="34" charset="0"/>
              </a:rPr>
              <a:t>oper</a:t>
            </a:r>
            <a:r>
              <a:rPr sz="2000" spc="-40" dirty="0">
                <a:cs typeface="Arial" panose="020B0604020202020204" pitchFamily="34" charset="0"/>
              </a:rPr>
              <a:t>ties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55" dirty="0">
                <a:cs typeface="Arial" panose="020B0604020202020204" pitchFamily="34" charset="0"/>
              </a:rPr>
              <a:t>as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spc="-45" dirty="0">
                <a:cs typeface="Arial" panose="020B0604020202020204" pitchFamily="34" charset="0"/>
              </a:rPr>
              <a:t>function</a:t>
            </a:r>
            <a:r>
              <a:rPr sz="2000" spc="-105" dirty="0">
                <a:cs typeface="Arial" panose="020B0604020202020204" pitchFamily="34" charset="0"/>
              </a:rPr>
              <a:t> </a:t>
            </a:r>
            <a:r>
              <a:rPr sz="2000" spc="30" dirty="0">
                <a:cs typeface="Arial" panose="020B0604020202020204" pitchFamily="34" charset="0"/>
              </a:rPr>
              <a:t>d</a:t>
            </a:r>
            <a:r>
              <a:rPr sz="2000" spc="20" dirty="0">
                <a:cs typeface="Arial" panose="020B0604020202020204" pitchFamily="34" charset="0"/>
              </a:rPr>
              <a:t>e</a:t>
            </a:r>
            <a:r>
              <a:rPr sz="2000" spc="-114" dirty="0">
                <a:cs typeface="Arial" panose="020B0604020202020204" pitchFamily="34" charset="0"/>
              </a:rPr>
              <a:t>finit</a:t>
            </a:r>
            <a:r>
              <a:rPr sz="2000" spc="-85" dirty="0">
                <a:cs typeface="Arial" panose="020B0604020202020204" pitchFamily="34" charset="0"/>
              </a:rPr>
              <a:t>i</a:t>
            </a:r>
            <a:r>
              <a:rPr sz="2000" spc="35" dirty="0">
                <a:cs typeface="Arial" panose="020B0604020202020204" pitchFamily="34" charset="0"/>
              </a:rPr>
              <a:t>o</a:t>
            </a:r>
            <a:r>
              <a:rPr sz="2000" spc="40" dirty="0">
                <a:cs typeface="Arial" panose="020B0604020202020204" pitchFamily="34" charset="0"/>
              </a:rPr>
              <a:t>n</a:t>
            </a:r>
            <a:r>
              <a:rPr sz="2000" spc="-70" dirty="0">
                <a:cs typeface="Arial" panose="020B0604020202020204" pitchFamily="34" charset="0"/>
              </a:rPr>
              <a:t>s.</a:t>
            </a:r>
            <a:endParaRPr sz="2000" dirty="0">
              <a:cs typeface="Arial" panose="020B0604020202020204" pitchFamily="34" charset="0"/>
            </a:endParaRPr>
          </a:p>
          <a:p>
            <a:pPr marL="298450" indent="-285750">
              <a:spcBef>
                <a:spcPts val="32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z="2000" spc="-35" dirty="0">
                <a:cs typeface="Arial" panose="020B0604020202020204" pitchFamily="34" charset="0"/>
              </a:rPr>
              <a:t>In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a</a:t>
            </a:r>
            <a:r>
              <a:rPr sz="2000" spc="-80" dirty="0">
                <a:cs typeface="Arial" panose="020B0604020202020204" pitchFamily="34" charset="0"/>
              </a:rPr>
              <a:t> </a:t>
            </a:r>
            <a:r>
              <a:rPr sz="2000" spc="-45" dirty="0">
                <a:cs typeface="Arial" panose="020B0604020202020204" pitchFamily="34" charset="0"/>
              </a:rPr>
              <a:t>function</a:t>
            </a:r>
            <a:r>
              <a:rPr sz="2000" spc="-105" dirty="0">
                <a:cs typeface="Arial" panose="020B0604020202020204" pitchFamily="34" charset="0"/>
              </a:rPr>
              <a:t> </a:t>
            </a:r>
            <a:r>
              <a:rPr sz="2000" spc="-70" dirty="0">
                <a:cs typeface="Arial" panose="020B0604020202020204" pitchFamily="34" charset="0"/>
              </a:rPr>
              <a:t>definition,</a:t>
            </a:r>
            <a:r>
              <a:rPr sz="2000" spc="-120" dirty="0">
                <a:cs typeface="Arial" panose="020B0604020202020204" pitchFamily="34" charset="0"/>
              </a:rPr>
              <a:t> </a:t>
            </a:r>
            <a:r>
              <a:rPr sz="2000" spc="-85" dirty="0">
                <a:cs typeface="Arial" panose="020B0604020202020204" pitchFamily="34" charset="0"/>
              </a:rPr>
              <a:t>“</a:t>
            </a:r>
            <a:r>
              <a:rPr sz="2000" b="1" spc="-85" dirty="0">
                <a:cs typeface="Arial" panose="020B0604020202020204" pitchFamily="34" charset="0"/>
              </a:rPr>
              <a:t>this</a:t>
            </a:r>
            <a:r>
              <a:rPr sz="2000" spc="-85" dirty="0">
                <a:cs typeface="Arial" panose="020B0604020202020204" pitchFamily="34" charset="0"/>
              </a:rPr>
              <a:t>”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-40" dirty="0">
                <a:cs typeface="Arial" panose="020B0604020202020204" pitchFamily="34" charset="0"/>
              </a:rPr>
              <a:t>refers</a:t>
            </a:r>
            <a:r>
              <a:rPr sz="2000" spc="-65" dirty="0">
                <a:cs typeface="Arial" panose="020B0604020202020204" pitchFamily="34" charset="0"/>
              </a:rPr>
              <a:t> to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spc="-50" dirty="0">
                <a:cs typeface="Arial" panose="020B0604020202020204" pitchFamily="34" charset="0"/>
              </a:rPr>
              <a:t>the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5" dirty="0">
                <a:cs typeface="Arial" panose="020B0604020202020204" pitchFamily="34" charset="0"/>
              </a:rPr>
              <a:t>"owner"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spc="-50" dirty="0">
                <a:cs typeface="Arial" panose="020B0604020202020204" pitchFamily="34" charset="0"/>
              </a:rPr>
              <a:t>of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spc="-50" dirty="0">
                <a:cs typeface="Arial" panose="020B0604020202020204" pitchFamily="34" charset="0"/>
              </a:rPr>
              <a:t>the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-70" dirty="0">
                <a:cs typeface="Arial" panose="020B0604020202020204" pitchFamily="34" charset="0"/>
              </a:rPr>
              <a:t>function.</a:t>
            </a:r>
            <a:endParaRPr sz="2000" dirty="0">
              <a:cs typeface="Arial" panose="020B06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15F541-FF7A-B1AF-9591-E9E620C58CEF}"/>
              </a:ext>
            </a:extLst>
          </p:cNvPr>
          <p:cNvSpPr txBox="1"/>
          <p:nvPr/>
        </p:nvSpPr>
        <p:spPr>
          <a:xfrm>
            <a:off x="467544" y="5445224"/>
            <a:ext cx="8064896" cy="708527"/>
          </a:xfrm>
          <a:prstGeom prst="rect">
            <a:avLst/>
          </a:prstGeom>
        </p:spPr>
        <p:txBody>
          <a:bodyPr wrap="square" lIns="0" tIns="53975" rIns="0" bIns="0">
            <a:spAutoFit/>
          </a:bodyPr>
          <a:lstStyle/>
          <a:p>
            <a:pPr marL="298450" indent="-285750"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z="2000" spc="55" dirty="0">
                <a:cs typeface="Arial" panose="020B0604020202020204" pitchFamily="34" charset="0"/>
              </a:rPr>
              <a:t>You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35" dirty="0">
                <a:cs typeface="Arial" panose="020B0604020202020204" pitchFamily="34" charset="0"/>
              </a:rPr>
              <a:t>access</a:t>
            </a:r>
            <a:r>
              <a:rPr sz="2000" spc="-75" dirty="0">
                <a:cs typeface="Arial" panose="020B0604020202020204" pitchFamily="34" charset="0"/>
              </a:rPr>
              <a:t> </a:t>
            </a:r>
            <a:r>
              <a:rPr sz="2000" spc="5" dirty="0">
                <a:cs typeface="Arial" panose="020B0604020202020204" pitchFamily="34" charset="0"/>
              </a:rPr>
              <a:t>an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spc="-55" dirty="0">
                <a:cs typeface="Arial" panose="020B0604020202020204" pitchFamily="34" charset="0"/>
              </a:rPr>
              <a:t>object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-20" dirty="0">
                <a:cs typeface="Arial" panose="020B0604020202020204" pitchFamily="34" charset="0"/>
              </a:rPr>
              <a:t>method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spc="-75" dirty="0">
                <a:cs typeface="Arial" panose="020B0604020202020204" pitchFamily="34" charset="0"/>
              </a:rPr>
              <a:t>with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-50" dirty="0">
                <a:cs typeface="Arial" panose="020B0604020202020204" pitchFamily="34" charset="0"/>
              </a:rPr>
              <a:t>the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-30" dirty="0">
                <a:cs typeface="Arial" panose="020B0604020202020204" pitchFamily="34" charset="0"/>
              </a:rPr>
              <a:t>following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-50" dirty="0">
                <a:cs typeface="Arial" panose="020B0604020202020204" pitchFamily="34" charset="0"/>
              </a:rPr>
              <a:t>syntax:</a:t>
            </a:r>
            <a:endParaRPr sz="2000" dirty="0">
              <a:cs typeface="Arial" panose="020B0604020202020204" pitchFamily="34" charset="0"/>
            </a:endParaRPr>
          </a:p>
          <a:p>
            <a:pPr marL="354965">
              <a:spcBef>
                <a:spcPts val="330"/>
              </a:spcBef>
              <a:defRPr/>
            </a:pPr>
            <a:r>
              <a:rPr lang="en-US" sz="2000" b="1" spc="-40" dirty="0">
                <a:cs typeface="Arial" panose="020B0604020202020204" pitchFamily="34" charset="0"/>
              </a:rPr>
              <a:t>	</a:t>
            </a:r>
            <a:r>
              <a:rPr sz="2000" b="1" spc="-40" dirty="0" err="1">
                <a:cs typeface="Arial" panose="020B0604020202020204" pitchFamily="34" charset="0"/>
              </a:rPr>
              <a:t>objectName.methodName</a:t>
            </a:r>
            <a:r>
              <a:rPr sz="2000" b="1" spc="-40" dirty="0">
                <a:cs typeface="Arial" panose="020B0604020202020204" pitchFamily="34" charset="0"/>
              </a:rPr>
              <a:t>()</a:t>
            </a:r>
            <a:endParaRPr sz="2000" b="1" dirty="0">
              <a:cs typeface="Arial" panose="020B0604020202020204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0FE8729-345F-923A-6128-DC281DE4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pc="300" dirty="0"/>
              <a:t>JS</a:t>
            </a:r>
            <a:r>
              <a:rPr lang="en-GB" spc="-235" dirty="0"/>
              <a:t> </a:t>
            </a:r>
            <a:r>
              <a:rPr lang="en-GB" spc="45" dirty="0"/>
              <a:t>Objects - Methods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0D15F3-DEF2-179E-A619-F627DDEAE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87" y="2873577"/>
            <a:ext cx="6725109" cy="262236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5FE9CFC6-DB8D-1B42-55F9-666751C1AA0B}"/>
              </a:ext>
            </a:extLst>
          </p:cNvPr>
          <p:cNvSpPr txBox="1">
            <a:spLocks/>
          </p:cNvSpPr>
          <p:nvPr/>
        </p:nvSpPr>
        <p:spPr bwMode="auto">
          <a:xfrm>
            <a:off x="103188" y="115888"/>
            <a:ext cx="8785225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 kern="0" spc="300" dirty="0"/>
              <a:t>JS</a:t>
            </a:r>
            <a:r>
              <a:rPr lang="en-GB" kern="0" spc="-235" dirty="0"/>
              <a:t> </a:t>
            </a:r>
            <a:r>
              <a:rPr lang="en-GB" kern="0" spc="45" dirty="0"/>
              <a:t>Objects - Example</a:t>
            </a:r>
            <a:endParaRPr lang="en-GB" kern="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3E83639-3F35-8152-FFB2-40BA4D5D0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8" y="1665251"/>
            <a:ext cx="3892748" cy="431958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In this example:</a:t>
            </a:r>
          </a:p>
          <a:p>
            <a:pPr marL="285750" marR="0" lvl="0" indent="-285750" defTabSz="914400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ea typeface="+mn-ea"/>
              </a:rPr>
              <a:t>firstName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,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ea typeface="+mn-ea"/>
              </a:rPr>
              <a:t>lastName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, and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ea typeface="+mn-ea"/>
              </a:rPr>
              <a:t>age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are properties of 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ea typeface="+mn-ea"/>
              </a:rPr>
              <a:t>person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object.</a:t>
            </a:r>
          </a:p>
          <a:p>
            <a:pPr marL="285750" marR="0" lvl="0" indent="-285750" defTabSz="914400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ea typeface="+mn-ea"/>
              </a:rPr>
              <a:t>fullName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,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ea typeface="+mn-ea"/>
              </a:rPr>
              <a:t>greet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, and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ea typeface="+mn-ea"/>
              </a:rPr>
              <a:t>birthday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are methods of 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ea typeface="+mn-ea"/>
              </a:rPr>
              <a:t>person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object.</a:t>
            </a:r>
          </a:p>
          <a:p>
            <a:pPr marL="285750" marR="0" lvl="0" indent="-285750" defTabSz="914400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ea typeface="+mn-ea"/>
              </a:rPr>
              <a:t>this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is used inside the methods to refer to the object the method was called on.</a:t>
            </a:r>
          </a:p>
          <a:p>
            <a:pPr marL="285750" marR="0" lvl="0" indent="-285750" defTabSz="914400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The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ea typeface="+mn-ea"/>
              </a:rPr>
              <a:t>fullName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method concatenates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ea typeface="+mn-ea"/>
              </a:rPr>
              <a:t>firstName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and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ea typeface="+mn-ea"/>
              </a:rPr>
              <a:t>lastName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to produce the person's full name.</a:t>
            </a:r>
          </a:p>
          <a:p>
            <a:pPr marL="285750" marR="0" lvl="0" indent="-285750" defTabSz="914400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ea typeface="+mn-ea"/>
              </a:rPr>
              <a:t>greet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method uses the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ea typeface="+mn-ea"/>
              </a:rPr>
              <a:t>fullName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method to create a greeting message.</a:t>
            </a:r>
          </a:p>
          <a:p>
            <a:pPr marL="285750" marR="0" lvl="0" indent="-285750" defTabSz="914400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ea typeface="+mn-ea"/>
              </a:rPr>
              <a:t>birthday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 method increases the age by 1 and returns a birthday message.</a:t>
            </a:r>
          </a:p>
          <a:p>
            <a:pPr marL="0" marR="0" lvl="0" indent="0" defTabSz="914400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ea typeface="+mn-ea"/>
              </a:rPr>
              <a:t>This example showcases how to define object properties and methods, and how to interact with them.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1910291-275E-640F-1125-EBA491675B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85"/>
          <a:stretch/>
        </p:blipFill>
        <p:spPr>
          <a:xfrm>
            <a:off x="3923928" y="1484785"/>
            <a:ext cx="5148064" cy="4680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C06F61-16A5-2B9C-3314-7CB9DF05D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825" y="373378"/>
            <a:ext cx="8718550" cy="689932"/>
          </a:xfrm>
        </p:spPr>
        <p:txBody>
          <a:bodyPr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225" dirty="0"/>
              <a:t>The</a:t>
            </a:r>
            <a:r>
              <a:rPr spc="-200" dirty="0"/>
              <a:t> </a:t>
            </a:r>
            <a:r>
              <a:rPr spc="165" dirty="0"/>
              <a:t>Arguments</a:t>
            </a:r>
            <a:r>
              <a:rPr spc="-229" dirty="0"/>
              <a:t> </a:t>
            </a:r>
            <a:r>
              <a:rPr spc="55" dirty="0"/>
              <a:t>Object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7C3F408-AB8A-3292-F298-08794FB2D053}"/>
              </a:ext>
            </a:extLst>
          </p:cNvPr>
          <p:cNvSpPr txBox="1"/>
          <p:nvPr/>
        </p:nvSpPr>
        <p:spPr>
          <a:xfrm>
            <a:off x="454422" y="1417880"/>
            <a:ext cx="8227194" cy="1285608"/>
          </a:xfrm>
          <a:prstGeom prst="rect">
            <a:avLst/>
          </a:prstGeom>
        </p:spPr>
        <p:txBody>
          <a:bodyPr wrap="square" lIns="0" tIns="53975" rIns="0" bIns="0">
            <a:spAutoFit/>
          </a:bodyPr>
          <a:lstStyle>
            <a:lvl1pPr marL="355600" indent="-3429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  <a:tab pos="355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98450" indent="-285750">
              <a:spcBef>
                <a:spcPts val="42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JavaScript functions have a built-in object called the </a:t>
            </a:r>
            <a:r>
              <a:rPr lang="en-US" altLang="en-US" sz="2000" b="1" dirty="0">
                <a:cs typeface="Arial" panose="020B0604020202020204" pitchFamily="34" charset="0"/>
              </a:rPr>
              <a:t>arguments </a:t>
            </a:r>
            <a:r>
              <a:rPr lang="en-US" altLang="en-US" sz="2000" dirty="0">
                <a:cs typeface="Arial" panose="020B0604020202020204" pitchFamily="34" charset="0"/>
              </a:rPr>
              <a:t>object.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The argument object contains an array of the arguments used when the function was called (invoked).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47F4F0C-596B-5861-D382-5663CA3551FC}"/>
              </a:ext>
            </a:extLst>
          </p:cNvPr>
          <p:cNvSpPr txBox="1"/>
          <p:nvPr/>
        </p:nvSpPr>
        <p:spPr>
          <a:xfrm>
            <a:off x="8694738" y="5629275"/>
            <a:ext cx="274637" cy="155575"/>
          </a:xfrm>
          <a:prstGeom prst="rect">
            <a:avLst/>
          </a:prstGeom>
        </p:spPr>
        <p:txBody>
          <a:bodyPr lIns="0" tIns="1905" rIns="0" bIns="0">
            <a:spAutoFit/>
          </a:bodyPr>
          <a:lstStyle/>
          <a:p>
            <a:pPr marL="38100">
              <a:spcBef>
                <a:spcPts val="15"/>
              </a:spcBef>
              <a:defRPr/>
            </a:pPr>
            <a:fld id="{992066FB-66D5-4410-8B4A-115D2AFE95D6}" type="slidenum">
              <a:rPr sz="1000" spc="-10" dirty="0">
                <a:solidFill>
                  <a:srgbClr val="666666"/>
                </a:solidFill>
                <a:cs typeface="Arial" panose="020B0604020202020204" pitchFamily="34" charset="0"/>
              </a:rPr>
              <a:pPr marL="38100">
                <a:spcBef>
                  <a:spcPts val="15"/>
                </a:spcBef>
                <a:defRPr/>
              </a:pPr>
              <a:t>44</a:t>
            </a:fld>
            <a:endParaRPr sz="1000"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9C96F-E405-2BE9-1ED9-EDA4A1FC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42" y="2806606"/>
            <a:ext cx="7895082" cy="330858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0683E9-6BD5-9C81-F5F3-729B1A8A3C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512" y="266799"/>
            <a:ext cx="5329237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325" dirty="0"/>
              <a:t>Math</a:t>
            </a:r>
            <a:r>
              <a:rPr spc="-240" dirty="0"/>
              <a:t> </a:t>
            </a:r>
            <a:r>
              <a:rPr spc="55" dirty="0"/>
              <a:t>Object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9A980E9-FCC9-8645-EA77-892CB1F5993F}"/>
              </a:ext>
            </a:extLst>
          </p:cNvPr>
          <p:cNvSpPr txBox="1"/>
          <p:nvPr/>
        </p:nvSpPr>
        <p:spPr>
          <a:xfrm>
            <a:off x="395537" y="1484784"/>
            <a:ext cx="8568951" cy="2016578"/>
          </a:xfrm>
          <a:prstGeom prst="rect">
            <a:avLst/>
          </a:prstGeom>
        </p:spPr>
        <p:txBody>
          <a:bodyPr wrap="square" lIns="0" tIns="53975" rIns="0" bIns="0">
            <a:spAutoFit/>
          </a:bodyPr>
          <a:lstStyle/>
          <a:p>
            <a:pPr marL="298450" indent="-285750"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z="2000" spc="5" dirty="0">
                <a:cs typeface="Arial" panose="020B0604020202020204" pitchFamily="34" charset="0"/>
              </a:rPr>
              <a:t>The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-20" dirty="0">
                <a:cs typeface="Arial" panose="020B0604020202020204" pitchFamily="34" charset="0"/>
              </a:rPr>
              <a:t>JavaScript</a:t>
            </a:r>
            <a:r>
              <a:rPr sz="2000" spc="-105" dirty="0">
                <a:cs typeface="Arial" panose="020B0604020202020204" pitchFamily="34" charset="0"/>
              </a:rPr>
              <a:t> </a:t>
            </a:r>
            <a:r>
              <a:rPr sz="2000" b="1" spc="50" dirty="0">
                <a:cs typeface="Arial" panose="020B0604020202020204" pitchFamily="34" charset="0"/>
              </a:rPr>
              <a:t>Math</a:t>
            </a:r>
            <a:r>
              <a:rPr sz="2000" b="1" spc="-80" dirty="0">
                <a:cs typeface="Arial" panose="020B0604020202020204" pitchFamily="34" charset="0"/>
              </a:rPr>
              <a:t> </a:t>
            </a:r>
            <a:r>
              <a:rPr sz="2000" spc="-55" dirty="0">
                <a:cs typeface="Arial" panose="020B0604020202020204" pitchFamily="34" charset="0"/>
              </a:rPr>
              <a:t>object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-15" dirty="0">
                <a:cs typeface="Arial" panose="020B0604020202020204" pitchFamily="34" charset="0"/>
              </a:rPr>
              <a:t>allows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-60" dirty="0">
                <a:cs typeface="Arial" panose="020B0604020202020204" pitchFamily="34" charset="0"/>
              </a:rPr>
              <a:t>to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spc="-45" dirty="0">
                <a:cs typeface="Arial" panose="020B0604020202020204" pitchFamily="34" charset="0"/>
              </a:rPr>
              <a:t>perform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spc="-55" dirty="0">
                <a:cs typeface="Arial" panose="020B0604020202020204" pitchFamily="34" charset="0"/>
              </a:rPr>
              <a:t>mathematical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10" dirty="0">
                <a:cs typeface="Arial" panose="020B0604020202020204" pitchFamily="34" charset="0"/>
              </a:rPr>
              <a:t>tasks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spc="35" dirty="0">
                <a:cs typeface="Arial" panose="020B0604020202020204" pitchFamily="34" charset="0"/>
              </a:rPr>
              <a:t>on</a:t>
            </a:r>
            <a:r>
              <a:rPr lang="en-US" sz="2000" spc="35" dirty="0">
                <a:cs typeface="Arial" panose="020B0604020202020204" pitchFamily="34" charset="0"/>
              </a:rPr>
              <a:t> </a:t>
            </a:r>
            <a:r>
              <a:rPr sz="2000" spc="-30" dirty="0">
                <a:cs typeface="Arial" panose="020B0604020202020204" pitchFamily="34" charset="0"/>
              </a:rPr>
              <a:t>numbers.</a:t>
            </a:r>
            <a:endParaRPr sz="2000" dirty="0">
              <a:cs typeface="Arial" panose="020B0604020202020204" pitchFamily="34" charset="0"/>
            </a:endParaRPr>
          </a:p>
          <a:p>
            <a:pPr marL="298450" indent="-285750">
              <a:spcBef>
                <a:spcPts val="32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z="2000" spc="-5" dirty="0">
                <a:cs typeface="Arial" panose="020B0604020202020204" pitchFamily="34" charset="0"/>
              </a:rPr>
              <a:t>Math</a:t>
            </a:r>
            <a:r>
              <a:rPr sz="2000" spc="-80" dirty="0">
                <a:cs typeface="Arial" panose="020B0604020202020204" pitchFamily="34" charset="0"/>
              </a:rPr>
              <a:t> </a:t>
            </a:r>
            <a:r>
              <a:rPr sz="2000" spc="-55" dirty="0">
                <a:cs typeface="Arial" panose="020B0604020202020204" pitchFamily="34" charset="0"/>
              </a:rPr>
              <a:t>object</a:t>
            </a:r>
            <a:r>
              <a:rPr sz="2000" spc="-80" dirty="0">
                <a:cs typeface="Arial" panose="020B0604020202020204" pitchFamily="34" charset="0"/>
              </a:rPr>
              <a:t> </a:t>
            </a:r>
            <a:r>
              <a:rPr sz="2000" b="1" spc="40" dirty="0">
                <a:cs typeface="Arial" panose="020B0604020202020204" pitchFamily="34" charset="0"/>
              </a:rPr>
              <a:t>has</a:t>
            </a:r>
            <a:r>
              <a:rPr sz="2000" b="1" spc="-75" dirty="0">
                <a:cs typeface="Arial" panose="020B0604020202020204" pitchFamily="34" charset="0"/>
              </a:rPr>
              <a:t> </a:t>
            </a:r>
            <a:r>
              <a:rPr sz="2000" b="1" dirty="0">
                <a:cs typeface="Arial" panose="020B0604020202020204" pitchFamily="34" charset="0"/>
              </a:rPr>
              <a:t>no</a:t>
            </a:r>
            <a:r>
              <a:rPr sz="2000" b="1" spc="-65" dirty="0">
                <a:cs typeface="Arial" panose="020B0604020202020204" pitchFamily="34" charset="0"/>
              </a:rPr>
              <a:t> </a:t>
            </a:r>
            <a:r>
              <a:rPr sz="2000" b="1" spc="-45" dirty="0">
                <a:cs typeface="Arial" panose="020B0604020202020204" pitchFamily="34" charset="0"/>
              </a:rPr>
              <a:t>constructor</a:t>
            </a:r>
            <a:r>
              <a:rPr sz="2000" spc="-45" dirty="0">
                <a:cs typeface="Arial" panose="020B0604020202020204" pitchFamily="34" charset="0"/>
              </a:rPr>
              <a:t>.</a:t>
            </a:r>
            <a:endParaRPr sz="2000" dirty="0">
              <a:cs typeface="Arial" panose="020B0604020202020204" pitchFamily="34" charset="0"/>
            </a:endParaRPr>
          </a:p>
          <a:p>
            <a:pPr marL="298450" indent="-285750">
              <a:spcBef>
                <a:spcPts val="32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z="2000" spc="30" dirty="0">
                <a:cs typeface="Arial" panose="020B0604020202020204" pitchFamily="34" charset="0"/>
              </a:rPr>
              <a:t>Methods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15" dirty="0">
                <a:cs typeface="Arial" panose="020B0604020202020204" pitchFamily="34" charset="0"/>
              </a:rPr>
              <a:t>and</a:t>
            </a:r>
            <a:r>
              <a:rPr sz="2000" spc="-70" dirty="0">
                <a:cs typeface="Arial" panose="020B0604020202020204" pitchFamily="34" charset="0"/>
              </a:rPr>
              <a:t> </a:t>
            </a:r>
            <a:r>
              <a:rPr sz="2000" spc="-25" dirty="0">
                <a:cs typeface="Arial" panose="020B0604020202020204" pitchFamily="34" charset="0"/>
              </a:rPr>
              <a:t>properties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-25" dirty="0">
                <a:cs typeface="Arial" panose="020B0604020202020204" pitchFamily="34" charset="0"/>
              </a:rPr>
              <a:t>are</a:t>
            </a:r>
            <a:r>
              <a:rPr sz="2000" spc="-65" dirty="0">
                <a:cs typeface="Arial" panose="020B0604020202020204" pitchFamily="34" charset="0"/>
              </a:rPr>
              <a:t> </a:t>
            </a:r>
            <a:r>
              <a:rPr sz="2000" b="1" spc="-40" dirty="0">
                <a:cs typeface="Arial" panose="020B0604020202020204" pitchFamily="34" charset="0"/>
              </a:rPr>
              <a:t>static</a:t>
            </a:r>
            <a:endParaRPr lang="en-US" sz="2000" b="1" spc="-40" dirty="0">
              <a:cs typeface="Arial" panose="020B0604020202020204" pitchFamily="34" charset="0"/>
            </a:endParaRPr>
          </a:p>
          <a:p>
            <a:pPr marL="298450" indent="-285750">
              <a:spcBef>
                <a:spcPts val="32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sz="2000" spc="-45" dirty="0">
                <a:cs typeface="Arial" panose="020B0604020202020204" pitchFamily="34" charset="0"/>
              </a:rPr>
              <a:t>All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methods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spc="15" dirty="0">
                <a:cs typeface="Arial" panose="020B0604020202020204" pitchFamily="34" charset="0"/>
              </a:rPr>
              <a:t>and</a:t>
            </a:r>
            <a:r>
              <a:rPr sz="2000" spc="-70" dirty="0">
                <a:cs typeface="Arial" panose="020B0604020202020204" pitchFamily="34" charset="0"/>
              </a:rPr>
              <a:t> </a:t>
            </a:r>
            <a:r>
              <a:rPr sz="2000" spc="-25" dirty="0">
                <a:cs typeface="Arial" panose="020B0604020202020204" pitchFamily="34" charset="0"/>
              </a:rPr>
              <a:t>properties</a:t>
            </a:r>
            <a:r>
              <a:rPr sz="2000" spc="-100" dirty="0">
                <a:cs typeface="Arial" panose="020B0604020202020204" pitchFamily="34" charset="0"/>
              </a:rPr>
              <a:t> </a:t>
            </a:r>
            <a:r>
              <a:rPr sz="2000" spc="-50" dirty="0">
                <a:cs typeface="Arial" panose="020B0604020202020204" pitchFamily="34" charset="0"/>
              </a:rPr>
              <a:t>(constants)</a:t>
            </a:r>
            <a:r>
              <a:rPr sz="2000" spc="-95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can</a:t>
            </a:r>
            <a:r>
              <a:rPr lang="en-US" sz="2000" dirty="0">
                <a:cs typeface="Arial" panose="020B0604020202020204" pitchFamily="34" charset="0"/>
              </a:rPr>
              <a:t> </a:t>
            </a:r>
            <a:r>
              <a:rPr sz="2000" spc="30" dirty="0">
                <a:cs typeface="Arial" panose="020B0604020202020204" pitchFamily="34" charset="0"/>
              </a:rPr>
              <a:t>be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spc="10" dirty="0">
                <a:cs typeface="Arial" panose="020B0604020202020204" pitchFamily="34" charset="0"/>
              </a:rPr>
              <a:t>u</a:t>
            </a:r>
            <a:r>
              <a:rPr sz="2000" spc="55" dirty="0">
                <a:cs typeface="Arial" panose="020B0604020202020204" pitchFamily="34" charset="0"/>
              </a:rPr>
              <a:t>sed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spc="-65" dirty="0">
                <a:cs typeface="Arial" panose="020B0604020202020204" pitchFamily="34" charset="0"/>
              </a:rPr>
              <a:t>wi</a:t>
            </a:r>
            <a:r>
              <a:rPr sz="2000" spc="-25" dirty="0">
                <a:cs typeface="Arial" panose="020B0604020202020204" pitchFamily="34" charset="0"/>
              </a:rPr>
              <a:t>thou</a:t>
            </a:r>
            <a:r>
              <a:rPr sz="2000" spc="-185" dirty="0">
                <a:cs typeface="Arial" panose="020B0604020202020204" pitchFamily="34" charset="0"/>
              </a:rPr>
              <a:t>t</a:t>
            </a:r>
            <a:r>
              <a:rPr sz="2000" spc="-114" dirty="0">
                <a:cs typeface="Arial" panose="020B0604020202020204" pitchFamily="34" charset="0"/>
              </a:rPr>
              <a:t> </a:t>
            </a:r>
            <a:r>
              <a:rPr sz="2000" spc="-30" dirty="0">
                <a:cs typeface="Arial" panose="020B0604020202020204" pitchFamily="34" charset="0"/>
              </a:rPr>
              <a:t>creating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dirty="0">
                <a:cs typeface="Arial" panose="020B0604020202020204" pitchFamily="34" charset="0"/>
              </a:rPr>
              <a:t>a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spc="-5" dirty="0">
                <a:cs typeface="Arial" panose="020B0604020202020204" pitchFamily="34" charset="0"/>
              </a:rPr>
              <a:t>Ma</a:t>
            </a:r>
            <a:r>
              <a:rPr sz="2000" spc="-15" dirty="0">
                <a:cs typeface="Arial" panose="020B0604020202020204" pitchFamily="34" charset="0"/>
              </a:rPr>
              <a:t>t</a:t>
            </a:r>
            <a:r>
              <a:rPr sz="2000" spc="10" dirty="0">
                <a:cs typeface="Arial" panose="020B0604020202020204" pitchFamily="34" charset="0"/>
              </a:rPr>
              <a:t>h</a:t>
            </a:r>
            <a:r>
              <a:rPr sz="2000" spc="-85" dirty="0">
                <a:cs typeface="Arial" panose="020B0604020202020204" pitchFamily="34" charset="0"/>
              </a:rPr>
              <a:t> </a:t>
            </a:r>
            <a:r>
              <a:rPr sz="2000" spc="-30" dirty="0">
                <a:cs typeface="Arial" panose="020B0604020202020204" pitchFamily="34" charset="0"/>
              </a:rPr>
              <a:t>obje</a:t>
            </a:r>
            <a:r>
              <a:rPr sz="2000" spc="-40" dirty="0">
                <a:cs typeface="Arial" panose="020B0604020202020204" pitchFamily="34" charset="0"/>
              </a:rPr>
              <a:t>c</a:t>
            </a:r>
            <a:r>
              <a:rPr sz="2000" spc="-185" dirty="0">
                <a:cs typeface="Arial" panose="020B0604020202020204" pitchFamily="34" charset="0"/>
              </a:rPr>
              <a:t>t</a:t>
            </a:r>
            <a:r>
              <a:rPr sz="2000" spc="-90" dirty="0">
                <a:cs typeface="Arial" panose="020B0604020202020204" pitchFamily="34" charset="0"/>
              </a:rPr>
              <a:t> </a:t>
            </a:r>
            <a:r>
              <a:rPr sz="2000" spc="-65" dirty="0">
                <a:cs typeface="Arial" panose="020B0604020202020204" pitchFamily="34" charset="0"/>
              </a:rPr>
              <a:t>fir</a:t>
            </a:r>
            <a:r>
              <a:rPr sz="2000" spc="-70" dirty="0">
                <a:cs typeface="Arial" panose="020B0604020202020204" pitchFamily="34" charset="0"/>
              </a:rPr>
              <a:t>s</a:t>
            </a:r>
            <a:r>
              <a:rPr sz="2000" spc="-220" dirty="0">
                <a:cs typeface="Arial" panose="020B0604020202020204" pitchFamily="34" charset="0"/>
              </a:rPr>
              <a:t>t.</a:t>
            </a:r>
            <a:endParaRPr sz="2000" dirty="0"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A83B3-EF14-56D3-5B81-7FAC7DC21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4003924"/>
            <a:ext cx="5233322" cy="136929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02ED23-5818-7C34-1A5B-FB7AA103E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825" y="301147"/>
            <a:ext cx="8447088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325" dirty="0"/>
              <a:t>Math</a:t>
            </a:r>
            <a:r>
              <a:rPr spc="-190" dirty="0"/>
              <a:t> </a:t>
            </a:r>
            <a:r>
              <a:rPr spc="55" dirty="0"/>
              <a:t>Object</a:t>
            </a:r>
            <a:r>
              <a:rPr spc="-200" dirty="0"/>
              <a:t> </a:t>
            </a:r>
            <a:r>
              <a:rPr spc="155" dirty="0"/>
              <a:t>Properties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8803D9-F093-0BA3-43B6-E3734BD48FB9}"/>
              </a:ext>
            </a:extLst>
          </p:cNvPr>
          <p:cNvSpPr txBox="1"/>
          <p:nvPr/>
        </p:nvSpPr>
        <p:spPr>
          <a:xfrm>
            <a:off x="210300" y="1437108"/>
            <a:ext cx="8754187" cy="3983783"/>
          </a:xfrm>
          <a:prstGeom prst="rect">
            <a:avLst/>
          </a:prstGeom>
        </p:spPr>
        <p:txBody>
          <a:bodyPr wrap="square" lIns="0" tIns="53975" rIns="0" bIns="0">
            <a:spAutoFit/>
          </a:bodyPr>
          <a:lstStyle/>
          <a:p>
            <a:pPr marL="12700">
              <a:spcBef>
                <a:spcPts val="425"/>
              </a:spcBef>
              <a:tabLst>
                <a:tab pos="354965" algn="l"/>
                <a:tab pos="355600" algn="l"/>
              </a:tabLst>
              <a:defRPr/>
            </a:pPr>
            <a:r>
              <a:rPr lang="en-US" sz="1800" dirty="0">
                <a:cs typeface="Arial" panose="020B0604020202020204" pitchFamily="34" charset="0"/>
              </a:rPr>
              <a:t>JavaScript's Math object provides access to several mathematical constants: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1800" b="1" i="0" dirty="0" err="1">
                <a:effectLst/>
                <a:latin typeface="Söhne"/>
              </a:rPr>
              <a:t>Math.E</a:t>
            </a:r>
            <a:r>
              <a:rPr lang="en-GB" sz="1800" b="0" i="0" dirty="0">
                <a:effectLst/>
                <a:latin typeface="Söhne"/>
              </a:rPr>
              <a:t>: Euler's number (</a:t>
            </a:r>
            <a:r>
              <a:rPr lang="en-GB" sz="1800" b="0" i="1" dirty="0">
                <a:effectLst/>
                <a:latin typeface="KaTeX_Math"/>
              </a:rPr>
              <a:t>e</a:t>
            </a:r>
            <a:r>
              <a:rPr lang="en-GB" sz="1800" b="0" i="0" dirty="0">
                <a:effectLst/>
                <a:latin typeface="Söhne"/>
              </a:rPr>
              <a:t>) which is approximately 2.718.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1800" b="1" i="0" dirty="0" err="1">
                <a:effectLst/>
                <a:latin typeface="Söhne"/>
              </a:rPr>
              <a:t>Math.PI</a:t>
            </a:r>
            <a:r>
              <a:rPr lang="en-GB" sz="1800" b="0" i="0" dirty="0">
                <a:effectLst/>
                <a:latin typeface="Söhne"/>
              </a:rPr>
              <a:t>: The ratio of a circle's circumference to its diameter (</a:t>
            </a:r>
            <a:r>
              <a:rPr lang="el-GR" sz="1800" b="0" i="1" dirty="0">
                <a:effectLst/>
                <a:latin typeface="KaTeX_Math"/>
              </a:rPr>
              <a:t>π</a:t>
            </a:r>
            <a:r>
              <a:rPr lang="el-GR" sz="1800" b="0" i="0" dirty="0">
                <a:effectLst/>
                <a:latin typeface="Söhne"/>
              </a:rPr>
              <a:t>) </a:t>
            </a:r>
            <a:r>
              <a:rPr lang="en-GB" sz="1800" b="0" i="0" dirty="0">
                <a:effectLst/>
                <a:latin typeface="Söhne"/>
              </a:rPr>
              <a:t>approximately 3.14159.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1800" b="1" i="0" dirty="0">
                <a:effectLst/>
                <a:latin typeface="Söhne"/>
              </a:rPr>
              <a:t>Math.SQRT2</a:t>
            </a:r>
            <a:r>
              <a:rPr lang="en-GB" sz="1800" b="0" i="0" dirty="0">
                <a:effectLst/>
                <a:latin typeface="Söhne"/>
              </a:rPr>
              <a:t>: The square root of 2, approximately 1.414.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1800" b="1" i="0" dirty="0">
                <a:effectLst/>
                <a:latin typeface="Söhne"/>
              </a:rPr>
              <a:t>Math.SQRT1_2</a:t>
            </a:r>
            <a:r>
              <a:rPr lang="en-GB" sz="1800" b="0" i="0" dirty="0">
                <a:effectLst/>
                <a:latin typeface="Söhne"/>
              </a:rPr>
              <a:t>: The square root of </a:t>
            </a:r>
            <a:r>
              <a:rPr lang="en-GB" sz="1800" b="0" i="0" dirty="0">
                <a:effectLst/>
                <a:latin typeface="KaTeX_Main"/>
              </a:rPr>
              <a:t>1221​</a:t>
            </a:r>
            <a:r>
              <a:rPr lang="en-GB" sz="1800" b="0" i="0" dirty="0">
                <a:effectLst/>
                <a:latin typeface="Söhne"/>
              </a:rPr>
              <a:t>, approximately 0.707.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1800" b="1" i="0" dirty="0">
                <a:effectLst/>
                <a:latin typeface="Söhne"/>
              </a:rPr>
              <a:t>Math.LN2</a:t>
            </a:r>
            <a:r>
              <a:rPr lang="en-GB" sz="1800" b="0" i="0" dirty="0">
                <a:effectLst/>
                <a:latin typeface="Söhne"/>
              </a:rPr>
              <a:t>: The natural logarithm of 2, approximately 0.693.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1800" b="1" i="0" dirty="0">
                <a:effectLst/>
                <a:latin typeface="Söhne"/>
              </a:rPr>
              <a:t>Math.LN10</a:t>
            </a:r>
            <a:r>
              <a:rPr lang="en-GB" sz="1800" b="0" i="0" dirty="0">
                <a:effectLst/>
                <a:latin typeface="Söhne"/>
              </a:rPr>
              <a:t>: The natural logarithm of 10, approximately 2.303.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1800" b="1" i="0" dirty="0">
                <a:effectLst/>
                <a:latin typeface="Söhne"/>
              </a:rPr>
              <a:t>Math.LOG2E</a:t>
            </a:r>
            <a:r>
              <a:rPr lang="en-GB" sz="1800" b="0" i="0" dirty="0">
                <a:effectLst/>
                <a:latin typeface="Söhne"/>
              </a:rPr>
              <a:t>: The base 2 logarithm of </a:t>
            </a:r>
            <a:r>
              <a:rPr lang="en-GB" sz="1800" b="0" i="1" dirty="0">
                <a:effectLst/>
                <a:latin typeface="KaTeX_Math"/>
              </a:rPr>
              <a:t>e</a:t>
            </a:r>
            <a:r>
              <a:rPr lang="en-GB" sz="1800" b="0" i="0" dirty="0">
                <a:effectLst/>
                <a:latin typeface="Söhne"/>
              </a:rPr>
              <a:t>, approximately 1.443.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1800" b="1" i="0" dirty="0">
                <a:effectLst/>
                <a:latin typeface="Söhne"/>
              </a:rPr>
              <a:t>Math.LOG10E</a:t>
            </a:r>
            <a:r>
              <a:rPr lang="en-GB" sz="1800" b="0" i="0" dirty="0">
                <a:effectLst/>
                <a:latin typeface="Söhne"/>
              </a:rPr>
              <a:t>: The base 10 logarithm of </a:t>
            </a:r>
            <a:r>
              <a:rPr lang="en-GB" sz="1800" b="0" i="1" dirty="0">
                <a:effectLst/>
                <a:latin typeface="KaTeX_Math"/>
              </a:rPr>
              <a:t>e</a:t>
            </a:r>
            <a:r>
              <a:rPr lang="en-GB" sz="1800" b="0" i="0" dirty="0">
                <a:effectLst/>
                <a:latin typeface="Söhne"/>
              </a:rPr>
              <a:t>, approximately 0.434.</a:t>
            </a:r>
          </a:p>
          <a:p>
            <a:pPr marL="12700">
              <a:spcBef>
                <a:spcPts val="425"/>
              </a:spcBef>
              <a:tabLst>
                <a:tab pos="354965" algn="l"/>
                <a:tab pos="355600" algn="l"/>
              </a:tabLst>
              <a:defRPr/>
            </a:pPr>
            <a:endParaRPr lang="en-GB" sz="1800" dirty="0"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F710C7-B60A-AE30-D961-176982845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86" y="5420892"/>
            <a:ext cx="7902793" cy="70771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C841A1-3F5B-BDF4-CC38-80E3A6F9D3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250" y="372584"/>
            <a:ext cx="7805738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325" dirty="0"/>
              <a:t>Math</a:t>
            </a:r>
            <a:r>
              <a:rPr spc="-200" dirty="0"/>
              <a:t> </a:t>
            </a:r>
            <a:r>
              <a:rPr spc="55" dirty="0"/>
              <a:t>Object</a:t>
            </a:r>
            <a:r>
              <a:rPr spc="-204" dirty="0"/>
              <a:t> </a:t>
            </a:r>
            <a:r>
              <a:rPr spc="204" dirty="0"/>
              <a:t>Methods</a:t>
            </a:r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ACF9D1-907C-D45B-7E73-4BE4ED6C7069}"/>
              </a:ext>
            </a:extLst>
          </p:cNvPr>
          <p:cNvSpPr txBox="1"/>
          <p:nvPr/>
        </p:nvSpPr>
        <p:spPr>
          <a:xfrm>
            <a:off x="207806" y="1340768"/>
            <a:ext cx="8820472" cy="628377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algn="l"/>
            <a:r>
              <a:rPr lang="en-US" sz="2000" b="0" i="0" dirty="0">
                <a:solidFill>
                  <a:srgbClr val="374151"/>
                </a:solidFill>
                <a:effectLst/>
                <a:cs typeface="Arial" panose="020B0604020202020204" pitchFamily="34" charset="0"/>
              </a:rPr>
              <a:t>JavaScript's Math object comprises several methods that perform mathematical calculations</a:t>
            </a:r>
            <a:r>
              <a:rPr lang="en-US" sz="1600" b="0" i="0" dirty="0">
                <a:solidFill>
                  <a:srgbClr val="374151"/>
                </a:solidFill>
                <a:effectLst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0248456-AC19-423E-F77A-7D169D6B386D}"/>
              </a:ext>
            </a:extLst>
          </p:cNvPr>
          <p:cNvSpPr txBox="1"/>
          <p:nvPr/>
        </p:nvSpPr>
        <p:spPr>
          <a:xfrm>
            <a:off x="395536" y="1969145"/>
            <a:ext cx="8632742" cy="3676006"/>
          </a:xfrm>
          <a:prstGeom prst="rect">
            <a:avLst/>
          </a:prstGeom>
        </p:spPr>
        <p:txBody>
          <a:bodyPr wrap="square" lIns="0" tIns="130175" rIns="0" bIns="0">
            <a:sp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solidFill>
                  <a:srgbClr val="374151"/>
                </a:solidFill>
                <a:effectLst/>
                <a:latin typeface="Söhne"/>
              </a:rPr>
              <a:t>Math.abs</a:t>
            </a:r>
            <a:r>
              <a:rPr lang="en-US" sz="2000" b="1" i="0" dirty="0">
                <a:solidFill>
                  <a:srgbClr val="374151"/>
                </a:solidFill>
                <a:effectLst/>
                <a:latin typeface="Söhne"/>
              </a:rPr>
              <a:t>(x)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: Returns the absolute value of x.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solidFill>
                  <a:srgbClr val="374151"/>
                </a:solidFill>
                <a:effectLst/>
                <a:latin typeface="Söhne"/>
              </a:rPr>
              <a:t>Math.ceil</a:t>
            </a:r>
            <a:r>
              <a:rPr lang="en-US" sz="2000" b="1" i="0" dirty="0">
                <a:solidFill>
                  <a:srgbClr val="374151"/>
                </a:solidFill>
                <a:effectLst/>
                <a:latin typeface="Söhne"/>
              </a:rPr>
              <a:t>(x)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: Returns the value of x rounded up to its nearest integer.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solidFill>
                  <a:srgbClr val="374151"/>
                </a:solidFill>
                <a:effectLst/>
                <a:latin typeface="Söhne"/>
              </a:rPr>
              <a:t>Math.floor</a:t>
            </a:r>
            <a:r>
              <a:rPr lang="en-US" sz="2000" b="1" i="0" dirty="0">
                <a:solidFill>
                  <a:srgbClr val="374151"/>
                </a:solidFill>
                <a:effectLst/>
                <a:latin typeface="Söhne"/>
              </a:rPr>
              <a:t>(x)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: Returns the value of x rounded down to its nearest integer.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solidFill>
                  <a:srgbClr val="374151"/>
                </a:solidFill>
                <a:effectLst/>
                <a:latin typeface="Söhne"/>
              </a:rPr>
              <a:t>Math.round</a:t>
            </a:r>
            <a:r>
              <a:rPr lang="en-US" sz="2000" b="1" i="0" dirty="0">
                <a:solidFill>
                  <a:srgbClr val="374151"/>
                </a:solidFill>
                <a:effectLst/>
                <a:latin typeface="Söhne"/>
              </a:rPr>
              <a:t>(x)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: Returns the value of x rounded to its nearest integer.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solidFill>
                  <a:srgbClr val="374151"/>
                </a:solidFill>
                <a:effectLst/>
                <a:latin typeface="Söhne"/>
              </a:rPr>
              <a:t>Math.cos</a:t>
            </a:r>
            <a:r>
              <a:rPr lang="en-US" sz="2000" b="1" i="0" dirty="0">
                <a:solidFill>
                  <a:srgbClr val="374151"/>
                </a:solidFill>
                <a:effectLst/>
                <a:latin typeface="Söhne"/>
              </a:rPr>
              <a:t>(x)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: Returns the cosine of x (x is in radians).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solidFill>
                  <a:srgbClr val="374151"/>
                </a:solidFill>
                <a:effectLst/>
                <a:latin typeface="Söhne"/>
              </a:rPr>
              <a:t>Math.sin</a:t>
            </a:r>
            <a:r>
              <a:rPr lang="en-US" sz="2000" b="1" i="0" dirty="0">
                <a:solidFill>
                  <a:srgbClr val="374151"/>
                </a:solidFill>
                <a:effectLst/>
                <a:latin typeface="Söhne"/>
              </a:rPr>
              <a:t>(x)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: Returns the sine of x (x is in radians).</a:t>
            </a:r>
          </a:p>
          <a:p>
            <a:pPr marL="12700">
              <a:lnSpc>
                <a:spcPct val="150000"/>
              </a:lnSpc>
              <a:spcBef>
                <a:spcPts val="1025"/>
              </a:spcBef>
              <a:defRPr/>
            </a:pPr>
            <a:endParaRPr lang="en-GB" sz="2800" dirty="0"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78BE85-7B58-1F8F-2A78-860E7CC6C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619" y="4957156"/>
            <a:ext cx="6913137" cy="1208147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BD5363F-870A-F39D-58CC-4D0F34D533CF}"/>
              </a:ext>
            </a:extLst>
          </p:cNvPr>
          <p:cNvSpPr txBox="1"/>
          <p:nvPr/>
        </p:nvSpPr>
        <p:spPr>
          <a:xfrm>
            <a:off x="6917275" y="4365104"/>
            <a:ext cx="2111003" cy="7764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12065" rIns="0" bIns="0">
            <a:spAutoFit/>
          </a:bodyPr>
          <a:lstStyle/>
          <a:p>
            <a:pPr marL="12700">
              <a:spcBef>
                <a:spcPts val="95"/>
              </a:spcBef>
              <a:defRPr/>
            </a:pPr>
            <a:endParaRPr lang="en-GB" sz="1600" b="1" spc="-5" dirty="0">
              <a:solidFill>
                <a:srgbClr val="212121"/>
              </a:solidFill>
              <a:cs typeface="Arial" panose="020B0604020202020204" pitchFamily="34" charset="0"/>
            </a:endParaRPr>
          </a:p>
          <a:p>
            <a:pPr marL="12700">
              <a:spcBef>
                <a:spcPts val="95"/>
              </a:spcBef>
              <a:defRPr/>
            </a:pPr>
            <a:r>
              <a:rPr lang="en-GB" sz="1600" b="1" spc="-5" dirty="0">
                <a:solidFill>
                  <a:srgbClr val="212121"/>
                </a:solidFill>
                <a:cs typeface="Arial" panose="020B0604020202020204" pitchFamily="34" charset="0"/>
              </a:rPr>
              <a:t>    </a:t>
            </a:r>
            <a:r>
              <a:rPr sz="1600" b="1" spc="-5" dirty="0">
                <a:solidFill>
                  <a:srgbClr val="212121"/>
                </a:solidFill>
                <a:cs typeface="Arial" panose="020B0604020202020204" pitchFamily="34" charset="0"/>
              </a:rPr>
              <a:t>1</a:t>
            </a:r>
            <a:r>
              <a:rPr sz="1600" b="1" spc="-20" dirty="0">
                <a:solidFill>
                  <a:srgbClr val="212121"/>
                </a:solidFill>
                <a:cs typeface="Arial" panose="020B0604020202020204" pitchFamily="34" charset="0"/>
              </a:rPr>
              <a:t> </a:t>
            </a:r>
            <a:r>
              <a:rPr sz="1600" b="1" spc="-5" dirty="0">
                <a:solidFill>
                  <a:srgbClr val="212121"/>
                </a:solidFill>
                <a:cs typeface="Arial" panose="020B0604020202020204" pitchFamily="34" charset="0"/>
              </a:rPr>
              <a:t>rad</a:t>
            </a:r>
            <a:r>
              <a:rPr sz="1600" b="1" spc="-25" dirty="0">
                <a:solidFill>
                  <a:srgbClr val="212121"/>
                </a:solidFill>
                <a:cs typeface="Arial" panose="020B0604020202020204" pitchFamily="34" charset="0"/>
              </a:rPr>
              <a:t> </a:t>
            </a:r>
            <a:r>
              <a:rPr sz="1600" b="1" spc="-5" dirty="0">
                <a:solidFill>
                  <a:srgbClr val="212121"/>
                </a:solidFill>
                <a:cs typeface="Arial" panose="020B0604020202020204" pitchFamily="34" charset="0"/>
              </a:rPr>
              <a:t>=</a:t>
            </a:r>
            <a:r>
              <a:rPr sz="1600" b="1" spc="-15" dirty="0">
                <a:solidFill>
                  <a:srgbClr val="212121"/>
                </a:solidFill>
                <a:cs typeface="Arial" panose="020B0604020202020204" pitchFamily="34" charset="0"/>
              </a:rPr>
              <a:t> </a:t>
            </a:r>
            <a:r>
              <a:rPr sz="1600" b="1" spc="-5" dirty="0">
                <a:solidFill>
                  <a:srgbClr val="212121"/>
                </a:solidFill>
                <a:cs typeface="Arial" panose="020B0604020202020204" pitchFamily="34" charset="0"/>
              </a:rPr>
              <a:t>180°/π</a:t>
            </a:r>
            <a:endParaRPr lang="en-GB" sz="1600" b="1" spc="-5" dirty="0">
              <a:solidFill>
                <a:srgbClr val="212121"/>
              </a:solidFill>
              <a:cs typeface="Arial" panose="020B0604020202020204" pitchFamily="34" charset="0"/>
            </a:endParaRPr>
          </a:p>
          <a:p>
            <a:pPr marL="12700">
              <a:spcBef>
                <a:spcPts val="95"/>
              </a:spcBef>
              <a:defRPr/>
            </a:pPr>
            <a:endParaRPr sz="16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9FAD96-D823-66B0-A580-18759E411495}"/>
              </a:ext>
            </a:extLst>
          </p:cNvPr>
          <p:cNvSpPr txBox="1"/>
          <p:nvPr/>
        </p:nvSpPr>
        <p:spPr>
          <a:xfrm>
            <a:off x="251520" y="1330205"/>
            <a:ext cx="8892480" cy="3244478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effectLst/>
                <a:cs typeface="Arial" panose="020B0604020202020204" pitchFamily="34" charset="0"/>
              </a:rPr>
              <a:t>Math.max</a:t>
            </a:r>
            <a:r>
              <a:rPr lang="en-US" sz="2000" b="1" i="0" dirty="0">
                <a:effectLst/>
                <a:cs typeface="Arial" panose="020B0604020202020204" pitchFamily="34" charset="0"/>
              </a:rPr>
              <a:t>(x, y, z, ..., n)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: Returns highest value among provided numbers.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effectLst/>
                <a:cs typeface="Arial" panose="020B0604020202020204" pitchFamily="34" charset="0"/>
              </a:rPr>
              <a:t>Math.min</a:t>
            </a:r>
            <a:r>
              <a:rPr lang="en-US" sz="2000" b="1" i="0" dirty="0">
                <a:effectLst/>
                <a:cs typeface="Arial" panose="020B0604020202020204" pitchFamily="34" charset="0"/>
              </a:rPr>
              <a:t>(x, y, z, ..., n)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: Returns lowest value among provided numbers.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effectLst/>
                <a:cs typeface="Arial" panose="020B0604020202020204" pitchFamily="34" charset="0"/>
              </a:rPr>
              <a:t>Math.random</a:t>
            </a:r>
            <a:r>
              <a:rPr lang="en-US" sz="2000" b="1" i="0" dirty="0">
                <a:effectLst/>
                <a:cs typeface="Arial" panose="020B0604020202020204" pitchFamily="34" charset="0"/>
              </a:rPr>
              <a:t>()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: Returns random number between 0 (inclusive) and 1 (exclusive).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effectLst/>
                <a:cs typeface="Arial" panose="020B0604020202020204" pitchFamily="34" charset="0"/>
              </a:rPr>
              <a:t>Math.pow</a:t>
            </a:r>
            <a:r>
              <a:rPr lang="en-US" sz="2000" b="1" i="0" dirty="0">
                <a:effectLst/>
                <a:cs typeface="Arial" panose="020B0604020202020204" pitchFamily="34" charset="0"/>
              </a:rPr>
              <a:t>(x, y)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: Returns the value of x raised to the power of y.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>
                <a:effectLst/>
                <a:cs typeface="Arial" panose="020B0604020202020204" pitchFamily="34" charset="0"/>
              </a:rPr>
              <a:t>Math.log(x)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: Returns the natural logarithm (base �</a:t>
            </a:r>
            <a:r>
              <a:rPr lang="en-US" sz="2000" b="0" i="1" dirty="0">
                <a:effectLst/>
                <a:cs typeface="Arial" panose="020B0604020202020204" pitchFamily="34" charset="0"/>
              </a:rPr>
              <a:t>e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) of x.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i="0" dirty="0" err="1">
                <a:effectLst/>
                <a:cs typeface="Arial" panose="020B0604020202020204" pitchFamily="34" charset="0"/>
              </a:rPr>
              <a:t>Math.sqrt</a:t>
            </a:r>
            <a:r>
              <a:rPr lang="en-US" sz="2000" b="1" i="0" dirty="0">
                <a:effectLst/>
                <a:cs typeface="Arial" panose="020B0604020202020204" pitchFamily="34" charset="0"/>
              </a:rPr>
              <a:t>(x)</a:t>
            </a:r>
            <a:r>
              <a:rPr lang="en-US" sz="2000" b="0" i="0" dirty="0">
                <a:effectLst/>
                <a:cs typeface="Arial" panose="020B0604020202020204" pitchFamily="34" charset="0"/>
              </a:rPr>
              <a:t>: Returns the square root of x.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0095E5-4107-9219-8207-B9BBD6EC67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520" y="332656"/>
            <a:ext cx="7777163" cy="689932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325" dirty="0"/>
              <a:t>Math</a:t>
            </a:r>
            <a:r>
              <a:rPr spc="-200" dirty="0"/>
              <a:t> </a:t>
            </a:r>
            <a:r>
              <a:rPr spc="55" dirty="0"/>
              <a:t>Object</a:t>
            </a:r>
            <a:r>
              <a:rPr spc="-204" dirty="0"/>
              <a:t> </a:t>
            </a:r>
            <a:r>
              <a:rPr spc="204" dirty="0"/>
              <a:t>Methods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55FBB2-21F9-024A-A45A-35225E3C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4653136"/>
            <a:ext cx="6069671" cy="151216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4">
            <a:extLst>
              <a:ext uri="{FF2B5EF4-FFF2-40B4-BE49-F238E27FC236}">
                <a16:creationId xmlns:a16="http://schemas.microsoft.com/office/drawing/2014/main" id="{3EA9805B-1D19-F6BE-BE08-3CFF1F2A9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References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264E5C1-9971-805C-7B1B-6C5409C56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1846263"/>
            <a:ext cx="8856663" cy="4319587"/>
          </a:xfrm>
        </p:spPr>
        <p:txBody>
          <a:bodyPr/>
          <a:lstStyle/>
          <a:p>
            <a:pPr algn="l"/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</a:t>
            </a:r>
          </a:p>
          <a:p>
            <a:pPr algn="l">
              <a:buFont typeface="+mj-lt"/>
              <a:buAutoNum type="arabicPeriod"/>
            </a:pPr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Flanagan, D. (2020).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JavaScript: The Definitive Guide, 7th Edition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O’Reilly Media.</a:t>
            </a:r>
          </a:p>
          <a:p>
            <a:pPr algn="l">
              <a:buFont typeface="+mj-lt"/>
              <a:buAutoNum type="arabicPeriod"/>
            </a:pPr>
            <a:r>
              <a:rPr lang="en-GB" sz="2000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Haverbeke</a:t>
            </a:r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M. (2018).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Eloquent JavaScript: A Modern Introduction to Programming, 3rd Edition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No Starch Press.</a:t>
            </a:r>
          </a:p>
          <a:p>
            <a:pPr marL="0" indent="0" algn="l"/>
            <a:endParaRPr lang="en-GB" sz="20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Resources</a:t>
            </a:r>
          </a:p>
          <a:p>
            <a:pPr algn="l">
              <a:buFont typeface="+mj-lt"/>
              <a:buAutoNum type="arabicPeriod"/>
            </a:pPr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Mozilla Developer Network (MDN).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Guide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20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MDN JavaScript Guide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GB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W3Schools.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 Tutorial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20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W3Schools JavaScript Tutorial</a:t>
            </a:r>
            <a:r>
              <a:rPr lang="en-GB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eaLnBrk="1" hangingPunct="1"/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7BF2860-1287-3FA3-C88B-D4CF0D491A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Topic 6 – </a:t>
            </a:r>
            <a:r>
              <a:rPr lang="en-GB" altLang="en-US"/>
              <a:t>JavaScript I</a:t>
            </a:r>
            <a:endParaRPr lang="en-GB" altLang="en-US" dirty="0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42E946D-9240-D671-C36B-32FE1336B4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Any Questions?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0" ma:contentTypeDescription="Create a new document." ma:contentTypeScope="" ma:versionID="eacdb1d6c144f2184e6157b4238170f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A9130F-DDD6-4D1B-A9C1-EF371E53A378}"/>
</file>

<file path=customXml/itemProps2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ADE92A-229F-4EBE-A28D-63FD62F08022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bdeceafc-5c0f-406d-b95f-35e6593d664b"/>
    <ds:schemaRef ds:uri="http://schemas.microsoft.com/office/infopath/2007/PartnerControls"/>
    <ds:schemaRef ds:uri="http://www.w3.org/XML/1998/namespace"/>
    <ds:schemaRef ds:uri="http://purl.org/dc/dcmitype/"/>
    <ds:schemaRef ds:uri="dbeaa6b5-7a21-43b8-ab59-31e7cbf2c18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196</TotalTime>
  <Words>2505</Words>
  <Application>Microsoft Office PowerPoint</Application>
  <PresentationFormat>On-screen Show (4:3)</PresentationFormat>
  <Paragraphs>397</Paragraphs>
  <Slides>50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Gill Sans</vt:lpstr>
      <vt:lpstr>KaTeX_Main</vt:lpstr>
      <vt:lpstr>KaTeX_Math</vt:lpstr>
      <vt:lpstr>Söhne</vt:lpstr>
      <vt:lpstr>Arial</vt:lpstr>
      <vt:lpstr>Trebuchet MS</vt:lpstr>
      <vt:lpstr>Blank Presentation</vt:lpstr>
      <vt:lpstr>test 2</vt:lpstr>
      <vt:lpstr>PowerPoint Presentation</vt:lpstr>
      <vt:lpstr>Scope and Coverage</vt:lpstr>
      <vt:lpstr>Learning Outcomes</vt:lpstr>
      <vt:lpstr>Unit Roadmap</vt:lpstr>
      <vt:lpstr>javascript</vt:lpstr>
      <vt:lpstr>What is JavaScript?</vt:lpstr>
      <vt:lpstr>Why Study JavaScript?</vt:lpstr>
      <vt:lpstr>What Can JavaScript (JS) Do?</vt:lpstr>
      <vt:lpstr>Where To Write JS?</vt:lpstr>
      <vt:lpstr>Where To Write JS? Example </vt:lpstr>
      <vt:lpstr>JS syntax</vt:lpstr>
      <vt:lpstr>JS Syntax</vt:lpstr>
      <vt:lpstr>JS Syntax</vt:lpstr>
      <vt:lpstr>PowerPoint Presentation</vt:lpstr>
      <vt:lpstr>JS Syntax</vt:lpstr>
      <vt:lpstr>Js variables</vt:lpstr>
      <vt:lpstr>PowerPoint Presentation</vt:lpstr>
      <vt:lpstr>PowerPoint Presentation</vt:lpstr>
      <vt:lpstr>PowerPoint Presentation</vt:lpstr>
      <vt:lpstr>Reserved Words</vt:lpstr>
      <vt:lpstr>JS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If-else and loops in js</vt:lpstr>
      <vt:lpstr>PowerPoint Presentation</vt:lpstr>
      <vt:lpstr>PowerPoint Presentation</vt:lpstr>
      <vt:lpstr>For Loop</vt:lpstr>
      <vt:lpstr>Functions in js</vt:lpstr>
      <vt:lpstr>PowerPoint Presentation</vt:lpstr>
      <vt:lpstr>PowerPoint Presentation</vt:lpstr>
      <vt:lpstr>PowerPoint Presentation</vt:lpstr>
      <vt:lpstr>PowerPoint Presentation</vt:lpstr>
      <vt:lpstr>Quiz</vt:lpstr>
      <vt:lpstr>PowerPoint Presentation</vt:lpstr>
      <vt:lpstr>Popup Boxes</vt:lpstr>
      <vt:lpstr>PowerPoint Presentation</vt:lpstr>
      <vt:lpstr>JS Objects</vt:lpstr>
      <vt:lpstr>JS Objects</vt:lpstr>
      <vt:lpstr>JS Objects - Methods</vt:lpstr>
      <vt:lpstr>PowerPoint Presentation</vt:lpstr>
      <vt:lpstr>The Arguments Object</vt:lpstr>
      <vt:lpstr>Math Object</vt:lpstr>
      <vt:lpstr>Math Object Properties</vt:lpstr>
      <vt:lpstr>Math Object Methods</vt:lpstr>
      <vt:lpstr>Math Object Methods</vt:lpstr>
      <vt:lpstr>References</vt:lpstr>
      <vt:lpstr>Topic 6 – JavaScript I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Liew Pei Ling</cp:lastModifiedBy>
  <cp:revision>98</cp:revision>
  <dcterms:created xsi:type="dcterms:W3CDTF">2008-01-18T13:21:43Z</dcterms:created>
  <dcterms:modified xsi:type="dcterms:W3CDTF">2024-03-07T07:19:17Z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