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  <p:sldMasterId id="2147483650" r:id="rId5"/>
  </p:sldMasterIdLst>
  <p:notesMasterIdLst>
    <p:notesMasterId r:id="rId54"/>
  </p:notesMasterIdLst>
  <p:handoutMasterIdLst>
    <p:handoutMasterId r:id="rId55"/>
  </p:handoutMasterIdLst>
  <p:sldIdLst>
    <p:sldId id="261" r:id="rId6"/>
    <p:sldId id="432" r:id="rId7"/>
    <p:sldId id="365" r:id="rId8"/>
    <p:sldId id="343" r:id="rId9"/>
    <p:sldId id="266" r:id="rId10"/>
    <p:sldId id="258" r:id="rId11"/>
    <p:sldId id="259" r:id="rId12"/>
    <p:sldId id="276" r:id="rId13"/>
    <p:sldId id="278" r:id="rId14"/>
    <p:sldId id="433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434" r:id="rId23"/>
    <p:sldId id="435" r:id="rId24"/>
    <p:sldId id="288" r:id="rId25"/>
    <p:sldId id="290" r:id="rId26"/>
    <p:sldId id="291" r:id="rId27"/>
    <p:sldId id="292" r:id="rId28"/>
    <p:sldId id="436" r:id="rId29"/>
    <p:sldId id="294" r:id="rId30"/>
    <p:sldId id="437" r:id="rId31"/>
    <p:sldId id="297" r:id="rId32"/>
    <p:sldId id="438" r:id="rId33"/>
    <p:sldId id="299" r:id="rId34"/>
    <p:sldId id="300" r:id="rId35"/>
    <p:sldId id="302" r:id="rId36"/>
    <p:sldId id="439" r:id="rId37"/>
    <p:sldId id="440" r:id="rId38"/>
    <p:sldId id="303" r:id="rId39"/>
    <p:sldId id="304" r:id="rId40"/>
    <p:sldId id="306" r:id="rId41"/>
    <p:sldId id="307" r:id="rId42"/>
    <p:sldId id="441" r:id="rId43"/>
    <p:sldId id="311" r:id="rId44"/>
    <p:sldId id="312" r:id="rId45"/>
    <p:sldId id="313" r:id="rId46"/>
    <p:sldId id="442" r:id="rId47"/>
    <p:sldId id="314" r:id="rId48"/>
    <p:sldId id="315" r:id="rId49"/>
    <p:sldId id="316" r:id="rId50"/>
    <p:sldId id="443" r:id="rId51"/>
    <p:sldId id="268" r:id="rId52"/>
    <p:sldId id="262" r:id="rId5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9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7929"/>
    <a:srgbClr val="CB9535"/>
    <a:srgbClr val="974F8E"/>
    <a:srgbClr val="286A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1"/>
    <p:restoredTop sz="94648"/>
  </p:normalViewPr>
  <p:slideViewPr>
    <p:cSldViewPr>
      <p:cViewPr varScale="1">
        <p:scale>
          <a:sx n="85" d="100"/>
          <a:sy n="85" d="100"/>
        </p:scale>
        <p:origin x="1614" y="84"/>
      </p:cViewPr>
      <p:guideLst>
        <p:guide orient="horz" pos="2160"/>
        <p:guide pos="2880"/>
        <p:guide pos="9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279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viewProps" Target="viewProps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ew Pei Ling" userId="c3090c8e-0726-43ba-95b9-123e980a216d" providerId="ADAL" clId="{0F507C90-E151-4DCE-AAB6-3582029AA4EC}"/>
    <pc:docChg chg="modSld">
      <pc:chgData name="Liew Pei Ling" userId="c3090c8e-0726-43ba-95b9-123e980a216d" providerId="ADAL" clId="{0F507C90-E151-4DCE-AAB6-3582029AA4EC}" dt="2024-03-07T06:22:51.073" v="5" actId="6549"/>
      <pc:docMkLst>
        <pc:docMk/>
      </pc:docMkLst>
      <pc:sldChg chg="modSp mod">
        <pc:chgData name="Liew Pei Ling" userId="c3090c8e-0726-43ba-95b9-123e980a216d" providerId="ADAL" clId="{0F507C90-E151-4DCE-AAB6-3582029AA4EC}" dt="2024-03-07T06:22:51.073" v="5" actId="6549"/>
        <pc:sldMkLst>
          <pc:docMk/>
          <pc:sldMk cId="0" sldId="365"/>
        </pc:sldMkLst>
        <pc:spChg chg="mod">
          <ac:chgData name="Liew Pei Ling" userId="c3090c8e-0726-43ba-95b9-123e980a216d" providerId="ADAL" clId="{0F507C90-E151-4DCE-AAB6-3582029AA4EC}" dt="2024-03-07T06:22:51.073" v="5" actId="6549"/>
          <ac:spMkLst>
            <pc:docMk/>
            <pc:sldMk cId="0" sldId="365"/>
            <ac:spMk id="12291" creationId="{A9FD8E16-8302-4D06-F730-BC71E9A84CE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E1517E25-D4CA-0851-C29F-B809CCB6EDD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 altLang="x-none"/>
              <a:t>Topic X – Topic Title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B32F69A-5F34-5BEB-36A9-DFE12D77D51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Module Title</a:t>
            </a: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3B06B0D8-3ACA-1B73-3EBA-8172417ECA86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V0.0</a:t>
            </a:r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A563957E-AAF4-D699-9B64-63851333F67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r>
              <a:rPr lang="en-US" altLang="en-US"/>
              <a:t>Visuals Handout – Page </a:t>
            </a:r>
            <a:fld id="{45FB282E-DC4B-4191-8D0A-60B575E81AE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CE0885D-49EE-F082-42D9-750D7382240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FFF768D6-8EA7-1E09-A031-0946F65F756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F113DD66-9B78-F6ED-D719-25559F08867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6CBFD86C-E6B1-92D1-73BF-F0018244512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C67A3A17-B11B-6989-7A3A-595AB53EC0B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BA2DA46E-685D-3DDC-B4F6-2E300486FF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B216293-A16E-4415-9D8C-10E765E342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A4DFFE57-8629-A735-F2D4-C346915CA4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896F61D-8E17-4523-9E19-3D56BCFAF8B4}" type="slidenum">
              <a:rPr lang="en-US" altLang="en-US" sz="1200" smtClean="0"/>
              <a:pPr/>
              <a:t>1</a:t>
            </a:fld>
            <a:endParaRPr lang="en-US" altLang="en-US" sz="12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7488304F-D163-6286-BA5D-EFE1B6420B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5B4FA2B9-8E68-DE3A-36A8-44D8CAA037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NCC Education - Title Master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81191150-8079-0B27-1D02-44BB7D8A97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C34B5C6-47FD-401A-AE5E-05462FEDC617}" type="slidenum">
              <a:rPr lang="en-US" altLang="en-US" sz="1200" smtClean="0"/>
              <a:pPr/>
              <a:t>2</a:t>
            </a:fld>
            <a:endParaRPr lang="en-US" altLang="en-US" sz="12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B7AE0236-2B27-1E80-077F-9EB1D5A8C8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F30171D7-6EEC-D812-BF73-380627A37F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NCC Education - Slide Master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Correct Answer: B) $(".example")</a:t>
            </a:r>
            <a:endParaRPr kumimoji="0" lang="en-US" altLang="en-US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Correct Answer: C) $("#unique")</a:t>
            </a:r>
            <a:endParaRPr kumimoji="0" lang="en-US" altLang="en-US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Correct Answer: A) $("div p")</a:t>
            </a:r>
            <a:endParaRPr kumimoji="0" lang="en-US" altLang="en-US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216293-A16E-4415-9D8C-10E765E34232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13201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Correct Answer: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 B)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slideUp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()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Correct Answer: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 A)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fadeOut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()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Correct Answer: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 A)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animate()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216293-A16E-4415-9D8C-10E765E34232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2346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60B528A5-D8AD-7D73-B546-04EB524E99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213E11C-B118-4C29-9EC3-4474E15C5900}" type="slidenum">
              <a:rPr lang="en-US" altLang="en-US" sz="1200" smtClean="0"/>
              <a:pPr/>
              <a:t>48</a:t>
            </a:fld>
            <a:endParaRPr lang="en-US" altLang="en-US" sz="1200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BA4319B6-36AB-D364-2CCD-E112069BD7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A9908F16-A9F6-AA1E-BF58-F098BB3926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NCC Education - End Slide Master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4">
            <a:extLst>
              <a:ext uri="{FF2B5EF4-FFF2-40B4-BE49-F238E27FC236}">
                <a16:creationId xmlns:a16="http://schemas.microsoft.com/office/drawing/2014/main" id="{9572162D-76C1-6E45-BFF4-1C969009166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439025" y="6616700"/>
            <a:ext cx="1684338" cy="242888"/>
            <a:chOff x="4513" y="4156"/>
            <a:chExt cx="1061" cy="153"/>
          </a:xfrm>
        </p:grpSpPr>
        <p:sp>
          <p:nvSpPr>
            <p:cNvPr id="3" name="Rectangle 25">
              <a:extLst>
                <a:ext uri="{FF2B5EF4-FFF2-40B4-BE49-F238E27FC236}">
                  <a16:creationId xmlns:a16="http://schemas.microsoft.com/office/drawing/2014/main" id="{8D9CA16A-CE41-822F-01B1-F1BD506BBB9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513" y="4156"/>
              <a:ext cx="173" cy="1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r>
                <a:rPr lang="en-GB" altLang="en-US" sz="1000">
                  <a:solidFill>
                    <a:srgbClr val="FFFFFF"/>
                  </a:solidFill>
                </a:rPr>
                <a:t>©</a:t>
              </a:r>
            </a:p>
          </p:txBody>
        </p:sp>
        <p:sp>
          <p:nvSpPr>
            <p:cNvPr id="4" name="Rectangle 26">
              <a:extLst>
                <a:ext uri="{FF2B5EF4-FFF2-40B4-BE49-F238E27FC236}">
                  <a16:creationId xmlns:a16="http://schemas.microsoft.com/office/drawing/2014/main" id="{8FBC2A9C-92C5-741B-D3ED-27E9F5811AA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23" y="4156"/>
              <a:ext cx="951" cy="1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>
                <a:defRPr/>
              </a:pPr>
              <a:r>
                <a:rPr lang="en-GB" altLang="en-US" sz="1000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NCC Education Limited</a:t>
              </a:r>
            </a:p>
          </p:txBody>
        </p:sp>
      </p:grpSp>
      <p:pic>
        <p:nvPicPr>
          <p:cNvPr id="5" name="Picture 8">
            <a:extLst>
              <a:ext uri="{FF2B5EF4-FFF2-40B4-BE49-F238E27FC236}">
                <a16:creationId xmlns:a16="http://schemas.microsoft.com/office/drawing/2014/main" id="{7C33D41E-0EBA-14FD-83A5-9CC3706A6C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9144000" cy="6911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6947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9547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002060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85918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950" y="1845717"/>
            <a:ext cx="4351338" cy="4319587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1845717"/>
            <a:ext cx="4352925" cy="4319587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971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2318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8094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1862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44824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844824"/>
            <a:ext cx="5111750" cy="5853113"/>
          </a:xfrm>
        </p:spPr>
        <p:txBody>
          <a:bodyPr/>
          <a:lstStyle>
            <a:lvl1pPr>
              <a:defRPr sz="3200">
                <a:solidFill>
                  <a:srgbClr val="002060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019276"/>
            <a:ext cx="3008313" cy="4691063"/>
          </a:xfrm>
        </p:spPr>
        <p:txBody>
          <a:bodyPr/>
          <a:lstStyle>
            <a:lvl1pPr marL="0" indent="0">
              <a:buNone/>
              <a:defRPr sz="1400">
                <a:solidFill>
                  <a:srgbClr val="00206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6790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rgbClr val="F47929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1385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3019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50050" y="404813"/>
            <a:ext cx="2214563" cy="5472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188" y="404813"/>
            <a:ext cx="6494462" cy="5472112"/>
          </a:xfrm>
        </p:spPr>
        <p:txBody>
          <a:bodyPr vert="eaVert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99425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358260" y="2794074"/>
            <a:ext cx="2427478" cy="49244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1"/>
            <a:ext cx="6400800" cy="46166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F8A896F7-DBC7-725C-745A-EC6BAD75A8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0"/>
            <a:ext cx="0" cy="0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9882C020-6450-FE5B-92D8-86772540D8A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0"/>
            <a:ext cx="0" cy="0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EFD3061-C4B5-47AD-8ADE-47F33FC7A716}" type="datetimeFigureOut">
              <a:rPr lang="en-US"/>
              <a:pPr>
                <a:defRPr/>
              </a:pPr>
              <a:t>3/7/2024</a:t>
            </a:fld>
            <a:endParaRPr lang="en-US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0DD543DF-C8BC-B8E9-5206-447CB28C6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A72A859-4E20-45AB-9260-FEC106A0EE70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74812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6103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8F4EB1AE-76A8-9C9F-39F9-4ACC109880DF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9144000" cy="6911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15">
            <a:extLst>
              <a:ext uri="{FF2B5EF4-FFF2-40B4-BE49-F238E27FC236}">
                <a16:creationId xmlns:a16="http://schemas.microsoft.com/office/drawing/2014/main" id="{4EF69406-499C-6E3D-AEAE-6BD5C42DE0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3188" y="115888"/>
            <a:ext cx="87852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" name="Rectangle 17">
            <a:extLst>
              <a:ext uri="{FF2B5EF4-FFF2-40B4-BE49-F238E27FC236}">
                <a16:creationId xmlns:a16="http://schemas.microsoft.com/office/drawing/2014/main" id="{1B0324C3-D09D-5B13-5E2E-2CF5B81975E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35700" y="0"/>
            <a:ext cx="2908300" cy="241300"/>
          </a:xfrm>
          <a:prstGeom prst="rect">
            <a:avLst/>
          </a:prstGeom>
          <a:noFill/>
          <a:ln>
            <a:noFill/>
          </a:ln>
          <a:effectLst/>
        </p:spPr>
        <p:txBody>
          <a:bodyPr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defRPr/>
            </a:pPr>
            <a:r>
              <a:rPr lang="en-GB" altLang="en-US" sz="1000" dirty="0">
                <a:solidFill>
                  <a:schemeClr val="bg1"/>
                </a:solidFill>
                <a:latin typeface="Gill Sans" charset="0"/>
              </a:rPr>
              <a:t>jQuery Topic 8 - 8.</a:t>
            </a:r>
            <a:fld id="{7C62753B-12A2-4096-B079-254B31E3F839}" type="slidenum">
              <a:rPr lang="en-GB" altLang="en-US" sz="1000" smtClean="0">
                <a:solidFill>
                  <a:schemeClr val="bg1"/>
                </a:solidFill>
                <a:latin typeface="Gill Sans" charset="0"/>
              </a:rPr>
              <a:pPr algn="r" eaLnBrk="1" hangingPunct="1">
                <a:defRPr/>
              </a:pPr>
              <a:t>‹#›</a:t>
            </a:fld>
            <a:endParaRPr lang="en-GB" altLang="en-US" sz="1000" dirty="0">
              <a:solidFill>
                <a:schemeClr val="bg1"/>
              </a:solidFill>
              <a:latin typeface="Gill Sans" charset="0"/>
            </a:endParaRPr>
          </a:p>
        </p:txBody>
      </p:sp>
      <p:sp>
        <p:nvSpPr>
          <p:cNvPr id="1029" name="Rectangle 22">
            <a:extLst>
              <a:ext uri="{FF2B5EF4-FFF2-40B4-BE49-F238E27FC236}">
                <a16:creationId xmlns:a16="http://schemas.microsoft.com/office/drawing/2014/main" id="{546B8DFD-E5D3-6A45-8B86-C53AF6B0EF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1846263"/>
            <a:ext cx="8856663" cy="431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5" r:id="rId1"/>
    <p:sldLayoutId id="2147483994" r:id="rId2"/>
    <p:sldLayoutId id="2147483995" r:id="rId3"/>
    <p:sldLayoutId id="2147483996" r:id="rId4"/>
    <p:sldLayoutId id="2147483997" r:id="rId5"/>
    <p:sldLayoutId id="2147483998" r:id="rId6"/>
    <p:sldLayoutId id="2147483999" r:id="rId7"/>
    <p:sldLayoutId id="2147484000" r:id="rId8"/>
    <p:sldLayoutId id="2147484001" r:id="rId9"/>
    <p:sldLayoutId id="2147484002" r:id="rId10"/>
    <p:sldLayoutId id="2147484003" r:id="rId11"/>
    <p:sldLayoutId id="2147484006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9pPr>
    </p:titleStyle>
    <p:bodyStyle>
      <a:lvl1pPr marL="88900" indent="-88900" algn="l" rtl="0" eaLnBrk="0" fontAlgn="base" hangingPunct="0">
        <a:spcBef>
          <a:spcPct val="20000"/>
        </a:spcBef>
        <a:spcAft>
          <a:spcPct val="0"/>
        </a:spcAft>
        <a:defRPr sz="3000" i="1">
          <a:solidFill>
            <a:srgbClr val="002060"/>
          </a:solidFill>
          <a:latin typeface="+mn-lt"/>
          <a:ea typeface="+mn-ea"/>
          <a:cs typeface="ＭＳ Ｐゴシック" charset="0"/>
        </a:defRPr>
      </a:lvl1pPr>
      <a:lvl2pPr marL="533400" indent="-265113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•"/>
        <a:defRPr sz="2800">
          <a:solidFill>
            <a:schemeClr val="bg2"/>
          </a:solidFill>
          <a:latin typeface="Arial" charset="0"/>
          <a:ea typeface="+mn-ea"/>
        </a:defRPr>
      </a:lvl2pPr>
      <a:lvl3pPr marL="1068388" indent="-355600" algn="l" rtl="0" eaLnBrk="0" fontAlgn="base" hangingPunct="0">
        <a:spcBef>
          <a:spcPct val="20000"/>
        </a:spcBef>
        <a:spcAft>
          <a:spcPct val="0"/>
        </a:spcAft>
        <a:buFont typeface="Gill Sans" charset="0"/>
        <a:buChar char="–"/>
        <a:defRPr sz="2400">
          <a:solidFill>
            <a:schemeClr val="bg2"/>
          </a:solidFill>
          <a:latin typeface="Arial" charset="0"/>
          <a:ea typeface="+mn-ea"/>
        </a:defRPr>
      </a:lvl3pPr>
      <a:lvl4pPr marL="1435100" indent="-187325" algn="l" rtl="0" eaLnBrk="0" fontAlgn="base" hangingPunct="0">
        <a:spcBef>
          <a:spcPct val="0"/>
        </a:spcBef>
        <a:spcAft>
          <a:spcPct val="0"/>
        </a:spcAft>
        <a:buChar char="•"/>
        <a:defRPr sz="2000">
          <a:solidFill>
            <a:schemeClr val="bg2"/>
          </a:solidFill>
          <a:latin typeface="Arial" charset="0"/>
          <a:ea typeface="+mn-ea"/>
        </a:defRPr>
      </a:lvl4pPr>
      <a:lvl5pPr marL="2098675" indent="-395288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5pPr>
      <a:lvl6pPr marL="25558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6pPr>
      <a:lvl7pPr marL="30130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7pPr>
      <a:lvl8pPr marL="34702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8pPr>
      <a:lvl9pPr marL="39274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9">
            <a:extLst>
              <a:ext uri="{FF2B5EF4-FFF2-40B4-BE49-F238E27FC236}">
                <a16:creationId xmlns:a16="http://schemas.microsoft.com/office/drawing/2014/main" id="{60A9061C-478D-1335-25DA-86D16ABD0E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14">
            <a:extLst>
              <a:ext uri="{FF2B5EF4-FFF2-40B4-BE49-F238E27FC236}">
                <a16:creationId xmlns:a16="http://schemas.microsoft.com/office/drawing/2014/main" id="{DEF71837-2BC6-918E-4BEF-1A60476156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828800" y="2798763"/>
            <a:ext cx="5486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UNIT X</a:t>
            </a:r>
          </a:p>
        </p:txBody>
      </p:sp>
      <p:sp>
        <p:nvSpPr>
          <p:cNvPr id="2052" name="Rectangle 15">
            <a:extLst>
              <a:ext uri="{FF2B5EF4-FFF2-40B4-BE49-F238E27FC236}">
                <a16:creationId xmlns:a16="http://schemas.microsoft.com/office/drawing/2014/main" id="{24090E37-8CD1-B1C8-3B24-88ED431F02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835150" y="3794125"/>
            <a:ext cx="54864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Any Questions?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9pPr>
    </p:titleStyle>
    <p:bodyStyle>
      <a:lvl1pPr marL="342900" indent="-342900" algn="ctr" rtl="0" eaLnBrk="0" fontAlgn="base" hangingPunct="0">
        <a:spcBef>
          <a:spcPct val="20000"/>
        </a:spcBef>
        <a:spcAft>
          <a:spcPct val="0"/>
        </a:spcAft>
        <a:defRPr sz="2500">
          <a:solidFill>
            <a:schemeClr val="bg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api.jqueryui.com/datepicker/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jqueryui.com/" TargetMode="External"/><Relationship Id="rId2" Type="http://schemas.openxmlformats.org/officeDocument/2006/relationships/hyperlink" Target="https://jquery.com/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>
            <a:extLst>
              <a:ext uri="{FF2B5EF4-FFF2-40B4-BE49-F238E27FC236}">
                <a16:creationId xmlns:a16="http://schemas.microsoft.com/office/drawing/2014/main" id="{2BA5483B-3283-344E-AD66-856AE6B2DDCC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3779838" y="4365625"/>
            <a:ext cx="5975350" cy="965200"/>
          </a:xfrm>
        </p:spPr>
        <p:txBody>
          <a:bodyPr/>
          <a:lstStyle/>
          <a:p>
            <a:pPr algn="ctr" eaLnBrk="1" hangingPunct="1"/>
            <a:r>
              <a:rPr lang="en-GB" altLang="en-US" sz="1600" b="1" i="0" dirty="0">
                <a:solidFill>
                  <a:schemeClr val="bg1"/>
                </a:solidFill>
                <a:latin typeface="Arial" panose="020B0604020202020204" pitchFamily="34" charset="0"/>
              </a:rPr>
              <a:t>Front End Web Development</a:t>
            </a:r>
          </a:p>
          <a:p>
            <a:pPr algn="ctr" eaLnBrk="1" hangingPunct="1"/>
            <a:r>
              <a:rPr lang="en-GB" altLang="en-US" sz="1600" b="1" i="0" dirty="0">
                <a:solidFill>
                  <a:schemeClr val="bg1"/>
                </a:solidFill>
                <a:latin typeface="Arial" panose="020B0604020202020204" pitchFamily="34" charset="0"/>
              </a:rPr>
              <a:t>Topic 8: </a:t>
            </a:r>
          </a:p>
          <a:p>
            <a:pPr algn="ctr" eaLnBrk="1" hangingPunct="1"/>
            <a:r>
              <a:rPr lang="en-US" altLang="en-US" sz="1600" b="1" i="0" dirty="0">
                <a:solidFill>
                  <a:schemeClr val="bg1"/>
                </a:solidFill>
                <a:latin typeface="Arial" panose="020B0604020202020204" pitchFamily="34" charset="0"/>
              </a:rPr>
              <a:t>jQuery</a:t>
            </a:r>
          </a:p>
          <a:p>
            <a:pPr eaLnBrk="1" hangingPunct="1"/>
            <a:endParaRPr lang="en-US" altLang="en-US" sz="1600" i="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eaLnBrk="1" hangingPunct="1"/>
            <a:endParaRPr lang="en-US" altLang="en-US" sz="1600" i="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6">
            <a:extLst>
              <a:ext uri="{FF2B5EF4-FFF2-40B4-BE49-F238E27FC236}">
                <a16:creationId xmlns:a16="http://schemas.microsoft.com/office/drawing/2014/main" id="{174959F2-7EEB-3B75-5654-DE5AF6A339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Scope and Coverage</a:t>
            </a:r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54B4D964-70E7-1C17-033F-F6EB19A3B8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5345" y="1556792"/>
            <a:ext cx="8856663" cy="4319587"/>
          </a:xfrm>
        </p:spPr>
        <p:txBody>
          <a:bodyPr/>
          <a:lstStyle/>
          <a:p>
            <a:pPr eaLnBrk="1" hangingPunct="1"/>
            <a:r>
              <a:rPr lang="en-GB" altLang="en-US" dirty="0"/>
              <a:t>This topic will cover:</a:t>
            </a:r>
          </a:p>
          <a:p>
            <a:pPr lvl="1" eaLnBrk="1" hangingPunct="1"/>
            <a:r>
              <a:rPr lang="en-US" altLang="en-US" dirty="0">
                <a:latin typeface="Arial" panose="020B0604020202020204" pitchFamily="34" charset="0"/>
              </a:rPr>
              <a:t>jQuery introduction</a:t>
            </a:r>
          </a:p>
          <a:p>
            <a:pPr lvl="1" eaLnBrk="1" hangingPunct="1"/>
            <a:r>
              <a:rPr lang="en-US" altLang="en-US" dirty="0">
                <a:latin typeface="Arial" panose="020B0604020202020204" pitchFamily="34" charset="0"/>
              </a:rPr>
              <a:t>jQuery Syntax </a:t>
            </a:r>
          </a:p>
          <a:p>
            <a:pPr lvl="1" eaLnBrk="1" hangingPunct="1"/>
            <a:r>
              <a:rPr lang="en-US" altLang="en-US" dirty="0">
                <a:latin typeface="Arial" panose="020B0604020202020204" pitchFamily="34" charset="0"/>
              </a:rPr>
              <a:t>jQuery Events </a:t>
            </a:r>
          </a:p>
          <a:p>
            <a:pPr lvl="1" eaLnBrk="1" hangingPunct="1"/>
            <a:r>
              <a:rPr lang="en-US" altLang="en-US" dirty="0">
                <a:latin typeface="Arial" panose="020B0604020202020204" pitchFamily="34" charset="0"/>
              </a:rPr>
              <a:t>jQuery Effects</a:t>
            </a:r>
          </a:p>
          <a:p>
            <a:pPr lvl="1" eaLnBrk="1" hangingPunct="1"/>
            <a:r>
              <a:rPr lang="en-US" altLang="en-US" dirty="0">
                <a:latin typeface="Arial" panose="020B0604020202020204" pitchFamily="34" charset="0"/>
              </a:rPr>
              <a:t>DOM</a:t>
            </a:r>
          </a:p>
          <a:p>
            <a:pPr lvl="1" eaLnBrk="1" hangingPunct="1"/>
            <a:r>
              <a:rPr lang="en-US" altLang="en-US" dirty="0">
                <a:latin typeface="Arial" panose="020B0604020202020204" pitchFamily="34" charset="0"/>
              </a:rPr>
              <a:t>jQuery UI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>
            <a:extLst>
              <a:ext uri="{FF2B5EF4-FFF2-40B4-BE49-F238E27FC236}">
                <a16:creationId xmlns:a16="http://schemas.microsoft.com/office/drawing/2014/main" id="{4C7B031C-689A-52ED-A749-2FF7EBECB7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Learning Outcomes</a:t>
            </a:r>
            <a:endParaRPr lang="en-US" altLang="en-US"/>
          </a:p>
        </p:txBody>
      </p:sp>
      <p:sp>
        <p:nvSpPr>
          <p:cNvPr id="12291" name="Rectangle 5">
            <a:extLst>
              <a:ext uri="{FF2B5EF4-FFF2-40B4-BE49-F238E27FC236}">
                <a16:creationId xmlns:a16="http://schemas.microsoft.com/office/drawing/2014/main" id="{A9FD8E16-8302-4D06-F730-BC71E9A84C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88" y="1557338"/>
            <a:ext cx="8856662" cy="4319587"/>
          </a:xfrm>
        </p:spPr>
        <p:txBody>
          <a:bodyPr/>
          <a:lstStyle/>
          <a:p>
            <a:pPr eaLnBrk="1" hangingPunct="1"/>
            <a:r>
              <a:rPr lang="en-GB" altLang="en-US" sz="3200" dirty="0"/>
              <a:t>By the end of this topic students will be able to: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Explain </a:t>
            </a:r>
            <a:r>
              <a:rPr lang="en-US" altLang="en-US" dirty="0">
                <a:latin typeface="Arial" panose="020B0604020202020204" pitchFamily="34" charset="0"/>
              </a:rPr>
              <a:t>jQuery</a:t>
            </a:r>
            <a:r>
              <a:rPr lang="en-GB" altLang="en-US" dirty="0">
                <a:latin typeface="Arial" panose="020B0604020202020204" pitchFamily="34" charset="0"/>
              </a:rPr>
              <a:t> concepts </a:t>
            </a:r>
          </a:p>
          <a:p>
            <a:pPr lvl="1" eaLnBrk="1" hangingPunct="1"/>
            <a:r>
              <a:rPr lang="en-GB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Create animated, interactive web pages using jQuery library</a:t>
            </a:r>
            <a:endParaRPr lang="en-GB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en-GB" altLang="en-US">
                <a:latin typeface="Arial" panose="020B0604020202020204" pitchFamily="34" charset="0"/>
              </a:rPr>
              <a:t>Make </a:t>
            </a:r>
            <a:r>
              <a:rPr lang="en-GB" altLang="en-US" dirty="0">
                <a:latin typeface="Arial" panose="020B0604020202020204" pitchFamily="34" charset="0"/>
              </a:rPr>
              <a:t>use of simple jQuery examples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Explain </a:t>
            </a:r>
            <a:r>
              <a:rPr lang="en-US" altLang="en-US" dirty="0">
                <a:latin typeface="Arial" panose="020B0604020202020204" pitchFamily="34" charset="0"/>
              </a:rPr>
              <a:t>jQuery Events and Effects</a:t>
            </a:r>
            <a:r>
              <a:rPr lang="en-GB" altLang="en-US" dirty="0">
                <a:latin typeface="Arial" panose="020B0604020202020204" pitchFamily="34" charset="0"/>
              </a:rPr>
              <a:t> 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Describe jQuery UI</a:t>
            </a:r>
          </a:p>
          <a:p>
            <a:pPr lvl="1" eaLnBrk="1" hangingPunct="1"/>
            <a:endParaRPr lang="en-GB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C5ADD14D-A630-90C3-81B1-8DF9004792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Unit Roadmap</a:t>
            </a:r>
            <a:endParaRPr lang="en-GB" altLang="en-US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C746561-63CC-B6AA-4311-3584172B2E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5845613"/>
              </p:ext>
            </p:extLst>
          </p:nvPr>
        </p:nvGraphicFramePr>
        <p:xfrm>
          <a:off x="467544" y="1484784"/>
          <a:ext cx="8420869" cy="46147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0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01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43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5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929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1" marB="2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1" marB="2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1" marB="2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1" marB="2571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7455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1" marB="25711"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Overview of Web Application Architecture</a:t>
                      </a:r>
                      <a:endParaRPr lang="en-GB"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1" marB="2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GB" sz="2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1" marB="25711"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JavaScript - II</a:t>
                      </a:r>
                      <a:endParaRPr lang="en-GB" sz="2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1" marB="2571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89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1" marB="25711" anchor="ctr"/>
                </a:tc>
                <a:tc>
                  <a:txBody>
                    <a:bodyPr/>
                    <a:lstStyle/>
                    <a:p>
                      <a:r>
                        <a:rPr lang="en-GB" sz="20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Introduction to HTML5 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1" marB="2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GB" sz="20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1" marB="25711"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jQuery</a:t>
                      </a:r>
                      <a:endParaRPr lang="en-GB" sz="20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1" marB="2571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1125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GB"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1" marB="25711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GB" sz="2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Introduction to CSS</a:t>
                      </a:r>
                    </a:p>
                  </a:txBody>
                  <a:tcPr marL="38570" marR="3857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9</a:t>
                      </a:r>
                      <a:endParaRPr lang="en-GB" sz="20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570" marR="38570" marT="0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Responsive CSS Framework: Bootstrap - I</a:t>
                      </a:r>
                      <a:endParaRPr lang="en-GB" sz="20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570" marR="3857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29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1" marB="25711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GB" sz="20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HTML and CSS</a:t>
                      </a:r>
                    </a:p>
                  </a:txBody>
                  <a:tcPr marL="38570" marR="3857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</a:t>
                      </a:r>
                      <a:endParaRPr lang="en-GB" sz="20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570" marR="38570" marT="0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Responsive CSS Framework: Bootstrap - II</a:t>
                      </a:r>
                      <a:endParaRPr lang="en-GB" sz="20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570" marR="3857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1125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GB"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1" marB="25711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GB" sz="2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CSS Flexbox and Grid Layout </a:t>
                      </a:r>
                    </a:p>
                  </a:txBody>
                  <a:tcPr marL="38570" marR="3857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11</a:t>
                      </a:r>
                      <a:endParaRPr lang="en-GB" sz="20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570" marR="38570" marT="0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Code Review  and Testing. and Collaboration</a:t>
                      </a:r>
                      <a:endParaRPr lang="en-GB" sz="20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570" marR="3857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9299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GB" sz="2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1" marB="25711"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JavaScript - I</a:t>
                      </a:r>
                      <a:endParaRPr lang="en-GB" sz="2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1" marB="2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1" marB="25711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 Summary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1" marB="25711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FBCA0-7620-494B-F5F2-787796CCE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j</a:t>
            </a:r>
            <a:r>
              <a:rPr lang="en-US" dirty="0"/>
              <a:t>Query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4A9B6D-F0BA-08C8-AC49-4E5C80DFDD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3BB2B40-0DFF-F94D-EF92-5DD52AC050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2422"/>
            <a:ext cx="8785225" cy="689932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lang="en-US" spc="-10" dirty="0"/>
              <a:t>Introduction to jQuery</a:t>
            </a:r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BF0F386-6E16-2425-8B27-6FF374940EB6}"/>
              </a:ext>
            </a:extLst>
          </p:cNvPr>
          <p:cNvSpPr txBox="1"/>
          <p:nvPr/>
        </p:nvSpPr>
        <p:spPr>
          <a:xfrm>
            <a:off x="536575" y="1620838"/>
            <a:ext cx="8050213" cy="3890168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299085" indent="-287020">
              <a:spcBef>
                <a:spcPts val="95"/>
              </a:spcBef>
              <a:buFont typeface="Arial MT"/>
              <a:buChar char="•"/>
              <a:tabLst>
                <a:tab pos="299085" algn="l"/>
                <a:tab pos="299720" algn="l"/>
              </a:tabLst>
              <a:defRPr/>
            </a:pPr>
            <a:r>
              <a:rPr sz="2000" spc="-5" dirty="0">
                <a:cs typeface="Arial" panose="020B0604020202020204" pitchFamily="34" charset="0"/>
              </a:rPr>
              <a:t>jQuery</a:t>
            </a:r>
            <a:r>
              <a:rPr sz="2000" spc="20" dirty="0">
                <a:cs typeface="Arial" panose="020B0604020202020204" pitchFamily="34" charset="0"/>
              </a:rPr>
              <a:t> </a:t>
            </a:r>
            <a:r>
              <a:rPr sz="2000" spc="-5" dirty="0">
                <a:cs typeface="Arial" panose="020B0604020202020204" pitchFamily="34" charset="0"/>
              </a:rPr>
              <a:t>is</a:t>
            </a:r>
            <a:r>
              <a:rPr sz="2000" spc="10" dirty="0">
                <a:cs typeface="Arial" panose="020B0604020202020204" pitchFamily="34" charset="0"/>
              </a:rPr>
              <a:t> </a:t>
            </a:r>
            <a:r>
              <a:rPr sz="2000" spc="-5" dirty="0">
                <a:cs typeface="Arial" panose="020B0604020202020204" pitchFamily="34" charset="0"/>
              </a:rPr>
              <a:t>a </a:t>
            </a:r>
            <a:r>
              <a:rPr sz="2000" b="1" spc="-10" dirty="0">
                <a:solidFill>
                  <a:schemeClr val="accent6"/>
                </a:solidFill>
                <a:cs typeface="Arial" panose="020B0604020202020204" pitchFamily="34" charset="0"/>
              </a:rPr>
              <a:t>lightweight,</a:t>
            </a:r>
            <a:r>
              <a:rPr sz="2000" b="1" spc="15" dirty="0">
                <a:solidFill>
                  <a:schemeClr val="accent6"/>
                </a:solidFill>
                <a:cs typeface="Arial" panose="020B0604020202020204" pitchFamily="34" charset="0"/>
              </a:rPr>
              <a:t> </a:t>
            </a:r>
            <a:r>
              <a:rPr sz="2000" b="1" spc="-10" dirty="0">
                <a:solidFill>
                  <a:schemeClr val="accent6"/>
                </a:solidFill>
                <a:cs typeface="Arial" panose="020B0604020202020204" pitchFamily="34" charset="0"/>
              </a:rPr>
              <a:t>feature</a:t>
            </a:r>
            <a:r>
              <a:rPr sz="2000" b="1" spc="5" dirty="0">
                <a:solidFill>
                  <a:schemeClr val="accent6"/>
                </a:solidFill>
                <a:cs typeface="Arial" panose="020B0604020202020204" pitchFamily="34" charset="0"/>
              </a:rPr>
              <a:t> </a:t>
            </a:r>
            <a:r>
              <a:rPr sz="2000" b="1" spc="-5" dirty="0">
                <a:solidFill>
                  <a:schemeClr val="accent6"/>
                </a:solidFill>
                <a:cs typeface="Arial" panose="020B0604020202020204" pitchFamily="34" charset="0"/>
              </a:rPr>
              <a:t>rich</a:t>
            </a:r>
            <a:r>
              <a:rPr sz="2000" b="1" spc="10" dirty="0">
                <a:solidFill>
                  <a:schemeClr val="accent6"/>
                </a:solidFill>
                <a:cs typeface="Arial" panose="020B0604020202020204" pitchFamily="34" charset="0"/>
              </a:rPr>
              <a:t> </a:t>
            </a:r>
            <a:r>
              <a:rPr sz="2000" b="1" spc="-10" dirty="0">
                <a:solidFill>
                  <a:schemeClr val="accent6"/>
                </a:solidFill>
                <a:cs typeface="Arial" panose="020B0604020202020204" pitchFamily="34" charset="0"/>
              </a:rPr>
              <a:t>JavaScript</a:t>
            </a:r>
            <a:r>
              <a:rPr sz="2000" b="1" spc="5" dirty="0">
                <a:solidFill>
                  <a:schemeClr val="accent6"/>
                </a:solidFill>
                <a:cs typeface="Arial" panose="020B0604020202020204" pitchFamily="34" charset="0"/>
              </a:rPr>
              <a:t> </a:t>
            </a:r>
            <a:r>
              <a:rPr sz="2000" b="1" spc="-10" dirty="0">
                <a:solidFill>
                  <a:schemeClr val="accent6"/>
                </a:solidFill>
                <a:cs typeface="Arial" panose="020B0604020202020204" pitchFamily="34" charset="0"/>
              </a:rPr>
              <a:t>library</a:t>
            </a:r>
            <a:endParaRPr sz="2000" dirty="0">
              <a:solidFill>
                <a:schemeClr val="accent6"/>
              </a:solidFill>
              <a:cs typeface="Arial" panose="020B0604020202020204" pitchFamily="34" charset="0"/>
            </a:endParaRPr>
          </a:p>
          <a:p>
            <a:pPr>
              <a:spcBef>
                <a:spcPts val="30"/>
              </a:spcBef>
              <a:buFont typeface="Arial MT"/>
              <a:buChar char="•"/>
              <a:defRPr/>
            </a:pPr>
            <a:endParaRPr sz="1800" dirty="0">
              <a:cs typeface="Arial" panose="020B0604020202020204" pitchFamily="34" charset="0"/>
            </a:endParaRPr>
          </a:p>
          <a:p>
            <a:pPr marL="299085" indent="-287020">
              <a:spcBef>
                <a:spcPts val="5"/>
              </a:spcBef>
              <a:buFont typeface="Arial MT"/>
              <a:buChar char="•"/>
              <a:tabLst>
                <a:tab pos="299085" algn="l"/>
                <a:tab pos="299720" algn="l"/>
              </a:tabLst>
              <a:defRPr/>
            </a:pPr>
            <a:r>
              <a:rPr sz="2000" spc="-5" dirty="0">
                <a:cs typeface="Arial" panose="020B0604020202020204" pitchFamily="34" charset="0"/>
              </a:rPr>
              <a:t>jQuery</a:t>
            </a:r>
            <a:r>
              <a:rPr sz="2000" spc="20" dirty="0">
                <a:cs typeface="Arial" panose="020B0604020202020204" pitchFamily="34" charset="0"/>
              </a:rPr>
              <a:t> </a:t>
            </a:r>
            <a:r>
              <a:rPr sz="2000" spc="-10" dirty="0">
                <a:cs typeface="Arial" panose="020B0604020202020204" pitchFamily="34" charset="0"/>
              </a:rPr>
              <a:t>provides</a:t>
            </a:r>
            <a:r>
              <a:rPr sz="2000" spc="40" dirty="0">
                <a:cs typeface="Arial" panose="020B0604020202020204" pitchFamily="34" charset="0"/>
              </a:rPr>
              <a:t> </a:t>
            </a:r>
            <a:r>
              <a:rPr sz="2000" spc="-10" dirty="0">
                <a:cs typeface="Arial" panose="020B0604020202020204" pitchFamily="34" charset="0"/>
              </a:rPr>
              <a:t>easy-to-use</a:t>
            </a:r>
            <a:r>
              <a:rPr sz="2000" dirty="0">
                <a:cs typeface="Arial" panose="020B0604020202020204" pitchFamily="34" charset="0"/>
              </a:rPr>
              <a:t> </a:t>
            </a:r>
            <a:r>
              <a:rPr sz="2000" spc="-5" dirty="0">
                <a:cs typeface="Arial" panose="020B0604020202020204" pitchFamily="34" charset="0"/>
              </a:rPr>
              <a:t>APIs</a:t>
            </a:r>
            <a:r>
              <a:rPr sz="2000" dirty="0">
                <a:cs typeface="Arial" panose="020B0604020202020204" pitchFamily="34" charset="0"/>
              </a:rPr>
              <a:t> </a:t>
            </a:r>
            <a:r>
              <a:rPr sz="2000" spc="-10" dirty="0">
                <a:cs typeface="Arial" panose="020B0604020202020204" pitchFamily="34" charset="0"/>
              </a:rPr>
              <a:t>to</a:t>
            </a:r>
            <a:r>
              <a:rPr sz="2000" dirty="0">
                <a:cs typeface="Arial" panose="020B0604020202020204" pitchFamily="34" charset="0"/>
              </a:rPr>
              <a:t> </a:t>
            </a:r>
            <a:r>
              <a:rPr sz="2000" spc="-10" dirty="0">
                <a:cs typeface="Arial" panose="020B0604020202020204" pitchFamily="34" charset="0"/>
              </a:rPr>
              <a:t>achieve</a:t>
            </a:r>
            <a:r>
              <a:rPr sz="2000" spc="10" dirty="0">
                <a:cs typeface="Arial" panose="020B0604020202020204" pitchFamily="34" charset="0"/>
              </a:rPr>
              <a:t> </a:t>
            </a:r>
            <a:r>
              <a:rPr sz="2000" spc="-5" dirty="0">
                <a:cs typeface="Arial" panose="020B0604020202020204" pitchFamily="34" charset="0"/>
              </a:rPr>
              <a:t>the</a:t>
            </a:r>
            <a:r>
              <a:rPr sz="2000" spc="10" dirty="0">
                <a:cs typeface="Arial" panose="020B0604020202020204" pitchFamily="34" charset="0"/>
              </a:rPr>
              <a:t> </a:t>
            </a:r>
            <a:r>
              <a:rPr sz="2000" spc="-10" dirty="0">
                <a:cs typeface="Arial" panose="020B0604020202020204" pitchFamily="34" charset="0"/>
              </a:rPr>
              <a:t>following:</a:t>
            </a:r>
            <a:endParaRPr sz="2000" dirty="0">
              <a:cs typeface="Arial" panose="020B0604020202020204" pitchFamily="34" charset="0"/>
            </a:endParaRPr>
          </a:p>
          <a:p>
            <a:pPr>
              <a:spcBef>
                <a:spcPts val="25"/>
              </a:spcBef>
              <a:buFont typeface="Arial MT"/>
              <a:buChar char="•"/>
              <a:defRPr/>
            </a:pPr>
            <a:endParaRPr sz="1800" dirty="0">
              <a:cs typeface="Arial" panose="020B0604020202020204" pitchFamily="34" charset="0"/>
            </a:endParaRPr>
          </a:p>
          <a:p>
            <a:pPr marL="756285" lvl="1" indent="-287020">
              <a:buFont typeface="Courier New"/>
              <a:buChar char="o"/>
              <a:tabLst>
                <a:tab pos="756920" algn="l"/>
              </a:tabLst>
              <a:defRPr/>
            </a:pPr>
            <a:r>
              <a:rPr sz="2000" spc="-5" dirty="0">
                <a:cs typeface="Arial" panose="020B0604020202020204" pitchFamily="34" charset="0"/>
              </a:rPr>
              <a:t>Manipulate</a:t>
            </a:r>
            <a:r>
              <a:rPr sz="2000" spc="-50" dirty="0">
                <a:cs typeface="Arial" panose="020B0604020202020204" pitchFamily="34" charset="0"/>
              </a:rPr>
              <a:t> </a:t>
            </a:r>
            <a:r>
              <a:rPr sz="2000" spc="-5" dirty="0">
                <a:cs typeface="Arial" panose="020B0604020202020204" pitchFamily="34" charset="0"/>
              </a:rPr>
              <a:t>HTML, CSS and</a:t>
            </a:r>
            <a:r>
              <a:rPr sz="2000" spc="-25" dirty="0">
                <a:cs typeface="Arial" panose="020B0604020202020204" pitchFamily="34" charset="0"/>
              </a:rPr>
              <a:t> </a:t>
            </a:r>
            <a:r>
              <a:rPr sz="2000" spc="-10" dirty="0">
                <a:cs typeface="Arial" panose="020B0604020202020204" pitchFamily="34" charset="0"/>
              </a:rPr>
              <a:t>DOM</a:t>
            </a:r>
            <a:endParaRPr sz="2000" dirty="0">
              <a:cs typeface="Arial" panose="020B0604020202020204" pitchFamily="34" charset="0"/>
            </a:endParaRPr>
          </a:p>
          <a:p>
            <a:pPr marL="756285" lvl="1" indent="-287020">
              <a:spcBef>
                <a:spcPts val="5"/>
              </a:spcBef>
              <a:buFont typeface="Courier New"/>
              <a:buChar char="o"/>
              <a:tabLst>
                <a:tab pos="756920" algn="l"/>
              </a:tabLst>
              <a:defRPr/>
            </a:pPr>
            <a:r>
              <a:rPr sz="2000" spc="-5" dirty="0">
                <a:cs typeface="Arial" panose="020B0604020202020204" pitchFamily="34" charset="0"/>
              </a:rPr>
              <a:t>Handling</a:t>
            </a:r>
            <a:r>
              <a:rPr sz="2000" spc="-50" dirty="0">
                <a:cs typeface="Arial" panose="020B0604020202020204" pitchFamily="34" charset="0"/>
              </a:rPr>
              <a:t> </a:t>
            </a:r>
            <a:r>
              <a:rPr sz="2000" spc="-5" dirty="0">
                <a:cs typeface="Arial" panose="020B0604020202020204" pitchFamily="34" charset="0"/>
              </a:rPr>
              <a:t>HTML</a:t>
            </a:r>
            <a:r>
              <a:rPr sz="2000" spc="-30" dirty="0">
                <a:cs typeface="Arial" panose="020B0604020202020204" pitchFamily="34" charset="0"/>
              </a:rPr>
              <a:t> </a:t>
            </a:r>
            <a:r>
              <a:rPr sz="2000" spc="-10" dirty="0">
                <a:cs typeface="Arial" panose="020B0604020202020204" pitchFamily="34" charset="0"/>
              </a:rPr>
              <a:t>events</a:t>
            </a:r>
            <a:endParaRPr sz="2000" dirty="0">
              <a:cs typeface="Arial" panose="020B0604020202020204" pitchFamily="34" charset="0"/>
            </a:endParaRPr>
          </a:p>
          <a:p>
            <a:pPr marL="756285" lvl="1" indent="-287020">
              <a:buFont typeface="Courier New"/>
              <a:buChar char="o"/>
              <a:tabLst>
                <a:tab pos="756920" algn="l"/>
              </a:tabLst>
              <a:defRPr/>
            </a:pPr>
            <a:r>
              <a:rPr sz="2000" spc="-5" dirty="0">
                <a:cs typeface="Arial" panose="020B0604020202020204" pitchFamily="34" charset="0"/>
              </a:rPr>
              <a:t>Applying</a:t>
            </a:r>
            <a:r>
              <a:rPr sz="2000" spc="-30" dirty="0">
                <a:cs typeface="Arial" panose="020B0604020202020204" pitchFamily="34" charset="0"/>
              </a:rPr>
              <a:t> </a:t>
            </a:r>
            <a:r>
              <a:rPr sz="2000" spc="-15" dirty="0">
                <a:cs typeface="Arial" panose="020B0604020202020204" pitchFamily="34" charset="0"/>
              </a:rPr>
              <a:t>effects </a:t>
            </a:r>
            <a:r>
              <a:rPr sz="2000" spc="-5" dirty="0">
                <a:cs typeface="Arial" panose="020B0604020202020204" pitchFamily="34" charset="0"/>
              </a:rPr>
              <a:t>and</a:t>
            </a:r>
            <a:r>
              <a:rPr sz="2000" spc="-20" dirty="0">
                <a:cs typeface="Arial" panose="020B0604020202020204" pitchFamily="34" charset="0"/>
              </a:rPr>
              <a:t> </a:t>
            </a:r>
            <a:r>
              <a:rPr sz="2000" spc="-5" dirty="0">
                <a:cs typeface="Arial" panose="020B0604020202020204" pitchFamily="34" charset="0"/>
              </a:rPr>
              <a:t>animations</a:t>
            </a:r>
            <a:endParaRPr sz="2000" dirty="0">
              <a:cs typeface="Arial" panose="020B0604020202020204" pitchFamily="34" charset="0"/>
            </a:endParaRPr>
          </a:p>
          <a:p>
            <a:pPr marL="756285" lvl="1" indent="-287020">
              <a:buFont typeface="Courier New"/>
              <a:buChar char="o"/>
              <a:tabLst>
                <a:tab pos="756920" algn="l"/>
              </a:tabLst>
              <a:defRPr/>
            </a:pPr>
            <a:r>
              <a:rPr sz="2000" spc="-10" dirty="0">
                <a:cs typeface="Arial" panose="020B0604020202020204" pitchFamily="34" charset="0"/>
              </a:rPr>
              <a:t>AJAX</a:t>
            </a:r>
            <a:endParaRPr sz="2000" dirty="0">
              <a:cs typeface="Arial" panose="020B0604020202020204" pitchFamily="34" charset="0"/>
            </a:endParaRPr>
          </a:p>
          <a:p>
            <a:pPr marL="756285" lvl="1" indent="-287020">
              <a:buFont typeface="Courier New"/>
              <a:buChar char="o"/>
              <a:tabLst>
                <a:tab pos="756920" algn="l"/>
              </a:tabLst>
              <a:defRPr/>
            </a:pPr>
            <a:r>
              <a:rPr sz="2000" spc="-5" dirty="0">
                <a:cs typeface="Arial" panose="020B0604020202020204" pitchFamily="34" charset="0"/>
              </a:rPr>
              <a:t>Utilities</a:t>
            </a:r>
            <a:endParaRPr sz="2000" dirty="0">
              <a:cs typeface="Arial" panose="020B0604020202020204" pitchFamily="34" charset="0"/>
            </a:endParaRPr>
          </a:p>
          <a:p>
            <a:pPr lvl="1">
              <a:spcBef>
                <a:spcPts val="25"/>
              </a:spcBef>
              <a:buFont typeface="Courier New"/>
              <a:buChar char="o"/>
              <a:defRPr/>
            </a:pPr>
            <a:endParaRPr sz="1800" dirty="0">
              <a:cs typeface="Arial" panose="020B0604020202020204" pitchFamily="34" charset="0"/>
            </a:endParaRPr>
          </a:p>
          <a:p>
            <a:pPr marL="299085" indent="-287020">
              <a:spcBef>
                <a:spcPts val="5"/>
              </a:spcBef>
              <a:buFont typeface="Arial MT"/>
              <a:buChar char="•"/>
              <a:tabLst>
                <a:tab pos="299085" algn="l"/>
                <a:tab pos="299720" algn="l"/>
              </a:tabLst>
              <a:defRPr/>
            </a:pPr>
            <a:r>
              <a:rPr lang="en-US" sz="2000" spc="-5" dirty="0">
                <a:cs typeface="Arial" panose="020B0604020202020204" pitchFamily="34" charset="0"/>
              </a:rPr>
              <a:t>O</a:t>
            </a:r>
            <a:r>
              <a:rPr sz="2000" spc="-5" dirty="0">
                <a:cs typeface="Arial" panose="020B0604020202020204" pitchFamily="34" charset="0"/>
              </a:rPr>
              <a:t>ne</a:t>
            </a:r>
            <a:r>
              <a:rPr sz="2000" spc="25" dirty="0">
                <a:cs typeface="Arial" panose="020B0604020202020204" pitchFamily="34" charset="0"/>
              </a:rPr>
              <a:t> </a:t>
            </a:r>
            <a:r>
              <a:rPr sz="2000" spc="-5" dirty="0">
                <a:cs typeface="Arial" panose="020B0604020202020204" pitchFamily="34" charset="0"/>
              </a:rPr>
              <a:t>of</a:t>
            </a:r>
            <a:r>
              <a:rPr sz="2000" spc="20" dirty="0">
                <a:cs typeface="Arial" panose="020B0604020202020204" pitchFamily="34" charset="0"/>
              </a:rPr>
              <a:t> </a:t>
            </a:r>
            <a:r>
              <a:rPr sz="2000" spc="-5" dirty="0">
                <a:cs typeface="Arial" panose="020B0604020202020204" pitchFamily="34" charset="0"/>
              </a:rPr>
              <a:t>the most</a:t>
            </a:r>
            <a:r>
              <a:rPr sz="2000" spc="20" dirty="0">
                <a:cs typeface="Arial" panose="020B0604020202020204" pitchFamily="34" charset="0"/>
              </a:rPr>
              <a:t> </a:t>
            </a:r>
            <a:r>
              <a:rPr sz="2000" spc="-5" dirty="0">
                <a:cs typeface="Arial" panose="020B0604020202020204" pitchFamily="34" charset="0"/>
              </a:rPr>
              <a:t>popularly</a:t>
            </a:r>
            <a:r>
              <a:rPr sz="2000" spc="-15" dirty="0">
                <a:cs typeface="Arial" panose="020B0604020202020204" pitchFamily="34" charset="0"/>
              </a:rPr>
              <a:t> </a:t>
            </a:r>
            <a:r>
              <a:rPr sz="2000" spc="-5" dirty="0">
                <a:cs typeface="Arial" panose="020B0604020202020204" pitchFamily="34" charset="0"/>
              </a:rPr>
              <a:t>used</a:t>
            </a:r>
            <a:r>
              <a:rPr sz="2000" spc="-25" dirty="0">
                <a:cs typeface="Arial" panose="020B0604020202020204" pitchFamily="34" charset="0"/>
              </a:rPr>
              <a:t> </a:t>
            </a:r>
            <a:r>
              <a:rPr sz="2000" b="1" spc="-10" dirty="0">
                <a:solidFill>
                  <a:schemeClr val="accent6"/>
                </a:solidFill>
                <a:cs typeface="Arial" panose="020B0604020202020204" pitchFamily="34" charset="0"/>
              </a:rPr>
              <a:t>OpenSource</a:t>
            </a:r>
            <a:r>
              <a:rPr sz="2000" b="1" spc="55" dirty="0">
                <a:solidFill>
                  <a:srgbClr val="CF036A"/>
                </a:solidFill>
                <a:cs typeface="Arial" panose="020B0604020202020204" pitchFamily="34" charset="0"/>
              </a:rPr>
              <a:t> </a:t>
            </a:r>
            <a:r>
              <a:rPr sz="2000" spc="-10" dirty="0">
                <a:cs typeface="Arial" panose="020B0604020202020204" pitchFamily="34" charset="0"/>
              </a:rPr>
              <a:t>libraries</a:t>
            </a:r>
            <a:endParaRPr sz="2000" dirty="0">
              <a:cs typeface="Arial" panose="020B0604020202020204" pitchFamily="34" charset="0"/>
            </a:endParaRPr>
          </a:p>
          <a:p>
            <a:pPr>
              <a:spcBef>
                <a:spcPts val="25"/>
              </a:spcBef>
              <a:buFont typeface="Arial MT"/>
              <a:buChar char="•"/>
              <a:defRPr/>
            </a:pPr>
            <a:endParaRPr sz="1800" dirty="0">
              <a:cs typeface="Arial" panose="020B0604020202020204" pitchFamily="34" charset="0"/>
            </a:endParaRPr>
          </a:p>
          <a:p>
            <a:pPr marL="299085" indent="-287020">
              <a:buFont typeface="Arial MT"/>
              <a:buChar char="•"/>
              <a:tabLst>
                <a:tab pos="299085" algn="l"/>
                <a:tab pos="299720" algn="l"/>
              </a:tabLst>
              <a:defRPr/>
            </a:pPr>
            <a:r>
              <a:rPr lang="en-US" sz="2000" spc="-10" dirty="0">
                <a:cs typeface="Arial" panose="020B0604020202020204" pitchFamily="34" charset="0"/>
              </a:rPr>
              <a:t>Reduces the </a:t>
            </a:r>
            <a:r>
              <a:rPr sz="2000" spc="-5" dirty="0">
                <a:cs typeface="Arial" panose="020B0604020202020204" pitchFamily="34" charset="0"/>
              </a:rPr>
              <a:t>number</a:t>
            </a:r>
            <a:r>
              <a:rPr sz="2000" spc="10" dirty="0">
                <a:cs typeface="Arial" panose="020B0604020202020204" pitchFamily="34" charset="0"/>
              </a:rPr>
              <a:t> </a:t>
            </a:r>
            <a:r>
              <a:rPr sz="2000" spc="-5" dirty="0">
                <a:cs typeface="Arial" panose="020B0604020202020204" pitchFamily="34" charset="0"/>
              </a:rPr>
              <a:t>of</a:t>
            </a:r>
            <a:r>
              <a:rPr sz="2000" spc="20" dirty="0">
                <a:cs typeface="Arial" panose="020B0604020202020204" pitchFamily="34" charset="0"/>
              </a:rPr>
              <a:t> </a:t>
            </a:r>
            <a:r>
              <a:rPr sz="2000" spc="-5" dirty="0">
                <a:cs typeface="Arial" panose="020B0604020202020204" pitchFamily="34" charset="0"/>
              </a:rPr>
              <a:t>lines</a:t>
            </a:r>
            <a:r>
              <a:rPr sz="2000" spc="-10" dirty="0">
                <a:cs typeface="Arial" panose="020B0604020202020204" pitchFamily="34" charset="0"/>
              </a:rPr>
              <a:t> </a:t>
            </a:r>
            <a:r>
              <a:rPr sz="2000" spc="-5" dirty="0">
                <a:cs typeface="Arial" panose="020B0604020202020204" pitchFamily="34" charset="0"/>
              </a:rPr>
              <a:t>of</a:t>
            </a:r>
            <a:r>
              <a:rPr sz="2000" spc="20" dirty="0">
                <a:cs typeface="Arial" panose="020B0604020202020204" pitchFamily="34" charset="0"/>
              </a:rPr>
              <a:t> </a:t>
            </a:r>
            <a:r>
              <a:rPr sz="2000" spc="-10" dirty="0">
                <a:cs typeface="Arial" panose="020B0604020202020204" pitchFamily="34" charset="0"/>
              </a:rPr>
              <a:t>code</a:t>
            </a:r>
            <a:r>
              <a:rPr lang="en-US" sz="2000" spc="-10" dirty="0">
                <a:cs typeface="Arial" panose="020B0604020202020204" pitchFamily="34" charset="0"/>
              </a:rPr>
              <a:t> when</a:t>
            </a:r>
            <a:r>
              <a:rPr sz="2000" spc="15" dirty="0">
                <a:cs typeface="Arial" panose="020B0604020202020204" pitchFamily="34" charset="0"/>
              </a:rPr>
              <a:t> </a:t>
            </a:r>
            <a:r>
              <a:rPr sz="2000" spc="-10" dirty="0">
                <a:cs typeface="Arial" panose="020B0604020202020204" pitchFamily="34" charset="0"/>
              </a:rPr>
              <a:t>compared</a:t>
            </a:r>
            <a:r>
              <a:rPr sz="2000" spc="25" dirty="0">
                <a:cs typeface="Arial" panose="020B0604020202020204" pitchFamily="34" charset="0"/>
              </a:rPr>
              <a:t> </a:t>
            </a:r>
            <a:r>
              <a:rPr sz="2000" dirty="0">
                <a:cs typeface="Arial" panose="020B0604020202020204" pitchFamily="34" charset="0"/>
              </a:rPr>
              <a:t>with </a:t>
            </a:r>
            <a:r>
              <a:rPr sz="2000" spc="-10" dirty="0">
                <a:cs typeface="Arial" panose="020B0604020202020204" pitchFamily="34" charset="0"/>
              </a:rPr>
              <a:t>JavaScript</a:t>
            </a:r>
            <a:endParaRPr sz="2000" dirty="0">
              <a:cs typeface="Arial" panose="020B0604020202020204" pitchFamily="34" charset="0"/>
            </a:endParaRPr>
          </a:p>
        </p:txBody>
      </p:sp>
      <p:pic>
        <p:nvPicPr>
          <p:cNvPr id="16388" name="object 4">
            <a:extLst>
              <a:ext uri="{FF2B5EF4-FFF2-40B4-BE49-F238E27FC236}">
                <a16:creationId xmlns:a16="http://schemas.microsoft.com/office/drawing/2014/main" id="{FC2944E8-7E61-CC4E-4812-0972D7071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2726655"/>
            <a:ext cx="2170773" cy="14046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02255CA-7B38-7B28-75F3-537568C7F0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2422"/>
            <a:ext cx="8785225" cy="689932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lang="en-US" spc="-10" dirty="0"/>
              <a:t>Introduction to jQuery</a:t>
            </a:r>
            <a:endParaRPr spc="-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DE4407A-60FA-B116-BBDD-E724BBE84F68}"/>
              </a:ext>
            </a:extLst>
          </p:cNvPr>
          <p:cNvSpPr txBox="1"/>
          <p:nvPr/>
        </p:nvSpPr>
        <p:spPr>
          <a:xfrm>
            <a:off x="536575" y="1620838"/>
            <a:ext cx="8026400" cy="4474943"/>
          </a:xfrm>
          <a:prstGeom prst="rect">
            <a:avLst/>
          </a:prstGeom>
        </p:spPr>
        <p:txBody>
          <a:bodyPr lIns="0" tIns="12065" rIns="0" bIns="0">
            <a:spAutoFit/>
          </a:bodyPr>
          <a:lstStyle>
            <a:lvl1pPr marL="298450" indent="-28575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100"/>
              </a:spcBef>
              <a:buFont typeface="Arial MT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Most popular and extendable library for websites and mobile single page app development</a:t>
            </a:r>
          </a:p>
          <a:p>
            <a:pPr>
              <a:buFont typeface="Arial MT"/>
              <a:buChar char="•"/>
            </a:pPr>
            <a:endParaRPr lang="en-US" altLang="en-US" sz="2800" dirty="0">
              <a:cs typeface="Arial" panose="020B0604020202020204" pitchFamily="34" charset="0"/>
            </a:endParaRPr>
          </a:p>
          <a:p>
            <a:pPr>
              <a:buFont typeface="Arial MT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As of June 2022, jQuery is used on </a:t>
            </a:r>
            <a:r>
              <a:rPr lang="en-US" altLang="en-US" sz="2000" b="1" dirty="0">
                <a:solidFill>
                  <a:schemeClr val="accent6"/>
                </a:solidFill>
                <a:cs typeface="Arial" panose="020B0604020202020204" pitchFamily="34" charset="0"/>
              </a:rPr>
              <a:t>73% of the top 1 million websites</a:t>
            </a:r>
            <a:r>
              <a:rPr lang="en-US" altLang="en-US" sz="2000" dirty="0">
                <a:cs typeface="Arial" panose="020B0604020202020204" pitchFamily="34" charset="0"/>
              </a:rPr>
              <a:t>, and by </a:t>
            </a:r>
            <a:r>
              <a:rPr lang="en-US" altLang="en-US" sz="2000" b="1" dirty="0">
                <a:solidFill>
                  <a:schemeClr val="accent6"/>
                </a:solidFill>
                <a:cs typeface="Arial" panose="020B0604020202020204" pitchFamily="34" charset="0"/>
              </a:rPr>
              <a:t>22.4% of overall  number of websites</a:t>
            </a:r>
            <a:endParaRPr lang="en-US" altLang="en-US" sz="2000" dirty="0">
              <a:solidFill>
                <a:schemeClr val="accent6"/>
              </a:solidFill>
              <a:cs typeface="Arial" panose="020B0604020202020204" pitchFamily="34" charset="0"/>
            </a:endParaRPr>
          </a:p>
          <a:p>
            <a:pPr>
              <a:buFont typeface="Arial MT"/>
              <a:buChar char="•"/>
            </a:pPr>
            <a:endParaRPr lang="en-US" altLang="en-US" sz="2800" dirty="0">
              <a:cs typeface="Arial" panose="020B0604020202020204" pitchFamily="34" charset="0"/>
            </a:endParaRPr>
          </a:p>
          <a:p>
            <a:pPr>
              <a:buFont typeface="Arial MT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Large companies (ex: Google) use jQuery library and host jQuery CDN (Both Google  and Microsoft)</a:t>
            </a:r>
          </a:p>
          <a:p>
            <a:pPr>
              <a:buFont typeface="Arial MT"/>
              <a:buChar char="•"/>
            </a:pPr>
            <a:endParaRPr lang="en-US" altLang="en-US" sz="2800" dirty="0">
              <a:cs typeface="Arial" panose="020B0604020202020204" pitchFamily="34" charset="0"/>
            </a:endParaRPr>
          </a:p>
          <a:p>
            <a:pPr>
              <a:buFont typeface="Arial MT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jQuery simplifies the syntax for finding, selecting, and manipulating DOM elements</a:t>
            </a:r>
          </a:p>
          <a:p>
            <a:pPr>
              <a:buFont typeface="Arial MT"/>
              <a:buChar char="•"/>
            </a:pPr>
            <a:endParaRPr lang="en-US" altLang="en-US" sz="2800" dirty="0">
              <a:cs typeface="Arial" panose="020B0604020202020204" pitchFamily="34" charset="0"/>
            </a:endParaRPr>
          </a:p>
          <a:p>
            <a:pPr>
              <a:buFont typeface="Arial MT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jQuery is supported by all modern browsers.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277B41C-5ADD-5A44-138D-7F06E85A5A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2422"/>
            <a:ext cx="8785225" cy="689932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dirty="0"/>
              <a:t>jQuery</a:t>
            </a:r>
            <a:r>
              <a:rPr spc="-15" dirty="0"/>
              <a:t> </a:t>
            </a:r>
            <a:r>
              <a:rPr spc="-10" dirty="0"/>
              <a:t>Development</a:t>
            </a:r>
            <a:r>
              <a:rPr spc="-5" dirty="0"/>
              <a:t> Principles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E48A388-3462-3408-87B7-B23C4FC4DFEE}"/>
              </a:ext>
            </a:extLst>
          </p:cNvPr>
          <p:cNvSpPr txBox="1"/>
          <p:nvPr/>
        </p:nvSpPr>
        <p:spPr>
          <a:xfrm>
            <a:off x="425859" y="1340768"/>
            <a:ext cx="8139881" cy="4873770"/>
          </a:xfrm>
          <a:prstGeom prst="rect">
            <a:avLst/>
          </a:prstGeom>
        </p:spPr>
        <p:txBody>
          <a:bodyPr wrap="square" lIns="0" tIns="46355" rIns="0" bIns="0">
            <a:spAutoFit/>
          </a:bodyPr>
          <a:lstStyle/>
          <a:p>
            <a:pPr marL="12065">
              <a:spcBef>
                <a:spcPts val="365"/>
              </a:spcBef>
              <a:tabLst>
                <a:tab pos="299085" algn="l"/>
                <a:tab pos="299720" algn="l"/>
              </a:tabLst>
              <a:defRPr/>
            </a:pPr>
            <a:r>
              <a:rPr b="1" spc="-5" dirty="0">
                <a:solidFill>
                  <a:schemeClr val="accent6"/>
                </a:solidFill>
                <a:cs typeface="Arial" panose="020B0604020202020204" pitchFamily="34" charset="0"/>
              </a:rPr>
              <a:t>P1:</a:t>
            </a:r>
            <a:r>
              <a:rPr b="1" spc="-10" dirty="0">
                <a:solidFill>
                  <a:schemeClr val="accent6"/>
                </a:solidFill>
                <a:cs typeface="Arial" panose="020B0604020202020204" pitchFamily="34" charset="0"/>
              </a:rPr>
              <a:t> </a:t>
            </a:r>
            <a:r>
              <a:rPr b="1" spc="-5" dirty="0">
                <a:solidFill>
                  <a:schemeClr val="accent6"/>
                </a:solidFill>
                <a:cs typeface="Arial" panose="020B0604020202020204" pitchFamily="34" charset="0"/>
              </a:rPr>
              <a:t>Separation</a:t>
            </a:r>
            <a:r>
              <a:rPr b="1" dirty="0">
                <a:solidFill>
                  <a:schemeClr val="accent6"/>
                </a:solidFill>
                <a:cs typeface="Arial" panose="020B0604020202020204" pitchFamily="34" charset="0"/>
              </a:rPr>
              <a:t> </a:t>
            </a:r>
            <a:r>
              <a:rPr b="1" spc="-5" dirty="0">
                <a:solidFill>
                  <a:schemeClr val="accent6"/>
                </a:solidFill>
                <a:cs typeface="Arial" panose="020B0604020202020204" pitchFamily="34" charset="0"/>
              </a:rPr>
              <a:t>of</a:t>
            </a:r>
            <a:r>
              <a:rPr b="1" spc="-10" dirty="0">
                <a:solidFill>
                  <a:schemeClr val="accent6"/>
                </a:solidFill>
                <a:cs typeface="Arial" panose="020B0604020202020204" pitchFamily="34" charset="0"/>
              </a:rPr>
              <a:t> </a:t>
            </a:r>
            <a:r>
              <a:rPr b="1" spc="-5" dirty="0">
                <a:solidFill>
                  <a:schemeClr val="accent6"/>
                </a:solidFill>
                <a:cs typeface="Arial" panose="020B0604020202020204" pitchFamily="34" charset="0"/>
              </a:rPr>
              <a:t>HTML and</a:t>
            </a:r>
            <a:r>
              <a:rPr b="1" spc="-10" dirty="0">
                <a:solidFill>
                  <a:schemeClr val="accent6"/>
                </a:solidFill>
                <a:cs typeface="Arial" panose="020B0604020202020204" pitchFamily="34" charset="0"/>
              </a:rPr>
              <a:t> JS</a:t>
            </a:r>
            <a:endParaRPr b="1" dirty="0">
              <a:solidFill>
                <a:schemeClr val="accent6"/>
              </a:solidFill>
              <a:cs typeface="Arial" panose="020B0604020202020204" pitchFamily="34" charset="0"/>
            </a:endParaRPr>
          </a:p>
          <a:p>
            <a:pPr marL="756285" lvl="1" indent="-287020">
              <a:spcBef>
                <a:spcPts val="215"/>
              </a:spcBef>
              <a:buFont typeface="Wingdings" panose="05000000000000000000" pitchFamily="2" charset="2"/>
              <a:buChar char="Ø"/>
              <a:tabLst>
                <a:tab pos="299720" algn="l"/>
              </a:tabLst>
              <a:defRPr/>
            </a:pPr>
            <a:r>
              <a:rPr lang="en-US" sz="2000" spc="-15" dirty="0">
                <a:cs typeface="Arial" panose="020B0604020202020204" pitchFamily="34" charset="0"/>
              </a:rPr>
              <a:t>Simple s</a:t>
            </a:r>
            <a:r>
              <a:rPr sz="2000" spc="-15" dirty="0">
                <a:cs typeface="Arial" panose="020B0604020202020204" pitchFamily="34" charset="0"/>
              </a:rPr>
              <a:t>yntax</a:t>
            </a:r>
            <a:r>
              <a:rPr sz="2000" spc="-5" dirty="0">
                <a:cs typeface="Arial" panose="020B0604020202020204" pitchFamily="34" charset="0"/>
              </a:rPr>
              <a:t> </a:t>
            </a:r>
            <a:r>
              <a:rPr sz="2000" spc="-15" dirty="0">
                <a:cs typeface="Arial" panose="020B0604020202020204" pitchFamily="34" charset="0"/>
              </a:rPr>
              <a:t>for</a:t>
            </a:r>
            <a:r>
              <a:rPr sz="2000" spc="15" dirty="0">
                <a:cs typeface="Arial" panose="020B0604020202020204" pitchFamily="34" charset="0"/>
              </a:rPr>
              <a:t> </a:t>
            </a:r>
            <a:r>
              <a:rPr sz="2000" spc="-5" dirty="0">
                <a:cs typeface="Arial" panose="020B0604020202020204" pitchFamily="34" charset="0"/>
              </a:rPr>
              <a:t>handling</a:t>
            </a:r>
            <a:r>
              <a:rPr sz="2000" spc="-25" dirty="0">
                <a:cs typeface="Arial" panose="020B0604020202020204" pitchFamily="34" charset="0"/>
              </a:rPr>
              <a:t> </a:t>
            </a:r>
            <a:r>
              <a:rPr sz="2000" spc="-5" dirty="0">
                <a:cs typeface="Arial" panose="020B0604020202020204" pitchFamily="34" charset="0"/>
              </a:rPr>
              <a:t>DOMs</a:t>
            </a:r>
            <a:r>
              <a:rPr sz="2000" spc="15" dirty="0">
                <a:cs typeface="Arial" panose="020B0604020202020204" pitchFamily="34" charset="0"/>
              </a:rPr>
              <a:t> </a:t>
            </a:r>
            <a:r>
              <a:rPr sz="2000" spc="-5" dirty="0">
                <a:cs typeface="Arial" panose="020B0604020202020204" pitchFamily="34" charset="0"/>
              </a:rPr>
              <a:t>(Ex:</a:t>
            </a:r>
            <a:r>
              <a:rPr sz="2000" spc="5" dirty="0">
                <a:cs typeface="Arial" panose="020B0604020202020204" pitchFamily="34" charset="0"/>
              </a:rPr>
              <a:t> </a:t>
            </a:r>
            <a:r>
              <a:rPr sz="2000" spc="-15" dirty="0">
                <a:cs typeface="Arial" panose="020B0604020202020204" pitchFamily="34" charset="0"/>
              </a:rPr>
              <a:t>Events)</a:t>
            </a:r>
            <a:endParaRPr sz="2000" dirty="0">
              <a:cs typeface="Arial" panose="020B0604020202020204" pitchFamily="34" charset="0"/>
            </a:endParaRPr>
          </a:p>
          <a:p>
            <a:pPr marL="756285" lvl="1" indent="-287020">
              <a:spcBef>
                <a:spcPts val="195"/>
              </a:spcBef>
              <a:buFont typeface="Wingdings" panose="05000000000000000000" pitchFamily="2" charset="2"/>
              <a:buChar char="Ø"/>
              <a:tabLst>
                <a:tab pos="299720" algn="l"/>
              </a:tabLst>
              <a:defRPr/>
            </a:pPr>
            <a:r>
              <a:rPr lang="en-US" sz="2000" spc="-10" dirty="0">
                <a:cs typeface="Arial" panose="020B0604020202020204" pitchFamily="34" charset="0"/>
              </a:rPr>
              <a:t>A</a:t>
            </a:r>
            <a:r>
              <a:rPr sz="2000" spc="-10" dirty="0">
                <a:cs typeface="Arial" panose="020B0604020202020204" pitchFamily="34" charset="0"/>
              </a:rPr>
              <a:t>void</a:t>
            </a:r>
            <a:r>
              <a:rPr lang="en-US" sz="2000" spc="-10" dirty="0">
                <a:cs typeface="Arial" panose="020B0604020202020204" pitchFamily="34" charset="0"/>
              </a:rPr>
              <a:t>s need for</a:t>
            </a:r>
            <a:r>
              <a:rPr sz="2000" spc="-5" dirty="0">
                <a:cs typeface="Arial" panose="020B0604020202020204" pitchFamily="34" charset="0"/>
              </a:rPr>
              <a:t> adding</a:t>
            </a:r>
            <a:r>
              <a:rPr sz="2000" spc="-15" dirty="0">
                <a:cs typeface="Arial" panose="020B0604020202020204" pitchFamily="34" charset="0"/>
              </a:rPr>
              <a:t> </a:t>
            </a:r>
            <a:r>
              <a:rPr sz="2000" spc="-5" dirty="0">
                <a:cs typeface="Arial" panose="020B0604020202020204" pitchFamily="34" charset="0"/>
              </a:rPr>
              <a:t>HTML</a:t>
            </a:r>
            <a:r>
              <a:rPr sz="2000" spc="5" dirty="0">
                <a:cs typeface="Arial" panose="020B0604020202020204" pitchFamily="34" charset="0"/>
              </a:rPr>
              <a:t> </a:t>
            </a:r>
            <a:r>
              <a:rPr sz="2000" spc="-10" dirty="0">
                <a:cs typeface="Arial" panose="020B0604020202020204" pitchFamily="34" charset="0"/>
              </a:rPr>
              <a:t>event</a:t>
            </a:r>
            <a:r>
              <a:rPr sz="2000" spc="30" dirty="0">
                <a:cs typeface="Arial" panose="020B0604020202020204" pitchFamily="34" charset="0"/>
              </a:rPr>
              <a:t> </a:t>
            </a:r>
            <a:r>
              <a:rPr sz="2000" spc="-10" dirty="0">
                <a:cs typeface="Arial" panose="020B0604020202020204" pitchFamily="34" charset="0"/>
              </a:rPr>
              <a:t>attributes</a:t>
            </a:r>
            <a:r>
              <a:rPr sz="2000" spc="-5" dirty="0">
                <a:cs typeface="Arial" panose="020B0604020202020204" pitchFamily="34" charset="0"/>
              </a:rPr>
              <a:t> to</a:t>
            </a:r>
            <a:r>
              <a:rPr sz="2000" dirty="0">
                <a:cs typeface="Arial" panose="020B0604020202020204" pitchFamily="34" charset="0"/>
              </a:rPr>
              <a:t> </a:t>
            </a:r>
            <a:r>
              <a:rPr sz="2000" spc="-10" dirty="0">
                <a:cs typeface="Arial" panose="020B0604020202020204" pitchFamily="34" charset="0"/>
              </a:rPr>
              <a:t>call</a:t>
            </a:r>
            <a:r>
              <a:rPr sz="2000" spc="-15" dirty="0">
                <a:cs typeface="Arial" panose="020B0604020202020204" pitchFamily="34" charset="0"/>
              </a:rPr>
              <a:t> </a:t>
            </a:r>
            <a:r>
              <a:rPr sz="2000" spc="-10" dirty="0">
                <a:cs typeface="Arial" panose="020B0604020202020204" pitchFamily="34" charset="0"/>
              </a:rPr>
              <a:t>JavaScript</a:t>
            </a:r>
            <a:r>
              <a:rPr sz="2000" spc="15" dirty="0">
                <a:cs typeface="Arial" panose="020B0604020202020204" pitchFamily="34" charset="0"/>
              </a:rPr>
              <a:t> </a:t>
            </a:r>
            <a:r>
              <a:rPr sz="2000" spc="-5" dirty="0">
                <a:cs typeface="Arial" panose="020B0604020202020204" pitchFamily="34" charset="0"/>
              </a:rPr>
              <a:t>functions</a:t>
            </a:r>
            <a:endParaRPr sz="2000" dirty="0">
              <a:cs typeface="Arial" panose="020B0604020202020204" pitchFamily="34" charset="0"/>
            </a:endParaRPr>
          </a:p>
          <a:p>
            <a:pPr marL="756285" lvl="1" indent="-287020">
              <a:spcBef>
                <a:spcPts val="190"/>
              </a:spcBef>
              <a:buFont typeface="Wingdings" panose="05000000000000000000" pitchFamily="2" charset="2"/>
              <a:buChar char="Ø"/>
              <a:tabLst>
                <a:tab pos="299720" algn="l"/>
              </a:tabLst>
              <a:defRPr/>
            </a:pPr>
            <a:r>
              <a:rPr sz="2000" spc="-10" dirty="0">
                <a:cs typeface="Arial" panose="020B0604020202020204" pitchFamily="34" charset="0"/>
              </a:rPr>
              <a:t>JavaScript</a:t>
            </a:r>
            <a:r>
              <a:rPr sz="2000" spc="15" dirty="0">
                <a:cs typeface="Arial" panose="020B0604020202020204" pitchFamily="34" charset="0"/>
              </a:rPr>
              <a:t> </a:t>
            </a:r>
            <a:r>
              <a:rPr sz="2000" spc="-10" dirty="0">
                <a:cs typeface="Arial" panose="020B0604020202020204" pitchFamily="34" charset="0"/>
              </a:rPr>
              <a:t>code</a:t>
            </a:r>
            <a:r>
              <a:rPr sz="2000" spc="20" dirty="0">
                <a:cs typeface="Arial" panose="020B0604020202020204" pitchFamily="34" charset="0"/>
              </a:rPr>
              <a:t> </a:t>
            </a:r>
            <a:r>
              <a:rPr lang="en-US" sz="2000" spc="-10" dirty="0">
                <a:cs typeface="Arial" panose="020B0604020202020204" pitchFamily="34" charset="0"/>
              </a:rPr>
              <a:t>is </a:t>
            </a:r>
            <a:r>
              <a:rPr sz="2000" spc="-10" dirty="0">
                <a:cs typeface="Arial" panose="020B0604020202020204" pitchFamily="34" charset="0"/>
              </a:rPr>
              <a:t>separated</a:t>
            </a:r>
            <a:r>
              <a:rPr sz="2000" spc="10" dirty="0">
                <a:cs typeface="Arial" panose="020B0604020202020204" pitchFamily="34" charset="0"/>
              </a:rPr>
              <a:t> </a:t>
            </a:r>
            <a:r>
              <a:rPr sz="2000" spc="-10" dirty="0">
                <a:cs typeface="Arial" panose="020B0604020202020204" pitchFamily="34" charset="0"/>
              </a:rPr>
              <a:t>from</a:t>
            </a:r>
            <a:r>
              <a:rPr sz="2000" spc="10" dirty="0">
                <a:cs typeface="Arial" panose="020B0604020202020204" pitchFamily="34" charset="0"/>
              </a:rPr>
              <a:t> </a:t>
            </a:r>
            <a:r>
              <a:rPr sz="2000" spc="-5" dirty="0">
                <a:cs typeface="Arial" panose="020B0604020202020204" pitchFamily="34" charset="0"/>
              </a:rPr>
              <a:t>HTML</a:t>
            </a:r>
            <a:endParaRPr sz="2000" dirty="0">
              <a:cs typeface="Arial" panose="020B0604020202020204" pitchFamily="34" charset="0"/>
            </a:endParaRPr>
          </a:p>
          <a:p>
            <a:pPr>
              <a:spcBef>
                <a:spcPts val="40"/>
              </a:spcBef>
              <a:defRPr/>
            </a:pPr>
            <a:endParaRPr sz="2000" dirty="0">
              <a:cs typeface="Arial" panose="020B0604020202020204" pitchFamily="34" charset="0"/>
            </a:endParaRPr>
          </a:p>
          <a:p>
            <a:pPr marL="12065">
              <a:tabLst>
                <a:tab pos="299085" algn="l"/>
                <a:tab pos="299720" algn="l"/>
              </a:tabLst>
              <a:defRPr/>
            </a:pPr>
            <a:r>
              <a:rPr b="1" spc="-10" dirty="0">
                <a:solidFill>
                  <a:schemeClr val="accent6"/>
                </a:solidFill>
                <a:cs typeface="Arial" panose="020B0604020202020204" pitchFamily="34" charset="0"/>
              </a:rPr>
              <a:t>P2:</a:t>
            </a:r>
            <a:r>
              <a:rPr b="1" spc="5" dirty="0">
                <a:solidFill>
                  <a:schemeClr val="accent6"/>
                </a:solidFill>
                <a:cs typeface="Arial" panose="020B0604020202020204" pitchFamily="34" charset="0"/>
              </a:rPr>
              <a:t> </a:t>
            </a:r>
            <a:r>
              <a:rPr b="1" spc="-5" dirty="0">
                <a:solidFill>
                  <a:schemeClr val="accent6"/>
                </a:solidFill>
                <a:cs typeface="Arial" panose="020B0604020202020204" pitchFamily="34" charset="0"/>
              </a:rPr>
              <a:t>Elimination</a:t>
            </a:r>
            <a:r>
              <a:rPr b="1" dirty="0">
                <a:solidFill>
                  <a:schemeClr val="accent6"/>
                </a:solidFill>
                <a:cs typeface="Arial" panose="020B0604020202020204" pitchFamily="34" charset="0"/>
              </a:rPr>
              <a:t> </a:t>
            </a:r>
            <a:r>
              <a:rPr b="1" spc="-5" dirty="0">
                <a:solidFill>
                  <a:schemeClr val="accent6"/>
                </a:solidFill>
                <a:cs typeface="Arial" panose="020B0604020202020204" pitchFamily="34" charset="0"/>
              </a:rPr>
              <a:t>of</a:t>
            </a:r>
            <a:r>
              <a:rPr b="1" spc="10" dirty="0">
                <a:solidFill>
                  <a:schemeClr val="accent6"/>
                </a:solidFill>
                <a:cs typeface="Arial" panose="020B0604020202020204" pitchFamily="34" charset="0"/>
              </a:rPr>
              <a:t> </a:t>
            </a:r>
            <a:r>
              <a:rPr b="1" spc="-10" dirty="0">
                <a:solidFill>
                  <a:schemeClr val="accent6"/>
                </a:solidFill>
                <a:cs typeface="Arial" panose="020B0604020202020204" pitchFamily="34" charset="0"/>
              </a:rPr>
              <a:t>cross-browser</a:t>
            </a:r>
            <a:r>
              <a:rPr b="1" spc="50" dirty="0">
                <a:solidFill>
                  <a:schemeClr val="accent6"/>
                </a:solidFill>
                <a:cs typeface="Arial" panose="020B0604020202020204" pitchFamily="34" charset="0"/>
              </a:rPr>
              <a:t> </a:t>
            </a:r>
            <a:r>
              <a:rPr b="1" spc="-5" dirty="0">
                <a:solidFill>
                  <a:schemeClr val="accent6"/>
                </a:solidFill>
                <a:cs typeface="Arial" panose="020B0604020202020204" pitchFamily="34" charset="0"/>
              </a:rPr>
              <a:t>incompatibilities</a:t>
            </a:r>
            <a:endParaRPr b="1" dirty="0">
              <a:solidFill>
                <a:schemeClr val="accent6"/>
              </a:solidFill>
              <a:cs typeface="Arial" panose="020B0604020202020204" pitchFamily="34" charset="0"/>
            </a:endParaRPr>
          </a:p>
          <a:p>
            <a:pPr marL="756285" lvl="1" indent="-287020">
              <a:spcBef>
                <a:spcPts val="215"/>
              </a:spcBef>
              <a:buFont typeface="Wingdings" panose="05000000000000000000" pitchFamily="2" charset="2"/>
              <a:buChar char="Ø"/>
              <a:tabLst>
                <a:tab pos="299720" algn="l"/>
              </a:tabLst>
              <a:defRPr/>
            </a:pPr>
            <a:r>
              <a:rPr sz="2000" spc="-10" dirty="0">
                <a:cs typeface="Arial" panose="020B0604020202020204" pitchFamily="34" charset="0"/>
              </a:rPr>
              <a:t>JavaScript</a:t>
            </a:r>
            <a:r>
              <a:rPr sz="2000" spc="10" dirty="0">
                <a:cs typeface="Arial" panose="020B0604020202020204" pitchFamily="34" charset="0"/>
              </a:rPr>
              <a:t> </a:t>
            </a:r>
            <a:r>
              <a:rPr lang="en-US" sz="2000" spc="-5" dirty="0">
                <a:cs typeface="Arial" panose="020B0604020202020204" pitchFamily="34" charset="0"/>
              </a:rPr>
              <a:t>incompatibility with </a:t>
            </a:r>
            <a:r>
              <a:rPr sz="2000" spc="-15" dirty="0">
                <a:cs typeface="Arial" panose="020B0604020202020204" pitchFamily="34" charset="0"/>
              </a:rPr>
              <a:t>different</a:t>
            </a:r>
            <a:r>
              <a:rPr sz="2000" spc="5" dirty="0">
                <a:cs typeface="Arial" panose="020B0604020202020204" pitchFamily="34" charset="0"/>
              </a:rPr>
              <a:t> </a:t>
            </a:r>
            <a:r>
              <a:rPr sz="2000" spc="-15" dirty="0">
                <a:cs typeface="Arial" panose="020B0604020202020204" pitchFamily="34" charset="0"/>
              </a:rPr>
              <a:t>browsers</a:t>
            </a:r>
            <a:r>
              <a:rPr sz="2000" spc="45" dirty="0">
                <a:cs typeface="Arial" panose="020B0604020202020204" pitchFamily="34" charset="0"/>
              </a:rPr>
              <a:t> </a:t>
            </a:r>
            <a:r>
              <a:rPr lang="en-US" sz="2000" spc="-10" dirty="0">
                <a:cs typeface="Arial" panose="020B0604020202020204" pitchFamily="34" charset="0"/>
              </a:rPr>
              <a:t>is eliminated</a:t>
            </a:r>
            <a:endParaRPr sz="2000" dirty="0">
              <a:cs typeface="Arial" panose="020B0604020202020204" pitchFamily="34" charset="0"/>
            </a:endParaRPr>
          </a:p>
          <a:p>
            <a:pPr marL="756285" lvl="1" indent="-287020">
              <a:spcBef>
                <a:spcPts val="195"/>
              </a:spcBef>
              <a:buFont typeface="Wingdings" panose="05000000000000000000" pitchFamily="2" charset="2"/>
              <a:buChar char="Ø"/>
              <a:tabLst>
                <a:tab pos="299720" algn="l"/>
              </a:tabLst>
              <a:defRPr/>
            </a:pPr>
            <a:r>
              <a:rPr lang="en-US" sz="2000" spc="50" dirty="0">
                <a:cs typeface="Arial" panose="020B0604020202020204" pitchFamily="34" charset="0"/>
              </a:rPr>
              <a:t>Makes</a:t>
            </a:r>
            <a:r>
              <a:rPr sz="2000" spc="50" dirty="0">
                <a:cs typeface="Arial" panose="020B0604020202020204" pitchFamily="34" charset="0"/>
              </a:rPr>
              <a:t> </a:t>
            </a:r>
            <a:r>
              <a:rPr sz="2000" spc="-10" dirty="0">
                <a:cs typeface="Arial" panose="020B0604020202020204" pitchFamily="34" charset="0"/>
              </a:rPr>
              <a:t>JavaScript</a:t>
            </a:r>
            <a:r>
              <a:rPr sz="2000" spc="10" dirty="0">
                <a:cs typeface="Arial" panose="020B0604020202020204" pitchFamily="34" charset="0"/>
              </a:rPr>
              <a:t> </a:t>
            </a:r>
            <a:r>
              <a:rPr lang="en-US" sz="2000" spc="-10" dirty="0">
                <a:cs typeface="Arial" panose="020B0604020202020204" pitchFamily="34" charset="0"/>
              </a:rPr>
              <a:t>universal across browsers</a:t>
            </a:r>
            <a:endParaRPr sz="2000" dirty="0">
              <a:cs typeface="Arial" panose="020B0604020202020204" pitchFamily="34" charset="0"/>
            </a:endParaRPr>
          </a:p>
          <a:p>
            <a:pPr marL="756285" lvl="1" indent="-287020">
              <a:lnSpc>
                <a:spcPts val="1825"/>
              </a:lnSpc>
              <a:spcBef>
                <a:spcPts val="190"/>
              </a:spcBef>
              <a:buFont typeface="Wingdings" panose="05000000000000000000" pitchFamily="2" charset="2"/>
              <a:buChar char="Ø"/>
              <a:tabLst>
                <a:tab pos="299720" algn="l"/>
              </a:tabLst>
              <a:defRPr/>
            </a:pPr>
            <a:r>
              <a:rPr sz="2000" spc="-5" dirty="0">
                <a:cs typeface="Arial" panose="020B0604020202020204" pitchFamily="34" charset="0"/>
              </a:rPr>
              <a:t>jQuery</a:t>
            </a:r>
            <a:r>
              <a:rPr sz="2000" spc="25" dirty="0">
                <a:cs typeface="Arial" panose="020B0604020202020204" pitchFamily="34" charset="0"/>
              </a:rPr>
              <a:t> </a:t>
            </a:r>
            <a:r>
              <a:rPr sz="2000" spc="-5" dirty="0">
                <a:cs typeface="Arial" panose="020B0604020202020204" pitchFamily="34" charset="0"/>
              </a:rPr>
              <a:t>handles</a:t>
            </a:r>
            <a:r>
              <a:rPr sz="2000" spc="10" dirty="0">
                <a:cs typeface="Arial" panose="020B0604020202020204" pitchFamily="34" charset="0"/>
              </a:rPr>
              <a:t> </a:t>
            </a:r>
            <a:r>
              <a:rPr sz="2000" dirty="0">
                <a:cs typeface="Arial" panose="020B0604020202020204" pitchFamily="34" charset="0"/>
              </a:rPr>
              <a:t>all</a:t>
            </a:r>
            <a:r>
              <a:rPr sz="2000" spc="-5" dirty="0">
                <a:cs typeface="Arial" panose="020B0604020202020204" pitchFamily="34" charset="0"/>
              </a:rPr>
              <a:t> these</a:t>
            </a:r>
            <a:r>
              <a:rPr sz="2000" spc="15" dirty="0">
                <a:cs typeface="Arial" panose="020B0604020202020204" pitchFamily="34" charset="0"/>
              </a:rPr>
              <a:t> </a:t>
            </a:r>
            <a:r>
              <a:rPr sz="2000" spc="-15" dirty="0">
                <a:cs typeface="Arial" panose="020B0604020202020204" pitchFamily="34" charset="0"/>
              </a:rPr>
              <a:t>cross-browser</a:t>
            </a:r>
            <a:r>
              <a:rPr sz="2000" spc="65" dirty="0">
                <a:cs typeface="Arial" panose="020B0604020202020204" pitchFamily="34" charset="0"/>
              </a:rPr>
              <a:t> </a:t>
            </a:r>
            <a:r>
              <a:rPr sz="2000" spc="-10" dirty="0">
                <a:cs typeface="Arial" panose="020B0604020202020204" pitchFamily="34" charset="0"/>
              </a:rPr>
              <a:t>inconsistencies</a:t>
            </a:r>
            <a:r>
              <a:rPr sz="2000" spc="-5" dirty="0">
                <a:cs typeface="Arial" panose="020B0604020202020204" pitchFamily="34" charset="0"/>
              </a:rPr>
              <a:t> and </a:t>
            </a:r>
            <a:r>
              <a:rPr sz="2000" spc="-10" dirty="0">
                <a:cs typeface="Arial" panose="020B0604020202020204" pitchFamily="34" charset="0"/>
              </a:rPr>
              <a:t>provides</a:t>
            </a:r>
            <a:r>
              <a:rPr sz="2000" spc="30" dirty="0">
                <a:cs typeface="Arial" panose="020B0604020202020204" pitchFamily="34" charset="0"/>
              </a:rPr>
              <a:t> </a:t>
            </a:r>
            <a:r>
              <a:rPr sz="2000" spc="-5" dirty="0">
                <a:cs typeface="Arial" panose="020B0604020202020204" pitchFamily="34" charset="0"/>
              </a:rPr>
              <a:t>a</a:t>
            </a:r>
            <a:r>
              <a:rPr sz="2000" spc="5" dirty="0">
                <a:cs typeface="Arial" panose="020B0604020202020204" pitchFamily="34" charset="0"/>
              </a:rPr>
              <a:t> </a:t>
            </a:r>
            <a:r>
              <a:rPr sz="2000" spc="-10" dirty="0">
                <a:cs typeface="Arial" panose="020B0604020202020204" pitchFamily="34" charset="0"/>
              </a:rPr>
              <a:t>consistent</a:t>
            </a:r>
            <a:r>
              <a:rPr sz="2000" dirty="0">
                <a:cs typeface="Arial" panose="020B0604020202020204" pitchFamily="34" charset="0"/>
              </a:rPr>
              <a:t> </a:t>
            </a:r>
            <a:r>
              <a:rPr sz="2000" spc="-10" dirty="0">
                <a:cs typeface="Arial" panose="020B0604020202020204" pitchFamily="34" charset="0"/>
              </a:rPr>
              <a:t>interface</a:t>
            </a:r>
            <a:endParaRPr sz="2000" dirty="0">
              <a:cs typeface="Arial" panose="020B0604020202020204" pitchFamily="34" charset="0"/>
            </a:endParaRPr>
          </a:p>
          <a:p>
            <a:pPr>
              <a:spcBef>
                <a:spcPts val="40"/>
              </a:spcBef>
              <a:defRPr/>
            </a:pPr>
            <a:endParaRPr sz="2000" dirty="0">
              <a:cs typeface="Arial" panose="020B0604020202020204" pitchFamily="34" charset="0"/>
            </a:endParaRPr>
          </a:p>
          <a:p>
            <a:pPr marL="12065">
              <a:tabLst>
                <a:tab pos="299085" algn="l"/>
                <a:tab pos="299720" algn="l"/>
              </a:tabLst>
              <a:defRPr/>
            </a:pPr>
            <a:r>
              <a:rPr b="1" spc="-10" dirty="0">
                <a:solidFill>
                  <a:schemeClr val="accent6"/>
                </a:solidFill>
                <a:cs typeface="Arial" panose="020B0604020202020204" pitchFamily="34" charset="0"/>
              </a:rPr>
              <a:t>P3:</a:t>
            </a:r>
            <a:r>
              <a:rPr b="1" spc="-20" dirty="0">
                <a:solidFill>
                  <a:schemeClr val="accent6"/>
                </a:solidFill>
                <a:cs typeface="Arial" panose="020B0604020202020204" pitchFamily="34" charset="0"/>
              </a:rPr>
              <a:t> </a:t>
            </a:r>
            <a:r>
              <a:rPr b="1" spc="-5" dirty="0">
                <a:solidFill>
                  <a:schemeClr val="accent6"/>
                </a:solidFill>
                <a:cs typeface="Arial" panose="020B0604020202020204" pitchFamily="34" charset="0"/>
              </a:rPr>
              <a:t>Extensibility</a:t>
            </a:r>
            <a:endParaRPr b="1" dirty="0">
              <a:solidFill>
                <a:schemeClr val="accent6"/>
              </a:solidFill>
              <a:cs typeface="Arial" panose="020B0604020202020204" pitchFamily="34" charset="0"/>
            </a:endParaRPr>
          </a:p>
          <a:p>
            <a:pPr marL="755650" lvl="1" indent="-285750">
              <a:spcBef>
                <a:spcPts val="215"/>
              </a:spcBef>
              <a:buFont typeface="Wingdings" panose="05000000000000000000" pitchFamily="2" charset="2"/>
              <a:buChar char="Ø"/>
              <a:defRPr/>
            </a:pPr>
            <a:r>
              <a:rPr sz="2000" spc="-10" dirty="0">
                <a:cs typeface="Arial" panose="020B0604020202020204" pitchFamily="34" charset="0"/>
              </a:rPr>
              <a:t>New</a:t>
            </a:r>
            <a:r>
              <a:rPr sz="2000" spc="25" dirty="0">
                <a:cs typeface="Arial" panose="020B0604020202020204" pitchFamily="34" charset="0"/>
              </a:rPr>
              <a:t> </a:t>
            </a:r>
            <a:r>
              <a:rPr sz="2000" spc="-10" dirty="0">
                <a:cs typeface="Arial" panose="020B0604020202020204" pitchFamily="34" charset="0"/>
              </a:rPr>
              <a:t>events,</a:t>
            </a:r>
            <a:r>
              <a:rPr sz="2000" spc="20" dirty="0">
                <a:cs typeface="Arial" panose="020B0604020202020204" pitchFamily="34" charset="0"/>
              </a:rPr>
              <a:t> </a:t>
            </a:r>
            <a:r>
              <a:rPr sz="2000" spc="-5" dirty="0">
                <a:cs typeface="Arial" panose="020B0604020202020204" pitchFamily="34" charset="0"/>
              </a:rPr>
              <a:t>elements,</a:t>
            </a:r>
            <a:r>
              <a:rPr sz="2000" spc="20" dirty="0">
                <a:cs typeface="Arial" panose="020B0604020202020204" pitchFamily="34" charset="0"/>
              </a:rPr>
              <a:t> </a:t>
            </a:r>
            <a:r>
              <a:rPr sz="2000" dirty="0">
                <a:cs typeface="Arial" panose="020B0604020202020204" pitchFamily="34" charset="0"/>
              </a:rPr>
              <a:t>and</a:t>
            </a:r>
            <a:r>
              <a:rPr sz="2000" spc="-10" dirty="0">
                <a:cs typeface="Arial" panose="020B0604020202020204" pitchFamily="34" charset="0"/>
              </a:rPr>
              <a:t> methods</a:t>
            </a:r>
            <a:r>
              <a:rPr sz="2000" spc="25" dirty="0">
                <a:cs typeface="Arial" panose="020B0604020202020204" pitchFamily="34" charset="0"/>
              </a:rPr>
              <a:t> </a:t>
            </a:r>
            <a:r>
              <a:rPr sz="2000" spc="-10" dirty="0">
                <a:cs typeface="Arial" panose="020B0604020202020204" pitchFamily="34" charset="0"/>
              </a:rPr>
              <a:t>can</a:t>
            </a:r>
            <a:r>
              <a:rPr sz="2000" spc="-5" dirty="0">
                <a:cs typeface="Arial" panose="020B0604020202020204" pitchFamily="34" charset="0"/>
              </a:rPr>
              <a:t> be</a:t>
            </a:r>
            <a:r>
              <a:rPr sz="2000" spc="5" dirty="0">
                <a:cs typeface="Arial" panose="020B0604020202020204" pitchFamily="34" charset="0"/>
              </a:rPr>
              <a:t> </a:t>
            </a:r>
            <a:r>
              <a:rPr sz="2000" dirty="0">
                <a:cs typeface="Arial" panose="020B0604020202020204" pitchFamily="34" charset="0"/>
              </a:rPr>
              <a:t>easily</a:t>
            </a:r>
            <a:r>
              <a:rPr sz="2000" spc="-5" dirty="0">
                <a:cs typeface="Arial" panose="020B0604020202020204" pitchFamily="34" charset="0"/>
              </a:rPr>
              <a:t> added</a:t>
            </a:r>
            <a:r>
              <a:rPr sz="2000" spc="5" dirty="0">
                <a:cs typeface="Arial" panose="020B0604020202020204" pitchFamily="34" charset="0"/>
              </a:rPr>
              <a:t> </a:t>
            </a:r>
            <a:r>
              <a:rPr sz="2000" spc="-5" dirty="0">
                <a:cs typeface="Arial" panose="020B0604020202020204" pitchFamily="34" charset="0"/>
              </a:rPr>
              <a:t>and</a:t>
            </a:r>
            <a:r>
              <a:rPr sz="2000" dirty="0">
                <a:cs typeface="Arial" panose="020B0604020202020204" pitchFamily="34" charset="0"/>
              </a:rPr>
              <a:t> </a:t>
            </a:r>
            <a:r>
              <a:rPr sz="2000" spc="-10" dirty="0">
                <a:cs typeface="Arial" panose="020B0604020202020204" pitchFamily="34" charset="0"/>
              </a:rPr>
              <a:t>reused</a:t>
            </a:r>
            <a:r>
              <a:rPr sz="2000" spc="30" dirty="0">
                <a:cs typeface="Arial" panose="020B0604020202020204" pitchFamily="34" charset="0"/>
              </a:rPr>
              <a:t> </a:t>
            </a:r>
            <a:r>
              <a:rPr sz="2000" spc="-5" dirty="0">
                <a:cs typeface="Arial" panose="020B0604020202020204" pitchFamily="34" charset="0"/>
              </a:rPr>
              <a:t>as</a:t>
            </a:r>
            <a:r>
              <a:rPr sz="2000" spc="5" dirty="0">
                <a:cs typeface="Arial" panose="020B0604020202020204" pitchFamily="34" charset="0"/>
              </a:rPr>
              <a:t> </a:t>
            </a:r>
            <a:r>
              <a:rPr sz="2000" spc="-5" dirty="0">
                <a:cs typeface="Arial" panose="020B0604020202020204" pitchFamily="34" charset="0"/>
              </a:rPr>
              <a:t>a</a:t>
            </a:r>
            <a:r>
              <a:rPr sz="2000" dirty="0">
                <a:cs typeface="Arial" panose="020B0604020202020204" pitchFamily="34" charset="0"/>
              </a:rPr>
              <a:t> plugin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E7977B0-A805-A124-D5CF-022EFDC231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2422"/>
            <a:ext cx="8785225" cy="689932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dirty="0"/>
              <a:t>jQuery</a:t>
            </a:r>
            <a:r>
              <a:rPr spc="-70" dirty="0"/>
              <a:t> </a:t>
            </a:r>
            <a:r>
              <a:rPr spc="-25" dirty="0"/>
              <a:t>syntax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5863A19-7AC8-2098-FD86-63898A6EFF9A}"/>
              </a:ext>
            </a:extLst>
          </p:cNvPr>
          <p:cNvSpPr txBox="1"/>
          <p:nvPr/>
        </p:nvSpPr>
        <p:spPr>
          <a:xfrm>
            <a:off x="520832" y="4556619"/>
            <a:ext cx="7944494" cy="1590179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/>
          <a:p>
            <a:pPr marL="297815" indent="-285750">
              <a:spcBef>
                <a:spcPts val="100"/>
              </a:spcBef>
              <a:buFont typeface="Wingdings" panose="05000000000000000000" pitchFamily="2" charset="2"/>
              <a:buChar char="§"/>
              <a:tabLst>
                <a:tab pos="299085" algn="l"/>
                <a:tab pos="299720" algn="l"/>
              </a:tabLst>
              <a:defRPr/>
            </a:pPr>
            <a:r>
              <a:rPr sz="2000" spc="-5" dirty="0">
                <a:cs typeface="Arial" panose="020B0604020202020204" pitchFamily="34" charset="0"/>
              </a:rPr>
              <a:t>Actions</a:t>
            </a:r>
            <a:r>
              <a:rPr sz="2000" spc="-10" dirty="0">
                <a:cs typeface="Arial" panose="020B0604020202020204" pitchFamily="34" charset="0"/>
              </a:rPr>
              <a:t> </a:t>
            </a:r>
            <a:r>
              <a:rPr sz="2000" spc="-5" dirty="0">
                <a:cs typeface="Arial" panose="020B0604020202020204" pitchFamily="34" charset="0"/>
              </a:rPr>
              <a:t>can</a:t>
            </a:r>
            <a:r>
              <a:rPr sz="2000" spc="-10" dirty="0">
                <a:cs typeface="Arial" panose="020B0604020202020204" pitchFamily="34" charset="0"/>
              </a:rPr>
              <a:t> </a:t>
            </a:r>
            <a:r>
              <a:rPr sz="2000" dirty="0">
                <a:cs typeface="Arial" panose="020B0604020202020204" pitchFamily="34" charset="0"/>
              </a:rPr>
              <a:t>be</a:t>
            </a:r>
            <a:r>
              <a:rPr sz="2000" spc="10" dirty="0">
                <a:cs typeface="Arial" panose="020B0604020202020204" pitchFamily="34" charset="0"/>
              </a:rPr>
              <a:t> </a:t>
            </a:r>
            <a:r>
              <a:rPr sz="2000" spc="-5" dirty="0">
                <a:cs typeface="Arial" panose="020B0604020202020204" pitchFamily="34" charset="0"/>
              </a:rPr>
              <a:t>of</a:t>
            </a:r>
            <a:r>
              <a:rPr sz="2000" spc="5" dirty="0">
                <a:cs typeface="Arial" panose="020B0604020202020204" pitchFamily="34" charset="0"/>
              </a:rPr>
              <a:t> </a:t>
            </a:r>
            <a:r>
              <a:rPr sz="2000" spc="-10" dirty="0">
                <a:cs typeface="Arial" panose="020B0604020202020204" pitchFamily="34" charset="0"/>
              </a:rPr>
              <a:t>varied</a:t>
            </a:r>
            <a:r>
              <a:rPr sz="2000" spc="5" dirty="0">
                <a:cs typeface="Arial" panose="020B0604020202020204" pitchFamily="34" charset="0"/>
              </a:rPr>
              <a:t> </a:t>
            </a:r>
            <a:r>
              <a:rPr sz="2000" dirty="0">
                <a:cs typeface="Arial" panose="020B0604020202020204" pitchFamily="34" charset="0"/>
              </a:rPr>
              <a:t>in</a:t>
            </a:r>
            <a:r>
              <a:rPr sz="2000" spc="5" dirty="0">
                <a:cs typeface="Arial" panose="020B0604020202020204" pitchFamily="34" charset="0"/>
              </a:rPr>
              <a:t> </a:t>
            </a:r>
            <a:r>
              <a:rPr sz="2000" spc="-10" dirty="0">
                <a:cs typeface="Arial" panose="020B0604020202020204" pitchFamily="34" charset="0"/>
              </a:rPr>
              <a:t>nature (ex:</a:t>
            </a:r>
            <a:r>
              <a:rPr sz="2000" spc="-5" dirty="0">
                <a:cs typeface="Arial" panose="020B0604020202020204" pitchFamily="34" charset="0"/>
              </a:rPr>
              <a:t> DOM</a:t>
            </a:r>
            <a:r>
              <a:rPr sz="2000" dirty="0">
                <a:cs typeface="Arial" panose="020B0604020202020204" pitchFamily="34" charset="0"/>
              </a:rPr>
              <a:t> </a:t>
            </a:r>
            <a:r>
              <a:rPr sz="2000" spc="-5" dirty="0">
                <a:cs typeface="Arial" panose="020B0604020202020204" pitchFamily="34" charset="0"/>
              </a:rPr>
              <a:t>manipulation,</a:t>
            </a:r>
            <a:r>
              <a:rPr sz="2000" spc="-40" dirty="0">
                <a:cs typeface="Arial" panose="020B0604020202020204" pitchFamily="34" charset="0"/>
              </a:rPr>
              <a:t> </a:t>
            </a:r>
            <a:r>
              <a:rPr sz="2000" spc="-10" dirty="0">
                <a:cs typeface="Arial" panose="020B0604020202020204" pitchFamily="34" charset="0"/>
              </a:rPr>
              <a:t>events</a:t>
            </a:r>
            <a:r>
              <a:rPr sz="2000" spc="20" dirty="0">
                <a:cs typeface="Arial" panose="020B0604020202020204" pitchFamily="34" charset="0"/>
              </a:rPr>
              <a:t> </a:t>
            </a:r>
            <a:r>
              <a:rPr sz="2000" spc="-10" dirty="0">
                <a:cs typeface="Arial" panose="020B0604020202020204" pitchFamily="34" charset="0"/>
              </a:rPr>
              <a:t>etc..) </a:t>
            </a:r>
            <a:r>
              <a:rPr sz="2000" spc="-5" dirty="0">
                <a:cs typeface="Arial" panose="020B0604020202020204" pitchFamily="34" charset="0"/>
              </a:rPr>
              <a:t>which</a:t>
            </a:r>
            <a:r>
              <a:rPr sz="2000" spc="20" dirty="0">
                <a:cs typeface="Arial" panose="020B0604020202020204" pitchFamily="34" charset="0"/>
              </a:rPr>
              <a:t> </a:t>
            </a:r>
            <a:r>
              <a:rPr lang="en-US" sz="2000" spc="-10" dirty="0">
                <a:cs typeface="Arial" panose="020B0604020202020204" pitchFamily="34" charset="0"/>
              </a:rPr>
              <a:t>will be covered in the subsequent slides</a:t>
            </a:r>
          </a:p>
          <a:p>
            <a:pPr marL="297815" indent="-285750">
              <a:spcBef>
                <a:spcPts val="100"/>
              </a:spcBef>
              <a:buFont typeface="Wingdings" panose="05000000000000000000" pitchFamily="2" charset="2"/>
              <a:buChar char="§"/>
              <a:tabLst>
                <a:tab pos="299085" algn="l"/>
                <a:tab pos="299720" algn="l"/>
              </a:tabLst>
              <a:defRPr/>
            </a:pPr>
            <a:endParaRPr lang="en-US" sz="2000" spc="-10" dirty="0">
              <a:cs typeface="Arial" panose="020B0604020202020204" pitchFamily="34" charset="0"/>
            </a:endParaRPr>
          </a:p>
          <a:p>
            <a:pPr marL="297815" indent="-285750">
              <a:spcBef>
                <a:spcPts val="100"/>
              </a:spcBef>
              <a:buFont typeface="Wingdings" panose="05000000000000000000" pitchFamily="2" charset="2"/>
              <a:buChar char="§"/>
              <a:tabLst>
                <a:tab pos="299085" algn="l"/>
                <a:tab pos="299720" algn="l"/>
              </a:tabLst>
              <a:defRPr/>
            </a:pPr>
            <a:r>
              <a:rPr lang="en-US" sz="2000" dirty="0">
                <a:cs typeface="Arial" panose="020B0604020202020204" pitchFamily="34" charset="0"/>
              </a:rPr>
              <a:t>The $ used is a jQuery function</a:t>
            </a:r>
          </a:p>
          <a:p>
            <a:pPr marL="297815" indent="-285750">
              <a:spcBef>
                <a:spcPts val="100"/>
              </a:spcBef>
              <a:buFont typeface="Wingdings" panose="05000000000000000000" pitchFamily="2" charset="2"/>
              <a:buChar char="§"/>
              <a:tabLst>
                <a:tab pos="299085" algn="l"/>
                <a:tab pos="299720" algn="l"/>
              </a:tabLst>
              <a:defRPr/>
            </a:pPr>
            <a:endParaRPr lang="en-GB" sz="2000" dirty="0">
              <a:cs typeface="Arial" panose="020B0604020202020204" pitchFamily="34" charset="0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AE94C17-0723-44FE-6E56-A4EA3EC1CA5B}"/>
              </a:ext>
            </a:extLst>
          </p:cNvPr>
          <p:cNvSpPr txBox="1"/>
          <p:nvPr/>
        </p:nvSpPr>
        <p:spPr>
          <a:xfrm>
            <a:off x="303638" y="1431859"/>
            <a:ext cx="8379393" cy="1025922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>
            <a:lvl1pPr marL="298450" indent="-28575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12700" indent="0">
              <a:spcBef>
                <a:spcPts val="100"/>
              </a:spcBef>
            </a:pPr>
            <a:r>
              <a:rPr lang="en-US" altLang="en-US" sz="2000" dirty="0">
                <a:cs typeface="Arial" panose="020B0604020202020204" pitchFamily="34" charset="0"/>
              </a:rPr>
              <a:t>jQuery syntax is designed to select HTML elements and perform actions on them.</a:t>
            </a:r>
          </a:p>
          <a:p>
            <a:pPr lvl="1">
              <a:lnSpc>
                <a:spcPts val="1725"/>
              </a:lnSpc>
              <a:spcBef>
                <a:spcPts val="1413"/>
              </a:spcBef>
            </a:pPr>
            <a:r>
              <a:rPr lang="en-US" altLang="en-US" sz="2000" b="1" dirty="0">
                <a:solidFill>
                  <a:srgbClr val="7E0054"/>
                </a:solidFill>
                <a:cs typeface="Arial" panose="020B0604020202020204" pitchFamily="34" charset="0"/>
              </a:rPr>
              <a:t>Syntax: $(selector).action()  Selector : this | id | class | element</a:t>
            </a:r>
            <a:endParaRPr lang="en-US" altLang="en-US" sz="2000" dirty="0">
              <a:cs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E40C571-7E7C-3CA2-347F-91A08C187B9D}"/>
              </a:ext>
            </a:extLst>
          </p:cNvPr>
          <p:cNvGrpSpPr/>
          <p:nvPr/>
        </p:nvGrpSpPr>
        <p:grpSpPr>
          <a:xfrm>
            <a:off x="783091" y="2605780"/>
            <a:ext cx="7419975" cy="1802840"/>
            <a:chOff x="600075" y="2553260"/>
            <a:chExt cx="7419975" cy="1802840"/>
          </a:xfrm>
        </p:grpSpPr>
        <p:grpSp>
          <p:nvGrpSpPr>
            <p:cNvPr id="20484" name="object 4">
              <a:extLst>
                <a:ext uri="{FF2B5EF4-FFF2-40B4-BE49-F238E27FC236}">
                  <a16:creationId xmlns:a16="http://schemas.microsoft.com/office/drawing/2014/main" id="{F1733829-6FAC-8EAD-AB2B-D838A20F32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0075" y="2553260"/>
              <a:ext cx="7419975" cy="1802840"/>
              <a:chOff x="600455" y="1267967"/>
              <a:chExt cx="7419340" cy="2230120"/>
            </a:xfrm>
          </p:grpSpPr>
          <p:sp>
            <p:nvSpPr>
              <p:cNvPr id="20489" name="object 5">
                <a:extLst>
                  <a:ext uri="{FF2B5EF4-FFF2-40B4-BE49-F238E27FC236}">
                    <a16:creationId xmlns:a16="http://schemas.microsoft.com/office/drawing/2014/main" id="{0DAA0DA4-3098-DBAF-7E22-50E2CB8FEC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0361" y="1277873"/>
                <a:ext cx="7399020" cy="2209800"/>
              </a:xfrm>
              <a:custGeom>
                <a:avLst/>
                <a:gdLst>
                  <a:gd name="T0" fmla="*/ 7030719 w 7399020"/>
                  <a:gd name="T1" fmla="*/ 0 h 2209800"/>
                  <a:gd name="T2" fmla="*/ 368312 w 7399020"/>
                  <a:gd name="T3" fmla="*/ 0 h 2209800"/>
                  <a:gd name="T4" fmla="*/ 322111 w 7399020"/>
                  <a:gd name="T5" fmla="*/ 2868 h 2209800"/>
                  <a:gd name="T6" fmla="*/ 277623 w 7399020"/>
                  <a:gd name="T7" fmla="*/ 11245 h 2209800"/>
                  <a:gd name="T8" fmla="*/ 235193 w 7399020"/>
                  <a:gd name="T9" fmla="*/ 24784 h 2209800"/>
                  <a:gd name="T10" fmla="*/ 195165 w 7399020"/>
                  <a:gd name="T11" fmla="*/ 43142 h 2209800"/>
                  <a:gd name="T12" fmla="*/ 157886 w 7399020"/>
                  <a:gd name="T13" fmla="*/ 65974 h 2209800"/>
                  <a:gd name="T14" fmla="*/ 123700 w 7399020"/>
                  <a:gd name="T15" fmla="*/ 92934 h 2209800"/>
                  <a:gd name="T16" fmla="*/ 92952 w 7399020"/>
                  <a:gd name="T17" fmla="*/ 123678 h 2209800"/>
                  <a:gd name="T18" fmla="*/ 65988 w 7399020"/>
                  <a:gd name="T19" fmla="*/ 157861 h 2209800"/>
                  <a:gd name="T20" fmla="*/ 43153 w 7399020"/>
                  <a:gd name="T21" fmla="*/ 195139 h 2209800"/>
                  <a:gd name="T22" fmla="*/ 24791 w 7399020"/>
                  <a:gd name="T23" fmla="*/ 235166 h 2209800"/>
                  <a:gd name="T24" fmla="*/ 11248 w 7399020"/>
                  <a:gd name="T25" fmla="*/ 277599 h 2209800"/>
                  <a:gd name="T26" fmla="*/ 2869 w 7399020"/>
                  <a:gd name="T27" fmla="*/ 322091 h 2209800"/>
                  <a:gd name="T28" fmla="*/ 0 w 7399020"/>
                  <a:gd name="T29" fmla="*/ 368300 h 2209800"/>
                  <a:gd name="T30" fmla="*/ 0 w 7399020"/>
                  <a:gd name="T31" fmla="*/ 1841500 h 2209800"/>
                  <a:gd name="T32" fmla="*/ 2869 w 7399020"/>
                  <a:gd name="T33" fmla="*/ 1887708 h 2209800"/>
                  <a:gd name="T34" fmla="*/ 11248 w 7399020"/>
                  <a:gd name="T35" fmla="*/ 1932200 h 2209800"/>
                  <a:gd name="T36" fmla="*/ 24791 w 7399020"/>
                  <a:gd name="T37" fmla="*/ 1974633 h 2209800"/>
                  <a:gd name="T38" fmla="*/ 43153 w 7399020"/>
                  <a:gd name="T39" fmla="*/ 2014660 h 2209800"/>
                  <a:gd name="T40" fmla="*/ 65988 w 7399020"/>
                  <a:gd name="T41" fmla="*/ 2051938 h 2209800"/>
                  <a:gd name="T42" fmla="*/ 92952 w 7399020"/>
                  <a:gd name="T43" fmla="*/ 2086121 h 2209800"/>
                  <a:gd name="T44" fmla="*/ 123700 w 7399020"/>
                  <a:gd name="T45" fmla="*/ 2116865 h 2209800"/>
                  <a:gd name="T46" fmla="*/ 157886 w 7399020"/>
                  <a:gd name="T47" fmla="*/ 2143825 h 2209800"/>
                  <a:gd name="T48" fmla="*/ 195165 w 7399020"/>
                  <a:gd name="T49" fmla="*/ 2166657 h 2209800"/>
                  <a:gd name="T50" fmla="*/ 235193 w 7399020"/>
                  <a:gd name="T51" fmla="*/ 2185015 h 2209800"/>
                  <a:gd name="T52" fmla="*/ 277623 w 7399020"/>
                  <a:gd name="T53" fmla="*/ 2198554 h 2209800"/>
                  <a:gd name="T54" fmla="*/ 322111 w 7399020"/>
                  <a:gd name="T55" fmla="*/ 2206931 h 2209800"/>
                  <a:gd name="T56" fmla="*/ 368312 w 7399020"/>
                  <a:gd name="T57" fmla="*/ 2209800 h 2209800"/>
                  <a:gd name="T58" fmla="*/ 7030719 w 7399020"/>
                  <a:gd name="T59" fmla="*/ 2209800 h 2209800"/>
                  <a:gd name="T60" fmla="*/ 7076928 w 7399020"/>
                  <a:gd name="T61" fmla="*/ 2206931 h 2209800"/>
                  <a:gd name="T62" fmla="*/ 7121420 w 7399020"/>
                  <a:gd name="T63" fmla="*/ 2198554 h 2209800"/>
                  <a:gd name="T64" fmla="*/ 7163853 w 7399020"/>
                  <a:gd name="T65" fmla="*/ 2185015 h 2209800"/>
                  <a:gd name="T66" fmla="*/ 7203880 w 7399020"/>
                  <a:gd name="T67" fmla="*/ 2166657 h 2209800"/>
                  <a:gd name="T68" fmla="*/ 7241158 w 7399020"/>
                  <a:gd name="T69" fmla="*/ 2143825 h 2209800"/>
                  <a:gd name="T70" fmla="*/ 7275341 w 7399020"/>
                  <a:gd name="T71" fmla="*/ 2116865 h 2209800"/>
                  <a:gd name="T72" fmla="*/ 7306085 w 7399020"/>
                  <a:gd name="T73" fmla="*/ 2086121 h 2209800"/>
                  <a:gd name="T74" fmla="*/ 7333045 w 7399020"/>
                  <a:gd name="T75" fmla="*/ 2051938 h 2209800"/>
                  <a:gd name="T76" fmla="*/ 7355877 w 7399020"/>
                  <a:gd name="T77" fmla="*/ 2014660 h 2209800"/>
                  <a:gd name="T78" fmla="*/ 7374235 w 7399020"/>
                  <a:gd name="T79" fmla="*/ 1974633 h 2209800"/>
                  <a:gd name="T80" fmla="*/ 7387774 w 7399020"/>
                  <a:gd name="T81" fmla="*/ 1932200 h 2209800"/>
                  <a:gd name="T82" fmla="*/ 7396151 w 7399020"/>
                  <a:gd name="T83" fmla="*/ 1887708 h 2209800"/>
                  <a:gd name="T84" fmla="*/ 7399019 w 7399020"/>
                  <a:gd name="T85" fmla="*/ 1841500 h 2209800"/>
                  <a:gd name="T86" fmla="*/ 7399019 w 7399020"/>
                  <a:gd name="T87" fmla="*/ 368300 h 2209800"/>
                  <a:gd name="T88" fmla="*/ 7396151 w 7399020"/>
                  <a:gd name="T89" fmla="*/ 322091 h 2209800"/>
                  <a:gd name="T90" fmla="*/ 7387774 w 7399020"/>
                  <a:gd name="T91" fmla="*/ 277599 h 2209800"/>
                  <a:gd name="T92" fmla="*/ 7374235 w 7399020"/>
                  <a:gd name="T93" fmla="*/ 235166 h 2209800"/>
                  <a:gd name="T94" fmla="*/ 7355877 w 7399020"/>
                  <a:gd name="T95" fmla="*/ 195139 h 2209800"/>
                  <a:gd name="T96" fmla="*/ 7333045 w 7399020"/>
                  <a:gd name="T97" fmla="*/ 157861 h 2209800"/>
                  <a:gd name="T98" fmla="*/ 7306085 w 7399020"/>
                  <a:gd name="T99" fmla="*/ 123678 h 2209800"/>
                  <a:gd name="T100" fmla="*/ 7275341 w 7399020"/>
                  <a:gd name="T101" fmla="*/ 92934 h 2209800"/>
                  <a:gd name="T102" fmla="*/ 7241158 w 7399020"/>
                  <a:gd name="T103" fmla="*/ 65974 h 2209800"/>
                  <a:gd name="T104" fmla="*/ 7203880 w 7399020"/>
                  <a:gd name="T105" fmla="*/ 43142 h 2209800"/>
                  <a:gd name="T106" fmla="*/ 7163853 w 7399020"/>
                  <a:gd name="T107" fmla="*/ 24784 h 2209800"/>
                  <a:gd name="T108" fmla="*/ 7121420 w 7399020"/>
                  <a:gd name="T109" fmla="*/ 11245 h 2209800"/>
                  <a:gd name="T110" fmla="*/ 7076928 w 7399020"/>
                  <a:gd name="T111" fmla="*/ 2868 h 2209800"/>
                  <a:gd name="T112" fmla="*/ 7030719 w 7399020"/>
                  <a:gd name="T113" fmla="*/ 0 h 22098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7399020" h="2209800">
                    <a:moveTo>
                      <a:pt x="7030719" y="0"/>
                    </a:moveTo>
                    <a:lnTo>
                      <a:pt x="368312" y="0"/>
                    </a:lnTo>
                    <a:lnTo>
                      <a:pt x="322111" y="2868"/>
                    </a:lnTo>
                    <a:lnTo>
                      <a:pt x="277623" y="11245"/>
                    </a:lnTo>
                    <a:lnTo>
                      <a:pt x="235193" y="24784"/>
                    </a:lnTo>
                    <a:lnTo>
                      <a:pt x="195165" y="43142"/>
                    </a:lnTo>
                    <a:lnTo>
                      <a:pt x="157886" y="65974"/>
                    </a:lnTo>
                    <a:lnTo>
                      <a:pt x="123700" y="92934"/>
                    </a:lnTo>
                    <a:lnTo>
                      <a:pt x="92952" y="123678"/>
                    </a:lnTo>
                    <a:lnTo>
                      <a:pt x="65988" y="157861"/>
                    </a:lnTo>
                    <a:lnTo>
                      <a:pt x="43153" y="195139"/>
                    </a:lnTo>
                    <a:lnTo>
                      <a:pt x="24791" y="235166"/>
                    </a:lnTo>
                    <a:lnTo>
                      <a:pt x="11248" y="277599"/>
                    </a:lnTo>
                    <a:lnTo>
                      <a:pt x="2869" y="322091"/>
                    </a:lnTo>
                    <a:lnTo>
                      <a:pt x="0" y="368300"/>
                    </a:lnTo>
                    <a:lnTo>
                      <a:pt x="0" y="1841500"/>
                    </a:lnTo>
                    <a:lnTo>
                      <a:pt x="2869" y="1887708"/>
                    </a:lnTo>
                    <a:lnTo>
                      <a:pt x="11248" y="1932200"/>
                    </a:lnTo>
                    <a:lnTo>
                      <a:pt x="24791" y="1974633"/>
                    </a:lnTo>
                    <a:lnTo>
                      <a:pt x="43153" y="2014660"/>
                    </a:lnTo>
                    <a:lnTo>
                      <a:pt x="65988" y="2051938"/>
                    </a:lnTo>
                    <a:lnTo>
                      <a:pt x="92952" y="2086121"/>
                    </a:lnTo>
                    <a:lnTo>
                      <a:pt x="123700" y="2116865"/>
                    </a:lnTo>
                    <a:lnTo>
                      <a:pt x="157886" y="2143825"/>
                    </a:lnTo>
                    <a:lnTo>
                      <a:pt x="195165" y="2166657"/>
                    </a:lnTo>
                    <a:lnTo>
                      <a:pt x="235193" y="2185015"/>
                    </a:lnTo>
                    <a:lnTo>
                      <a:pt x="277623" y="2198554"/>
                    </a:lnTo>
                    <a:lnTo>
                      <a:pt x="322111" y="2206931"/>
                    </a:lnTo>
                    <a:lnTo>
                      <a:pt x="368312" y="2209800"/>
                    </a:lnTo>
                    <a:lnTo>
                      <a:pt x="7030719" y="2209800"/>
                    </a:lnTo>
                    <a:lnTo>
                      <a:pt x="7076928" y="2206931"/>
                    </a:lnTo>
                    <a:lnTo>
                      <a:pt x="7121420" y="2198554"/>
                    </a:lnTo>
                    <a:lnTo>
                      <a:pt x="7163853" y="2185015"/>
                    </a:lnTo>
                    <a:lnTo>
                      <a:pt x="7203880" y="2166657"/>
                    </a:lnTo>
                    <a:lnTo>
                      <a:pt x="7241158" y="2143825"/>
                    </a:lnTo>
                    <a:lnTo>
                      <a:pt x="7275341" y="2116865"/>
                    </a:lnTo>
                    <a:lnTo>
                      <a:pt x="7306085" y="2086121"/>
                    </a:lnTo>
                    <a:lnTo>
                      <a:pt x="7333045" y="2051938"/>
                    </a:lnTo>
                    <a:lnTo>
                      <a:pt x="7355877" y="2014660"/>
                    </a:lnTo>
                    <a:lnTo>
                      <a:pt x="7374235" y="1974633"/>
                    </a:lnTo>
                    <a:lnTo>
                      <a:pt x="7387774" y="1932200"/>
                    </a:lnTo>
                    <a:lnTo>
                      <a:pt x="7396151" y="1887708"/>
                    </a:lnTo>
                    <a:lnTo>
                      <a:pt x="7399019" y="1841500"/>
                    </a:lnTo>
                    <a:lnTo>
                      <a:pt x="7399019" y="368300"/>
                    </a:lnTo>
                    <a:lnTo>
                      <a:pt x="7396151" y="322091"/>
                    </a:lnTo>
                    <a:lnTo>
                      <a:pt x="7387774" y="277599"/>
                    </a:lnTo>
                    <a:lnTo>
                      <a:pt x="7374235" y="235166"/>
                    </a:lnTo>
                    <a:lnTo>
                      <a:pt x="7355877" y="195139"/>
                    </a:lnTo>
                    <a:lnTo>
                      <a:pt x="7333045" y="157861"/>
                    </a:lnTo>
                    <a:lnTo>
                      <a:pt x="7306085" y="123678"/>
                    </a:lnTo>
                    <a:lnTo>
                      <a:pt x="7275341" y="92934"/>
                    </a:lnTo>
                    <a:lnTo>
                      <a:pt x="7241158" y="65974"/>
                    </a:lnTo>
                    <a:lnTo>
                      <a:pt x="7203880" y="43142"/>
                    </a:lnTo>
                    <a:lnTo>
                      <a:pt x="7163853" y="24784"/>
                    </a:lnTo>
                    <a:lnTo>
                      <a:pt x="7121420" y="11245"/>
                    </a:lnTo>
                    <a:lnTo>
                      <a:pt x="7076928" y="2868"/>
                    </a:lnTo>
                    <a:lnTo>
                      <a:pt x="7030719" y="0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GB" sz="2000" dirty="0">
                  <a:cs typeface="Arial" panose="020B0604020202020204" pitchFamily="34" charset="0"/>
                </a:endParaRPr>
              </a:p>
            </p:txBody>
          </p:sp>
          <p:sp>
            <p:nvSpPr>
              <p:cNvPr id="20490" name="object 6">
                <a:extLst>
                  <a:ext uri="{FF2B5EF4-FFF2-40B4-BE49-F238E27FC236}">
                    <a16:creationId xmlns:a16="http://schemas.microsoft.com/office/drawing/2014/main" id="{CA3D2238-A895-5578-9529-2DAB0D8E04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0361" y="1277873"/>
                <a:ext cx="7399020" cy="2209800"/>
              </a:xfrm>
              <a:custGeom>
                <a:avLst/>
                <a:gdLst>
                  <a:gd name="T0" fmla="*/ 0 w 7399020"/>
                  <a:gd name="T1" fmla="*/ 368300 h 2209800"/>
                  <a:gd name="T2" fmla="*/ 2869 w 7399020"/>
                  <a:gd name="T3" fmla="*/ 322091 h 2209800"/>
                  <a:gd name="T4" fmla="*/ 11248 w 7399020"/>
                  <a:gd name="T5" fmla="*/ 277599 h 2209800"/>
                  <a:gd name="T6" fmla="*/ 24791 w 7399020"/>
                  <a:gd name="T7" fmla="*/ 235166 h 2209800"/>
                  <a:gd name="T8" fmla="*/ 43153 w 7399020"/>
                  <a:gd name="T9" fmla="*/ 195139 h 2209800"/>
                  <a:gd name="T10" fmla="*/ 65988 w 7399020"/>
                  <a:gd name="T11" fmla="*/ 157861 h 2209800"/>
                  <a:gd name="T12" fmla="*/ 92952 w 7399020"/>
                  <a:gd name="T13" fmla="*/ 123678 h 2209800"/>
                  <a:gd name="T14" fmla="*/ 123700 w 7399020"/>
                  <a:gd name="T15" fmla="*/ 92934 h 2209800"/>
                  <a:gd name="T16" fmla="*/ 157886 w 7399020"/>
                  <a:gd name="T17" fmla="*/ 65974 h 2209800"/>
                  <a:gd name="T18" fmla="*/ 195165 w 7399020"/>
                  <a:gd name="T19" fmla="*/ 43142 h 2209800"/>
                  <a:gd name="T20" fmla="*/ 235193 w 7399020"/>
                  <a:gd name="T21" fmla="*/ 24784 h 2209800"/>
                  <a:gd name="T22" fmla="*/ 277623 w 7399020"/>
                  <a:gd name="T23" fmla="*/ 11245 h 2209800"/>
                  <a:gd name="T24" fmla="*/ 322111 w 7399020"/>
                  <a:gd name="T25" fmla="*/ 2868 h 2209800"/>
                  <a:gd name="T26" fmla="*/ 368312 w 7399020"/>
                  <a:gd name="T27" fmla="*/ 0 h 2209800"/>
                  <a:gd name="T28" fmla="*/ 7030719 w 7399020"/>
                  <a:gd name="T29" fmla="*/ 0 h 2209800"/>
                  <a:gd name="T30" fmla="*/ 7076928 w 7399020"/>
                  <a:gd name="T31" fmla="*/ 2868 h 2209800"/>
                  <a:gd name="T32" fmla="*/ 7121420 w 7399020"/>
                  <a:gd name="T33" fmla="*/ 11245 h 2209800"/>
                  <a:gd name="T34" fmla="*/ 7163853 w 7399020"/>
                  <a:gd name="T35" fmla="*/ 24784 h 2209800"/>
                  <a:gd name="T36" fmla="*/ 7203880 w 7399020"/>
                  <a:gd name="T37" fmla="*/ 43142 h 2209800"/>
                  <a:gd name="T38" fmla="*/ 7241158 w 7399020"/>
                  <a:gd name="T39" fmla="*/ 65974 h 2209800"/>
                  <a:gd name="T40" fmla="*/ 7275341 w 7399020"/>
                  <a:gd name="T41" fmla="*/ 92934 h 2209800"/>
                  <a:gd name="T42" fmla="*/ 7306085 w 7399020"/>
                  <a:gd name="T43" fmla="*/ 123678 h 2209800"/>
                  <a:gd name="T44" fmla="*/ 7333045 w 7399020"/>
                  <a:gd name="T45" fmla="*/ 157861 h 2209800"/>
                  <a:gd name="T46" fmla="*/ 7355877 w 7399020"/>
                  <a:gd name="T47" fmla="*/ 195139 h 2209800"/>
                  <a:gd name="T48" fmla="*/ 7374235 w 7399020"/>
                  <a:gd name="T49" fmla="*/ 235166 h 2209800"/>
                  <a:gd name="T50" fmla="*/ 7387774 w 7399020"/>
                  <a:gd name="T51" fmla="*/ 277599 h 2209800"/>
                  <a:gd name="T52" fmla="*/ 7396151 w 7399020"/>
                  <a:gd name="T53" fmla="*/ 322091 h 2209800"/>
                  <a:gd name="T54" fmla="*/ 7399019 w 7399020"/>
                  <a:gd name="T55" fmla="*/ 368300 h 2209800"/>
                  <a:gd name="T56" fmla="*/ 7399019 w 7399020"/>
                  <a:gd name="T57" fmla="*/ 1841500 h 2209800"/>
                  <a:gd name="T58" fmla="*/ 7396151 w 7399020"/>
                  <a:gd name="T59" fmla="*/ 1887708 h 2209800"/>
                  <a:gd name="T60" fmla="*/ 7387774 w 7399020"/>
                  <a:gd name="T61" fmla="*/ 1932200 h 2209800"/>
                  <a:gd name="T62" fmla="*/ 7374235 w 7399020"/>
                  <a:gd name="T63" fmla="*/ 1974633 h 2209800"/>
                  <a:gd name="T64" fmla="*/ 7355877 w 7399020"/>
                  <a:gd name="T65" fmla="*/ 2014660 h 2209800"/>
                  <a:gd name="T66" fmla="*/ 7333045 w 7399020"/>
                  <a:gd name="T67" fmla="*/ 2051938 h 2209800"/>
                  <a:gd name="T68" fmla="*/ 7306085 w 7399020"/>
                  <a:gd name="T69" fmla="*/ 2086121 h 2209800"/>
                  <a:gd name="T70" fmla="*/ 7275341 w 7399020"/>
                  <a:gd name="T71" fmla="*/ 2116865 h 2209800"/>
                  <a:gd name="T72" fmla="*/ 7241158 w 7399020"/>
                  <a:gd name="T73" fmla="*/ 2143825 h 2209800"/>
                  <a:gd name="T74" fmla="*/ 7203880 w 7399020"/>
                  <a:gd name="T75" fmla="*/ 2166657 h 2209800"/>
                  <a:gd name="T76" fmla="*/ 7163853 w 7399020"/>
                  <a:gd name="T77" fmla="*/ 2185015 h 2209800"/>
                  <a:gd name="T78" fmla="*/ 7121420 w 7399020"/>
                  <a:gd name="T79" fmla="*/ 2198554 h 2209800"/>
                  <a:gd name="T80" fmla="*/ 7076928 w 7399020"/>
                  <a:gd name="T81" fmla="*/ 2206931 h 2209800"/>
                  <a:gd name="T82" fmla="*/ 7030719 w 7399020"/>
                  <a:gd name="T83" fmla="*/ 2209800 h 2209800"/>
                  <a:gd name="T84" fmla="*/ 368312 w 7399020"/>
                  <a:gd name="T85" fmla="*/ 2209800 h 2209800"/>
                  <a:gd name="T86" fmla="*/ 322111 w 7399020"/>
                  <a:gd name="T87" fmla="*/ 2206931 h 2209800"/>
                  <a:gd name="T88" fmla="*/ 277623 w 7399020"/>
                  <a:gd name="T89" fmla="*/ 2198554 h 2209800"/>
                  <a:gd name="T90" fmla="*/ 235193 w 7399020"/>
                  <a:gd name="T91" fmla="*/ 2185015 h 2209800"/>
                  <a:gd name="T92" fmla="*/ 195165 w 7399020"/>
                  <a:gd name="T93" fmla="*/ 2166657 h 2209800"/>
                  <a:gd name="T94" fmla="*/ 157886 w 7399020"/>
                  <a:gd name="T95" fmla="*/ 2143825 h 2209800"/>
                  <a:gd name="T96" fmla="*/ 123700 w 7399020"/>
                  <a:gd name="T97" fmla="*/ 2116865 h 2209800"/>
                  <a:gd name="T98" fmla="*/ 92952 w 7399020"/>
                  <a:gd name="T99" fmla="*/ 2086121 h 2209800"/>
                  <a:gd name="T100" fmla="*/ 65988 w 7399020"/>
                  <a:gd name="T101" fmla="*/ 2051938 h 2209800"/>
                  <a:gd name="T102" fmla="*/ 43153 w 7399020"/>
                  <a:gd name="T103" fmla="*/ 2014660 h 2209800"/>
                  <a:gd name="T104" fmla="*/ 24791 w 7399020"/>
                  <a:gd name="T105" fmla="*/ 1974633 h 2209800"/>
                  <a:gd name="T106" fmla="*/ 11248 w 7399020"/>
                  <a:gd name="T107" fmla="*/ 1932200 h 2209800"/>
                  <a:gd name="T108" fmla="*/ 2869 w 7399020"/>
                  <a:gd name="T109" fmla="*/ 1887708 h 2209800"/>
                  <a:gd name="T110" fmla="*/ 0 w 7399020"/>
                  <a:gd name="T111" fmla="*/ 1841500 h 2209800"/>
                  <a:gd name="T112" fmla="*/ 0 w 7399020"/>
                  <a:gd name="T113" fmla="*/ 368300 h 22098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7399020" h="2209800">
                    <a:moveTo>
                      <a:pt x="0" y="368300"/>
                    </a:moveTo>
                    <a:lnTo>
                      <a:pt x="2869" y="322091"/>
                    </a:lnTo>
                    <a:lnTo>
                      <a:pt x="11248" y="277599"/>
                    </a:lnTo>
                    <a:lnTo>
                      <a:pt x="24791" y="235166"/>
                    </a:lnTo>
                    <a:lnTo>
                      <a:pt x="43153" y="195139"/>
                    </a:lnTo>
                    <a:lnTo>
                      <a:pt x="65988" y="157861"/>
                    </a:lnTo>
                    <a:lnTo>
                      <a:pt x="92952" y="123678"/>
                    </a:lnTo>
                    <a:lnTo>
                      <a:pt x="123700" y="92934"/>
                    </a:lnTo>
                    <a:lnTo>
                      <a:pt x="157886" y="65974"/>
                    </a:lnTo>
                    <a:lnTo>
                      <a:pt x="195165" y="43142"/>
                    </a:lnTo>
                    <a:lnTo>
                      <a:pt x="235193" y="24784"/>
                    </a:lnTo>
                    <a:lnTo>
                      <a:pt x="277623" y="11245"/>
                    </a:lnTo>
                    <a:lnTo>
                      <a:pt x="322111" y="2868"/>
                    </a:lnTo>
                    <a:lnTo>
                      <a:pt x="368312" y="0"/>
                    </a:lnTo>
                    <a:lnTo>
                      <a:pt x="7030719" y="0"/>
                    </a:lnTo>
                    <a:lnTo>
                      <a:pt x="7076928" y="2868"/>
                    </a:lnTo>
                    <a:lnTo>
                      <a:pt x="7121420" y="11245"/>
                    </a:lnTo>
                    <a:lnTo>
                      <a:pt x="7163853" y="24784"/>
                    </a:lnTo>
                    <a:lnTo>
                      <a:pt x="7203880" y="43142"/>
                    </a:lnTo>
                    <a:lnTo>
                      <a:pt x="7241158" y="65974"/>
                    </a:lnTo>
                    <a:lnTo>
                      <a:pt x="7275341" y="92934"/>
                    </a:lnTo>
                    <a:lnTo>
                      <a:pt x="7306085" y="123678"/>
                    </a:lnTo>
                    <a:lnTo>
                      <a:pt x="7333045" y="157861"/>
                    </a:lnTo>
                    <a:lnTo>
                      <a:pt x="7355877" y="195139"/>
                    </a:lnTo>
                    <a:lnTo>
                      <a:pt x="7374235" y="235166"/>
                    </a:lnTo>
                    <a:lnTo>
                      <a:pt x="7387774" y="277599"/>
                    </a:lnTo>
                    <a:lnTo>
                      <a:pt x="7396151" y="322091"/>
                    </a:lnTo>
                    <a:lnTo>
                      <a:pt x="7399019" y="368300"/>
                    </a:lnTo>
                    <a:lnTo>
                      <a:pt x="7399019" y="1841500"/>
                    </a:lnTo>
                    <a:lnTo>
                      <a:pt x="7396151" y="1887708"/>
                    </a:lnTo>
                    <a:lnTo>
                      <a:pt x="7387774" y="1932200"/>
                    </a:lnTo>
                    <a:lnTo>
                      <a:pt x="7374235" y="1974633"/>
                    </a:lnTo>
                    <a:lnTo>
                      <a:pt x="7355877" y="2014660"/>
                    </a:lnTo>
                    <a:lnTo>
                      <a:pt x="7333045" y="2051938"/>
                    </a:lnTo>
                    <a:lnTo>
                      <a:pt x="7306085" y="2086121"/>
                    </a:lnTo>
                    <a:lnTo>
                      <a:pt x="7275341" y="2116865"/>
                    </a:lnTo>
                    <a:lnTo>
                      <a:pt x="7241158" y="2143825"/>
                    </a:lnTo>
                    <a:lnTo>
                      <a:pt x="7203880" y="2166657"/>
                    </a:lnTo>
                    <a:lnTo>
                      <a:pt x="7163853" y="2185015"/>
                    </a:lnTo>
                    <a:lnTo>
                      <a:pt x="7121420" y="2198554"/>
                    </a:lnTo>
                    <a:lnTo>
                      <a:pt x="7076928" y="2206931"/>
                    </a:lnTo>
                    <a:lnTo>
                      <a:pt x="7030719" y="2209800"/>
                    </a:lnTo>
                    <a:lnTo>
                      <a:pt x="368312" y="2209800"/>
                    </a:lnTo>
                    <a:lnTo>
                      <a:pt x="322111" y="2206931"/>
                    </a:lnTo>
                    <a:lnTo>
                      <a:pt x="277623" y="2198554"/>
                    </a:lnTo>
                    <a:lnTo>
                      <a:pt x="235193" y="2185015"/>
                    </a:lnTo>
                    <a:lnTo>
                      <a:pt x="195165" y="2166657"/>
                    </a:lnTo>
                    <a:lnTo>
                      <a:pt x="157886" y="2143825"/>
                    </a:lnTo>
                    <a:lnTo>
                      <a:pt x="123700" y="2116865"/>
                    </a:lnTo>
                    <a:lnTo>
                      <a:pt x="92952" y="2086121"/>
                    </a:lnTo>
                    <a:lnTo>
                      <a:pt x="65988" y="2051938"/>
                    </a:lnTo>
                    <a:lnTo>
                      <a:pt x="43153" y="2014660"/>
                    </a:lnTo>
                    <a:lnTo>
                      <a:pt x="24791" y="1974633"/>
                    </a:lnTo>
                    <a:lnTo>
                      <a:pt x="11248" y="1932200"/>
                    </a:lnTo>
                    <a:lnTo>
                      <a:pt x="2869" y="1887708"/>
                    </a:lnTo>
                    <a:lnTo>
                      <a:pt x="0" y="1841500"/>
                    </a:lnTo>
                    <a:lnTo>
                      <a:pt x="0" y="368300"/>
                    </a:lnTo>
                    <a:close/>
                  </a:path>
                </a:pathLst>
              </a:custGeom>
              <a:noFill/>
              <a:ln w="19812">
                <a:solidFill>
                  <a:srgbClr val="0066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GB" sz="2000"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64DDB970-63E6-DE15-7532-8F75B90EAE30}"/>
                </a:ext>
              </a:extLst>
            </p:cNvPr>
            <p:cNvSpPr txBox="1"/>
            <p:nvPr/>
          </p:nvSpPr>
          <p:spPr>
            <a:xfrm>
              <a:off x="3490913" y="2944813"/>
              <a:ext cx="4056062" cy="319959"/>
            </a:xfrm>
            <a:prstGeom prst="rect">
              <a:avLst/>
            </a:prstGeom>
          </p:spPr>
          <p:txBody>
            <a:bodyPr lIns="0" tIns="12065" rIns="0" bIns="0">
              <a:spAutoFit/>
            </a:bodyPr>
            <a:lstStyle/>
            <a:p>
              <a:pPr marL="12700">
                <a:spcBef>
                  <a:spcPts val="95"/>
                </a:spcBef>
                <a:defRPr/>
              </a:pPr>
              <a:r>
                <a:rPr sz="2000" b="1" spc="-5" dirty="0">
                  <a:solidFill>
                    <a:srgbClr val="00AF50"/>
                  </a:solidFill>
                  <a:cs typeface="Arial" panose="020B0604020202020204" pitchFamily="34" charset="0"/>
                </a:rPr>
                <a:t>//</a:t>
              </a:r>
              <a:r>
                <a:rPr sz="2000" b="1" spc="5" dirty="0">
                  <a:solidFill>
                    <a:srgbClr val="00AF50"/>
                  </a:solidFill>
                  <a:cs typeface="Arial" panose="020B0604020202020204" pitchFamily="34" charset="0"/>
                </a:rPr>
                <a:t> </a:t>
              </a:r>
              <a:r>
                <a:rPr sz="2000" b="1" spc="-5" dirty="0">
                  <a:solidFill>
                    <a:srgbClr val="00AF50"/>
                  </a:solidFill>
                  <a:cs typeface="Arial" panose="020B0604020202020204" pitchFamily="34" charset="0"/>
                </a:rPr>
                <a:t>Take</a:t>
              </a:r>
              <a:r>
                <a:rPr sz="2000" b="1" dirty="0">
                  <a:solidFill>
                    <a:srgbClr val="00AF50"/>
                  </a:solidFill>
                  <a:cs typeface="Arial" panose="020B0604020202020204" pitchFamily="34" charset="0"/>
                </a:rPr>
                <a:t> </a:t>
              </a:r>
              <a:r>
                <a:rPr sz="2000" b="1" spc="-5" dirty="0">
                  <a:solidFill>
                    <a:srgbClr val="00AF50"/>
                  </a:solidFill>
                  <a:cs typeface="Arial" panose="020B0604020202020204" pitchFamily="34" charset="0"/>
                </a:rPr>
                <a:t>action</a:t>
              </a:r>
              <a:r>
                <a:rPr sz="2000" b="1" spc="5" dirty="0">
                  <a:solidFill>
                    <a:srgbClr val="00AF50"/>
                  </a:solidFill>
                  <a:cs typeface="Arial" panose="020B0604020202020204" pitchFamily="34" charset="0"/>
                </a:rPr>
                <a:t> </a:t>
              </a:r>
              <a:r>
                <a:rPr sz="2000" b="1" spc="-5" dirty="0">
                  <a:solidFill>
                    <a:srgbClr val="00AF50"/>
                  </a:solidFill>
                  <a:cs typeface="Arial" panose="020B0604020202020204" pitchFamily="34" charset="0"/>
                </a:rPr>
                <a:t>on current</a:t>
              </a:r>
              <a:r>
                <a:rPr sz="2000" b="1" spc="5" dirty="0">
                  <a:solidFill>
                    <a:srgbClr val="00AF50"/>
                  </a:solidFill>
                  <a:cs typeface="Arial" panose="020B0604020202020204" pitchFamily="34" charset="0"/>
                </a:rPr>
                <a:t> </a:t>
              </a:r>
              <a:r>
                <a:rPr sz="2000" b="1" spc="-10" dirty="0">
                  <a:solidFill>
                    <a:srgbClr val="00AF50"/>
                  </a:solidFill>
                  <a:cs typeface="Arial" panose="020B0604020202020204" pitchFamily="34" charset="0"/>
                </a:rPr>
                <a:t>element</a:t>
              </a:r>
              <a:endParaRPr sz="2000" dirty="0">
                <a:cs typeface="Arial" panose="020B0604020202020204" pitchFamily="34" charset="0"/>
              </a:endParaRPr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0E7D9778-6AD9-D36F-3ECD-94EA66D75353}"/>
                </a:ext>
              </a:extLst>
            </p:cNvPr>
            <p:cNvSpPr txBox="1"/>
            <p:nvPr/>
          </p:nvSpPr>
          <p:spPr>
            <a:xfrm>
              <a:off x="804863" y="2944813"/>
              <a:ext cx="2343150" cy="1243289"/>
            </a:xfrm>
            <a:prstGeom prst="rect">
              <a:avLst/>
            </a:prstGeom>
          </p:spPr>
          <p:txBody>
            <a:bodyPr lIns="0" tIns="12065" rIns="0" bIns="0">
              <a:spAutoFit/>
            </a:bodyPr>
            <a:lstStyle/>
            <a:p>
              <a:pPr marL="12700">
                <a:spcBef>
                  <a:spcPts val="95"/>
                </a:spcBef>
                <a:defRPr/>
              </a:pPr>
              <a:r>
                <a:rPr sz="2000" b="1" spc="-5" dirty="0">
                  <a:cs typeface="Arial" panose="020B0604020202020204" pitchFamily="34" charset="0"/>
                </a:rPr>
                <a:t>$(this).action();</a:t>
              </a:r>
              <a:endParaRPr sz="2000" dirty="0">
                <a:cs typeface="Arial" panose="020B0604020202020204" pitchFamily="34" charset="0"/>
              </a:endParaRPr>
            </a:p>
            <a:p>
              <a:pPr marL="12700">
                <a:spcBef>
                  <a:spcPts val="1180"/>
                </a:spcBef>
                <a:defRPr/>
              </a:pPr>
              <a:r>
                <a:rPr sz="2000" b="1" spc="-5" dirty="0">
                  <a:cs typeface="Arial" panose="020B0604020202020204" pitchFamily="34" charset="0"/>
                </a:rPr>
                <a:t>$(“div”).action();</a:t>
              </a:r>
              <a:endParaRPr sz="2000" dirty="0">
                <a:cs typeface="Arial" panose="020B0604020202020204" pitchFamily="34" charset="0"/>
              </a:endParaRPr>
            </a:p>
            <a:p>
              <a:pPr marL="12700">
                <a:spcBef>
                  <a:spcPts val="1175"/>
                </a:spcBef>
                <a:defRPr/>
              </a:pPr>
              <a:r>
                <a:rPr sz="2000" b="1" spc="-5" dirty="0">
                  <a:cs typeface="Arial" panose="020B0604020202020204" pitchFamily="34" charset="0"/>
                </a:rPr>
                <a:t>$(“.abc”).action();</a:t>
              </a:r>
              <a:endParaRPr sz="2000" dirty="0">
                <a:cs typeface="Arial" panose="020B0604020202020204" pitchFamily="34" charset="0"/>
              </a:endParaRPr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29A183D2-C2D2-1BDE-7847-DD2CD9020007}"/>
                </a:ext>
              </a:extLst>
            </p:cNvPr>
            <p:cNvSpPr txBox="1"/>
            <p:nvPr/>
          </p:nvSpPr>
          <p:spPr>
            <a:xfrm>
              <a:off x="3490913" y="3340100"/>
              <a:ext cx="3935412" cy="781624"/>
            </a:xfrm>
            <a:prstGeom prst="rect">
              <a:avLst/>
            </a:prstGeom>
          </p:spPr>
          <p:txBody>
            <a:bodyPr lIns="0" tIns="12065" rIns="0" bIns="0">
              <a:spAutoFit/>
            </a:bodyPr>
            <a:lstStyle/>
            <a:p>
              <a:pPr marL="12700">
                <a:spcBef>
                  <a:spcPts val="95"/>
                </a:spcBef>
                <a:tabLst>
                  <a:tab pos="501015" algn="l"/>
                </a:tabLst>
                <a:defRPr/>
              </a:pPr>
              <a:r>
                <a:rPr sz="2000" b="1" spc="-5" dirty="0">
                  <a:solidFill>
                    <a:srgbClr val="00AF50"/>
                  </a:solidFill>
                  <a:cs typeface="Arial" panose="020B0604020202020204" pitchFamily="34" charset="0"/>
                </a:rPr>
                <a:t>//	Take</a:t>
              </a:r>
              <a:r>
                <a:rPr sz="2000" b="1" dirty="0">
                  <a:solidFill>
                    <a:srgbClr val="00AF50"/>
                  </a:solidFill>
                  <a:cs typeface="Arial" panose="020B0604020202020204" pitchFamily="34" charset="0"/>
                </a:rPr>
                <a:t> </a:t>
              </a:r>
              <a:r>
                <a:rPr sz="2000" b="1" spc="-5" dirty="0">
                  <a:solidFill>
                    <a:srgbClr val="00AF50"/>
                  </a:solidFill>
                  <a:cs typeface="Arial" panose="020B0604020202020204" pitchFamily="34" charset="0"/>
                </a:rPr>
                <a:t>action</a:t>
              </a:r>
              <a:r>
                <a:rPr sz="2000" b="1" spc="-20" dirty="0">
                  <a:solidFill>
                    <a:srgbClr val="00AF50"/>
                  </a:solidFill>
                  <a:cs typeface="Arial" panose="020B0604020202020204" pitchFamily="34" charset="0"/>
                </a:rPr>
                <a:t> </a:t>
              </a:r>
              <a:r>
                <a:rPr sz="2000" b="1" spc="-5" dirty="0">
                  <a:solidFill>
                    <a:srgbClr val="00AF50"/>
                  </a:solidFill>
                  <a:cs typeface="Arial" panose="020B0604020202020204" pitchFamily="34" charset="0"/>
                </a:rPr>
                <a:t>on</a:t>
              </a:r>
              <a:r>
                <a:rPr sz="2000" b="1" spc="-15" dirty="0">
                  <a:solidFill>
                    <a:srgbClr val="00AF50"/>
                  </a:solidFill>
                  <a:cs typeface="Arial" panose="020B0604020202020204" pitchFamily="34" charset="0"/>
                </a:rPr>
                <a:t> </a:t>
              </a:r>
              <a:r>
                <a:rPr sz="2000" b="1" dirty="0">
                  <a:solidFill>
                    <a:srgbClr val="00AF50"/>
                  </a:solidFill>
                  <a:cs typeface="Arial" panose="020B0604020202020204" pitchFamily="34" charset="0"/>
                </a:rPr>
                <a:t>all</a:t>
              </a:r>
              <a:r>
                <a:rPr sz="2000" b="1" spc="-20" dirty="0">
                  <a:solidFill>
                    <a:srgbClr val="00AF50"/>
                  </a:solidFill>
                  <a:cs typeface="Arial" panose="020B0604020202020204" pitchFamily="34" charset="0"/>
                </a:rPr>
                <a:t> </a:t>
              </a:r>
              <a:r>
                <a:rPr sz="2000" b="1" spc="-5" dirty="0">
                  <a:solidFill>
                    <a:srgbClr val="00AF50"/>
                  </a:solidFill>
                  <a:cs typeface="Arial" panose="020B0604020202020204" pitchFamily="34" charset="0"/>
                </a:rPr>
                <a:t>divisions</a:t>
              </a:r>
              <a:endParaRPr sz="2000">
                <a:cs typeface="Arial" panose="020B0604020202020204" pitchFamily="34" charset="0"/>
              </a:endParaRPr>
            </a:p>
            <a:p>
              <a:pPr marL="12700">
                <a:spcBef>
                  <a:spcPts val="1175"/>
                </a:spcBef>
                <a:tabLst>
                  <a:tab pos="501015" algn="l"/>
                </a:tabLst>
                <a:defRPr/>
              </a:pPr>
              <a:r>
                <a:rPr sz="2000" b="1" spc="-5" dirty="0">
                  <a:solidFill>
                    <a:srgbClr val="00AF50"/>
                  </a:solidFill>
                  <a:cs typeface="Arial" panose="020B0604020202020204" pitchFamily="34" charset="0"/>
                </a:rPr>
                <a:t>//	Take</a:t>
              </a:r>
              <a:r>
                <a:rPr sz="2000" b="1" spc="5" dirty="0">
                  <a:solidFill>
                    <a:srgbClr val="00AF50"/>
                  </a:solidFill>
                  <a:cs typeface="Arial" panose="020B0604020202020204" pitchFamily="34" charset="0"/>
                </a:rPr>
                <a:t> </a:t>
              </a:r>
              <a:r>
                <a:rPr sz="2000" b="1" spc="-5" dirty="0">
                  <a:solidFill>
                    <a:srgbClr val="00AF50"/>
                  </a:solidFill>
                  <a:cs typeface="Arial" panose="020B0604020202020204" pitchFamily="34" charset="0"/>
                </a:rPr>
                <a:t>action</a:t>
              </a:r>
              <a:r>
                <a:rPr sz="2000" b="1" spc="-15" dirty="0">
                  <a:solidFill>
                    <a:srgbClr val="00AF50"/>
                  </a:solidFill>
                  <a:cs typeface="Arial" panose="020B0604020202020204" pitchFamily="34" charset="0"/>
                </a:rPr>
                <a:t> </a:t>
              </a:r>
              <a:r>
                <a:rPr sz="2000" b="1" spc="-5" dirty="0">
                  <a:solidFill>
                    <a:srgbClr val="00AF50"/>
                  </a:solidFill>
                  <a:cs typeface="Arial" panose="020B0604020202020204" pitchFamily="34" charset="0"/>
                </a:rPr>
                <a:t>on</a:t>
              </a:r>
              <a:r>
                <a:rPr sz="2000" b="1" spc="-10" dirty="0">
                  <a:solidFill>
                    <a:srgbClr val="00AF50"/>
                  </a:solidFill>
                  <a:cs typeface="Arial" panose="020B0604020202020204" pitchFamily="34" charset="0"/>
                </a:rPr>
                <a:t> </a:t>
              </a:r>
              <a:r>
                <a:rPr sz="2000" b="1" dirty="0">
                  <a:solidFill>
                    <a:srgbClr val="00AF50"/>
                  </a:solidFill>
                  <a:cs typeface="Arial" panose="020B0604020202020204" pitchFamily="34" charset="0"/>
                </a:rPr>
                <a:t>all </a:t>
              </a:r>
              <a:r>
                <a:rPr sz="2000" b="1" spc="-5" dirty="0">
                  <a:solidFill>
                    <a:srgbClr val="00AF50"/>
                  </a:solidFill>
                  <a:cs typeface="Arial" panose="020B0604020202020204" pitchFamily="34" charset="0"/>
                </a:rPr>
                <a:t>abc</a:t>
              </a:r>
              <a:r>
                <a:rPr sz="2000" b="1" dirty="0">
                  <a:solidFill>
                    <a:srgbClr val="00AF50"/>
                  </a:solidFill>
                  <a:cs typeface="Arial" panose="020B0604020202020204" pitchFamily="34" charset="0"/>
                </a:rPr>
                <a:t> </a:t>
              </a:r>
              <a:r>
                <a:rPr sz="2000" b="1" spc="-5" dirty="0">
                  <a:solidFill>
                    <a:srgbClr val="00AF50"/>
                  </a:solidFill>
                  <a:cs typeface="Arial" panose="020B0604020202020204" pitchFamily="34" charset="0"/>
                </a:rPr>
                <a:t>class</a:t>
              </a:r>
              <a:endParaRPr sz="2000"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590B25-92C7-B4BB-95ED-8F47D3979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 err="1"/>
              <a:t>j</a:t>
            </a:r>
            <a:r>
              <a:rPr lang="en-US" dirty="0" err="1"/>
              <a:t>query</a:t>
            </a:r>
            <a:r>
              <a:rPr lang="en-US" dirty="0"/>
              <a:t> events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2ED44F-4A5B-BD7C-21B2-DE1B2726C5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9839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F7EBD8EA-4601-7DB0-3C5E-AFA4181D93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115888"/>
            <a:ext cx="8785225" cy="1143000"/>
          </a:xfr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12700">
              <a:defRPr/>
            </a:pPr>
            <a:r>
              <a:rPr dirty="0"/>
              <a:t>jQuery</a:t>
            </a:r>
            <a:r>
              <a:rPr spc="-40" dirty="0"/>
              <a:t> </a:t>
            </a:r>
            <a:r>
              <a:rPr lang="en-GB" spc="-10" dirty="0"/>
              <a:t>Ready</a:t>
            </a:r>
            <a:r>
              <a:rPr lang="en-GB" spc="-40" dirty="0"/>
              <a:t> </a:t>
            </a:r>
            <a:r>
              <a:rPr lang="en-GB" spc="-15" dirty="0"/>
              <a:t>Event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72B6C1D-5168-E1D1-B26B-0C835AF76852}"/>
              </a:ext>
            </a:extLst>
          </p:cNvPr>
          <p:cNvSpPr txBox="1"/>
          <p:nvPr/>
        </p:nvSpPr>
        <p:spPr bwMode="auto">
          <a:xfrm>
            <a:off x="103188" y="1556792"/>
            <a:ext cx="4351338" cy="43195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298450" indent="-28575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55650" indent="-28575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ea typeface="+mn-ea"/>
              </a:rPr>
              <a:t>Ensure  the DOM tree is fully created before </a:t>
            </a:r>
            <a:r>
              <a:rPr lang="en-US" altLang="en-US" sz="2000" dirty="0" err="1">
                <a:ea typeface="+mn-ea"/>
              </a:rPr>
              <a:t>utilising</a:t>
            </a:r>
            <a:r>
              <a:rPr lang="en-US" altLang="en-US" sz="2000" dirty="0">
                <a:ea typeface="+mn-ea"/>
              </a:rPr>
              <a:t> jQuery to access elements</a:t>
            </a:r>
          </a:p>
          <a:p>
            <a:pPr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ea typeface="+mn-ea"/>
              </a:rPr>
              <a:t>DOM tree is created using the “ready” event 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ea typeface="+mn-ea"/>
              </a:rPr>
              <a:t>If it is not created, following failures may happen:</a:t>
            </a:r>
          </a:p>
          <a:p>
            <a:pPr>
              <a:lnSpc>
                <a:spcPct val="90000"/>
              </a:lnSpc>
              <a:spcBef>
                <a:spcPts val="25"/>
              </a:spcBef>
              <a:buFont typeface="Arial" panose="020B0604020202020204" pitchFamily="34" charset="0"/>
              <a:buChar char="•"/>
            </a:pPr>
            <a:endParaRPr lang="en-US" altLang="en-US" sz="2000" dirty="0">
              <a:ea typeface="+mn-ea"/>
            </a:endParaRP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ea typeface="+mn-ea"/>
              </a:rPr>
              <a:t>Finding an element that is not created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ea typeface="+mn-ea"/>
              </a:rPr>
              <a:t>Hiding an element that is not created</a:t>
            </a:r>
          </a:p>
          <a:p>
            <a:pPr lvl="1">
              <a:lnSpc>
                <a:spcPct val="90000"/>
              </a:lnSpc>
              <a:spcBef>
                <a:spcPts val="25"/>
              </a:spcBef>
              <a:buFont typeface="Arial" panose="020B0604020202020204" pitchFamily="34" charset="0"/>
              <a:buChar char="•"/>
            </a:pPr>
            <a:endParaRPr lang="en-US" altLang="en-US" sz="2000" dirty="0">
              <a:ea typeface="+mn-ea"/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ea typeface="+mn-ea"/>
              </a:rPr>
              <a:t>jQuery detects the state of readiness of document then perform actions</a:t>
            </a:r>
          </a:p>
          <a:p>
            <a:pPr marL="355600" indent="-342900">
              <a:lnSpc>
                <a:spcPct val="90000"/>
              </a:lnSpc>
              <a:spcBef>
                <a:spcPts val="50"/>
              </a:spcBef>
              <a:buFont typeface="Wingdings" panose="05000000000000000000" pitchFamily="2" charset="2"/>
              <a:buChar char="q"/>
            </a:pPr>
            <a:endParaRPr lang="en-US" altLang="en-US" sz="1800" dirty="0">
              <a:ea typeface="+mn-ea"/>
            </a:endParaRPr>
          </a:p>
        </p:txBody>
      </p:sp>
      <p:pic>
        <p:nvPicPr>
          <p:cNvPr id="3" name="Picture 2" descr="A computer screen shot of text&#10;&#10;Description automatically generated">
            <a:extLst>
              <a:ext uri="{FF2B5EF4-FFF2-40B4-BE49-F238E27FC236}">
                <a16:creationId xmlns:a16="http://schemas.microsoft.com/office/drawing/2014/main" id="{F7D064BB-722C-298F-BF38-2265AA472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976" y="2060848"/>
            <a:ext cx="4568949" cy="345638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4D4625D9-ED4C-0575-B243-CF63DD5411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2422"/>
            <a:ext cx="8785225" cy="689932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dirty="0"/>
              <a:t>jQuery</a:t>
            </a:r>
            <a:r>
              <a:rPr spc="-45" dirty="0"/>
              <a:t> </a:t>
            </a:r>
            <a:r>
              <a:rPr lang="en-GB" spc="-45" dirty="0"/>
              <a:t>L</a:t>
            </a:r>
            <a:r>
              <a:rPr lang="en-GB" dirty="0"/>
              <a:t>oad</a:t>
            </a:r>
            <a:r>
              <a:rPr spc="-45" dirty="0"/>
              <a:t> </a:t>
            </a:r>
            <a:r>
              <a:rPr lang="en-GB" spc="-15" dirty="0"/>
              <a:t>E</a:t>
            </a:r>
            <a:r>
              <a:rPr spc="-15" dirty="0"/>
              <a:t>vent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2E4FEC0-8328-70CA-8DAC-54EABAE4295A}"/>
              </a:ext>
            </a:extLst>
          </p:cNvPr>
          <p:cNvSpPr txBox="1"/>
          <p:nvPr/>
        </p:nvSpPr>
        <p:spPr>
          <a:xfrm>
            <a:off x="179511" y="1468438"/>
            <a:ext cx="8708901" cy="1962589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>
            <a:lvl1pPr marL="298450" indent="-28575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Load event is used to detect when a specific element has completely loaded.</a:t>
            </a:r>
          </a:p>
          <a:p>
            <a:pPr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Useful for executing a function when an image, script, or </a:t>
            </a:r>
            <a:r>
              <a:rPr lang="en-US" altLang="en-US" sz="2000" dirty="0" err="1">
                <a:cs typeface="Arial" panose="020B0604020202020204" pitchFamily="34" charset="0"/>
              </a:rPr>
              <a:t>iframe</a:t>
            </a:r>
            <a:r>
              <a:rPr lang="en-US" altLang="en-US" sz="2000" dirty="0">
                <a:cs typeface="Arial" panose="020B0604020202020204" pitchFamily="34" charset="0"/>
              </a:rPr>
              <a:t> has been loaded.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altLang="en-US" sz="1600" dirty="0"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50"/>
              </a:spcBef>
              <a:buFont typeface="Wingdings" panose="05000000000000000000" pitchFamily="2" charset="2"/>
              <a:buChar char="q"/>
            </a:pPr>
            <a:endParaRPr lang="en-US" altLang="en-US" sz="1600" dirty="0"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C29CAE-B560-E2BB-040A-0C03F3E6E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2564904"/>
            <a:ext cx="4987700" cy="360175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BBF560B2-F3F7-3EF1-BB44-D6B8AF9984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2422"/>
            <a:ext cx="8785225" cy="689932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dirty="0"/>
              <a:t>jQuery</a:t>
            </a:r>
            <a:r>
              <a:rPr spc="-5" dirty="0"/>
              <a:t> </a:t>
            </a:r>
            <a:r>
              <a:rPr lang="en-GB" spc="-5" dirty="0"/>
              <a:t>Passing Named</a:t>
            </a:r>
            <a:r>
              <a:rPr lang="en-GB" spc="-15" dirty="0"/>
              <a:t> </a:t>
            </a:r>
            <a:r>
              <a:rPr lang="en-GB" spc="-5" dirty="0"/>
              <a:t>Functions</a:t>
            </a:r>
            <a:endParaRPr spc="-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0E5FE45-7EEF-010F-A55D-0CC7CA65488E}"/>
              </a:ext>
            </a:extLst>
          </p:cNvPr>
          <p:cNvSpPr txBox="1"/>
          <p:nvPr/>
        </p:nvSpPr>
        <p:spPr>
          <a:xfrm>
            <a:off x="827584" y="1495236"/>
            <a:ext cx="7626300" cy="751488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>
            <a:lvl1pPr marL="298450" indent="-28575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12700" indent="0">
              <a:spcBef>
                <a:spcPts val="100"/>
              </a:spcBef>
            </a:pPr>
            <a:r>
              <a:rPr lang="en-US" sz="2000" dirty="0">
                <a:solidFill>
                  <a:srgbClr val="374151"/>
                </a:solidFill>
                <a:cs typeface="Arial" panose="020B0604020202020204" pitchFamily="34" charset="0"/>
              </a:rPr>
              <a:t>D</a:t>
            </a:r>
            <a:r>
              <a:rPr lang="en-US" sz="2000" b="0" i="0" dirty="0">
                <a:solidFill>
                  <a:srgbClr val="374151"/>
                </a:solidFill>
                <a:effectLst/>
                <a:cs typeface="Arial" panose="020B0604020202020204" pitchFamily="34" charset="0"/>
              </a:rPr>
              <a:t>efine named functions and then use them as handlers for events</a:t>
            </a:r>
            <a:endParaRPr lang="en-US" altLang="en-US" sz="2000" dirty="0">
              <a:cs typeface="Arial" panose="020B0604020202020204" pitchFamily="34" charset="0"/>
            </a:endParaRPr>
          </a:p>
          <a:p>
            <a:endParaRPr lang="en-US" altLang="en-US" sz="2800" dirty="0"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01FFAF-85B5-0575-04A4-0F17F831F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1916832"/>
            <a:ext cx="5135625" cy="41764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79CC791-6431-1CEE-C87C-43CBC9E00E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115888"/>
            <a:ext cx="8785225" cy="1143000"/>
          </a:xfr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14604">
              <a:defRPr/>
            </a:pPr>
            <a:r>
              <a:rPr dirty="0"/>
              <a:t>jQuery</a:t>
            </a:r>
            <a:r>
              <a:rPr spc="-30" dirty="0"/>
              <a:t> </a:t>
            </a:r>
            <a:r>
              <a:rPr lang="en-GB" spc="-10" dirty="0"/>
              <a:t>n</a:t>
            </a:r>
            <a:r>
              <a:rPr spc="-10" dirty="0"/>
              <a:t>o</a:t>
            </a:r>
            <a:r>
              <a:rPr lang="en-GB" spc="-10" dirty="0"/>
              <a:t>C</a:t>
            </a:r>
            <a:r>
              <a:rPr spc="-10" dirty="0" err="1"/>
              <a:t>onflict</a:t>
            </a:r>
            <a:r>
              <a:rPr spc="-35" dirty="0"/>
              <a:t> </a:t>
            </a:r>
            <a:r>
              <a:rPr lang="en-GB" spc="-35" dirty="0"/>
              <a:t>M</a:t>
            </a:r>
            <a:r>
              <a:rPr dirty="0"/>
              <a:t>ode</a:t>
            </a:r>
            <a:endParaRPr lang="en-GB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0908A64-E757-790B-B350-5B4D77DC65EF}"/>
              </a:ext>
            </a:extLst>
          </p:cNvPr>
          <p:cNvSpPr txBox="1"/>
          <p:nvPr/>
        </p:nvSpPr>
        <p:spPr bwMode="auto">
          <a:xfrm>
            <a:off x="124049" y="1700808"/>
            <a:ext cx="4159919" cy="43195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98450" indent="-28575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55600" indent="-3429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200" dirty="0">
                <a:ea typeface="+mn-ea"/>
              </a:rPr>
              <a:t>By default, jQuery uses $ as a shortcut for jQuery</a:t>
            </a:r>
          </a:p>
          <a:p>
            <a:pPr marL="355600" indent="-342900">
              <a:lnSpc>
                <a:spcPct val="90000"/>
              </a:lnSpc>
              <a:spcBef>
                <a:spcPts val="38"/>
              </a:spcBef>
              <a:buFont typeface="Arial" panose="020B0604020202020204" pitchFamily="34" charset="0"/>
              <a:buChar char="•"/>
            </a:pPr>
            <a:endParaRPr lang="en-US" altLang="en-US" sz="2200" dirty="0">
              <a:ea typeface="+mn-ea"/>
            </a:endParaRPr>
          </a:p>
          <a:p>
            <a:pPr marL="3556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ea typeface="+mn-ea"/>
              </a:rPr>
              <a:t>If another JavaScript library uses the $ variable, creates  conflicts with jQuery</a:t>
            </a:r>
          </a:p>
          <a:p>
            <a:pPr marL="355600" indent="-342900">
              <a:lnSpc>
                <a:spcPct val="90000"/>
              </a:lnSpc>
              <a:spcBef>
                <a:spcPts val="25"/>
              </a:spcBef>
              <a:buFont typeface="Arial" panose="020B0604020202020204" pitchFamily="34" charset="0"/>
              <a:buChar char="•"/>
            </a:pPr>
            <a:endParaRPr lang="en-US" altLang="en-US" sz="2200" dirty="0">
              <a:ea typeface="+mn-ea"/>
            </a:endParaRPr>
          </a:p>
          <a:p>
            <a:pPr marL="3556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ea typeface="+mn-ea"/>
              </a:rPr>
              <a:t>To avoid these conflicts, put jQuery in </a:t>
            </a:r>
            <a:r>
              <a:rPr lang="en-US" altLang="en-US" sz="2200" b="1" dirty="0">
                <a:solidFill>
                  <a:schemeClr val="accent6"/>
                </a:solidFill>
                <a:ea typeface="+mn-ea"/>
              </a:rPr>
              <a:t>no-conflict mode </a:t>
            </a:r>
            <a:r>
              <a:rPr lang="en-US" altLang="en-US" sz="2200" dirty="0">
                <a:ea typeface="+mn-ea"/>
              </a:rPr>
              <a:t>immediately after it is loaded onto the page and before attempt to use jQuery in the page</a:t>
            </a:r>
          </a:p>
        </p:txBody>
      </p:sp>
      <p:pic>
        <p:nvPicPr>
          <p:cNvPr id="5" name="Picture 4" descr="A computer screen shot of code&#10;&#10;Description automatically generated">
            <a:extLst>
              <a:ext uri="{FF2B5EF4-FFF2-40B4-BE49-F238E27FC236}">
                <a16:creationId xmlns:a16="http://schemas.microsoft.com/office/drawing/2014/main" id="{C9198A09-DA63-04AC-D5AE-2E60B8F93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969" y="1460760"/>
            <a:ext cx="4735982" cy="455963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DFCA7E0-2140-ABEB-1C71-5CCFFD986A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2422"/>
            <a:ext cx="8785225" cy="689932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lang="en-US" spc="-10" dirty="0"/>
              <a:t>Selectors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5A99F59-56D7-CD55-F50D-1E0D64B6C56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48393" y="1484784"/>
            <a:ext cx="8698168" cy="4567276"/>
          </a:xfrm>
        </p:spPr>
        <p:txBody>
          <a:bodyPr wrap="square" lIns="0" tIns="12065" rIns="0" bIns="0">
            <a:spAutoFit/>
          </a:bodyPr>
          <a:lstStyle/>
          <a:p>
            <a:pPr marL="3549650" indent="-285750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549650" algn="l"/>
              </a:tabLst>
            </a:pP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Selectors are the most basic concept of jQuery</a:t>
            </a:r>
          </a:p>
          <a:p>
            <a:pPr marL="3549650" indent="-285750">
              <a:spcBef>
                <a:spcPts val="25"/>
              </a:spcBef>
              <a:buFont typeface="Arial" panose="020B0604020202020204" pitchFamily="34" charset="0"/>
              <a:buChar char="•"/>
              <a:tabLst>
                <a:tab pos="3549650" algn="l"/>
              </a:tabLst>
            </a:pPr>
            <a:endParaRPr lang="en-US" altLang="en-US" sz="200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0" indent="-285750">
              <a:buFont typeface="Arial" panose="020B0604020202020204" pitchFamily="34" charset="0"/>
              <a:buChar char="•"/>
              <a:tabLst>
                <a:tab pos="3549650" algn="l"/>
              </a:tabLst>
            </a:pP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the name of jQuery implies - </a:t>
            </a:r>
            <a:r>
              <a:rPr lang="en-US" altLang="en-US" sz="2000" b="1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some elements and do something with them</a:t>
            </a:r>
          </a:p>
          <a:p>
            <a:pPr marL="3549650" indent="-285750">
              <a:spcBef>
                <a:spcPts val="25"/>
              </a:spcBef>
              <a:buFont typeface="Arial" panose="020B0604020202020204" pitchFamily="34" charset="0"/>
              <a:buChar char="•"/>
              <a:tabLst>
                <a:tab pos="3549650" algn="l"/>
              </a:tabLst>
            </a:pPr>
            <a:endParaRPr lang="en-US" altLang="en-US" sz="200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0" indent="-285750">
              <a:buFont typeface="Arial" panose="020B0604020202020204" pitchFamily="34" charset="0"/>
              <a:buChar char="•"/>
              <a:tabLst>
                <a:tab pos="3549650" algn="l"/>
              </a:tabLst>
            </a:pP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jQuery supports most CSS3 selectors, as well as some  non-standard selectors</a:t>
            </a:r>
          </a:p>
          <a:p>
            <a:pPr marL="3549650" indent="-285750">
              <a:spcBef>
                <a:spcPts val="25"/>
              </a:spcBef>
              <a:buFont typeface="Arial" panose="020B0604020202020204" pitchFamily="34" charset="0"/>
              <a:buChar char="•"/>
              <a:tabLst>
                <a:tab pos="3549650" algn="l"/>
              </a:tabLst>
            </a:pPr>
            <a:endParaRPr lang="en-US" altLang="en-US" sz="200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0" indent="-285750">
              <a:buFont typeface="Arial" panose="020B0604020202020204" pitchFamily="34" charset="0"/>
              <a:buChar char="•"/>
              <a:tabLst>
                <a:tab pos="3549650" algn="l"/>
              </a:tabLst>
            </a:pP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Combination of selectors provides an easy way to  modify / manipulate HTML elements</a:t>
            </a:r>
          </a:p>
          <a:p>
            <a:pPr marL="3549650" indent="-285750">
              <a:spcBef>
                <a:spcPts val="25"/>
              </a:spcBef>
              <a:buFont typeface="Arial" panose="020B0604020202020204" pitchFamily="34" charset="0"/>
              <a:buChar char="•"/>
              <a:tabLst>
                <a:tab pos="3549650" algn="l"/>
              </a:tabLst>
            </a:pPr>
            <a:endParaRPr lang="en-US" altLang="en-US" sz="200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0" indent="-285750">
              <a:buFont typeface="Arial" panose="020B0604020202020204" pitchFamily="34" charset="0"/>
              <a:buChar char="•"/>
              <a:tabLst>
                <a:tab pos="3549650" algn="l"/>
              </a:tabLst>
            </a:pP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selectors in jQuery start with the dollar sign and parentheses $() followed by action </a:t>
            </a:r>
          </a:p>
        </p:txBody>
      </p:sp>
      <p:grpSp>
        <p:nvGrpSpPr>
          <p:cNvPr id="26628" name="object 4">
            <a:extLst>
              <a:ext uri="{FF2B5EF4-FFF2-40B4-BE49-F238E27FC236}">
                <a16:creationId xmlns:a16="http://schemas.microsoft.com/office/drawing/2014/main" id="{DBD3BFC6-7D87-6453-02BA-75CDB3C64F02}"/>
              </a:ext>
            </a:extLst>
          </p:cNvPr>
          <p:cNvGrpSpPr>
            <a:grpSpLocks/>
          </p:cNvGrpSpPr>
          <p:nvPr/>
        </p:nvGrpSpPr>
        <p:grpSpPr bwMode="auto">
          <a:xfrm>
            <a:off x="295275" y="2430463"/>
            <a:ext cx="3208338" cy="2074862"/>
            <a:chOff x="295656" y="1572767"/>
            <a:chExt cx="3208020" cy="2075814"/>
          </a:xfrm>
        </p:grpSpPr>
        <p:pic>
          <p:nvPicPr>
            <p:cNvPr id="26629" name="object 5">
              <a:extLst>
                <a:ext uri="{FF2B5EF4-FFF2-40B4-BE49-F238E27FC236}">
                  <a16:creationId xmlns:a16="http://schemas.microsoft.com/office/drawing/2014/main" id="{AB4B3E75-66E3-90B3-E6D3-EF19477161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970" y="1689925"/>
              <a:ext cx="3040534" cy="1764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630" name="object 6">
              <a:extLst>
                <a:ext uri="{FF2B5EF4-FFF2-40B4-BE49-F238E27FC236}">
                  <a16:creationId xmlns:a16="http://schemas.microsoft.com/office/drawing/2014/main" id="{F4F8CEFD-C0E0-4330-E7EC-8A4A0F44F0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28" y="1577339"/>
              <a:ext cx="3199130" cy="2066925"/>
            </a:xfrm>
            <a:custGeom>
              <a:avLst/>
              <a:gdLst>
                <a:gd name="T0" fmla="*/ 0 w 3199129"/>
                <a:gd name="T1" fmla="*/ 2066544 h 2066925"/>
                <a:gd name="T2" fmla="*/ 3198876 w 3199129"/>
                <a:gd name="T3" fmla="*/ 2066544 h 2066925"/>
                <a:gd name="T4" fmla="*/ 3198876 w 3199129"/>
                <a:gd name="T5" fmla="*/ 0 h 2066925"/>
                <a:gd name="T6" fmla="*/ 0 w 3199129"/>
                <a:gd name="T7" fmla="*/ 0 h 2066925"/>
                <a:gd name="T8" fmla="*/ 0 w 3199129"/>
                <a:gd name="T9" fmla="*/ 2066544 h 20669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99129" h="2066925">
                  <a:moveTo>
                    <a:pt x="0" y="2066544"/>
                  </a:moveTo>
                  <a:lnTo>
                    <a:pt x="3198876" y="2066544"/>
                  </a:lnTo>
                  <a:lnTo>
                    <a:pt x="3198876" y="0"/>
                  </a:lnTo>
                  <a:lnTo>
                    <a:pt x="0" y="0"/>
                  </a:lnTo>
                  <a:lnTo>
                    <a:pt x="0" y="2066544"/>
                  </a:lnTo>
                  <a:close/>
                </a:path>
              </a:pathLst>
            </a:custGeom>
            <a:noFill/>
            <a:ln w="9144">
              <a:solidFill>
                <a:srgbClr val="7E7E7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CBE7CB8E-4BA7-2B07-D893-1733FF91F8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2422"/>
            <a:ext cx="8785225" cy="689932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lang="en-US" spc="-10" dirty="0"/>
              <a:t>Selectors - Example</a:t>
            </a:r>
            <a:endParaRPr spc="-1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627AA3-3D8B-5BDB-A38E-DD7BBA729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1340768"/>
            <a:ext cx="4392488" cy="482453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object 2">
            <a:extLst>
              <a:ext uri="{FF2B5EF4-FFF2-40B4-BE49-F238E27FC236}">
                <a16:creationId xmlns:a16="http://schemas.microsoft.com/office/drawing/2014/main" id="{329D15B5-FC11-BEED-3CFB-051A92EB96B9}"/>
              </a:ext>
            </a:extLst>
          </p:cNvPr>
          <p:cNvGrpSpPr>
            <a:grpSpLocks/>
          </p:cNvGrpSpPr>
          <p:nvPr/>
        </p:nvGrpSpPr>
        <p:grpSpPr bwMode="auto">
          <a:xfrm>
            <a:off x="222250" y="1219200"/>
            <a:ext cx="8921750" cy="4114800"/>
            <a:chOff x="222250" y="362711"/>
            <a:chExt cx="8921750" cy="4114800"/>
          </a:xfrm>
        </p:grpSpPr>
        <p:sp>
          <p:nvSpPr>
            <p:cNvPr id="28698" name="object 3">
              <a:extLst>
                <a:ext uri="{FF2B5EF4-FFF2-40B4-BE49-F238E27FC236}">
                  <a16:creationId xmlns:a16="http://schemas.microsoft.com/office/drawing/2014/main" id="{E9808043-5E32-DFD9-D876-30CA9FD190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600" y="594093"/>
              <a:ext cx="8626475" cy="3823335"/>
            </a:xfrm>
            <a:custGeom>
              <a:avLst/>
              <a:gdLst>
                <a:gd name="T0" fmla="*/ 8626475 w 8626475"/>
                <a:gd name="T1" fmla="*/ 2808579 h 3823335"/>
                <a:gd name="T2" fmla="*/ 2362200 w 8626475"/>
                <a:gd name="T3" fmla="*/ 2808579 h 3823335"/>
                <a:gd name="T4" fmla="*/ 0 w 8626475"/>
                <a:gd name="T5" fmla="*/ 2808579 h 3823335"/>
                <a:gd name="T6" fmla="*/ 0 w 8626475"/>
                <a:gd name="T7" fmla="*/ 3146641 h 3823335"/>
                <a:gd name="T8" fmla="*/ 0 w 8626475"/>
                <a:gd name="T9" fmla="*/ 3484753 h 3823335"/>
                <a:gd name="T10" fmla="*/ 0 w 8626475"/>
                <a:gd name="T11" fmla="*/ 3822865 h 3823335"/>
                <a:gd name="T12" fmla="*/ 2362200 w 8626475"/>
                <a:gd name="T13" fmla="*/ 3822865 h 3823335"/>
                <a:gd name="T14" fmla="*/ 8626475 w 8626475"/>
                <a:gd name="T15" fmla="*/ 3822865 h 3823335"/>
                <a:gd name="T16" fmla="*/ 8626475 w 8626475"/>
                <a:gd name="T17" fmla="*/ 3484753 h 3823335"/>
                <a:gd name="T18" fmla="*/ 8626475 w 8626475"/>
                <a:gd name="T19" fmla="*/ 3146691 h 3823335"/>
                <a:gd name="T20" fmla="*/ 8626475 w 8626475"/>
                <a:gd name="T21" fmla="*/ 2808579 h 3823335"/>
                <a:gd name="T22" fmla="*/ 8626475 w 8626475"/>
                <a:gd name="T23" fmla="*/ 1456156 h 3823335"/>
                <a:gd name="T24" fmla="*/ 2362200 w 8626475"/>
                <a:gd name="T25" fmla="*/ 1456156 h 3823335"/>
                <a:gd name="T26" fmla="*/ 0 w 8626475"/>
                <a:gd name="T27" fmla="*/ 1456156 h 3823335"/>
                <a:gd name="T28" fmla="*/ 0 w 8626475"/>
                <a:gd name="T29" fmla="*/ 1794243 h 3823335"/>
                <a:gd name="T30" fmla="*/ 0 w 8626475"/>
                <a:gd name="T31" fmla="*/ 2808490 h 3823335"/>
                <a:gd name="T32" fmla="*/ 2362200 w 8626475"/>
                <a:gd name="T33" fmla="*/ 2808490 h 3823335"/>
                <a:gd name="T34" fmla="*/ 8626475 w 8626475"/>
                <a:gd name="T35" fmla="*/ 2808490 h 3823335"/>
                <a:gd name="T36" fmla="*/ 8626475 w 8626475"/>
                <a:gd name="T37" fmla="*/ 2470416 h 3823335"/>
                <a:gd name="T38" fmla="*/ 8626475 w 8626475"/>
                <a:gd name="T39" fmla="*/ 2132342 h 3823335"/>
                <a:gd name="T40" fmla="*/ 8626475 w 8626475"/>
                <a:gd name="T41" fmla="*/ 1794268 h 3823335"/>
                <a:gd name="T42" fmla="*/ 8626475 w 8626475"/>
                <a:gd name="T43" fmla="*/ 1456156 h 3823335"/>
                <a:gd name="T44" fmla="*/ 8626475 w 8626475"/>
                <a:gd name="T45" fmla="*/ 753033 h 3823335"/>
                <a:gd name="T46" fmla="*/ 2362200 w 8626475"/>
                <a:gd name="T47" fmla="*/ 753033 h 3823335"/>
                <a:gd name="T48" fmla="*/ 0 w 8626475"/>
                <a:gd name="T49" fmla="*/ 753033 h 3823335"/>
                <a:gd name="T50" fmla="*/ 0 w 8626475"/>
                <a:gd name="T51" fmla="*/ 1117955 h 3823335"/>
                <a:gd name="T52" fmla="*/ 0 w 8626475"/>
                <a:gd name="T53" fmla="*/ 1456067 h 3823335"/>
                <a:gd name="T54" fmla="*/ 2362200 w 8626475"/>
                <a:gd name="T55" fmla="*/ 1456067 h 3823335"/>
                <a:gd name="T56" fmla="*/ 8626475 w 8626475"/>
                <a:gd name="T57" fmla="*/ 1456067 h 3823335"/>
                <a:gd name="T58" fmla="*/ 8626475 w 8626475"/>
                <a:gd name="T59" fmla="*/ 1117993 h 3823335"/>
                <a:gd name="T60" fmla="*/ 8626475 w 8626475"/>
                <a:gd name="T61" fmla="*/ 753033 h 3823335"/>
                <a:gd name="T62" fmla="*/ 8626475 w 8626475"/>
                <a:gd name="T63" fmla="*/ 0 h 3823335"/>
                <a:gd name="T64" fmla="*/ 2362200 w 8626475"/>
                <a:gd name="T65" fmla="*/ 0 h 3823335"/>
                <a:gd name="T66" fmla="*/ 0 w 8626475"/>
                <a:gd name="T67" fmla="*/ 0 h 3823335"/>
                <a:gd name="T68" fmla="*/ 0 w 8626475"/>
                <a:gd name="T69" fmla="*/ 414883 h 3823335"/>
                <a:gd name="T70" fmla="*/ 0 w 8626475"/>
                <a:gd name="T71" fmla="*/ 752995 h 3823335"/>
                <a:gd name="T72" fmla="*/ 2362200 w 8626475"/>
                <a:gd name="T73" fmla="*/ 752995 h 3823335"/>
                <a:gd name="T74" fmla="*/ 8626475 w 8626475"/>
                <a:gd name="T75" fmla="*/ 752995 h 3823335"/>
                <a:gd name="T76" fmla="*/ 8626475 w 8626475"/>
                <a:gd name="T77" fmla="*/ 414921 h 3823335"/>
                <a:gd name="T78" fmla="*/ 8626475 w 8626475"/>
                <a:gd name="T79" fmla="*/ 0 h 3823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8626475" h="3823335">
                  <a:moveTo>
                    <a:pt x="8626475" y="2808579"/>
                  </a:moveTo>
                  <a:lnTo>
                    <a:pt x="2362200" y="2808579"/>
                  </a:lnTo>
                  <a:lnTo>
                    <a:pt x="0" y="2808579"/>
                  </a:lnTo>
                  <a:lnTo>
                    <a:pt x="0" y="3146641"/>
                  </a:lnTo>
                  <a:lnTo>
                    <a:pt x="0" y="3484753"/>
                  </a:lnTo>
                  <a:lnTo>
                    <a:pt x="0" y="3822865"/>
                  </a:lnTo>
                  <a:lnTo>
                    <a:pt x="2362200" y="3822865"/>
                  </a:lnTo>
                  <a:lnTo>
                    <a:pt x="8626475" y="3822865"/>
                  </a:lnTo>
                  <a:lnTo>
                    <a:pt x="8626475" y="3484753"/>
                  </a:lnTo>
                  <a:lnTo>
                    <a:pt x="8626475" y="3146691"/>
                  </a:lnTo>
                  <a:lnTo>
                    <a:pt x="8626475" y="2808579"/>
                  </a:lnTo>
                  <a:close/>
                </a:path>
                <a:path w="8626475" h="3823335">
                  <a:moveTo>
                    <a:pt x="8626475" y="1456156"/>
                  </a:moveTo>
                  <a:lnTo>
                    <a:pt x="2362200" y="1456156"/>
                  </a:lnTo>
                  <a:lnTo>
                    <a:pt x="0" y="1456156"/>
                  </a:lnTo>
                  <a:lnTo>
                    <a:pt x="0" y="1794243"/>
                  </a:lnTo>
                  <a:lnTo>
                    <a:pt x="0" y="2808490"/>
                  </a:lnTo>
                  <a:lnTo>
                    <a:pt x="2362200" y="2808490"/>
                  </a:lnTo>
                  <a:lnTo>
                    <a:pt x="8626475" y="2808490"/>
                  </a:lnTo>
                  <a:lnTo>
                    <a:pt x="8626475" y="2470416"/>
                  </a:lnTo>
                  <a:lnTo>
                    <a:pt x="8626475" y="2132342"/>
                  </a:lnTo>
                  <a:lnTo>
                    <a:pt x="8626475" y="1794268"/>
                  </a:lnTo>
                  <a:lnTo>
                    <a:pt x="8626475" y="1456156"/>
                  </a:lnTo>
                  <a:close/>
                </a:path>
                <a:path w="8626475" h="3823335">
                  <a:moveTo>
                    <a:pt x="8626475" y="753033"/>
                  </a:moveTo>
                  <a:lnTo>
                    <a:pt x="2362200" y="753033"/>
                  </a:lnTo>
                  <a:lnTo>
                    <a:pt x="0" y="753033"/>
                  </a:lnTo>
                  <a:lnTo>
                    <a:pt x="0" y="1117955"/>
                  </a:lnTo>
                  <a:lnTo>
                    <a:pt x="0" y="1456067"/>
                  </a:lnTo>
                  <a:lnTo>
                    <a:pt x="2362200" y="1456067"/>
                  </a:lnTo>
                  <a:lnTo>
                    <a:pt x="8626475" y="1456067"/>
                  </a:lnTo>
                  <a:lnTo>
                    <a:pt x="8626475" y="1117993"/>
                  </a:lnTo>
                  <a:lnTo>
                    <a:pt x="8626475" y="753033"/>
                  </a:lnTo>
                  <a:close/>
                </a:path>
                <a:path w="8626475" h="3823335">
                  <a:moveTo>
                    <a:pt x="8626475" y="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414883"/>
                  </a:lnTo>
                  <a:lnTo>
                    <a:pt x="0" y="752995"/>
                  </a:lnTo>
                  <a:lnTo>
                    <a:pt x="2362200" y="752995"/>
                  </a:lnTo>
                  <a:lnTo>
                    <a:pt x="8626475" y="752995"/>
                  </a:lnTo>
                  <a:lnTo>
                    <a:pt x="8626475" y="414921"/>
                  </a:lnTo>
                  <a:lnTo>
                    <a:pt x="8626475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GB" sz="4400" dirty="0"/>
            </a:p>
          </p:txBody>
        </p:sp>
        <p:sp>
          <p:nvSpPr>
            <p:cNvPr id="28699" name="object 4">
              <a:extLst>
                <a:ext uri="{FF2B5EF4-FFF2-40B4-BE49-F238E27FC236}">
                  <a16:creationId xmlns:a16="http://schemas.microsoft.com/office/drawing/2014/main" id="{DD50572F-B322-D310-AB05-BB58C13877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250" y="587755"/>
              <a:ext cx="8639175" cy="3836035"/>
            </a:xfrm>
            <a:custGeom>
              <a:avLst/>
              <a:gdLst>
                <a:gd name="T0" fmla="*/ 2368550 w 8639175"/>
                <a:gd name="T1" fmla="*/ 0 h 3836035"/>
                <a:gd name="T2" fmla="*/ 2368550 w 8639175"/>
                <a:gd name="T3" fmla="*/ 3835552 h 3836035"/>
                <a:gd name="T4" fmla="*/ 0 w 8639175"/>
                <a:gd name="T5" fmla="*/ 421259 h 3836035"/>
                <a:gd name="T6" fmla="*/ 8639175 w 8639175"/>
                <a:gd name="T7" fmla="*/ 421259 h 3836035"/>
                <a:gd name="T8" fmla="*/ 0 w 8639175"/>
                <a:gd name="T9" fmla="*/ 759333 h 3836035"/>
                <a:gd name="T10" fmla="*/ 8639175 w 8639175"/>
                <a:gd name="T11" fmla="*/ 759333 h 3836035"/>
                <a:gd name="T12" fmla="*/ 0 w 8639175"/>
                <a:gd name="T13" fmla="*/ 1124331 h 3836035"/>
                <a:gd name="T14" fmla="*/ 8639175 w 8639175"/>
                <a:gd name="T15" fmla="*/ 1124331 h 3836035"/>
                <a:gd name="T16" fmla="*/ 0 w 8639175"/>
                <a:gd name="T17" fmla="*/ 1462405 h 3836035"/>
                <a:gd name="T18" fmla="*/ 8639175 w 8639175"/>
                <a:gd name="T19" fmla="*/ 1462405 h 3836035"/>
                <a:gd name="T20" fmla="*/ 0 w 8639175"/>
                <a:gd name="T21" fmla="*/ 1800606 h 3836035"/>
                <a:gd name="T22" fmla="*/ 8639175 w 8639175"/>
                <a:gd name="T23" fmla="*/ 1800606 h 3836035"/>
                <a:gd name="T24" fmla="*/ 0 w 8639175"/>
                <a:gd name="T25" fmla="*/ 2138680 h 3836035"/>
                <a:gd name="T26" fmla="*/ 8639175 w 8639175"/>
                <a:gd name="T27" fmla="*/ 2138680 h 3836035"/>
                <a:gd name="T28" fmla="*/ 0 w 8639175"/>
                <a:gd name="T29" fmla="*/ 2476754 h 3836035"/>
                <a:gd name="T30" fmla="*/ 8639175 w 8639175"/>
                <a:gd name="T31" fmla="*/ 2476754 h 3836035"/>
                <a:gd name="T32" fmla="*/ 0 w 8639175"/>
                <a:gd name="T33" fmla="*/ 2814828 h 3836035"/>
                <a:gd name="T34" fmla="*/ 8639175 w 8639175"/>
                <a:gd name="T35" fmla="*/ 2814828 h 3836035"/>
                <a:gd name="T36" fmla="*/ 0 w 8639175"/>
                <a:gd name="T37" fmla="*/ 3153029 h 3836035"/>
                <a:gd name="T38" fmla="*/ 8639175 w 8639175"/>
                <a:gd name="T39" fmla="*/ 3153029 h 3836035"/>
                <a:gd name="T40" fmla="*/ 0 w 8639175"/>
                <a:gd name="T41" fmla="*/ 3491090 h 3836035"/>
                <a:gd name="T42" fmla="*/ 8639175 w 8639175"/>
                <a:gd name="T43" fmla="*/ 3491090 h 3836035"/>
                <a:gd name="T44" fmla="*/ 6350 w 8639175"/>
                <a:gd name="T45" fmla="*/ 0 h 3836035"/>
                <a:gd name="T46" fmla="*/ 6350 w 8639175"/>
                <a:gd name="T47" fmla="*/ 3835552 h 3836035"/>
                <a:gd name="T48" fmla="*/ 8632825 w 8639175"/>
                <a:gd name="T49" fmla="*/ 0 h 3836035"/>
                <a:gd name="T50" fmla="*/ 8632825 w 8639175"/>
                <a:gd name="T51" fmla="*/ 3835552 h 3836035"/>
                <a:gd name="T52" fmla="*/ 0 w 8639175"/>
                <a:gd name="T53" fmla="*/ 6350 h 3836035"/>
                <a:gd name="T54" fmla="*/ 8639175 w 8639175"/>
                <a:gd name="T55" fmla="*/ 6350 h 3836035"/>
                <a:gd name="T56" fmla="*/ 0 w 8639175"/>
                <a:gd name="T57" fmla="*/ 3829202 h 3836035"/>
                <a:gd name="T58" fmla="*/ 8639175 w 8639175"/>
                <a:gd name="T59" fmla="*/ 3829202 h 38360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639175" h="3836035">
                  <a:moveTo>
                    <a:pt x="2368550" y="0"/>
                  </a:moveTo>
                  <a:lnTo>
                    <a:pt x="2368550" y="3835552"/>
                  </a:lnTo>
                </a:path>
                <a:path w="8639175" h="3836035">
                  <a:moveTo>
                    <a:pt x="0" y="421259"/>
                  </a:moveTo>
                  <a:lnTo>
                    <a:pt x="8639175" y="421259"/>
                  </a:lnTo>
                </a:path>
                <a:path w="8639175" h="3836035">
                  <a:moveTo>
                    <a:pt x="0" y="759333"/>
                  </a:moveTo>
                  <a:lnTo>
                    <a:pt x="8639175" y="759333"/>
                  </a:lnTo>
                </a:path>
                <a:path w="8639175" h="3836035">
                  <a:moveTo>
                    <a:pt x="0" y="1124331"/>
                  </a:moveTo>
                  <a:lnTo>
                    <a:pt x="8639175" y="1124331"/>
                  </a:lnTo>
                </a:path>
                <a:path w="8639175" h="3836035">
                  <a:moveTo>
                    <a:pt x="0" y="1462405"/>
                  </a:moveTo>
                  <a:lnTo>
                    <a:pt x="8639175" y="1462405"/>
                  </a:lnTo>
                </a:path>
                <a:path w="8639175" h="3836035">
                  <a:moveTo>
                    <a:pt x="0" y="1800606"/>
                  </a:moveTo>
                  <a:lnTo>
                    <a:pt x="8639175" y="1800606"/>
                  </a:lnTo>
                </a:path>
                <a:path w="8639175" h="3836035">
                  <a:moveTo>
                    <a:pt x="0" y="2138680"/>
                  </a:moveTo>
                  <a:lnTo>
                    <a:pt x="8639175" y="2138680"/>
                  </a:lnTo>
                </a:path>
                <a:path w="8639175" h="3836035">
                  <a:moveTo>
                    <a:pt x="0" y="2476754"/>
                  </a:moveTo>
                  <a:lnTo>
                    <a:pt x="8639175" y="2476754"/>
                  </a:lnTo>
                </a:path>
                <a:path w="8639175" h="3836035">
                  <a:moveTo>
                    <a:pt x="0" y="2814828"/>
                  </a:moveTo>
                  <a:lnTo>
                    <a:pt x="8639175" y="2814828"/>
                  </a:lnTo>
                </a:path>
                <a:path w="8639175" h="3836035">
                  <a:moveTo>
                    <a:pt x="0" y="3153029"/>
                  </a:moveTo>
                  <a:lnTo>
                    <a:pt x="8639175" y="3153029"/>
                  </a:lnTo>
                </a:path>
                <a:path w="8639175" h="3836035">
                  <a:moveTo>
                    <a:pt x="0" y="3491090"/>
                  </a:moveTo>
                  <a:lnTo>
                    <a:pt x="8639175" y="3491090"/>
                  </a:lnTo>
                </a:path>
                <a:path w="8639175" h="3836035">
                  <a:moveTo>
                    <a:pt x="6350" y="0"/>
                  </a:moveTo>
                  <a:lnTo>
                    <a:pt x="6350" y="3835552"/>
                  </a:lnTo>
                </a:path>
                <a:path w="8639175" h="3836035">
                  <a:moveTo>
                    <a:pt x="8632825" y="0"/>
                  </a:moveTo>
                  <a:lnTo>
                    <a:pt x="8632825" y="3835552"/>
                  </a:lnTo>
                </a:path>
                <a:path w="8639175" h="3836035">
                  <a:moveTo>
                    <a:pt x="0" y="6350"/>
                  </a:moveTo>
                  <a:lnTo>
                    <a:pt x="8639175" y="6350"/>
                  </a:lnTo>
                </a:path>
                <a:path w="8639175" h="3836035">
                  <a:moveTo>
                    <a:pt x="0" y="3829202"/>
                  </a:moveTo>
                  <a:lnTo>
                    <a:pt x="8639175" y="3829202"/>
                  </a:lnTo>
                </a:path>
              </a:pathLst>
            </a:custGeom>
            <a:noFill/>
            <a:ln w="127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GB" sz="4400"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3106B3EE-0F2C-60DF-BFA5-8664DC211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2422"/>
            <a:ext cx="8785225" cy="689932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pc="-5" dirty="0"/>
              <a:t>Element</a:t>
            </a:r>
            <a:r>
              <a:rPr spc="-80" dirty="0"/>
              <a:t> </a:t>
            </a:r>
            <a:r>
              <a:rPr lang="en-GB" spc="-10" dirty="0"/>
              <a:t>S</a:t>
            </a:r>
            <a:r>
              <a:rPr spc="-10" dirty="0"/>
              <a:t>electors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2A3EE71-5425-9651-6450-10A9529BA2A2}"/>
              </a:ext>
            </a:extLst>
          </p:cNvPr>
          <p:cNvSpPr txBox="1"/>
          <p:nvPr/>
        </p:nvSpPr>
        <p:spPr>
          <a:xfrm>
            <a:off x="306388" y="1495425"/>
            <a:ext cx="800100" cy="300038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1800" b="1" spc="-5" dirty="0">
                <a:latin typeface="Calibri"/>
                <a:cs typeface="Calibri"/>
              </a:rPr>
              <a:t>Selector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174E025-9EBA-0A4E-FA99-E0E27075768A}"/>
              </a:ext>
            </a:extLst>
          </p:cNvPr>
          <p:cNvSpPr txBox="1"/>
          <p:nvPr/>
        </p:nvSpPr>
        <p:spPr>
          <a:xfrm>
            <a:off x="2668588" y="1497013"/>
            <a:ext cx="1112837" cy="300037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1800" b="1" spc="-5" dirty="0">
                <a:latin typeface="Calibri"/>
                <a:cs typeface="Calibri"/>
              </a:rPr>
              <a:t>Description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6D1219E6-4A3D-3A1B-5CE6-455CC287C11A}"/>
              </a:ext>
            </a:extLst>
          </p:cNvPr>
          <p:cNvSpPr txBox="1"/>
          <p:nvPr/>
        </p:nvSpPr>
        <p:spPr>
          <a:xfrm>
            <a:off x="306388" y="1882775"/>
            <a:ext cx="758825" cy="257175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1600" b="1" spc="-5" dirty="0">
                <a:solidFill>
                  <a:srgbClr val="DB0961"/>
                </a:solidFill>
                <a:latin typeface="Courier New"/>
                <a:cs typeface="Courier New"/>
              </a:rPr>
              <a:t>$("*")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D817891A-93AF-2C01-0EC7-6FDD1085993C}"/>
              </a:ext>
            </a:extLst>
          </p:cNvPr>
          <p:cNvSpPr txBox="1"/>
          <p:nvPr/>
        </p:nvSpPr>
        <p:spPr>
          <a:xfrm>
            <a:off x="2668588" y="1889125"/>
            <a:ext cx="1643062" cy="258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1600" spc="-10" dirty="0">
                <a:latin typeface="Calibri"/>
                <a:cs typeface="Calibri"/>
              </a:rPr>
              <a:t>Selects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all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elements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4BCB1C0D-2A66-C552-5CDF-AE3D23FE0ED5}"/>
              </a:ext>
            </a:extLst>
          </p:cNvPr>
          <p:cNvSpPr txBox="1"/>
          <p:nvPr/>
        </p:nvSpPr>
        <p:spPr>
          <a:xfrm>
            <a:off x="306388" y="2243138"/>
            <a:ext cx="1003300" cy="258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1600" b="1" spc="-5" dirty="0">
                <a:solidFill>
                  <a:srgbClr val="DB0961"/>
                </a:solidFill>
                <a:latin typeface="Courier New"/>
                <a:cs typeface="Courier New"/>
              </a:rPr>
              <a:t>$("#id")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4774B8FF-DEC6-97CC-8E46-EE70DC6DBD6A}"/>
              </a:ext>
            </a:extLst>
          </p:cNvPr>
          <p:cNvSpPr txBox="1"/>
          <p:nvPr/>
        </p:nvSpPr>
        <p:spPr>
          <a:xfrm>
            <a:off x="2668588" y="2227263"/>
            <a:ext cx="3386137" cy="258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1600" spc="-10" dirty="0">
                <a:latin typeface="Calibri"/>
                <a:cs typeface="Calibri"/>
              </a:rPr>
              <a:t>Selects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an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element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having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identifier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as </a:t>
            </a:r>
            <a:r>
              <a:rPr sz="1600" dirty="0">
                <a:latin typeface="Calibri"/>
                <a:cs typeface="Calibri"/>
              </a:rPr>
              <a:t>id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01C6BB15-1FA1-2E3B-0DA0-E6A64ED95C8C}"/>
              </a:ext>
            </a:extLst>
          </p:cNvPr>
          <p:cNvSpPr txBox="1"/>
          <p:nvPr/>
        </p:nvSpPr>
        <p:spPr>
          <a:xfrm>
            <a:off x="306388" y="2584450"/>
            <a:ext cx="1978025" cy="258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1600" b="1" spc="-5" dirty="0">
                <a:solidFill>
                  <a:srgbClr val="DB0961"/>
                </a:solidFill>
                <a:latin typeface="Courier New"/>
                <a:cs typeface="Courier New"/>
              </a:rPr>
              <a:t>$(".class-name")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F9692D52-610F-E967-5F51-66A692675811}"/>
              </a:ext>
            </a:extLst>
          </p:cNvPr>
          <p:cNvSpPr txBox="1"/>
          <p:nvPr/>
        </p:nvSpPr>
        <p:spPr>
          <a:xfrm>
            <a:off x="2668588" y="2592388"/>
            <a:ext cx="3365500" cy="258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1600" spc="-10" dirty="0">
                <a:latin typeface="Calibri"/>
                <a:cs typeface="Calibri"/>
              </a:rPr>
              <a:t>Selects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element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with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class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class-name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D3D535A2-40B5-D830-7AF4-0465DB59CA2B}"/>
              </a:ext>
            </a:extLst>
          </p:cNvPr>
          <p:cNvSpPr txBox="1"/>
          <p:nvPr/>
        </p:nvSpPr>
        <p:spPr>
          <a:xfrm>
            <a:off x="306388" y="2922588"/>
            <a:ext cx="1492250" cy="258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1600" b="1" spc="-5" dirty="0">
                <a:solidFill>
                  <a:srgbClr val="DB0961"/>
                </a:solidFill>
                <a:latin typeface="Courier New"/>
                <a:cs typeface="Courier New"/>
              </a:rPr>
              <a:t>$("p:first")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03C6461-F282-5F87-D151-613211F8A11B}"/>
              </a:ext>
            </a:extLst>
          </p:cNvPr>
          <p:cNvSpPr txBox="1"/>
          <p:nvPr/>
        </p:nvSpPr>
        <p:spPr>
          <a:xfrm>
            <a:off x="2668588" y="2930525"/>
            <a:ext cx="2927350" cy="258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1600" spc="-5" dirty="0">
                <a:latin typeface="Calibri"/>
                <a:cs typeface="Calibri"/>
              </a:rPr>
              <a:t>Selects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first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element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in a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paragraph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A6B549D4-C266-0534-BC02-AFBA1323F8EF}"/>
              </a:ext>
            </a:extLst>
          </p:cNvPr>
          <p:cNvSpPr txBox="1"/>
          <p:nvPr/>
        </p:nvSpPr>
        <p:spPr>
          <a:xfrm>
            <a:off x="306388" y="3262313"/>
            <a:ext cx="1981200" cy="257175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1600" b="1" spc="-5" dirty="0">
                <a:solidFill>
                  <a:srgbClr val="DB0961"/>
                </a:solidFill>
                <a:latin typeface="Courier New"/>
                <a:cs typeface="Courier New"/>
              </a:rPr>
              <a:t>$("ul</a:t>
            </a:r>
            <a:r>
              <a:rPr sz="1600" b="1" spc="-75" dirty="0">
                <a:solidFill>
                  <a:srgbClr val="DB0961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DB0961"/>
                </a:solidFill>
                <a:latin typeface="Courier New"/>
                <a:cs typeface="Courier New"/>
              </a:rPr>
              <a:t>li:first")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50337631-04C5-F973-5DDA-0F90C48554ED}"/>
              </a:ext>
            </a:extLst>
          </p:cNvPr>
          <p:cNvSpPr txBox="1"/>
          <p:nvPr/>
        </p:nvSpPr>
        <p:spPr>
          <a:xfrm>
            <a:off x="2668588" y="3268663"/>
            <a:ext cx="3671887" cy="258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1600" spc="-10" dirty="0">
                <a:latin typeface="Calibri"/>
                <a:cs typeface="Calibri"/>
              </a:rPr>
              <a:t>Selects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first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&lt;li&gt; </a:t>
            </a:r>
            <a:r>
              <a:rPr sz="1600" spc="-10" dirty="0">
                <a:latin typeface="Calibri"/>
                <a:cs typeface="Calibri"/>
              </a:rPr>
              <a:t>element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of the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first </a:t>
            </a:r>
            <a:r>
              <a:rPr sz="1600" spc="10" dirty="0">
                <a:latin typeface="Calibri"/>
                <a:cs typeface="Calibri"/>
              </a:rPr>
              <a:t>&lt;ul&gt;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F0BE62E5-5933-7A4B-47AE-B34E6E42572D}"/>
              </a:ext>
            </a:extLst>
          </p:cNvPr>
          <p:cNvSpPr txBox="1"/>
          <p:nvPr/>
        </p:nvSpPr>
        <p:spPr>
          <a:xfrm>
            <a:off x="306388" y="3600450"/>
            <a:ext cx="1368425" cy="257175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1600" b="1" spc="-5" dirty="0">
                <a:solidFill>
                  <a:srgbClr val="DB0961"/>
                </a:solidFill>
                <a:latin typeface="Courier New"/>
                <a:cs typeface="Courier New"/>
              </a:rPr>
              <a:t>$("[href]")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01D38CF6-3971-0058-E7A9-C688B608A515}"/>
              </a:ext>
            </a:extLst>
          </p:cNvPr>
          <p:cNvSpPr txBox="1"/>
          <p:nvPr/>
        </p:nvSpPr>
        <p:spPr>
          <a:xfrm>
            <a:off x="2668588" y="3606800"/>
            <a:ext cx="3467100" cy="258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1600" spc="-10" dirty="0">
                <a:latin typeface="Calibri"/>
                <a:cs typeface="Calibri"/>
              </a:rPr>
              <a:t>Selects</a:t>
            </a:r>
            <a:r>
              <a:rPr sz="1600" dirty="0">
                <a:latin typeface="Calibri"/>
                <a:cs typeface="Calibri"/>
              </a:rPr>
              <a:t> all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elements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with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an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href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attribute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AF6C3F6D-CCA0-A309-BD86-A7ACC93F4C26}"/>
              </a:ext>
            </a:extLst>
          </p:cNvPr>
          <p:cNvSpPr txBox="1"/>
          <p:nvPr/>
        </p:nvSpPr>
        <p:spPr>
          <a:xfrm>
            <a:off x="306388" y="3938588"/>
            <a:ext cx="1490662" cy="257175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1600" b="1" spc="-5" dirty="0">
                <a:solidFill>
                  <a:srgbClr val="DB0961"/>
                </a:solidFill>
                <a:latin typeface="Courier New"/>
                <a:cs typeface="Courier New"/>
              </a:rPr>
              <a:t>$(":button")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3D53B3DC-E564-55A6-312B-CC84E24B4BBC}"/>
              </a:ext>
            </a:extLst>
          </p:cNvPr>
          <p:cNvSpPr txBox="1"/>
          <p:nvPr/>
        </p:nvSpPr>
        <p:spPr>
          <a:xfrm>
            <a:off x="2668588" y="3944938"/>
            <a:ext cx="5751512" cy="258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1600" spc="-10" dirty="0">
                <a:latin typeface="Calibri"/>
                <a:cs typeface="Calibri"/>
              </a:rPr>
              <a:t>Selects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all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&lt;button&gt;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elements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and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&lt;input&gt;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elements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of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type="button"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613C521C-066C-A2A0-9DA4-A722463CABAE}"/>
              </a:ext>
            </a:extLst>
          </p:cNvPr>
          <p:cNvSpPr txBox="1"/>
          <p:nvPr/>
        </p:nvSpPr>
        <p:spPr>
          <a:xfrm>
            <a:off x="306388" y="4276725"/>
            <a:ext cx="1490662" cy="258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1600" b="1" spc="-5" dirty="0">
                <a:solidFill>
                  <a:srgbClr val="DB0961"/>
                </a:solidFill>
                <a:latin typeface="Courier New"/>
                <a:cs typeface="Courier New"/>
              </a:rPr>
              <a:t>$("tr:even")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7760687C-3F24-71F6-266C-5D0D40543FAF}"/>
              </a:ext>
            </a:extLst>
          </p:cNvPr>
          <p:cNvSpPr txBox="1"/>
          <p:nvPr/>
        </p:nvSpPr>
        <p:spPr>
          <a:xfrm>
            <a:off x="2668588" y="4284663"/>
            <a:ext cx="2478087" cy="257175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1600" spc="-10" dirty="0">
                <a:latin typeface="Calibri"/>
                <a:cs typeface="Calibri"/>
              </a:rPr>
              <a:t>Selects </a:t>
            </a:r>
            <a:r>
              <a:rPr sz="1600" dirty="0">
                <a:latin typeface="Calibri"/>
                <a:cs typeface="Calibri"/>
              </a:rPr>
              <a:t>all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even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&lt;tr&gt;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elements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6DECBD89-7E16-FE18-8AEB-CCF8D23EDB07}"/>
              </a:ext>
            </a:extLst>
          </p:cNvPr>
          <p:cNvSpPr txBox="1"/>
          <p:nvPr/>
        </p:nvSpPr>
        <p:spPr>
          <a:xfrm>
            <a:off x="306388" y="4613275"/>
            <a:ext cx="1368425" cy="258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1600" b="1" spc="-5" dirty="0">
                <a:solidFill>
                  <a:srgbClr val="DB0961"/>
                </a:solidFill>
                <a:latin typeface="Courier New"/>
                <a:cs typeface="Courier New"/>
              </a:rPr>
              <a:t>$("tr:odd")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DE52BDE8-3782-ECE0-500A-679F8CB4B3FE}"/>
              </a:ext>
            </a:extLst>
          </p:cNvPr>
          <p:cNvSpPr txBox="1"/>
          <p:nvPr/>
        </p:nvSpPr>
        <p:spPr>
          <a:xfrm>
            <a:off x="2668588" y="4621213"/>
            <a:ext cx="2400300" cy="258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1600" spc="-5" dirty="0">
                <a:latin typeface="Calibri"/>
                <a:cs typeface="Calibri"/>
              </a:rPr>
              <a:t>Selects all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odd &lt;tr&gt;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elements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16043DC7-C3B7-B23B-B599-1692C36B346D}"/>
              </a:ext>
            </a:extLst>
          </p:cNvPr>
          <p:cNvSpPr txBox="1"/>
          <p:nvPr/>
        </p:nvSpPr>
        <p:spPr>
          <a:xfrm>
            <a:off x="306388" y="4953000"/>
            <a:ext cx="1736725" cy="258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1600" b="1" spc="-5" dirty="0">
                <a:solidFill>
                  <a:srgbClr val="DB0961"/>
                </a:solidFill>
                <a:latin typeface="Courier New"/>
                <a:cs typeface="Courier New"/>
              </a:rPr>
              <a:t>$("div:gt(2)")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F5A56896-6937-6831-8408-F9CD20EB7FAB}"/>
              </a:ext>
            </a:extLst>
          </p:cNvPr>
          <p:cNvSpPr txBox="1"/>
          <p:nvPr/>
        </p:nvSpPr>
        <p:spPr>
          <a:xfrm>
            <a:off x="2668588" y="4960938"/>
            <a:ext cx="3101975" cy="257175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1600" spc="-5" dirty="0">
                <a:latin typeface="Calibri"/>
                <a:cs typeface="Calibri"/>
              </a:rPr>
              <a:t>All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div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elements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except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first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three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E4067-1161-482D-F4B6-34422507B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-1</a:t>
            </a: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49AA02-DC62-DCB4-7F7B-7C104BF93D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5170" y="1412776"/>
            <a:ext cx="8501260" cy="47089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1. How do you select all elements with the class 'example' using jQuery?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A) $("example")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B) $(".example")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C) $("#example")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2. Which jQuery selector is used to select an element with the ID 'unique'?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A) $(".unique")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B) $("unique")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C) $("#unique")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3. How do you select all &lt;p&gt; elements inside a &lt;div&gt;?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A) $("div p")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B) $("div + p")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C) $("div &gt; p")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7810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D71D07C-84A9-0328-F307-D2204409F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 err="1"/>
              <a:t>j</a:t>
            </a:r>
            <a:r>
              <a:rPr lang="en-US" dirty="0" err="1"/>
              <a:t>query</a:t>
            </a:r>
            <a:r>
              <a:rPr lang="en-US" dirty="0"/>
              <a:t> events and effects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91E1E0-EF21-B77F-252C-6F62023E0D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9912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AB87742-001E-C8A1-7811-448EF7F69A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115888"/>
            <a:ext cx="8785225" cy="1143000"/>
          </a:xfr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12700">
              <a:defRPr/>
            </a:pPr>
            <a:r>
              <a:rPr spc="-25" dirty="0"/>
              <a:t>Event</a:t>
            </a:r>
            <a:r>
              <a:rPr spc="-20" dirty="0"/>
              <a:t> </a:t>
            </a:r>
            <a:r>
              <a:rPr lang="en-GB" spc="-5" dirty="0"/>
              <a:t>Handling</a:t>
            </a:r>
            <a:r>
              <a:rPr lang="en-GB" spc="-30" dirty="0"/>
              <a:t> </a:t>
            </a:r>
            <a:r>
              <a:rPr lang="en-GB" spc="-5" dirty="0"/>
              <a:t>Using</a:t>
            </a:r>
            <a:r>
              <a:rPr lang="en-GB" spc="-45" dirty="0"/>
              <a:t> </a:t>
            </a:r>
            <a:r>
              <a:rPr dirty="0"/>
              <a:t>jQuery</a:t>
            </a:r>
            <a:endParaRPr lang="en-GB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CFD8824-5202-1151-0BB6-BF0C4CC22FF8}"/>
              </a:ext>
            </a:extLst>
          </p:cNvPr>
          <p:cNvSpPr txBox="1"/>
          <p:nvPr/>
        </p:nvSpPr>
        <p:spPr bwMode="auto">
          <a:xfrm>
            <a:off x="180975" y="1556792"/>
            <a:ext cx="4351338" cy="43195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299085" indent="-287020">
              <a:lnSpc>
                <a:spcPct val="9000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  <a:tab pos="299720" algn="l"/>
              </a:tabLst>
              <a:defRPr/>
            </a:pPr>
            <a:r>
              <a:rPr lang="en-US" sz="1800" spc="-15" dirty="0">
                <a:solidFill>
                  <a:schemeClr val="tx2"/>
                </a:solidFill>
                <a:ea typeface="+mn-ea"/>
              </a:rPr>
              <a:t>Events</a:t>
            </a:r>
            <a:r>
              <a:rPr lang="en-US" sz="1800" spc="10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spc="-10" dirty="0">
                <a:solidFill>
                  <a:schemeClr val="tx2"/>
                </a:solidFill>
                <a:ea typeface="+mn-ea"/>
              </a:rPr>
              <a:t>bring </a:t>
            </a:r>
            <a:r>
              <a:rPr lang="en-US" sz="1800" spc="-5" dirty="0">
                <a:solidFill>
                  <a:schemeClr val="tx2"/>
                </a:solidFill>
                <a:ea typeface="+mn-ea"/>
              </a:rPr>
              <a:t>interactivity</a:t>
            </a:r>
            <a:r>
              <a:rPr lang="en-US" sz="1800" spc="-30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dirty="0">
                <a:solidFill>
                  <a:schemeClr val="tx2"/>
                </a:solidFill>
                <a:ea typeface="+mn-ea"/>
              </a:rPr>
              <a:t>with</a:t>
            </a:r>
            <a:r>
              <a:rPr lang="en-US" sz="1800" spc="-5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spc="-10" dirty="0">
                <a:solidFill>
                  <a:schemeClr val="tx2"/>
                </a:solidFill>
                <a:ea typeface="+mn-ea"/>
              </a:rPr>
              <a:t>users</a:t>
            </a:r>
          </a:p>
          <a:p>
            <a:pPr marL="299085" indent="-287020">
              <a:lnSpc>
                <a:spcPct val="9000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  <a:tab pos="299720" algn="l"/>
              </a:tabLst>
              <a:defRPr/>
            </a:pPr>
            <a:endParaRPr lang="en-US" sz="1800" dirty="0">
              <a:solidFill>
                <a:schemeClr val="tx2"/>
              </a:solidFill>
              <a:ea typeface="+mn-ea"/>
            </a:endParaRPr>
          </a:p>
          <a:p>
            <a:pPr marL="299085" indent="-287020">
              <a:lnSpc>
                <a:spcPct val="90000"/>
              </a:lnSpc>
              <a:buFont typeface="Arial MT"/>
              <a:buChar char="•"/>
              <a:tabLst>
                <a:tab pos="299085" algn="l"/>
                <a:tab pos="299720" algn="l"/>
              </a:tabLst>
              <a:defRPr/>
            </a:pPr>
            <a:r>
              <a:rPr lang="en-US" sz="1800" spc="-10" dirty="0">
                <a:solidFill>
                  <a:schemeClr val="tx2"/>
                </a:solidFill>
                <a:ea typeface="+mn-ea"/>
              </a:rPr>
              <a:t>Many</a:t>
            </a:r>
            <a:r>
              <a:rPr lang="en-US" sz="1800" spc="-15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spc="-10" dirty="0">
                <a:solidFill>
                  <a:schemeClr val="tx2"/>
                </a:solidFill>
                <a:ea typeface="+mn-ea"/>
              </a:rPr>
              <a:t>peripherals</a:t>
            </a:r>
            <a:r>
              <a:rPr lang="en-US" sz="1800" spc="10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spc="-10" dirty="0">
                <a:solidFill>
                  <a:schemeClr val="tx2"/>
                </a:solidFill>
                <a:ea typeface="+mn-ea"/>
              </a:rPr>
              <a:t>(ex:</a:t>
            </a:r>
            <a:r>
              <a:rPr lang="en-US" sz="1800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spc="-5" dirty="0">
                <a:solidFill>
                  <a:schemeClr val="tx2"/>
                </a:solidFill>
                <a:ea typeface="+mn-ea"/>
              </a:rPr>
              <a:t>mouse)</a:t>
            </a:r>
            <a:r>
              <a:rPr lang="en-US" sz="1800" spc="35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spc="-10" dirty="0">
                <a:solidFill>
                  <a:schemeClr val="tx2"/>
                </a:solidFill>
                <a:ea typeface="+mn-ea"/>
              </a:rPr>
              <a:t>can</a:t>
            </a:r>
            <a:r>
              <a:rPr lang="en-US" sz="1800" spc="-15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spc="-5" dirty="0">
                <a:solidFill>
                  <a:schemeClr val="tx2"/>
                </a:solidFill>
                <a:ea typeface="+mn-ea"/>
              </a:rPr>
              <a:t>be</a:t>
            </a:r>
            <a:r>
              <a:rPr lang="en-US" sz="1800" spc="10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spc="-5" dirty="0">
                <a:solidFill>
                  <a:schemeClr val="tx2"/>
                </a:solidFill>
                <a:ea typeface="+mn-ea"/>
              </a:rPr>
              <a:t>the </a:t>
            </a:r>
            <a:r>
              <a:rPr lang="en-US" sz="1800" spc="-10" dirty="0">
                <a:solidFill>
                  <a:schemeClr val="tx2"/>
                </a:solidFill>
                <a:ea typeface="+mn-ea"/>
              </a:rPr>
              <a:t>source</a:t>
            </a:r>
            <a:r>
              <a:rPr lang="en-US" sz="1800" spc="35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spc="-5" dirty="0">
                <a:solidFill>
                  <a:schemeClr val="tx2"/>
                </a:solidFill>
                <a:ea typeface="+mn-ea"/>
              </a:rPr>
              <a:t>of</a:t>
            </a:r>
            <a:r>
              <a:rPr lang="en-US" sz="1800" spc="15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spc="-10" dirty="0">
                <a:solidFill>
                  <a:schemeClr val="tx2"/>
                </a:solidFill>
                <a:ea typeface="+mn-ea"/>
              </a:rPr>
              <a:t>events</a:t>
            </a:r>
          </a:p>
          <a:p>
            <a:pPr marL="299085" indent="-287020">
              <a:lnSpc>
                <a:spcPct val="90000"/>
              </a:lnSpc>
              <a:buFont typeface="Arial MT"/>
              <a:buChar char="•"/>
              <a:tabLst>
                <a:tab pos="299085" algn="l"/>
                <a:tab pos="299720" algn="l"/>
              </a:tabLst>
              <a:defRPr/>
            </a:pPr>
            <a:endParaRPr lang="en-US" sz="1800" dirty="0">
              <a:solidFill>
                <a:schemeClr val="tx2"/>
              </a:solidFill>
              <a:ea typeface="+mn-ea"/>
            </a:endParaRPr>
          </a:p>
          <a:p>
            <a:pPr marL="299085" indent="-287020">
              <a:lnSpc>
                <a:spcPct val="90000"/>
              </a:lnSpc>
              <a:buFont typeface="Arial MT"/>
              <a:buChar char="•"/>
              <a:tabLst>
                <a:tab pos="299085" algn="l"/>
                <a:tab pos="299720" algn="l"/>
              </a:tabLst>
              <a:defRPr/>
            </a:pPr>
            <a:r>
              <a:rPr lang="en-US" sz="1800" spc="-5" dirty="0">
                <a:solidFill>
                  <a:schemeClr val="tx2"/>
                </a:solidFill>
                <a:ea typeface="+mn-ea"/>
              </a:rPr>
              <a:t>Upon</a:t>
            </a:r>
            <a:r>
              <a:rPr lang="en-US" sz="1800" spc="20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spc="-10" dirty="0">
                <a:solidFill>
                  <a:schemeClr val="tx2"/>
                </a:solidFill>
                <a:ea typeface="+mn-ea"/>
              </a:rPr>
              <a:t>events</a:t>
            </a:r>
            <a:r>
              <a:rPr lang="en-US" sz="1800" spc="15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spc="-10" dirty="0">
                <a:solidFill>
                  <a:schemeClr val="tx2"/>
                </a:solidFill>
                <a:ea typeface="+mn-ea"/>
              </a:rPr>
              <a:t>appropriate</a:t>
            </a:r>
            <a:r>
              <a:rPr lang="en-US" sz="1800" spc="15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spc="-5" dirty="0">
                <a:solidFill>
                  <a:schemeClr val="tx2"/>
                </a:solidFill>
                <a:ea typeface="+mn-ea"/>
              </a:rPr>
              <a:t>is done called as </a:t>
            </a:r>
            <a:r>
              <a:rPr lang="en-US" sz="1800" b="1" spc="-20" dirty="0">
                <a:solidFill>
                  <a:schemeClr val="accent6"/>
                </a:solidFill>
                <a:ea typeface="+mn-ea"/>
              </a:rPr>
              <a:t>Event</a:t>
            </a:r>
            <a:r>
              <a:rPr lang="en-US" sz="1800" b="1" spc="-10" dirty="0">
                <a:solidFill>
                  <a:schemeClr val="accent6"/>
                </a:solidFill>
                <a:ea typeface="+mn-ea"/>
              </a:rPr>
              <a:t> </a:t>
            </a:r>
            <a:r>
              <a:rPr lang="en-US" sz="1800" b="1" spc="-5" dirty="0">
                <a:solidFill>
                  <a:schemeClr val="accent6"/>
                </a:solidFill>
                <a:ea typeface="+mn-ea"/>
              </a:rPr>
              <a:t>Handling</a:t>
            </a:r>
          </a:p>
          <a:p>
            <a:pPr marL="299085" indent="-287020">
              <a:lnSpc>
                <a:spcPct val="90000"/>
              </a:lnSpc>
              <a:buFont typeface="Arial MT"/>
              <a:buChar char="•"/>
              <a:tabLst>
                <a:tab pos="299085" algn="l"/>
                <a:tab pos="299720" algn="l"/>
              </a:tabLst>
              <a:defRPr/>
            </a:pPr>
            <a:endParaRPr lang="en-US" sz="1800" dirty="0">
              <a:solidFill>
                <a:schemeClr val="tx2"/>
              </a:solidFill>
              <a:ea typeface="+mn-ea"/>
            </a:endParaRPr>
          </a:p>
          <a:p>
            <a:pPr marL="299085" indent="-287020">
              <a:lnSpc>
                <a:spcPct val="90000"/>
              </a:lnSpc>
              <a:buFont typeface="Arial MT"/>
              <a:buChar char="•"/>
              <a:tabLst>
                <a:tab pos="299085" algn="l"/>
                <a:tab pos="299720" algn="l"/>
              </a:tabLst>
              <a:defRPr/>
            </a:pPr>
            <a:r>
              <a:rPr lang="en-US" sz="1800" spc="-5" dirty="0">
                <a:solidFill>
                  <a:schemeClr val="tx2"/>
                </a:solidFill>
                <a:ea typeface="+mn-ea"/>
              </a:rPr>
              <a:t>In</a:t>
            </a:r>
            <a:r>
              <a:rPr lang="en-US" sz="1800" spc="-15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spc="-10" dirty="0">
                <a:solidFill>
                  <a:schemeClr val="tx2"/>
                </a:solidFill>
                <a:ea typeface="+mn-ea"/>
              </a:rPr>
              <a:t>JavaScript</a:t>
            </a:r>
            <a:r>
              <a:rPr lang="en-US" sz="1800" spc="25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spc="-10" dirty="0">
                <a:solidFill>
                  <a:schemeClr val="tx2"/>
                </a:solidFill>
                <a:ea typeface="+mn-ea"/>
              </a:rPr>
              <a:t>event</a:t>
            </a:r>
            <a:r>
              <a:rPr lang="en-US" sz="1800" spc="20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spc="-5" dirty="0">
                <a:solidFill>
                  <a:schemeClr val="tx2"/>
                </a:solidFill>
                <a:ea typeface="+mn-ea"/>
              </a:rPr>
              <a:t>handling</a:t>
            </a:r>
            <a:r>
              <a:rPr lang="en-US" sz="1800" spc="-25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spc="-10" dirty="0">
                <a:solidFill>
                  <a:schemeClr val="tx2"/>
                </a:solidFill>
                <a:ea typeface="+mn-ea"/>
              </a:rPr>
              <a:t>was</a:t>
            </a:r>
            <a:r>
              <a:rPr lang="en-US" sz="1800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spc="-5" dirty="0">
                <a:solidFill>
                  <a:schemeClr val="tx2"/>
                </a:solidFill>
                <a:ea typeface="+mn-ea"/>
              </a:rPr>
              <a:t>done</a:t>
            </a:r>
            <a:r>
              <a:rPr lang="en-US" sz="1800" spc="15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spc="-10" dirty="0">
                <a:solidFill>
                  <a:schemeClr val="tx2"/>
                </a:solidFill>
                <a:ea typeface="+mn-ea"/>
              </a:rPr>
              <a:t>by</a:t>
            </a:r>
            <a:r>
              <a:rPr lang="en-US" sz="1800" spc="10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spc="-5" dirty="0">
                <a:solidFill>
                  <a:schemeClr val="tx2"/>
                </a:solidFill>
                <a:ea typeface="+mn-ea"/>
              </a:rPr>
              <a:t>implementing</a:t>
            </a:r>
            <a:r>
              <a:rPr lang="en-US" sz="1800" spc="-15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spc="-5" dirty="0">
                <a:solidFill>
                  <a:schemeClr val="tx2"/>
                </a:solidFill>
                <a:ea typeface="+mn-ea"/>
              </a:rPr>
              <a:t>methods</a:t>
            </a:r>
            <a:r>
              <a:rPr lang="en-US" sz="1800" spc="30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spc="-5" dirty="0">
                <a:solidFill>
                  <a:schemeClr val="tx2"/>
                </a:solidFill>
                <a:ea typeface="+mn-ea"/>
              </a:rPr>
              <a:t>in</a:t>
            </a:r>
            <a:r>
              <a:rPr lang="en-US" sz="1800" spc="-70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b="1" spc="-5" dirty="0">
                <a:solidFill>
                  <a:schemeClr val="tx2"/>
                </a:solidFill>
                <a:ea typeface="+mn-ea"/>
              </a:rPr>
              <a:t>HTML</a:t>
            </a:r>
            <a:r>
              <a:rPr lang="en-US" sz="1800" b="1" spc="10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b="1" spc="-10" dirty="0">
                <a:solidFill>
                  <a:schemeClr val="tx2"/>
                </a:solidFill>
                <a:ea typeface="+mn-ea"/>
              </a:rPr>
              <a:t>element </a:t>
            </a:r>
            <a:r>
              <a:rPr lang="en-US" sz="1800" b="1" spc="-5" dirty="0">
                <a:solidFill>
                  <a:schemeClr val="tx2"/>
                </a:solidFill>
                <a:ea typeface="+mn-ea"/>
              </a:rPr>
              <a:t>itself</a:t>
            </a:r>
          </a:p>
          <a:p>
            <a:pPr marL="299085" indent="-287020">
              <a:lnSpc>
                <a:spcPct val="90000"/>
              </a:lnSpc>
              <a:buFont typeface="Arial MT"/>
              <a:buChar char="•"/>
              <a:tabLst>
                <a:tab pos="299085" algn="l"/>
                <a:tab pos="299720" algn="l"/>
              </a:tabLst>
              <a:defRPr/>
            </a:pPr>
            <a:endParaRPr lang="en-US" sz="1800" dirty="0">
              <a:solidFill>
                <a:schemeClr val="tx2"/>
              </a:solidFill>
              <a:ea typeface="+mn-ea"/>
            </a:endParaRPr>
          </a:p>
          <a:p>
            <a:pPr marL="299085" indent="-287020">
              <a:lnSpc>
                <a:spcPct val="90000"/>
              </a:lnSpc>
              <a:buFont typeface="Arial MT"/>
              <a:buChar char="•"/>
              <a:tabLst>
                <a:tab pos="299085" algn="l"/>
                <a:tab pos="299720" algn="l"/>
              </a:tabLst>
              <a:defRPr/>
            </a:pPr>
            <a:r>
              <a:rPr lang="en-US" sz="1800" spc="-5" dirty="0">
                <a:solidFill>
                  <a:schemeClr val="tx2"/>
                </a:solidFill>
                <a:ea typeface="+mn-ea"/>
              </a:rPr>
              <a:t>jQuery</a:t>
            </a:r>
            <a:r>
              <a:rPr lang="en-US" sz="1800" spc="20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spc="-10" dirty="0">
                <a:solidFill>
                  <a:schemeClr val="tx2"/>
                </a:solidFill>
                <a:ea typeface="+mn-ea"/>
              </a:rPr>
              <a:t>provides</a:t>
            </a:r>
            <a:r>
              <a:rPr lang="en-US" sz="1800" spc="35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spc="-10" dirty="0">
                <a:solidFill>
                  <a:schemeClr val="tx2"/>
                </a:solidFill>
                <a:ea typeface="+mn-ea"/>
              </a:rPr>
              <a:t>better</a:t>
            </a:r>
            <a:r>
              <a:rPr lang="en-US" sz="1800" spc="5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spc="-5" dirty="0">
                <a:solidFill>
                  <a:schemeClr val="tx2"/>
                </a:solidFill>
                <a:ea typeface="+mn-ea"/>
              </a:rPr>
              <a:t>facility</a:t>
            </a:r>
            <a:r>
              <a:rPr lang="en-US" sz="1800" spc="-30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spc="-5" dirty="0">
                <a:solidFill>
                  <a:schemeClr val="tx2"/>
                </a:solidFill>
                <a:ea typeface="+mn-ea"/>
              </a:rPr>
              <a:t>to</a:t>
            </a:r>
            <a:r>
              <a:rPr lang="en-US" sz="1800" spc="5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spc="-5" dirty="0">
                <a:solidFill>
                  <a:schemeClr val="tx2"/>
                </a:solidFill>
                <a:ea typeface="+mn-ea"/>
              </a:rPr>
              <a:t>handle</a:t>
            </a:r>
            <a:r>
              <a:rPr lang="en-US" sz="1800" spc="-10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spc="-5" dirty="0">
                <a:solidFill>
                  <a:schemeClr val="tx2"/>
                </a:solidFill>
                <a:ea typeface="+mn-ea"/>
              </a:rPr>
              <a:t>them</a:t>
            </a:r>
            <a:r>
              <a:rPr lang="en-US" sz="1800" spc="10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spc="-10" dirty="0">
                <a:solidFill>
                  <a:schemeClr val="tx2"/>
                </a:solidFill>
                <a:ea typeface="+mn-ea"/>
              </a:rPr>
              <a:t>by</a:t>
            </a:r>
            <a:r>
              <a:rPr lang="en-US" sz="1800" spc="-45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b="1" spc="-5" dirty="0">
                <a:solidFill>
                  <a:schemeClr val="tx2"/>
                </a:solidFill>
                <a:ea typeface="+mn-ea"/>
              </a:rPr>
              <a:t>de-coupling</a:t>
            </a:r>
            <a:r>
              <a:rPr lang="en-US" sz="1800" b="1" spc="35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b="1" spc="-15" dirty="0">
                <a:solidFill>
                  <a:schemeClr val="tx2"/>
                </a:solidFill>
                <a:ea typeface="+mn-ea"/>
              </a:rPr>
              <a:t>from</a:t>
            </a:r>
            <a:r>
              <a:rPr lang="en-US" sz="1800" b="1" spc="15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b="1" spc="-5" dirty="0">
                <a:solidFill>
                  <a:schemeClr val="tx2"/>
                </a:solidFill>
                <a:ea typeface="+mn-ea"/>
              </a:rPr>
              <a:t>HTML</a:t>
            </a:r>
          </a:p>
          <a:p>
            <a:pPr marL="299085" indent="-287020">
              <a:lnSpc>
                <a:spcPct val="90000"/>
              </a:lnSpc>
              <a:buFont typeface="Arial MT"/>
              <a:buChar char="•"/>
              <a:tabLst>
                <a:tab pos="299085" algn="l"/>
                <a:tab pos="299720" algn="l"/>
              </a:tabLst>
              <a:defRPr/>
            </a:pPr>
            <a:endParaRPr lang="en-US" sz="1800" dirty="0">
              <a:solidFill>
                <a:schemeClr val="tx2"/>
              </a:solidFill>
              <a:ea typeface="+mn-ea"/>
            </a:endParaRPr>
          </a:p>
          <a:p>
            <a:pPr marL="299085" indent="-287020">
              <a:lnSpc>
                <a:spcPct val="90000"/>
              </a:lnSpc>
              <a:buFont typeface="Arial MT"/>
              <a:buChar char="•"/>
              <a:tabLst>
                <a:tab pos="299085" algn="l"/>
                <a:tab pos="299720" algn="l"/>
              </a:tabLst>
              <a:defRPr/>
            </a:pPr>
            <a:r>
              <a:rPr lang="en-US" sz="1800" spc="-10" dirty="0">
                <a:solidFill>
                  <a:schemeClr val="tx2"/>
                </a:solidFill>
                <a:ea typeface="+mn-ea"/>
              </a:rPr>
              <a:t>Selectors</a:t>
            </a:r>
            <a:r>
              <a:rPr lang="en-US" sz="1800" spc="20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spc="-15" dirty="0">
                <a:solidFill>
                  <a:schemeClr val="tx2"/>
                </a:solidFill>
                <a:ea typeface="+mn-ea"/>
              </a:rPr>
              <a:t>are</a:t>
            </a:r>
            <a:r>
              <a:rPr lang="en-US" sz="1800" spc="25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spc="-10" dirty="0">
                <a:solidFill>
                  <a:schemeClr val="tx2"/>
                </a:solidFill>
                <a:ea typeface="+mn-ea"/>
              </a:rPr>
              <a:t>combined</a:t>
            </a:r>
            <a:r>
              <a:rPr lang="en-US" sz="1800" spc="15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dirty="0">
                <a:solidFill>
                  <a:schemeClr val="tx2"/>
                </a:solidFill>
                <a:ea typeface="+mn-ea"/>
              </a:rPr>
              <a:t>with </a:t>
            </a:r>
            <a:r>
              <a:rPr lang="en-US" sz="1800" spc="-5" dirty="0">
                <a:solidFill>
                  <a:schemeClr val="tx2"/>
                </a:solidFill>
                <a:ea typeface="+mn-ea"/>
              </a:rPr>
              <a:t>actions</a:t>
            </a:r>
            <a:r>
              <a:rPr lang="en-US" sz="1800" spc="-10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spc="-5" dirty="0">
                <a:solidFill>
                  <a:schemeClr val="tx2"/>
                </a:solidFill>
                <a:ea typeface="+mn-ea"/>
              </a:rPr>
              <a:t>on</a:t>
            </a:r>
            <a:r>
              <a:rPr lang="en-US" sz="1800" spc="10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spc="-5" dirty="0">
                <a:solidFill>
                  <a:schemeClr val="tx2"/>
                </a:solidFill>
                <a:ea typeface="+mn-ea"/>
              </a:rPr>
              <a:t>a</a:t>
            </a:r>
            <a:r>
              <a:rPr lang="en-US" sz="1800" spc="5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spc="-5" dirty="0">
                <a:solidFill>
                  <a:schemeClr val="tx2"/>
                </a:solidFill>
                <a:ea typeface="+mn-ea"/>
              </a:rPr>
              <a:t>particular</a:t>
            </a:r>
            <a:r>
              <a:rPr lang="en-US" sz="1800" spc="-15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1800" spc="-10" dirty="0">
                <a:solidFill>
                  <a:schemeClr val="tx2"/>
                </a:solidFill>
                <a:ea typeface="+mn-ea"/>
              </a:rPr>
              <a:t>event</a:t>
            </a:r>
            <a:endParaRPr lang="en-US" sz="1800" dirty="0">
              <a:solidFill>
                <a:schemeClr val="tx2"/>
              </a:solidFill>
              <a:ea typeface="+mn-ea"/>
            </a:endParaRPr>
          </a:p>
        </p:txBody>
      </p:sp>
      <p:pic>
        <p:nvPicPr>
          <p:cNvPr id="5" name="Picture 4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87066EAB-6CDB-381C-980E-01D664DA4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984" y="2132856"/>
            <a:ext cx="4536629" cy="35579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F1AAABE-F78F-CBA4-FA57-4F689B55A8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2422"/>
            <a:ext cx="8785225" cy="689932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lang="en-US" spc="-15" dirty="0"/>
              <a:t>E</a:t>
            </a:r>
            <a:r>
              <a:rPr spc="-15" dirty="0"/>
              <a:t>xample</a:t>
            </a:r>
            <a:r>
              <a:rPr spc="-40" dirty="0"/>
              <a:t> </a:t>
            </a:r>
            <a:r>
              <a:rPr lang="en-GB" spc="-10" dirty="0"/>
              <a:t>Events</a:t>
            </a:r>
            <a:endParaRPr spc="-10" dirty="0"/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48B9DB05-AEB6-9627-F181-6355C8D7F7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70874"/>
              </p:ext>
            </p:extLst>
          </p:nvPr>
        </p:nvGraphicFramePr>
        <p:xfrm>
          <a:off x="1043607" y="1720850"/>
          <a:ext cx="7056785" cy="1708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5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72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064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600" b="1" spc="-5" dirty="0">
                          <a:latin typeface="Calibri"/>
                          <a:cs typeface="Calibri"/>
                        </a:rPr>
                        <a:t>Selector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7495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600" b="1" spc="-5" dirty="0">
                          <a:latin typeface="Calibri"/>
                          <a:cs typeface="Calibri"/>
                        </a:rPr>
                        <a:t>Description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762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868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dirty="0">
                          <a:solidFill>
                            <a:srgbClr val="CF036A"/>
                          </a:solidFill>
                          <a:latin typeface="Calibri"/>
                          <a:cs typeface="Calibri"/>
                        </a:rPr>
                        <a:t>Mouse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click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|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dbclick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|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hover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|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mouseenter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mouseleave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2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b="1" spc="-5" dirty="0">
                          <a:solidFill>
                            <a:srgbClr val="CF036A"/>
                          </a:solidFill>
                          <a:latin typeface="Calibri"/>
                          <a:cs typeface="Calibri"/>
                        </a:rPr>
                        <a:t>Keyboard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33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keypress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keyup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keydown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8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987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dirty="0">
                          <a:solidFill>
                            <a:srgbClr val="CF036A"/>
                          </a:solidFill>
                          <a:latin typeface="Calibri"/>
                          <a:cs typeface="Calibri"/>
                        </a:rPr>
                        <a:t>Form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focus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blur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submit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859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dirty="0">
                          <a:solidFill>
                            <a:srgbClr val="CF036A"/>
                          </a:solidFill>
                          <a:latin typeface="Calibri"/>
                          <a:cs typeface="Calibri"/>
                        </a:rPr>
                        <a:t>Window</a:t>
                      </a:r>
                      <a:r>
                        <a:rPr sz="1400" b="1" spc="-55" dirty="0">
                          <a:solidFill>
                            <a:srgbClr val="CF03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CF036A"/>
                          </a:solidFill>
                          <a:latin typeface="Calibri"/>
                          <a:cs typeface="Calibri"/>
                        </a:rPr>
                        <a:t>(BOM)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load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resize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8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0745" name="object 4">
            <a:extLst>
              <a:ext uri="{FF2B5EF4-FFF2-40B4-BE49-F238E27FC236}">
                <a16:creationId xmlns:a16="http://schemas.microsoft.com/office/drawing/2014/main" id="{7045432E-FBE2-4CA5-F5C5-280292CFA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744760"/>
            <a:ext cx="6120680" cy="2218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4EE22C8-6D60-8043-E3C1-23273F9998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2422"/>
            <a:ext cx="8785225" cy="689932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pc="-10" dirty="0"/>
              <a:t>Introduction</a:t>
            </a:r>
            <a:r>
              <a:rPr spc="-60" dirty="0"/>
              <a:t> </a:t>
            </a:r>
            <a:r>
              <a:rPr spc="-15" dirty="0"/>
              <a:t>to</a:t>
            </a:r>
            <a:r>
              <a:rPr spc="-45" dirty="0"/>
              <a:t> </a:t>
            </a:r>
            <a:r>
              <a:rPr lang="en-GB" spc="-15" dirty="0"/>
              <a:t>Effects</a:t>
            </a:r>
            <a:endParaRPr spc="-1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3D67212-562C-1342-8205-EA5A9ADE11F1}"/>
              </a:ext>
            </a:extLst>
          </p:cNvPr>
          <p:cNvSpPr txBox="1"/>
          <p:nvPr/>
        </p:nvSpPr>
        <p:spPr>
          <a:xfrm>
            <a:off x="269522" y="1556792"/>
            <a:ext cx="8604956" cy="4444165"/>
          </a:xfrm>
          <a:prstGeom prst="rect">
            <a:avLst/>
          </a:prstGeom>
        </p:spPr>
        <p:txBody>
          <a:bodyPr wrap="square" lIns="0" tIns="12065" rIns="0" bIns="0">
            <a:spAutoFit/>
          </a:bodyPr>
          <a:lstStyle/>
          <a:p>
            <a:pPr marL="354965" indent="-342900"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299085" algn="l"/>
                <a:tab pos="299720" algn="l"/>
              </a:tabLst>
              <a:defRPr/>
            </a:pPr>
            <a:r>
              <a:rPr spc="-15" dirty="0">
                <a:cs typeface="Arial" panose="020B0604020202020204" pitchFamily="34" charset="0"/>
              </a:rPr>
              <a:t>Effects</a:t>
            </a:r>
            <a:r>
              <a:rPr spc="-10" dirty="0">
                <a:cs typeface="Arial" panose="020B0604020202020204" pitchFamily="34" charset="0"/>
              </a:rPr>
              <a:t> provide</a:t>
            </a:r>
            <a:r>
              <a:rPr spc="15" dirty="0">
                <a:cs typeface="Arial" panose="020B0604020202020204" pitchFamily="34" charset="0"/>
              </a:rPr>
              <a:t> </a:t>
            </a:r>
            <a:r>
              <a:rPr spc="-10" dirty="0">
                <a:cs typeface="Arial" panose="020B0604020202020204" pitchFamily="34" charset="0"/>
              </a:rPr>
              <a:t>more</a:t>
            </a:r>
            <a:r>
              <a:rPr spc="30" dirty="0">
                <a:cs typeface="Arial" panose="020B0604020202020204" pitchFamily="34" charset="0"/>
              </a:rPr>
              <a:t> </a:t>
            </a:r>
            <a:r>
              <a:rPr spc="-5" dirty="0">
                <a:cs typeface="Arial" panose="020B0604020202020204" pitchFamily="34" charset="0"/>
              </a:rPr>
              <a:t>options</a:t>
            </a:r>
            <a:r>
              <a:rPr spc="5" dirty="0">
                <a:cs typeface="Arial" panose="020B0604020202020204" pitchFamily="34" charset="0"/>
              </a:rPr>
              <a:t> </a:t>
            </a:r>
            <a:r>
              <a:rPr spc="-5" dirty="0">
                <a:cs typeface="Arial" panose="020B0604020202020204" pitchFamily="34" charset="0"/>
              </a:rPr>
              <a:t>to</a:t>
            </a:r>
            <a:r>
              <a:rPr dirty="0">
                <a:cs typeface="Arial" panose="020B0604020202020204" pitchFamily="34" charset="0"/>
              </a:rPr>
              <a:t> </a:t>
            </a:r>
            <a:r>
              <a:rPr spc="-10" dirty="0">
                <a:cs typeface="Arial" panose="020B0604020202020204" pitchFamily="34" charset="0"/>
              </a:rPr>
              <a:t>operate</a:t>
            </a:r>
            <a:r>
              <a:rPr spc="15" dirty="0">
                <a:cs typeface="Arial" panose="020B0604020202020204" pitchFamily="34" charset="0"/>
              </a:rPr>
              <a:t> </a:t>
            </a:r>
            <a:r>
              <a:rPr spc="-5" dirty="0">
                <a:cs typeface="Arial" panose="020B0604020202020204" pitchFamily="34" charset="0"/>
              </a:rPr>
              <a:t>on</a:t>
            </a:r>
            <a:r>
              <a:rPr spc="5" dirty="0">
                <a:cs typeface="Arial" panose="020B0604020202020204" pitchFamily="34" charset="0"/>
              </a:rPr>
              <a:t> </a:t>
            </a:r>
            <a:r>
              <a:rPr spc="-5" dirty="0">
                <a:cs typeface="Arial" panose="020B0604020202020204" pitchFamily="34" charset="0"/>
              </a:rPr>
              <a:t>an</a:t>
            </a:r>
            <a:r>
              <a:rPr spc="-15" dirty="0">
                <a:cs typeface="Arial" panose="020B0604020202020204" pitchFamily="34" charset="0"/>
              </a:rPr>
              <a:t> </a:t>
            </a:r>
            <a:r>
              <a:rPr spc="-5" dirty="0">
                <a:cs typeface="Arial" panose="020B0604020202020204" pitchFamily="34" charset="0"/>
              </a:rPr>
              <a:t>HTML</a:t>
            </a:r>
            <a:r>
              <a:rPr spc="-10" dirty="0">
                <a:cs typeface="Arial" panose="020B0604020202020204" pitchFamily="34" charset="0"/>
              </a:rPr>
              <a:t> </a:t>
            </a:r>
            <a:r>
              <a:rPr spc="-5" dirty="0">
                <a:cs typeface="Arial" panose="020B0604020202020204" pitchFamily="34" charset="0"/>
              </a:rPr>
              <a:t>element</a:t>
            </a:r>
            <a:endParaRPr dirty="0">
              <a:cs typeface="Arial" panose="020B0604020202020204" pitchFamily="34" charset="0"/>
            </a:endParaRPr>
          </a:p>
          <a:p>
            <a:pPr marL="342900" indent="-342900">
              <a:spcBef>
                <a:spcPts val="25"/>
              </a:spcBef>
              <a:buFont typeface="Arial" panose="020B0604020202020204" pitchFamily="34" charset="0"/>
              <a:buChar char="•"/>
              <a:defRPr/>
            </a:pPr>
            <a:endParaRPr dirty="0">
              <a:cs typeface="Arial" panose="020B0604020202020204" pitchFamily="34" charset="0"/>
            </a:endParaRPr>
          </a:p>
          <a:p>
            <a:pPr marL="354965" indent="-342900">
              <a:buFont typeface="Arial" panose="020B0604020202020204" pitchFamily="34" charset="0"/>
              <a:buChar char="•"/>
              <a:tabLst>
                <a:tab pos="299085" algn="l"/>
                <a:tab pos="299720" algn="l"/>
              </a:tabLst>
              <a:defRPr/>
            </a:pPr>
            <a:r>
              <a:rPr spc="-5" dirty="0">
                <a:cs typeface="Arial" panose="020B0604020202020204" pitchFamily="34" charset="0"/>
              </a:rPr>
              <a:t>jQuery</a:t>
            </a:r>
            <a:r>
              <a:rPr spc="25" dirty="0">
                <a:cs typeface="Arial" panose="020B0604020202020204" pitchFamily="34" charset="0"/>
              </a:rPr>
              <a:t> </a:t>
            </a:r>
            <a:r>
              <a:rPr spc="-15" dirty="0">
                <a:cs typeface="Arial" panose="020B0604020202020204" pitchFamily="34" charset="0"/>
              </a:rPr>
              <a:t>offers</a:t>
            </a:r>
            <a:r>
              <a:rPr spc="15" dirty="0">
                <a:cs typeface="Arial" panose="020B0604020202020204" pitchFamily="34" charset="0"/>
              </a:rPr>
              <a:t> </a:t>
            </a:r>
            <a:r>
              <a:rPr spc="-5" dirty="0">
                <a:cs typeface="Arial" panose="020B0604020202020204" pitchFamily="34" charset="0"/>
              </a:rPr>
              <a:t>multiple</a:t>
            </a:r>
            <a:r>
              <a:rPr spc="-25" dirty="0">
                <a:cs typeface="Arial" panose="020B0604020202020204" pitchFamily="34" charset="0"/>
              </a:rPr>
              <a:t> </a:t>
            </a:r>
            <a:r>
              <a:rPr spc="-5" dirty="0">
                <a:cs typeface="Arial" panose="020B0604020202020204" pitchFamily="34" charset="0"/>
              </a:rPr>
              <a:t>options</a:t>
            </a:r>
            <a:r>
              <a:rPr lang="en-US" spc="-5" dirty="0">
                <a:cs typeface="Arial" panose="020B0604020202020204" pitchFamily="34" charset="0"/>
              </a:rPr>
              <a:t>, e.g. </a:t>
            </a:r>
            <a:r>
              <a:rPr lang="en-GB" spc="-5" dirty="0">
                <a:cs typeface="Arial" panose="020B0604020202020204" pitchFamily="34" charset="0"/>
              </a:rPr>
              <a:t>showing</a:t>
            </a:r>
            <a:r>
              <a:rPr lang="en-GB" spc="20" dirty="0">
                <a:cs typeface="Arial" panose="020B0604020202020204" pitchFamily="34" charset="0"/>
              </a:rPr>
              <a:t> </a:t>
            </a:r>
            <a:r>
              <a:rPr lang="en-GB" spc="-5" dirty="0">
                <a:cs typeface="Arial" panose="020B0604020202020204" pitchFamily="34" charset="0"/>
              </a:rPr>
              <a:t>/</a:t>
            </a:r>
            <a:r>
              <a:rPr lang="en-GB" dirty="0">
                <a:cs typeface="Arial" panose="020B0604020202020204" pitchFamily="34" charset="0"/>
              </a:rPr>
              <a:t> </a:t>
            </a:r>
            <a:r>
              <a:rPr lang="en-GB" spc="-5" dirty="0">
                <a:cs typeface="Arial" panose="020B0604020202020204" pitchFamily="34" charset="0"/>
              </a:rPr>
              <a:t>hiding</a:t>
            </a:r>
            <a:endParaRPr dirty="0">
              <a:cs typeface="Arial" panose="020B0604020202020204" pitchFamily="34" charset="0"/>
            </a:endParaRPr>
          </a:p>
          <a:p>
            <a:pPr marL="342900" indent="-342900">
              <a:spcBef>
                <a:spcPts val="30"/>
              </a:spcBef>
              <a:buFont typeface="Arial" panose="020B0604020202020204" pitchFamily="34" charset="0"/>
              <a:buChar char="•"/>
              <a:defRPr/>
            </a:pPr>
            <a:endParaRPr dirty="0">
              <a:cs typeface="Arial" panose="020B0604020202020204" pitchFamily="34" charset="0"/>
            </a:endParaRPr>
          </a:p>
          <a:p>
            <a:pPr marL="354965" indent="-342900">
              <a:buFont typeface="Arial" panose="020B0604020202020204" pitchFamily="34" charset="0"/>
              <a:buChar char="•"/>
              <a:tabLst>
                <a:tab pos="299085" algn="l"/>
                <a:tab pos="299720" algn="l"/>
              </a:tabLst>
              <a:defRPr/>
            </a:pPr>
            <a:r>
              <a:rPr spc="-5" dirty="0">
                <a:cs typeface="Arial" panose="020B0604020202020204" pitchFamily="34" charset="0"/>
              </a:rPr>
              <a:t>It</a:t>
            </a:r>
            <a:r>
              <a:rPr spc="-15" dirty="0">
                <a:cs typeface="Arial" panose="020B0604020202020204" pitchFamily="34" charset="0"/>
              </a:rPr>
              <a:t> </a:t>
            </a:r>
            <a:r>
              <a:rPr lang="en-US" spc="-10" dirty="0">
                <a:cs typeface="Arial" panose="020B0604020202020204" pitchFamily="34" charset="0"/>
              </a:rPr>
              <a:t>enables </a:t>
            </a:r>
            <a:r>
              <a:rPr b="1" spc="-5" dirty="0">
                <a:solidFill>
                  <a:schemeClr val="accent1"/>
                </a:solidFill>
                <a:cs typeface="Arial" panose="020B0604020202020204" pitchFamily="34" charset="0"/>
              </a:rPr>
              <a:t>animation</a:t>
            </a:r>
            <a:r>
              <a:rPr lang="en-US" b="1" spc="-20" dirty="0">
                <a:solidFill>
                  <a:schemeClr val="accent1"/>
                </a:solidFill>
                <a:cs typeface="Arial" panose="020B0604020202020204" pitchFamily="34" charset="0"/>
              </a:rPr>
              <a:t>-</a:t>
            </a:r>
            <a:r>
              <a:rPr b="1" spc="-10" dirty="0">
                <a:solidFill>
                  <a:schemeClr val="accent1"/>
                </a:solidFill>
                <a:cs typeface="Arial" panose="020B0604020202020204" pitchFamily="34" charset="0"/>
              </a:rPr>
              <a:t>oriented</a:t>
            </a:r>
            <a:r>
              <a:rPr b="1" spc="10" dirty="0">
                <a:solidFill>
                  <a:schemeClr val="accent1"/>
                </a:solidFill>
                <a:cs typeface="Arial" panose="020B0604020202020204" pitchFamily="34" charset="0"/>
              </a:rPr>
              <a:t> </a:t>
            </a:r>
            <a:r>
              <a:rPr b="1" spc="-5" dirty="0">
                <a:solidFill>
                  <a:schemeClr val="accent1"/>
                </a:solidFill>
                <a:cs typeface="Arial" panose="020B0604020202020204" pitchFamily="34" charset="0"/>
              </a:rPr>
              <a:t>application</a:t>
            </a:r>
            <a:endParaRPr dirty="0">
              <a:solidFill>
                <a:schemeClr val="accent1"/>
              </a:solidFill>
              <a:cs typeface="Arial" panose="020B0604020202020204" pitchFamily="34" charset="0"/>
            </a:endParaRPr>
          </a:p>
          <a:p>
            <a:pPr marL="342900" indent="-342900">
              <a:spcBef>
                <a:spcPts val="30"/>
              </a:spcBef>
              <a:buFont typeface="Arial" panose="020B0604020202020204" pitchFamily="34" charset="0"/>
              <a:buChar char="•"/>
              <a:defRPr/>
            </a:pPr>
            <a:endParaRPr dirty="0">
              <a:cs typeface="Arial" panose="020B0604020202020204" pitchFamily="34" charset="0"/>
            </a:endParaRPr>
          </a:p>
          <a:p>
            <a:pPr marL="354965" indent="-342900">
              <a:buFont typeface="Arial" panose="020B0604020202020204" pitchFamily="34" charset="0"/>
              <a:buChar char="•"/>
              <a:tabLst>
                <a:tab pos="299085" algn="l"/>
                <a:tab pos="299720" algn="l"/>
              </a:tabLst>
              <a:defRPr/>
            </a:pPr>
            <a:r>
              <a:rPr lang="en-GB" spc="-10" dirty="0">
                <a:cs typeface="Arial" panose="020B0604020202020204" pitchFamily="34" charset="0"/>
              </a:rPr>
              <a:t>E</a:t>
            </a:r>
            <a:r>
              <a:rPr spc="-10" dirty="0" err="1">
                <a:cs typeface="Arial" panose="020B0604020202020204" pitchFamily="34" charset="0"/>
              </a:rPr>
              <a:t>ffects</a:t>
            </a:r>
            <a:r>
              <a:rPr spc="15" dirty="0">
                <a:cs typeface="Arial" panose="020B0604020202020204" pitchFamily="34" charset="0"/>
              </a:rPr>
              <a:t> </a:t>
            </a:r>
            <a:r>
              <a:rPr spc="-10" dirty="0">
                <a:cs typeface="Arial" panose="020B0604020202020204" pitchFamily="34" charset="0"/>
              </a:rPr>
              <a:t>provide</a:t>
            </a:r>
            <a:r>
              <a:rPr spc="20" dirty="0">
                <a:cs typeface="Arial" panose="020B0604020202020204" pitchFamily="34" charset="0"/>
              </a:rPr>
              <a:t> </a:t>
            </a:r>
            <a:r>
              <a:rPr spc="-5" dirty="0">
                <a:cs typeface="Arial" panose="020B0604020202020204" pitchFamily="34" charset="0"/>
              </a:rPr>
              <a:t>easier</a:t>
            </a:r>
            <a:r>
              <a:rPr spc="10" dirty="0">
                <a:cs typeface="Arial" panose="020B0604020202020204" pitchFamily="34" charset="0"/>
              </a:rPr>
              <a:t> </a:t>
            </a:r>
            <a:r>
              <a:rPr spc="-15" dirty="0">
                <a:cs typeface="Arial" panose="020B0604020202020204" pitchFamily="34" charset="0"/>
              </a:rPr>
              <a:t>way</a:t>
            </a:r>
            <a:r>
              <a:rPr dirty="0">
                <a:cs typeface="Arial" panose="020B0604020202020204" pitchFamily="34" charset="0"/>
              </a:rPr>
              <a:t> </a:t>
            </a:r>
            <a:r>
              <a:rPr spc="-5" dirty="0">
                <a:cs typeface="Arial" panose="020B0604020202020204" pitchFamily="34" charset="0"/>
              </a:rPr>
              <a:t>to</a:t>
            </a:r>
            <a:r>
              <a:rPr dirty="0">
                <a:cs typeface="Arial" panose="020B0604020202020204" pitchFamily="34" charset="0"/>
              </a:rPr>
              <a:t> </a:t>
            </a:r>
            <a:r>
              <a:rPr spc="-5" dirty="0">
                <a:cs typeface="Arial" panose="020B0604020202020204" pitchFamily="34" charset="0"/>
              </a:rPr>
              <a:t>deal</a:t>
            </a:r>
            <a:r>
              <a:rPr dirty="0">
                <a:cs typeface="Arial" panose="020B0604020202020204" pitchFamily="34" charset="0"/>
              </a:rPr>
              <a:t> </a:t>
            </a:r>
            <a:r>
              <a:rPr spc="-5" dirty="0">
                <a:cs typeface="Arial" panose="020B0604020202020204" pitchFamily="34" charset="0"/>
              </a:rPr>
              <a:t>with</a:t>
            </a:r>
            <a:r>
              <a:rPr dirty="0">
                <a:cs typeface="Arial" panose="020B0604020202020204" pitchFamily="34" charset="0"/>
              </a:rPr>
              <a:t> </a:t>
            </a:r>
            <a:r>
              <a:rPr spc="-5" dirty="0">
                <a:cs typeface="Arial" panose="020B0604020202020204" pitchFamily="34" charset="0"/>
              </a:rPr>
              <a:t>HTML</a:t>
            </a:r>
            <a:r>
              <a:rPr spc="-65" dirty="0">
                <a:cs typeface="Arial" panose="020B0604020202020204" pitchFamily="34" charset="0"/>
              </a:rPr>
              <a:t> </a:t>
            </a:r>
            <a:r>
              <a:rPr spc="-5" dirty="0">
                <a:cs typeface="Arial" panose="020B0604020202020204" pitchFamily="34" charset="0"/>
              </a:rPr>
              <a:t>elements</a:t>
            </a:r>
            <a:endParaRPr dirty="0">
              <a:cs typeface="Arial" panose="020B0604020202020204" pitchFamily="34" charset="0"/>
            </a:endParaRPr>
          </a:p>
          <a:p>
            <a:pPr marL="342900" indent="-342900">
              <a:spcBef>
                <a:spcPts val="25"/>
              </a:spcBef>
              <a:buFont typeface="Arial" panose="020B0604020202020204" pitchFamily="34" charset="0"/>
              <a:buChar char="•"/>
              <a:defRPr/>
            </a:pPr>
            <a:endParaRPr dirty="0">
              <a:cs typeface="Arial" panose="020B0604020202020204" pitchFamily="34" charset="0"/>
            </a:endParaRPr>
          </a:p>
          <a:p>
            <a:pPr marL="354965" indent="-342900"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299085" algn="l"/>
                <a:tab pos="299720" algn="l"/>
              </a:tabLst>
              <a:defRPr/>
            </a:pPr>
            <a:r>
              <a:rPr lang="en-US" dirty="0">
                <a:cs typeface="Arial" panose="020B0604020202020204" pitchFamily="34" charset="0"/>
              </a:rPr>
              <a:t>Fewer lines of code is needed</a:t>
            </a:r>
            <a:endParaRPr dirty="0">
              <a:cs typeface="Arial" panose="020B0604020202020204" pitchFamily="34" charset="0"/>
            </a:endParaRPr>
          </a:p>
          <a:p>
            <a:pPr marL="342900" indent="-342900">
              <a:spcBef>
                <a:spcPts val="25"/>
              </a:spcBef>
              <a:buFont typeface="Arial" panose="020B0604020202020204" pitchFamily="34" charset="0"/>
              <a:buChar char="•"/>
              <a:defRPr/>
            </a:pPr>
            <a:endParaRPr dirty="0">
              <a:cs typeface="Arial" panose="020B0604020202020204" pitchFamily="34" charset="0"/>
            </a:endParaRPr>
          </a:p>
          <a:p>
            <a:pPr marL="354965" indent="-342900"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299085" algn="l"/>
                <a:tab pos="299720" algn="l"/>
              </a:tabLst>
              <a:defRPr/>
            </a:pPr>
            <a:r>
              <a:rPr spc="-5" dirty="0">
                <a:cs typeface="Arial" panose="020B0604020202020204" pitchFamily="34" charset="0"/>
              </a:rPr>
              <a:t>Multiple</a:t>
            </a:r>
            <a:r>
              <a:rPr spc="-40" dirty="0">
                <a:cs typeface="Arial" panose="020B0604020202020204" pitchFamily="34" charset="0"/>
              </a:rPr>
              <a:t> </a:t>
            </a:r>
            <a:r>
              <a:rPr spc="-10" dirty="0">
                <a:cs typeface="Arial" panose="020B0604020202020204" pitchFamily="34" charset="0"/>
              </a:rPr>
              <a:t>effects</a:t>
            </a:r>
            <a:r>
              <a:rPr spc="20" dirty="0">
                <a:cs typeface="Arial" panose="020B0604020202020204" pitchFamily="34" charset="0"/>
              </a:rPr>
              <a:t> </a:t>
            </a:r>
            <a:r>
              <a:rPr spc="-10" dirty="0">
                <a:cs typeface="Arial" panose="020B0604020202020204" pitchFamily="34" charset="0"/>
              </a:rPr>
              <a:t>can</a:t>
            </a:r>
            <a:r>
              <a:rPr spc="-15" dirty="0">
                <a:cs typeface="Arial" panose="020B0604020202020204" pitchFamily="34" charset="0"/>
              </a:rPr>
              <a:t> </a:t>
            </a:r>
            <a:r>
              <a:rPr spc="-5" dirty="0">
                <a:cs typeface="Arial" panose="020B0604020202020204" pitchFamily="34" charset="0"/>
              </a:rPr>
              <a:t>be</a:t>
            </a:r>
            <a:r>
              <a:rPr spc="20" dirty="0">
                <a:cs typeface="Arial" panose="020B0604020202020204" pitchFamily="34" charset="0"/>
              </a:rPr>
              <a:t> </a:t>
            </a:r>
            <a:r>
              <a:rPr spc="-10" dirty="0">
                <a:cs typeface="Arial" panose="020B0604020202020204" pitchFamily="34" charset="0"/>
              </a:rPr>
              <a:t>combined</a:t>
            </a:r>
            <a:r>
              <a:rPr spc="15" dirty="0">
                <a:cs typeface="Arial" panose="020B0604020202020204" pitchFamily="34" charset="0"/>
              </a:rPr>
              <a:t> </a:t>
            </a:r>
            <a:r>
              <a:rPr spc="-5" dirty="0">
                <a:cs typeface="Arial" panose="020B0604020202020204" pitchFamily="34" charset="0"/>
              </a:rPr>
              <a:t>as</a:t>
            </a:r>
            <a:r>
              <a:rPr spc="-10" dirty="0">
                <a:cs typeface="Arial" panose="020B0604020202020204" pitchFamily="34" charset="0"/>
              </a:rPr>
              <a:t> well</a:t>
            </a:r>
            <a:r>
              <a:rPr spc="-20" dirty="0">
                <a:cs typeface="Arial" panose="020B0604020202020204" pitchFamily="34" charset="0"/>
              </a:rPr>
              <a:t> </a:t>
            </a:r>
            <a:r>
              <a:rPr spc="-5" dirty="0">
                <a:cs typeface="Arial" panose="020B0604020202020204" pitchFamily="34" charset="0"/>
              </a:rPr>
              <a:t>using</a:t>
            </a:r>
            <a:r>
              <a:rPr dirty="0">
                <a:cs typeface="Arial" panose="020B0604020202020204" pitchFamily="34" charset="0"/>
              </a:rPr>
              <a:t> </a:t>
            </a:r>
            <a:r>
              <a:rPr b="1" spc="-10" dirty="0">
                <a:solidFill>
                  <a:schemeClr val="accent2"/>
                </a:solidFill>
                <a:cs typeface="Arial" panose="020B0604020202020204" pitchFamily="34" charset="0"/>
              </a:rPr>
              <a:t>jQuery</a:t>
            </a:r>
            <a:r>
              <a:rPr b="1" spc="35" dirty="0">
                <a:solidFill>
                  <a:schemeClr val="accent2"/>
                </a:solidFill>
                <a:cs typeface="Arial" panose="020B0604020202020204" pitchFamily="34" charset="0"/>
              </a:rPr>
              <a:t> </a:t>
            </a:r>
            <a:r>
              <a:rPr b="1" spc="-10" dirty="0">
                <a:solidFill>
                  <a:schemeClr val="accent2"/>
                </a:solidFill>
                <a:cs typeface="Arial" panose="020B0604020202020204" pitchFamily="34" charset="0"/>
              </a:rPr>
              <a:t>effects</a:t>
            </a:r>
            <a:r>
              <a:rPr b="1" spc="10" dirty="0">
                <a:solidFill>
                  <a:schemeClr val="accent2"/>
                </a:solidFill>
                <a:cs typeface="Arial" panose="020B0604020202020204" pitchFamily="34" charset="0"/>
              </a:rPr>
              <a:t> </a:t>
            </a:r>
            <a:r>
              <a:rPr b="1" spc="-5" dirty="0">
                <a:solidFill>
                  <a:schemeClr val="accent2"/>
                </a:solidFill>
                <a:cs typeface="Arial" panose="020B0604020202020204" pitchFamily="34" charset="0"/>
              </a:rPr>
              <a:t>chaining</a:t>
            </a:r>
            <a:endParaRPr dirty="0">
              <a:solidFill>
                <a:schemeClr val="accent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77542AC-69D0-4C1C-D022-4F923EEAD3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2422"/>
            <a:ext cx="8785225" cy="689932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pc="-5" dirty="0"/>
              <a:t>Hide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Show</a:t>
            </a:r>
            <a:r>
              <a:rPr spc="-20" dirty="0"/>
              <a:t> </a:t>
            </a:r>
            <a:r>
              <a:rPr lang="en-GB" spc="-20" dirty="0"/>
              <a:t>Effects</a:t>
            </a:r>
            <a:endParaRPr spc="-20" dirty="0"/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7E8FDE39-520E-F71C-47C9-72725C7E55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5162898"/>
              </p:ext>
            </p:extLst>
          </p:nvPr>
        </p:nvGraphicFramePr>
        <p:xfrm>
          <a:off x="261938" y="1700808"/>
          <a:ext cx="8626475" cy="19780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3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4909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600" b="1" spc="-5" dirty="0">
                          <a:latin typeface="Calibri"/>
                          <a:cs typeface="Calibri"/>
                        </a:rPr>
                        <a:t>Selector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600" b="1" spc="-5" dirty="0">
                          <a:latin typeface="Calibri"/>
                          <a:cs typeface="Calibri"/>
                        </a:rPr>
                        <a:t>Description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762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5129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b="1" spc="-10" dirty="0">
                          <a:solidFill>
                            <a:srgbClr val="DB0961"/>
                          </a:solidFill>
                          <a:latin typeface="Courier New"/>
                          <a:cs typeface="Courier New"/>
                        </a:rPr>
                        <a:t>$(selector).hide(speed,callback);</a:t>
                      </a:r>
                      <a:endParaRPr sz="1400" dirty="0">
                        <a:latin typeface="Courier New"/>
                        <a:cs typeface="Courier New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Hide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selected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element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  <a:p>
                      <a:pPr marL="90170">
                        <a:lnSpc>
                          <a:spcPts val="1620"/>
                        </a:lnSpc>
                        <a:spcBef>
                          <a:spcPts val="5"/>
                        </a:spcBef>
                        <a:tabLst>
                          <a:tab pos="781050" algn="l"/>
                        </a:tabLst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Speed	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400" spc="2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slow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fast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milliseconds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  <a:p>
                      <a:pPr marL="90170">
                        <a:lnSpc>
                          <a:spcPts val="1620"/>
                        </a:lnSpc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Callback</a:t>
                      </a:r>
                      <a:r>
                        <a:rPr sz="1400" b="1" spc="2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400" spc="2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study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later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topic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248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400" b="1" spc="-10" dirty="0">
                          <a:solidFill>
                            <a:srgbClr val="DB0961"/>
                          </a:solidFill>
                          <a:latin typeface="Courier New"/>
                          <a:cs typeface="Courier New"/>
                        </a:rPr>
                        <a:t>$(selector).show(speed,callback);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Show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selected element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738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b="1" spc="-10" dirty="0">
                          <a:solidFill>
                            <a:srgbClr val="DB0961"/>
                          </a:solidFill>
                          <a:latin typeface="Courier New"/>
                          <a:cs typeface="Courier New"/>
                        </a:rPr>
                        <a:t>$(selector).toggle(speed,callback);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Toggle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between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hide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show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selected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element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77542AC-69D0-4C1C-D022-4F923EEAD3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2422"/>
            <a:ext cx="8785225" cy="689932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pc="-5" dirty="0"/>
              <a:t>Hide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Show</a:t>
            </a:r>
            <a:r>
              <a:rPr spc="-20" dirty="0"/>
              <a:t> </a:t>
            </a:r>
            <a:r>
              <a:rPr lang="en-GB" spc="-20" dirty="0"/>
              <a:t>E</a:t>
            </a:r>
            <a:r>
              <a:rPr spc="-20" dirty="0" err="1"/>
              <a:t>ffects</a:t>
            </a:r>
            <a:r>
              <a:rPr lang="en-US" spc="-20" dirty="0"/>
              <a:t> Example</a:t>
            </a:r>
            <a:endParaRPr spc="-2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DB9ACD-9250-F31D-CFFC-7DE07BF67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1340768"/>
            <a:ext cx="5154528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1324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E97FCAE-6577-C984-A009-B57E0EEB25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2422"/>
            <a:ext cx="8785225" cy="689932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pc="-10" dirty="0"/>
              <a:t>Fading</a:t>
            </a:r>
            <a:r>
              <a:rPr spc="-100" dirty="0"/>
              <a:t> </a:t>
            </a:r>
            <a:r>
              <a:rPr lang="en-GB" spc="-100" dirty="0"/>
              <a:t>E</a:t>
            </a:r>
            <a:r>
              <a:rPr spc="-15" dirty="0" err="1"/>
              <a:t>ffects</a:t>
            </a:r>
            <a:endParaRPr spc="-15" dirty="0"/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B2B226B8-A8DD-EE74-65B8-5CB7381FCCFF}"/>
              </a:ext>
            </a:extLst>
          </p:cNvPr>
          <p:cNvGraphicFramePr>
            <a:graphicFrameLocks noGrp="1"/>
          </p:cNvGraphicFramePr>
          <p:nvPr/>
        </p:nvGraphicFramePr>
        <p:xfrm>
          <a:off x="182563" y="1382713"/>
          <a:ext cx="8626475" cy="2073276"/>
        </p:xfrm>
        <a:graphic>
          <a:graphicData uri="http://schemas.openxmlformats.org/drawingml/2006/table">
            <a:tbl>
              <a:tblPr/>
              <a:tblGrid>
                <a:gridCol w="4800600">
                  <a:extLst>
                    <a:ext uri="{9D8B030D-6E8A-4147-A177-3AD203B41FA5}">
                      <a16:colId xmlns:a16="http://schemas.microsoft.com/office/drawing/2014/main" val="2317394663"/>
                    </a:ext>
                  </a:extLst>
                </a:gridCol>
                <a:gridCol w="3825875">
                  <a:extLst>
                    <a:ext uri="{9D8B030D-6E8A-4147-A177-3AD203B41FA5}">
                      <a16:colId xmlns:a16="http://schemas.microsoft.com/office/drawing/2014/main" val="1313189265"/>
                    </a:ext>
                  </a:extLst>
                </a:gridCol>
              </a:tblGrid>
              <a:tr h="414338">
                <a:tc>
                  <a:txBody>
                    <a:bodyPr/>
                    <a:lstStyle>
                      <a:lvl1pPr marL="88900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88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  <a:cs typeface="Calibri" panose="020F0502020204030204" pitchFamily="34" charset="0"/>
                        </a:rPr>
                        <a:t>Selector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endParaRPr>
                    </a:p>
                  </a:txBody>
                  <a:tcPr marL="0" marR="0" marT="7493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 marL="88900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  <a:cs typeface="Calibri" panose="020F0502020204030204" pitchFamily="34" charset="0"/>
                        </a:rPr>
                        <a:t>Description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endParaRPr>
                    </a:p>
                  </a:txBody>
                  <a:tcPr marL="0" marR="0" marT="762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059640"/>
                  </a:ext>
                </a:extLst>
              </a:tr>
              <a:tr h="309563">
                <a:tc>
                  <a:txBody>
                    <a:bodyPr/>
                    <a:lstStyle>
                      <a:lvl1pPr marL="88900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DB0961"/>
                          </a:solidFill>
                          <a:effectLst/>
                          <a:latin typeface="Courier New" panose="02070309020205020404" pitchFamily="49" charset="0"/>
                          <a:ea typeface="ＭＳ Ｐゴシック" panose="020B0600070205080204" pitchFamily="34" charset="-128"/>
                          <a:cs typeface="Courier New" panose="02070309020205020404" pitchFamily="49" charset="0"/>
                        </a:rPr>
                        <a:t>$(selector).fadeIn(speed,callback);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ＭＳ Ｐゴシック" panose="020B0600070205080204" pitchFamily="34" charset="-128"/>
                        <a:cs typeface="Courier New" panose="02070309020205020404" pitchFamily="49" charset="0"/>
                      </a:endParaRPr>
                    </a:p>
                  </a:txBody>
                  <a:tcPr marL="0" marR="0" marT="3302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 marL="88900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  <a:cs typeface="Calibri" panose="020F0502020204030204" pitchFamily="34" charset="0"/>
                        </a:rPr>
                        <a:t>It is used to fade in a hidden elements</a:t>
                      </a: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932853"/>
                  </a:ext>
                </a:extLst>
              </a:tr>
              <a:tr h="333375">
                <a:tc>
                  <a:txBody>
                    <a:bodyPr/>
                    <a:lstStyle>
                      <a:lvl1pPr marL="88900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DB0961"/>
                          </a:solidFill>
                          <a:effectLst/>
                          <a:latin typeface="Courier New" panose="02070309020205020404" pitchFamily="49" charset="0"/>
                          <a:ea typeface="ＭＳ Ｐゴシック" panose="020B0600070205080204" pitchFamily="34" charset="-128"/>
                          <a:cs typeface="Courier New" panose="02070309020205020404" pitchFamily="49" charset="0"/>
                        </a:rPr>
                        <a:t>$(selector).fadeOut(speed,callback);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ＭＳ Ｐゴシック" panose="020B0600070205080204" pitchFamily="34" charset="-128"/>
                        <a:cs typeface="Courier New" panose="02070309020205020404" pitchFamily="49" charset="0"/>
                      </a:endParaRPr>
                    </a:p>
                  </a:txBody>
                  <a:tcPr marL="0" marR="0" marT="52069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 marL="88900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  <a:cs typeface="Calibri" panose="020F0502020204030204" pitchFamily="34" charset="0"/>
                        </a:rPr>
                        <a:t>It is used to fade out a visible element</a:t>
                      </a: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884842"/>
                  </a:ext>
                </a:extLst>
              </a:tr>
              <a:tr h="508000">
                <a:tc>
                  <a:txBody>
                    <a:bodyPr/>
                    <a:lstStyle>
                      <a:lvl1pPr marL="88900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DB0961"/>
                          </a:solidFill>
                          <a:effectLst/>
                          <a:latin typeface="Courier New" panose="02070309020205020404" pitchFamily="49" charset="0"/>
                          <a:ea typeface="ＭＳ Ｐゴシック" panose="020B0600070205080204" pitchFamily="34" charset="-128"/>
                          <a:cs typeface="Courier New" panose="02070309020205020404" pitchFamily="49" charset="0"/>
                        </a:rPr>
                        <a:t>$(selector).fadeToggle(speed,callback);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ＭＳ Ｐゴシック" panose="020B0600070205080204" pitchFamily="34" charset="-128"/>
                        <a:cs typeface="Courier New" panose="02070309020205020404" pitchFamily="49" charset="0"/>
                      </a:endParaRPr>
                    </a:p>
                  </a:txBody>
                  <a:tcPr marL="0" marR="0" marT="33655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 marL="88900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88900" marR="0" lvl="0" indent="0" algn="l" defTabSz="914400" rtl="0" eaLnBrk="1" fontAlgn="base" latinLnBrk="0" hangingPunct="1">
                        <a:lnSpc>
                          <a:spcPts val="1625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  <a:cs typeface="Calibri" panose="020F0502020204030204" pitchFamily="34" charset="0"/>
                        </a:rPr>
                        <a:t>Toggles between the fadeIn() and fadeOut()</a:t>
                      </a:r>
                    </a:p>
                    <a:p>
                      <a:pPr marL="88900" marR="0" lvl="0" indent="0" algn="l" defTabSz="914400" rtl="0" eaLnBrk="1" fontAlgn="base" latinLnBrk="0" hangingPunct="1">
                        <a:lnSpc>
                          <a:spcPts val="16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  <a:cs typeface="Calibri" panose="020F0502020204030204" pitchFamily="34" charset="0"/>
                        </a:rPr>
                        <a:t>methods</a:t>
                      </a: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106974"/>
                  </a:ext>
                </a:extLst>
              </a:tr>
              <a:tr h="508000">
                <a:tc>
                  <a:txBody>
                    <a:bodyPr/>
                    <a:lstStyle>
                      <a:lvl1pPr marL="88900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DB0961"/>
                          </a:solidFill>
                          <a:effectLst/>
                          <a:latin typeface="Courier New" panose="02070309020205020404" pitchFamily="49" charset="0"/>
                          <a:ea typeface="ＭＳ Ｐゴシック" panose="020B0600070205080204" pitchFamily="34" charset="-128"/>
                          <a:cs typeface="Courier New" panose="02070309020205020404" pitchFamily="49" charset="0"/>
                        </a:rPr>
                        <a:t>$(selector).fadeTo(speed,opacity,callback);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ＭＳ Ｐゴシック" panose="020B0600070205080204" pitchFamily="34" charset="-128"/>
                        <a:cs typeface="Courier New" panose="02070309020205020404" pitchFamily="49" charset="0"/>
                      </a:endParaRPr>
                    </a:p>
                  </a:txBody>
                  <a:tcPr marL="0" marR="0" marT="33655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 marL="88900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88900" marR="0" lvl="0" indent="0" algn="l" defTabSz="914400" rtl="0" eaLnBrk="1" fontAlgn="base" latinLnBrk="0" hangingPunct="1">
                        <a:lnSpc>
                          <a:spcPts val="1575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  <a:cs typeface="Calibri" panose="020F0502020204030204" pitchFamily="34" charset="0"/>
                        </a:rPr>
                        <a:t>Allows fading to a given opacity (value between 0  and 1)</a:t>
                      </a:r>
                    </a:p>
                  </a:txBody>
                  <a:tcPr marL="0" marR="0" marT="56515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3569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E97FCAE-6577-C984-A009-B57E0EEB25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115888"/>
            <a:ext cx="8785225" cy="1143000"/>
          </a:xfrm>
        </p:spPr>
        <p:txBody>
          <a:bodyPr wrap="square" lIns="0" tIns="12700" rIns="0" bIns="0" rtlCol="0" anchor="ctr">
            <a:norm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pc="-10" dirty="0"/>
              <a:t>Fading</a:t>
            </a:r>
            <a:r>
              <a:rPr spc="-100" dirty="0"/>
              <a:t> </a:t>
            </a:r>
            <a:r>
              <a:rPr lang="en-GB" spc="-15" dirty="0"/>
              <a:t>Effects</a:t>
            </a:r>
            <a:r>
              <a:rPr lang="en-US" spc="-15" dirty="0"/>
              <a:t> - Example</a:t>
            </a:r>
            <a:endParaRPr lang="en-GB" spc="-15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AFD201-33A2-D789-7829-41EBF2851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1412776"/>
            <a:ext cx="4628858" cy="47525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877410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A32EBAF-3E3F-333A-0C87-D79E47DDC6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2422"/>
            <a:ext cx="8785225" cy="689932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pc="-5" dirty="0"/>
              <a:t>Sliding</a:t>
            </a:r>
            <a:r>
              <a:rPr spc="-80" dirty="0"/>
              <a:t> </a:t>
            </a:r>
            <a:r>
              <a:rPr lang="en-GB" spc="-15" dirty="0"/>
              <a:t>Effects</a:t>
            </a:r>
            <a:endParaRPr spc="-15" dirty="0"/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B63E15C8-A3DB-AF4F-AAE3-141B9017DE51}"/>
              </a:ext>
            </a:extLst>
          </p:cNvPr>
          <p:cNvGraphicFramePr>
            <a:graphicFrameLocks noGrp="1"/>
          </p:cNvGraphicFramePr>
          <p:nvPr/>
        </p:nvGraphicFramePr>
        <p:xfrm>
          <a:off x="222250" y="1746250"/>
          <a:ext cx="8901114" cy="15668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959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0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095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600" b="1" spc="-5" dirty="0">
                          <a:latin typeface="Calibri"/>
                          <a:cs typeface="Calibri"/>
                        </a:rPr>
                        <a:t>Selector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7496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600" b="1" spc="-5" dirty="0">
                          <a:latin typeface="Calibri"/>
                          <a:cs typeface="Calibri"/>
                        </a:rPr>
                        <a:t>Description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762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891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b="1" spc="-10" dirty="0">
                          <a:solidFill>
                            <a:srgbClr val="DB0961"/>
                          </a:solidFill>
                          <a:latin typeface="Courier New"/>
                          <a:cs typeface="Courier New"/>
                        </a:rPr>
                        <a:t>$(selector).slideDown(speed,callback);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330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Slide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down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element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11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97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400" b="1" spc="-10" dirty="0">
                          <a:solidFill>
                            <a:srgbClr val="DB0961"/>
                          </a:solidFill>
                          <a:latin typeface="Courier New"/>
                          <a:cs typeface="Courier New"/>
                        </a:rPr>
                        <a:t>$(selector).slideUp(speed,callback);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52092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Slide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up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element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11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48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b="1" spc="-10" dirty="0">
                          <a:solidFill>
                            <a:srgbClr val="DB0961"/>
                          </a:solidFill>
                          <a:latin typeface="Courier New"/>
                          <a:cs typeface="Courier New"/>
                        </a:rPr>
                        <a:t>$(selector).slideToggle(speed,callback);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33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625"/>
                        </a:lnSpc>
                        <a:spcBef>
                          <a:spcPts val="300"/>
                        </a:spcBef>
                      </a:pPr>
                      <a:r>
                        <a:rPr sz="1400" spc="-15" dirty="0">
                          <a:latin typeface="Calibri"/>
                          <a:cs typeface="Calibri"/>
                        </a:rPr>
                        <a:t>Toggles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between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slideDown()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and slideUp()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  <a:p>
                      <a:pPr marL="90170">
                        <a:lnSpc>
                          <a:spcPts val="1625"/>
                        </a:lnSpc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methods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811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A32EBAF-3E3F-333A-0C87-D79E47DDC6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115888"/>
            <a:ext cx="8785225" cy="1143000"/>
          </a:xfrm>
        </p:spPr>
        <p:txBody>
          <a:bodyPr wrap="square" lIns="0" tIns="12700" rIns="0" bIns="0" rtlCol="0" anchor="ctr">
            <a:norm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lang="en-GB" spc="-5" dirty="0"/>
              <a:t>Sliding</a:t>
            </a:r>
            <a:r>
              <a:rPr lang="en-GB" spc="-80" dirty="0"/>
              <a:t> </a:t>
            </a:r>
            <a:r>
              <a:rPr lang="en-GB" spc="-15" dirty="0"/>
              <a:t>Effects</a:t>
            </a:r>
          </a:p>
        </p:txBody>
      </p:sp>
      <p:pic>
        <p:nvPicPr>
          <p:cNvPr id="5" name="Picture 4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4345D75E-BE8E-4239-67CC-3F330BAE3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5704" y="1340768"/>
            <a:ext cx="4412560" cy="476373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370860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>
            <a:extLst>
              <a:ext uri="{FF2B5EF4-FFF2-40B4-BE49-F238E27FC236}">
                <a16:creationId xmlns:a16="http://schemas.microsoft.com/office/drawing/2014/main" id="{3D3CA075-0DD4-A0DE-1C1B-E869DF4705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115888"/>
            <a:ext cx="8785225" cy="1143000"/>
          </a:xfr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12700">
              <a:defRPr/>
            </a:pPr>
            <a:r>
              <a:rPr lang="en-GB" spc="-5" dirty="0"/>
              <a:t>Animation</a:t>
            </a:r>
            <a:r>
              <a:rPr lang="en-GB" spc="-90" dirty="0"/>
              <a:t> </a:t>
            </a:r>
            <a:r>
              <a:rPr lang="en-GB" spc="-15" dirty="0"/>
              <a:t>Effects</a:t>
            </a:r>
          </a:p>
        </p:txBody>
      </p:sp>
      <p:pic>
        <p:nvPicPr>
          <p:cNvPr id="3" name="Picture 2" descr="A computer screen shot of text&#10;&#10;Description automatically generated">
            <a:extLst>
              <a:ext uri="{FF2B5EF4-FFF2-40B4-BE49-F238E27FC236}">
                <a16:creationId xmlns:a16="http://schemas.microsoft.com/office/drawing/2014/main" id="{9B9EEF97-1725-0517-C9A3-FA6F610C10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" b="21854"/>
          <a:stretch/>
        </p:blipFill>
        <p:spPr>
          <a:xfrm>
            <a:off x="4139827" y="1306137"/>
            <a:ext cx="4896669" cy="4859167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2BAE45-4F9E-E493-561E-17E9B1CAC077}"/>
              </a:ext>
            </a:extLst>
          </p:cNvPr>
          <p:cNvSpPr txBox="1"/>
          <p:nvPr/>
        </p:nvSpPr>
        <p:spPr>
          <a:xfrm>
            <a:off x="0" y="1988840"/>
            <a:ext cx="424847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Selector &amp; Description</a:t>
            </a:r>
          </a:p>
          <a:p>
            <a:r>
              <a:rPr lang="en-US" sz="1400" b="1" dirty="0"/>
              <a:t>$(selector).animate({params},</a:t>
            </a:r>
            <a:r>
              <a:rPr lang="en-US" sz="1400" b="1" dirty="0" err="1"/>
              <a:t>speed,callback</a:t>
            </a:r>
            <a:r>
              <a:rPr lang="en-US" sz="1400" b="1" dirty="0"/>
              <a:t>);</a:t>
            </a:r>
          </a:p>
          <a:p>
            <a:endParaRPr lang="en-GB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3F31B9E-8B0F-AD46-048C-7F9F7DB4D5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115888"/>
            <a:ext cx="8785225" cy="1143000"/>
          </a:xfr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12700">
              <a:defRPr/>
            </a:pPr>
            <a:r>
              <a:rPr lang="en-GB" dirty="0"/>
              <a:t>Callback</a:t>
            </a:r>
            <a:r>
              <a:rPr lang="en-GB" spc="-55" dirty="0"/>
              <a:t> </a:t>
            </a:r>
            <a:r>
              <a:rPr lang="en-GB" spc="-10" dirty="0"/>
              <a:t>usage</a:t>
            </a:r>
            <a:r>
              <a:rPr lang="en-GB" spc="-30" dirty="0"/>
              <a:t> </a:t>
            </a:r>
            <a:r>
              <a:rPr lang="en-GB" dirty="0"/>
              <a:t>in</a:t>
            </a:r>
            <a:r>
              <a:rPr lang="en-GB" spc="-40" dirty="0"/>
              <a:t> </a:t>
            </a:r>
            <a:r>
              <a:rPr lang="en-GB" dirty="0"/>
              <a:t>jQuery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B6E5A95-C806-6F87-C77E-8A4B57B43660}"/>
              </a:ext>
            </a:extLst>
          </p:cNvPr>
          <p:cNvSpPr txBox="1"/>
          <p:nvPr/>
        </p:nvSpPr>
        <p:spPr bwMode="auto">
          <a:xfrm>
            <a:off x="144462" y="1628800"/>
            <a:ext cx="4067498" cy="43195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98450" indent="-28575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1800" dirty="0">
                <a:ea typeface="+mn-ea"/>
              </a:rPr>
              <a:t>JavaScript is an </a:t>
            </a:r>
            <a:r>
              <a:rPr lang="en-US" altLang="en-US" sz="1800" b="1" dirty="0">
                <a:ea typeface="+mn-ea"/>
              </a:rPr>
              <a:t>interpreted language</a:t>
            </a:r>
            <a:r>
              <a:rPr lang="en-US" altLang="en-US" sz="1800" dirty="0">
                <a:ea typeface="+mn-ea"/>
              </a:rPr>
              <a:t>, where statements are </a:t>
            </a:r>
            <a:r>
              <a:rPr lang="en-US" altLang="en-US" sz="1800" b="1" dirty="0">
                <a:ea typeface="+mn-ea"/>
              </a:rPr>
              <a:t>executed line by line</a:t>
            </a:r>
            <a:endParaRPr lang="en-US" altLang="en-US" sz="1800" dirty="0">
              <a:ea typeface="+mn-ea"/>
            </a:endParaRPr>
          </a:p>
          <a:p>
            <a:pPr>
              <a:lnSpc>
                <a:spcPct val="90000"/>
              </a:lnSpc>
              <a:spcBef>
                <a:spcPts val="25"/>
              </a:spcBef>
              <a:buFont typeface="Arial" panose="020B0604020202020204" pitchFamily="34" charset="0"/>
              <a:buChar char="•"/>
            </a:pPr>
            <a:endParaRPr lang="en-US" altLang="en-US" sz="1800" dirty="0">
              <a:ea typeface="+mn-ea"/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ea typeface="+mn-ea"/>
              </a:rPr>
              <a:t>In case of effects, the next line of code can be run even though the current effect is not  finished</a:t>
            </a:r>
          </a:p>
          <a:p>
            <a:pPr>
              <a:lnSpc>
                <a:spcPct val="90000"/>
              </a:lnSpc>
              <a:spcBef>
                <a:spcPts val="25"/>
              </a:spcBef>
              <a:buFont typeface="Arial" panose="020B0604020202020204" pitchFamily="34" charset="0"/>
              <a:buChar char="•"/>
            </a:pPr>
            <a:endParaRPr lang="en-US" altLang="en-US" sz="1800" dirty="0">
              <a:ea typeface="+mn-ea"/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ea typeface="+mn-ea"/>
              </a:rPr>
              <a:t>This will create issue in getting the correct output</a:t>
            </a:r>
          </a:p>
          <a:p>
            <a:pPr>
              <a:lnSpc>
                <a:spcPct val="90000"/>
              </a:lnSpc>
              <a:spcBef>
                <a:spcPts val="25"/>
              </a:spcBef>
              <a:buFont typeface="Arial" panose="020B0604020202020204" pitchFamily="34" charset="0"/>
              <a:buChar char="•"/>
            </a:pPr>
            <a:endParaRPr lang="en-US" altLang="en-US" sz="1800" dirty="0">
              <a:ea typeface="+mn-ea"/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ea typeface="+mn-ea"/>
              </a:rPr>
              <a:t>In order to prevent this </a:t>
            </a:r>
            <a:r>
              <a:rPr lang="en-US" altLang="en-US" sz="1800" b="1" dirty="0">
                <a:ea typeface="+mn-ea"/>
              </a:rPr>
              <a:t>call-back functions </a:t>
            </a:r>
            <a:r>
              <a:rPr lang="en-US" altLang="en-US" sz="1800" dirty="0">
                <a:ea typeface="+mn-ea"/>
              </a:rPr>
              <a:t>are provided in jQuery</a:t>
            </a:r>
          </a:p>
          <a:p>
            <a:pPr>
              <a:lnSpc>
                <a:spcPct val="90000"/>
              </a:lnSpc>
              <a:spcBef>
                <a:spcPts val="25"/>
              </a:spcBef>
              <a:buFont typeface="Arial" panose="020B0604020202020204" pitchFamily="34" charset="0"/>
              <a:buChar char="•"/>
            </a:pPr>
            <a:endParaRPr lang="en-US" altLang="en-US" sz="1800" dirty="0">
              <a:ea typeface="+mn-ea"/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ea typeface="+mn-ea"/>
              </a:rPr>
              <a:t>Callback function is executed after the current effect is finished</a:t>
            </a:r>
          </a:p>
        </p:txBody>
      </p:sp>
      <p:pic>
        <p:nvPicPr>
          <p:cNvPr id="5" name="Picture 4" descr="A computer screen with text&#10;&#10;Description automatically generated">
            <a:extLst>
              <a:ext uri="{FF2B5EF4-FFF2-40B4-BE49-F238E27FC236}">
                <a16:creationId xmlns:a16="http://schemas.microsoft.com/office/drawing/2014/main" id="{1AA81C96-5A86-1357-AB36-71D422125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554" y="1628800"/>
            <a:ext cx="4741496" cy="399240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43834B95-9F49-E9F9-7031-F7001D321C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115888"/>
            <a:ext cx="8785225" cy="1143000"/>
          </a:xfr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12700">
              <a:defRPr/>
            </a:pPr>
            <a:r>
              <a:rPr spc="-5" dirty="0"/>
              <a:t>Chaining</a:t>
            </a:r>
            <a:r>
              <a:rPr spc="-5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jQuery</a:t>
            </a:r>
            <a:endParaRPr lang="en-GB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436EA4B-7516-8D4F-EBC8-AF5FD54CFCB3}"/>
              </a:ext>
            </a:extLst>
          </p:cNvPr>
          <p:cNvSpPr txBox="1"/>
          <p:nvPr/>
        </p:nvSpPr>
        <p:spPr bwMode="auto">
          <a:xfrm>
            <a:off x="107950" y="1845717"/>
            <a:ext cx="3887986" cy="43195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297815" indent="-28575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99085" algn="l"/>
                <a:tab pos="299720" algn="l"/>
              </a:tabLst>
              <a:defRPr/>
            </a:pPr>
            <a:r>
              <a:rPr lang="en-US" sz="2000" spc="-5" dirty="0">
                <a:ea typeface="+mn-ea"/>
              </a:rPr>
              <a:t>Multiple</a:t>
            </a:r>
            <a:r>
              <a:rPr lang="en-US" sz="2000" spc="20" dirty="0">
                <a:ea typeface="+mn-ea"/>
              </a:rPr>
              <a:t> </a:t>
            </a:r>
            <a:r>
              <a:rPr lang="en-US" sz="2000" spc="-5" dirty="0">
                <a:ea typeface="+mn-ea"/>
              </a:rPr>
              <a:t>jQuery</a:t>
            </a:r>
            <a:r>
              <a:rPr lang="en-US" sz="2000" spc="-10" dirty="0">
                <a:ea typeface="+mn-ea"/>
              </a:rPr>
              <a:t> </a:t>
            </a:r>
            <a:r>
              <a:rPr lang="en-US" sz="2000" spc="-5" dirty="0">
                <a:ea typeface="+mn-ea"/>
              </a:rPr>
              <a:t>actions/methods</a:t>
            </a:r>
            <a:r>
              <a:rPr lang="en-US" sz="2000" spc="25" dirty="0">
                <a:ea typeface="+mn-ea"/>
              </a:rPr>
              <a:t> </a:t>
            </a:r>
            <a:r>
              <a:rPr lang="en-US" sz="2000" spc="-10" dirty="0">
                <a:ea typeface="+mn-ea"/>
              </a:rPr>
              <a:t>can</a:t>
            </a:r>
            <a:r>
              <a:rPr lang="en-US" sz="2000" spc="5" dirty="0">
                <a:ea typeface="+mn-ea"/>
              </a:rPr>
              <a:t> </a:t>
            </a:r>
            <a:r>
              <a:rPr lang="en-US" sz="2000" spc="-5" dirty="0">
                <a:ea typeface="+mn-ea"/>
              </a:rPr>
              <a:t>be</a:t>
            </a:r>
            <a:r>
              <a:rPr lang="en-US" sz="2000" spc="15" dirty="0">
                <a:ea typeface="+mn-ea"/>
              </a:rPr>
              <a:t> </a:t>
            </a:r>
            <a:r>
              <a:rPr lang="en-US" sz="2000" spc="-10" dirty="0">
                <a:ea typeface="+mn-ea"/>
              </a:rPr>
              <a:t>combined</a:t>
            </a:r>
            <a:r>
              <a:rPr lang="en-US" sz="2000" spc="15" dirty="0">
                <a:ea typeface="+mn-ea"/>
              </a:rPr>
              <a:t> </a:t>
            </a:r>
            <a:r>
              <a:rPr lang="en-US" sz="2000" spc="-5" dirty="0">
                <a:ea typeface="+mn-ea"/>
              </a:rPr>
              <a:t>together</a:t>
            </a:r>
            <a:endParaRPr lang="en-US" sz="2000" dirty="0">
              <a:ea typeface="+mn-ea"/>
            </a:endParaRPr>
          </a:p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99085" algn="l"/>
                <a:tab pos="299720" algn="l"/>
              </a:tabLst>
              <a:defRPr/>
            </a:pPr>
            <a:r>
              <a:rPr lang="en-US" sz="2000" dirty="0">
                <a:ea typeface="+mn-ea"/>
              </a:rPr>
              <a:t>It </a:t>
            </a:r>
            <a:r>
              <a:rPr lang="en-US" sz="2000" spc="-5" dirty="0">
                <a:ea typeface="+mn-ea"/>
              </a:rPr>
              <a:t>helps</a:t>
            </a:r>
            <a:r>
              <a:rPr lang="en-US" sz="2000" spc="15" dirty="0">
                <a:ea typeface="+mn-ea"/>
              </a:rPr>
              <a:t> </a:t>
            </a:r>
            <a:r>
              <a:rPr lang="en-US" sz="2000" spc="-10" dirty="0">
                <a:ea typeface="+mn-ea"/>
              </a:rPr>
              <a:t>to</a:t>
            </a:r>
            <a:r>
              <a:rPr lang="en-US" sz="2000" spc="-5" dirty="0">
                <a:ea typeface="+mn-ea"/>
              </a:rPr>
              <a:t> </a:t>
            </a:r>
            <a:r>
              <a:rPr lang="en-US" sz="2000" spc="-15" dirty="0">
                <a:ea typeface="+mn-ea"/>
              </a:rPr>
              <a:t>execute</a:t>
            </a:r>
            <a:r>
              <a:rPr lang="en-US" sz="2000" dirty="0">
                <a:ea typeface="+mn-ea"/>
              </a:rPr>
              <a:t> </a:t>
            </a:r>
            <a:r>
              <a:rPr lang="en-US" sz="2000" spc="-5" dirty="0">
                <a:ea typeface="+mn-ea"/>
              </a:rPr>
              <a:t>multiple</a:t>
            </a:r>
            <a:r>
              <a:rPr lang="en-US" sz="2000" spc="20" dirty="0">
                <a:ea typeface="+mn-ea"/>
              </a:rPr>
              <a:t> </a:t>
            </a:r>
            <a:r>
              <a:rPr lang="en-US" sz="2000" spc="-5" dirty="0">
                <a:ea typeface="+mn-ea"/>
              </a:rPr>
              <a:t>actions</a:t>
            </a:r>
            <a:r>
              <a:rPr lang="en-US" sz="2000" spc="15" dirty="0">
                <a:ea typeface="+mn-ea"/>
              </a:rPr>
              <a:t> </a:t>
            </a:r>
            <a:r>
              <a:rPr lang="en-US" sz="2000" spc="-5" dirty="0">
                <a:ea typeface="+mn-ea"/>
              </a:rPr>
              <a:t>using</a:t>
            </a:r>
            <a:r>
              <a:rPr lang="en-US" sz="2000" dirty="0">
                <a:ea typeface="+mn-ea"/>
              </a:rPr>
              <a:t> </a:t>
            </a:r>
            <a:r>
              <a:rPr lang="en-US" sz="2000" spc="-5" dirty="0">
                <a:ea typeface="+mn-ea"/>
              </a:rPr>
              <a:t>single</a:t>
            </a:r>
            <a:r>
              <a:rPr lang="en-US" sz="2000" spc="15" dirty="0">
                <a:ea typeface="+mn-ea"/>
              </a:rPr>
              <a:t> </a:t>
            </a:r>
            <a:r>
              <a:rPr lang="en-US" sz="2000" spc="-15" dirty="0">
                <a:ea typeface="+mn-ea"/>
              </a:rPr>
              <a:t>statement</a:t>
            </a:r>
            <a:endParaRPr lang="en-US" sz="2000" dirty="0">
              <a:ea typeface="+mn-ea"/>
            </a:endParaRPr>
          </a:p>
          <a:p>
            <a:pPr marL="831850" indent="-342900">
              <a:lnSpc>
                <a:spcPct val="150000"/>
              </a:lnSpc>
              <a:spcBef>
                <a:spcPts val="1385"/>
              </a:spcBef>
              <a:buFont typeface="Wingdings" panose="05000000000000000000" pitchFamily="2" charset="2"/>
              <a:buChar char="q"/>
              <a:defRPr/>
            </a:pPr>
            <a:endParaRPr lang="en-US" sz="1600" dirty="0">
              <a:ea typeface="+mn-e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C747D9-1DF2-6FCF-6735-902E65B72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752" y="1412776"/>
            <a:ext cx="4791861" cy="47503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2DB743F-D570-E7E4-4B25-3618A9A31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- 2</a:t>
            </a:r>
            <a:endParaRPr lang="en-GB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A81ABD-DD9A-CA5F-077A-24E19B26E5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1453" y="1340768"/>
            <a:ext cx="8708901" cy="47089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1. Which method is used to hide an element with a sliding motion in jQuery?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A)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slideHide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()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B)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slideUp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()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C)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hideSlide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2. How do you apply a fading out effect to an element with jQuery?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A)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fadeOut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()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B)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fadeAway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()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C)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opacityOut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3. Which jQuery method is used to animate the custom properties of an element?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A) animate()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B)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customAnimate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()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C) motion()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3016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D7BB58-4CBC-842F-13FB-36CBD2288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 err="1"/>
              <a:t>j</a:t>
            </a:r>
            <a:r>
              <a:rPr lang="en-US" dirty="0" err="1"/>
              <a:t>query</a:t>
            </a:r>
            <a:r>
              <a:rPr lang="en-US" dirty="0"/>
              <a:t> </a:t>
            </a:r>
            <a:r>
              <a:rPr lang="en-US" dirty="0" err="1"/>
              <a:t>dom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497014-A392-E5D0-22AF-2CEF73290B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34093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6" name="object 4">
            <a:extLst>
              <a:ext uri="{FF2B5EF4-FFF2-40B4-BE49-F238E27FC236}">
                <a16:creationId xmlns:a16="http://schemas.microsoft.com/office/drawing/2014/main" id="{3A71C3EA-C1BC-E73F-DB9A-C721FDC0F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3284984"/>
            <a:ext cx="2592288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01226479-0D26-2E56-59FD-3427AB9A2C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2422"/>
            <a:ext cx="8785225" cy="689932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pc="-10" dirty="0"/>
              <a:t>Document</a:t>
            </a:r>
            <a:r>
              <a:rPr spc="-35" dirty="0"/>
              <a:t> </a:t>
            </a:r>
            <a:r>
              <a:rPr spc="-5" dirty="0"/>
              <a:t>Object</a:t>
            </a:r>
            <a:r>
              <a:rPr spc="-30" dirty="0"/>
              <a:t> </a:t>
            </a:r>
            <a:r>
              <a:rPr dirty="0"/>
              <a:t>Model</a:t>
            </a:r>
            <a:r>
              <a:rPr spc="-25" dirty="0"/>
              <a:t> </a:t>
            </a:r>
            <a:r>
              <a:rPr spc="-5" dirty="0"/>
              <a:t>(DOM)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68623DD-126B-E8C3-0A02-A2AE1C02B90B}"/>
              </a:ext>
            </a:extLst>
          </p:cNvPr>
          <p:cNvSpPr txBox="1"/>
          <p:nvPr/>
        </p:nvSpPr>
        <p:spPr>
          <a:xfrm>
            <a:off x="251519" y="1412776"/>
            <a:ext cx="6912769" cy="3705502"/>
          </a:xfrm>
          <a:prstGeom prst="rect">
            <a:avLst/>
          </a:prstGeom>
        </p:spPr>
        <p:txBody>
          <a:bodyPr wrap="square" lIns="0" tIns="12065" rIns="0" bIns="0">
            <a:spAutoFit/>
          </a:bodyPr>
          <a:lstStyle>
            <a:lvl1pPr marL="298450" indent="-28575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8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Document Object Model (DOM) is a platform and language-neutral interface  that allows programs and scripts to </a:t>
            </a:r>
            <a:r>
              <a:rPr lang="en-US" altLang="en-US" sz="2000" b="1" dirty="0">
                <a:solidFill>
                  <a:schemeClr val="accent6"/>
                </a:solidFill>
                <a:cs typeface="Arial" panose="020B0604020202020204" pitchFamily="34" charset="0"/>
              </a:rPr>
              <a:t>dynamically access and update the content,  structure, and style of a document.</a:t>
            </a:r>
            <a:endParaRPr lang="en-US" altLang="en-US" sz="2000" dirty="0">
              <a:solidFill>
                <a:schemeClr val="accent6"/>
              </a:solidFill>
              <a:cs typeface="Arial" panose="020B0604020202020204" pitchFamily="34" charset="0"/>
            </a:endParaRPr>
          </a:p>
          <a:p>
            <a:pPr>
              <a:spcBef>
                <a:spcPts val="25"/>
              </a:spcBef>
              <a:buFont typeface="Arial" panose="020B0604020202020204" pitchFamily="34" charset="0"/>
              <a:buChar char="•"/>
            </a:pPr>
            <a:endParaRPr lang="en-US" altLang="en-US" sz="2000" dirty="0"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jQuery provides multiple methods to manipulate DOM.</a:t>
            </a:r>
          </a:p>
          <a:p>
            <a:pPr>
              <a:spcBef>
                <a:spcPts val="25"/>
              </a:spcBef>
              <a:buFont typeface="Arial" panose="020B0604020202020204" pitchFamily="34" charset="0"/>
              <a:buChar char="•"/>
            </a:pPr>
            <a:endParaRPr lang="en-US" altLang="en-US" sz="2000" dirty="0"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Using these methods it is easy to access and manipulate elements and attributes.</a:t>
            </a:r>
          </a:p>
          <a:p>
            <a:pPr>
              <a:spcBef>
                <a:spcPts val="25"/>
              </a:spcBef>
              <a:buFont typeface="Arial" panose="020B0604020202020204" pitchFamily="34" charset="0"/>
              <a:buChar char="•"/>
            </a:pPr>
            <a:endParaRPr lang="en-US" altLang="en-US" sz="2000" dirty="0"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It also provides methods to change browser window dimensions.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CF1E164-9208-A186-4D52-9BFE9D3C34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2422"/>
            <a:ext cx="8785225" cy="689932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pc="-5" dirty="0"/>
              <a:t>DOM</a:t>
            </a:r>
            <a:r>
              <a:rPr spc="-90" dirty="0"/>
              <a:t> </a:t>
            </a:r>
            <a:r>
              <a:rPr dirty="0"/>
              <a:t>APIs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6C1EF6D6-75A3-7CCB-A501-35D4152FF7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576861"/>
              </p:ext>
            </p:extLst>
          </p:nvPr>
        </p:nvGraphicFramePr>
        <p:xfrm>
          <a:off x="445381" y="1376837"/>
          <a:ext cx="8916987" cy="13827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0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489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600" b="1" spc="-5" dirty="0">
                          <a:latin typeface="Calibri"/>
                          <a:cs typeface="Calibri"/>
                        </a:rPr>
                        <a:t>Selector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7492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600" b="1" spc="-5" dirty="0">
                          <a:latin typeface="Calibri"/>
                          <a:cs typeface="Calibri"/>
                        </a:rPr>
                        <a:t>Description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7619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38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b="1" spc="-5" dirty="0">
                          <a:solidFill>
                            <a:srgbClr val="DB0961"/>
                          </a:solidFill>
                          <a:latin typeface="Courier New"/>
                          <a:cs typeface="Courier New"/>
                        </a:rPr>
                        <a:t>$(selector).text();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Sets or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returns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text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content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selected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elements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0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233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400" b="1" spc="-5" dirty="0">
                          <a:solidFill>
                            <a:srgbClr val="DB0961"/>
                          </a:solidFill>
                          <a:latin typeface="Courier New"/>
                          <a:cs typeface="Courier New"/>
                        </a:rPr>
                        <a:t>$(selector).html();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5206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Sets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returns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content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selected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elements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(including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HTML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mark-up)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0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85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b="1" spc="-5" dirty="0">
                          <a:solidFill>
                            <a:srgbClr val="DB0961"/>
                          </a:solidFill>
                          <a:latin typeface="Courier New"/>
                          <a:cs typeface="Courier New"/>
                        </a:rPr>
                        <a:t>$(selector).val();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3365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Sets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returns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value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of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form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fields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80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F9DD102B-B6DF-9E83-7DD2-89A8A97DB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2810068"/>
            <a:ext cx="4408167" cy="335523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1CAD23E-5B20-DE0C-6B3C-F02B309FD9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73521"/>
            <a:ext cx="8785225" cy="627736"/>
          </a:xfrm>
        </p:spPr>
        <p:txBody>
          <a:bodyPr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4000" spc="-15" dirty="0"/>
              <a:t>Setting</a:t>
            </a:r>
            <a:r>
              <a:rPr sz="4000" spc="15" dirty="0"/>
              <a:t> </a:t>
            </a:r>
            <a:r>
              <a:rPr sz="4000" spc="-10" dirty="0"/>
              <a:t>values</a:t>
            </a:r>
            <a:r>
              <a:rPr sz="4000" spc="-5" dirty="0"/>
              <a:t> </a:t>
            </a:r>
            <a:r>
              <a:rPr sz="4000" spc="-10" dirty="0"/>
              <a:t>using</a:t>
            </a:r>
            <a:r>
              <a:rPr sz="4000" spc="5" dirty="0"/>
              <a:t> </a:t>
            </a:r>
            <a:r>
              <a:rPr sz="4000" spc="-10" dirty="0"/>
              <a:t>DOM</a:t>
            </a:r>
            <a:r>
              <a:rPr sz="4000" spc="-5" dirty="0"/>
              <a:t> APIs</a:t>
            </a:r>
            <a:endParaRPr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F37C09-60ED-530E-37DF-2C83548E9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1484784"/>
            <a:ext cx="5904656" cy="446449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41F4C60-118A-1B7A-4C3F-926C0E3100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2422"/>
            <a:ext cx="8785225" cy="689932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pc="-5" dirty="0"/>
              <a:t>DOM</a:t>
            </a:r>
            <a:r>
              <a:rPr spc="-25" dirty="0"/>
              <a:t> </a:t>
            </a:r>
            <a:r>
              <a:rPr dirty="0"/>
              <a:t>APIs</a:t>
            </a:r>
            <a:r>
              <a:rPr spc="-3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spc="-5" dirty="0"/>
              <a:t>Insert</a:t>
            </a:r>
            <a:r>
              <a:rPr spc="-15" dirty="0"/>
              <a:t> </a:t>
            </a:r>
            <a:r>
              <a:rPr dirty="0"/>
              <a:t>and</a:t>
            </a:r>
            <a:r>
              <a:rPr spc="-15" dirty="0"/>
              <a:t> Remove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F840F72C-AC12-DA98-9BEF-81BA7F39F84B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1412875"/>
          <a:ext cx="8626475" cy="23574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4943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600" b="1" spc="-5" dirty="0">
                          <a:latin typeface="Calibri"/>
                          <a:cs typeface="Calibri"/>
                        </a:rPr>
                        <a:t>Selector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7493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600" b="1" spc="-5" dirty="0">
                          <a:latin typeface="Calibri"/>
                          <a:cs typeface="Calibri"/>
                        </a:rPr>
                        <a:t>Description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7620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7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b="1" spc="-5" dirty="0">
                          <a:solidFill>
                            <a:srgbClr val="DB0961"/>
                          </a:solidFill>
                          <a:latin typeface="Courier New"/>
                          <a:cs typeface="Courier New"/>
                        </a:rPr>
                        <a:t>$(selector).append();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3302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Inserts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content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end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selected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elements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1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275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400" b="1" spc="-5" dirty="0">
                          <a:solidFill>
                            <a:srgbClr val="DB0961"/>
                          </a:solidFill>
                          <a:latin typeface="Courier New"/>
                          <a:cs typeface="Courier New"/>
                        </a:rPr>
                        <a:t>$(selector).prepend();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5207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Inserts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content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beginning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of the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selected elements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81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892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b="1" spc="-5" dirty="0">
                          <a:solidFill>
                            <a:srgbClr val="DB0961"/>
                          </a:solidFill>
                          <a:latin typeface="Courier New"/>
                          <a:cs typeface="Courier New"/>
                        </a:rPr>
                        <a:t>$(selector).after();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3365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Inserts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content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after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selected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elements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1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765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b="1" spc="-5" dirty="0">
                          <a:solidFill>
                            <a:srgbClr val="DB0961"/>
                          </a:solidFill>
                          <a:latin typeface="Courier New"/>
                          <a:cs typeface="Courier New"/>
                        </a:rPr>
                        <a:t>$(selector).before()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3365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Inserts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content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before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the selected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elements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1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893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b="1" spc="-5" dirty="0">
                          <a:solidFill>
                            <a:srgbClr val="DB0961"/>
                          </a:solidFill>
                          <a:latin typeface="Courier New"/>
                          <a:cs typeface="Courier New"/>
                        </a:rPr>
                        <a:t>$(selector).remove();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3365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Removes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selected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element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(and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its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child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elements)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1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893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b="1" spc="-5" dirty="0">
                          <a:solidFill>
                            <a:srgbClr val="DB0961"/>
                          </a:solidFill>
                          <a:latin typeface="Courier New"/>
                          <a:cs typeface="Courier New"/>
                        </a:rPr>
                        <a:t>$(selector).empty();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3365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Removes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child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elements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selected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element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81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41F4C60-118A-1B7A-4C3F-926C0E3100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65423"/>
            <a:ext cx="8789292" cy="1243930"/>
          </a:xfrm>
        </p:spPr>
        <p:txBody>
          <a:bodyPr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4000" spc="-5" dirty="0"/>
              <a:t>DOM</a:t>
            </a:r>
            <a:r>
              <a:rPr sz="4000" spc="-25" dirty="0"/>
              <a:t> </a:t>
            </a:r>
            <a:r>
              <a:rPr sz="4000" dirty="0"/>
              <a:t>APIs</a:t>
            </a:r>
            <a:r>
              <a:rPr sz="4000" spc="-35" dirty="0"/>
              <a:t> </a:t>
            </a:r>
            <a:r>
              <a:rPr sz="4000" dirty="0"/>
              <a:t>–</a:t>
            </a:r>
            <a:r>
              <a:rPr sz="4000" spc="-10" dirty="0"/>
              <a:t> </a:t>
            </a:r>
            <a:r>
              <a:rPr sz="4000" spc="-5" dirty="0"/>
              <a:t>Insert</a:t>
            </a:r>
            <a:r>
              <a:rPr sz="4000" spc="-15" dirty="0"/>
              <a:t> </a:t>
            </a:r>
            <a:r>
              <a:rPr sz="4000" dirty="0"/>
              <a:t>and</a:t>
            </a:r>
            <a:r>
              <a:rPr sz="4000" spc="-15" dirty="0"/>
              <a:t> Remove</a:t>
            </a:r>
            <a:r>
              <a:rPr lang="en-US" sz="4000" spc="-15" dirty="0"/>
              <a:t> Example</a:t>
            </a:r>
            <a:endParaRPr sz="4000" spc="-15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745075-80E3-D150-2E2E-78B6873C3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1299729"/>
            <a:ext cx="4793278" cy="487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1521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B421B86-3A5E-BA54-9C35-720F0D6D54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2422"/>
            <a:ext cx="8785225" cy="689932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dirty="0"/>
              <a:t>jQuery</a:t>
            </a:r>
            <a:r>
              <a:rPr spc="-30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spc="-5" dirty="0"/>
              <a:t>Dimension</a:t>
            </a:r>
            <a:r>
              <a:rPr spc="-30" dirty="0"/>
              <a:t> </a:t>
            </a:r>
            <a:r>
              <a:rPr spc="-5" dirty="0"/>
              <a:t>APIs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E3891164-AEBF-52E0-AA11-D4FCBC4C19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08686"/>
              </p:ext>
            </p:extLst>
          </p:nvPr>
        </p:nvGraphicFramePr>
        <p:xfrm>
          <a:off x="261938" y="2348880"/>
          <a:ext cx="8626475" cy="2732090"/>
        </p:xfrm>
        <a:graphic>
          <a:graphicData uri="http://schemas.openxmlformats.org/drawingml/2006/table">
            <a:tbl>
              <a:tblPr/>
              <a:tblGrid>
                <a:gridCol w="3276600">
                  <a:extLst>
                    <a:ext uri="{9D8B030D-6E8A-4147-A177-3AD203B41FA5}">
                      <a16:colId xmlns:a16="http://schemas.microsoft.com/office/drawing/2014/main" val="2461790604"/>
                    </a:ext>
                  </a:extLst>
                </a:gridCol>
                <a:gridCol w="5349875">
                  <a:extLst>
                    <a:ext uri="{9D8B030D-6E8A-4147-A177-3AD203B41FA5}">
                      <a16:colId xmlns:a16="http://schemas.microsoft.com/office/drawing/2014/main" val="1416649264"/>
                    </a:ext>
                  </a:extLst>
                </a:gridCol>
              </a:tblGrid>
              <a:tr h="414338">
                <a:tc>
                  <a:txBody>
                    <a:bodyPr/>
                    <a:lstStyle>
                      <a:lvl1pPr marL="88900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88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  <a:cs typeface="Calibri" panose="020F0502020204030204" pitchFamily="34" charset="0"/>
                        </a:rPr>
                        <a:t>Selector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endParaRPr>
                    </a:p>
                  </a:txBody>
                  <a:tcPr marL="0" marR="0" marT="7493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 marL="88900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  <a:cs typeface="Calibri" panose="020F0502020204030204" pitchFamily="34" charset="0"/>
                        </a:rPr>
                        <a:t>Description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endParaRPr>
                    </a:p>
                  </a:txBody>
                  <a:tcPr marL="0" marR="0" marT="762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405245"/>
                  </a:ext>
                </a:extLst>
              </a:tr>
              <a:tr h="508000">
                <a:tc>
                  <a:txBody>
                    <a:bodyPr/>
                    <a:lstStyle>
                      <a:lvl1pPr marL="88900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DB0961"/>
                          </a:solidFill>
                          <a:effectLst/>
                          <a:latin typeface="Courier New" panose="02070309020205020404" pitchFamily="49" charset="0"/>
                          <a:ea typeface="ＭＳ Ｐゴシック" panose="020B0600070205080204" pitchFamily="34" charset="-128"/>
                          <a:cs typeface="Courier New" panose="02070309020205020404" pitchFamily="49" charset="0"/>
                        </a:rPr>
                        <a:t>$(selector).width();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ＭＳ Ｐゴシック" panose="020B0600070205080204" pitchFamily="34" charset="-128"/>
                        <a:cs typeface="Courier New" panose="02070309020205020404" pitchFamily="49" charset="0"/>
                      </a:endParaRPr>
                    </a:p>
                  </a:txBody>
                  <a:tcPr marL="0" marR="0" marT="3302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 marL="88900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88900" marR="0" lvl="0" indent="0" algn="l" defTabSz="914400" rtl="0" eaLnBrk="1" fontAlgn="base" latinLnBrk="0" hangingPunct="1">
                        <a:lnSpc>
                          <a:spcPts val="1575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  <a:cs typeface="Calibri" panose="020F0502020204030204" pitchFamily="34" charset="0"/>
                        </a:rPr>
                        <a:t>Sets or returns the width of an element (excludes padding, border and  margin)</a:t>
                      </a:r>
                    </a:p>
                  </a:txBody>
                  <a:tcPr marL="0" marR="0" marT="56515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042930"/>
                  </a:ext>
                </a:extLst>
              </a:tr>
              <a:tr h="508000">
                <a:tc>
                  <a:txBody>
                    <a:bodyPr/>
                    <a:lstStyle>
                      <a:lvl1pPr marL="88900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DB0961"/>
                          </a:solidFill>
                          <a:effectLst/>
                          <a:latin typeface="Courier New" panose="02070309020205020404" pitchFamily="49" charset="0"/>
                          <a:ea typeface="ＭＳ Ｐゴシック" panose="020B0600070205080204" pitchFamily="34" charset="-128"/>
                          <a:cs typeface="Courier New" panose="02070309020205020404" pitchFamily="49" charset="0"/>
                        </a:rPr>
                        <a:t>$(selector).height();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ＭＳ Ｐゴシック" panose="020B0600070205080204" pitchFamily="34" charset="-128"/>
                        <a:cs typeface="Courier New" panose="02070309020205020404" pitchFamily="49" charset="0"/>
                      </a:endParaRPr>
                    </a:p>
                  </a:txBody>
                  <a:tcPr marL="0" marR="0" marT="51435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 marL="88900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88900" marR="0" lvl="0" indent="0" algn="l" defTabSz="914400" rtl="0" eaLnBrk="1" fontAlgn="base" latinLnBrk="0" hangingPunct="1">
                        <a:lnSpc>
                          <a:spcPts val="1575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  <a:cs typeface="Calibri" panose="020F0502020204030204" pitchFamily="34" charset="0"/>
                        </a:rPr>
                        <a:t>Sets or returns the height of an element (excludes padding, border and  margin).</a:t>
                      </a:r>
                    </a:p>
                  </a:txBody>
                  <a:tcPr marL="0" marR="0" marT="56515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995204"/>
                  </a:ext>
                </a:extLst>
              </a:tr>
              <a:tr h="325438">
                <a:tc>
                  <a:txBody>
                    <a:bodyPr/>
                    <a:lstStyle>
                      <a:lvl1pPr marL="88900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DB0961"/>
                          </a:solidFill>
                          <a:effectLst/>
                          <a:latin typeface="Courier New" panose="02070309020205020404" pitchFamily="49" charset="0"/>
                          <a:ea typeface="ＭＳ Ｐゴシック" panose="020B0600070205080204" pitchFamily="34" charset="-128"/>
                          <a:cs typeface="Courier New" panose="02070309020205020404" pitchFamily="49" charset="0"/>
                        </a:rPr>
                        <a:t>$(selector).innerWidth();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ＭＳ Ｐゴシック" panose="020B0600070205080204" pitchFamily="34" charset="-128"/>
                        <a:cs typeface="Courier New" panose="02070309020205020404" pitchFamily="49" charset="0"/>
                      </a:endParaRPr>
                    </a:p>
                  </a:txBody>
                  <a:tcPr marL="0" marR="0" marT="33655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 marL="88900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  <a:cs typeface="Calibri" panose="020F0502020204030204" pitchFamily="34" charset="0"/>
                        </a:rPr>
                        <a:t>Returns the width of an element (includes padding)</a:t>
                      </a: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0646499"/>
                  </a:ext>
                </a:extLst>
              </a:tr>
              <a:tr h="325438">
                <a:tc>
                  <a:txBody>
                    <a:bodyPr/>
                    <a:lstStyle>
                      <a:lvl1pPr marL="88900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DB0961"/>
                          </a:solidFill>
                          <a:effectLst/>
                          <a:latin typeface="Courier New" panose="02070309020205020404" pitchFamily="49" charset="0"/>
                          <a:ea typeface="ＭＳ Ｐゴシック" panose="020B0600070205080204" pitchFamily="34" charset="-128"/>
                          <a:cs typeface="Courier New" panose="02070309020205020404" pitchFamily="49" charset="0"/>
                        </a:rPr>
                        <a:t>$(selector).innerHeight();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ＭＳ Ｐゴシック" panose="020B0600070205080204" pitchFamily="34" charset="-128"/>
                        <a:cs typeface="Courier New" panose="02070309020205020404" pitchFamily="49" charset="0"/>
                      </a:endParaRPr>
                    </a:p>
                  </a:txBody>
                  <a:tcPr marL="0" marR="0" marT="33655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 marL="88900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  <a:cs typeface="Calibri" panose="020F0502020204030204" pitchFamily="34" charset="0"/>
                        </a:rPr>
                        <a:t>Returns the height of an element (includes padding)</a:t>
                      </a:r>
                    </a:p>
                  </a:txBody>
                  <a:tcPr marL="0" marR="0" marT="38735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6109"/>
                  </a:ext>
                </a:extLst>
              </a:tr>
              <a:tr h="325438">
                <a:tc>
                  <a:txBody>
                    <a:bodyPr/>
                    <a:lstStyle>
                      <a:lvl1pPr marL="88900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DB0961"/>
                          </a:solidFill>
                          <a:effectLst/>
                          <a:latin typeface="Courier New" panose="02070309020205020404" pitchFamily="49" charset="0"/>
                          <a:ea typeface="ＭＳ Ｐゴシック" panose="020B0600070205080204" pitchFamily="34" charset="-128"/>
                          <a:cs typeface="Courier New" panose="02070309020205020404" pitchFamily="49" charset="0"/>
                        </a:rPr>
                        <a:t>$(selector).outerWidth();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ＭＳ Ｐゴシック" panose="020B0600070205080204" pitchFamily="34" charset="-128"/>
                        <a:cs typeface="Courier New" panose="02070309020205020404" pitchFamily="49" charset="0"/>
                      </a:endParaRPr>
                    </a:p>
                  </a:txBody>
                  <a:tcPr marL="0" marR="0" marT="33655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 marL="88900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  <a:cs typeface="Calibri" panose="020F0502020204030204" pitchFamily="34" charset="0"/>
                        </a:rPr>
                        <a:t>Returns the width of an element (includes padding and border)</a:t>
                      </a: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040755"/>
                  </a:ext>
                </a:extLst>
              </a:tr>
              <a:tr h="325438">
                <a:tc>
                  <a:txBody>
                    <a:bodyPr/>
                    <a:lstStyle>
                      <a:lvl1pPr marL="88900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DB0961"/>
                          </a:solidFill>
                          <a:effectLst/>
                          <a:latin typeface="Courier New" panose="02070309020205020404" pitchFamily="49" charset="0"/>
                          <a:ea typeface="ＭＳ Ｐゴシック" panose="020B0600070205080204" pitchFamily="34" charset="-128"/>
                          <a:cs typeface="Courier New" panose="02070309020205020404" pitchFamily="49" charset="0"/>
                        </a:rPr>
                        <a:t>$(selector).outerHeight();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ＭＳ Ｐゴシック" panose="020B0600070205080204" pitchFamily="34" charset="-128"/>
                        <a:cs typeface="Courier New" panose="02070309020205020404" pitchFamily="49" charset="0"/>
                      </a:endParaRPr>
                    </a:p>
                  </a:txBody>
                  <a:tcPr marL="0" marR="0" marT="33655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 marL="88900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  <a:cs typeface="Calibri" panose="020F0502020204030204" pitchFamily="34" charset="0"/>
                        </a:rPr>
                        <a:t>Returns the height of an element (includes padding and border)</a:t>
                      </a: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41232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object 3">
            <a:extLst>
              <a:ext uri="{FF2B5EF4-FFF2-40B4-BE49-F238E27FC236}">
                <a16:creationId xmlns:a16="http://schemas.microsoft.com/office/drawing/2014/main" id="{959A0671-D4BA-A5A6-D196-C3F4B84C81FC}"/>
              </a:ext>
            </a:extLst>
          </p:cNvPr>
          <p:cNvSpPr>
            <a:spLocks/>
          </p:cNvSpPr>
          <p:nvPr/>
        </p:nvSpPr>
        <p:spPr bwMode="auto">
          <a:xfrm>
            <a:off x="7524750" y="2616200"/>
            <a:ext cx="633413" cy="638175"/>
          </a:xfrm>
          <a:custGeom>
            <a:avLst/>
            <a:gdLst>
              <a:gd name="T0" fmla="*/ 315139 w 634365"/>
              <a:gd name="T1" fmla="*/ 0 h 638175"/>
              <a:gd name="T2" fmla="*/ 268833 w 634365"/>
              <a:gd name="T3" fmla="*/ 3538 h 638175"/>
              <a:gd name="T4" fmla="*/ 224369 w 634365"/>
              <a:gd name="T5" fmla="*/ 13793 h 638175"/>
              <a:gd name="T6" fmla="*/ 182289 w 634365"/>
              <a:gd name="T7" fmla="*/ 30223 h 638175"/>
              <a:gd name="T8" fmla="*/ 143132 w 634365"/>
              <a:gd name="T9" fmla="*/ 52286 h 638175"/>
              <a:gd name="T10" fmla="*/ 107441 w 634365"/>
              <a:gd name="T11" fmla="*/ 79441 h 638175"/>
              <a:gd name="T12" fmla="*/ 75757 w 634365"/>
              <a:gd name="T13" fmla="*/ 111145 h 638175"/>
              <a:gd name="T14" fmla="*/ 48620 w 634365"/>
              <a:gd name="T15" fmla="*/ 146857 h 638175"/>
              <a:gd name="T16" fmla="*/ 26572 w 634365"/>
              <a:gd name="T17" fmla="*/ 186036 h 638175"/>
              <a:gd name="T18" fmla="*/ 10153 w 634365"/>
              <a:gd name="T19" fmla="*/ 228139 h 638175"/>
              <a:gd name="T20" fmla="*/ 0 w 634365"/>
              <a:gd name="T21" fmla="*/ 272216 h 638175"/>
              <a:gd name="T22" fmla="*/ 0 w 634365"/>
              <a:gd name="T23" fmla="*/ 366548 h 638175"/>
              <a:gd name="T24" fmla="*/ 10153 w 634365"/>
              <a:gd name="T25" fmla="*/ 411143 h 638175"/>
              <a:gd name="T26" fmla="*/ 26572 w 634365"/>
              <a:gd name="T27" fmla="*/ 453491 h 638175"/>
              <a:gd name="T28" fmla="*/ 48620 w 634365"/>
              <a:gd name="T29" fmla="*/ 492689 h 638175"/>
              <a:gd name="T30" fmla="*/ 75757 w 634365"/>
              <a:gd name="T31" fmla="*/ 528248 h 638175"/>
              <a:gd name="T32" fmla="*/ 107441 w 634365"/>
              <a:gd name="T33" fmla="*/ 559678 h 638175"/>
              <a:gd name="T34" fmla="*/ 143132 w 634365"/>
              <a:gd name="T35" fmla="*/ 586490 h 638175"/>
              <a:gd name="T36" fmla="*/ 182289 w 634365"/>
              <a:gd name="T37" fmla="*/ 608196 h 638175"/>
              <a:gd name="T38" fmla="*/ 224369 w 634365"/>
              <a:gd name="T39" fmla="*/ 624306 h 638175"/>
              <a:gd name="T40" fmla="*/ 268833 w 634365"/>
              <a:gd name="T41" fmla="*/ 634330 h 638175"/>
              <a:gd name="T42" fmla="*/ 315139 w 634365"/>
              <a:gd name="T43" fmla="*/ 637780 h 638175"/>
              <a:gd name="T44" fmla="*/ 362293 w 634365"/>
              <a:gd name="T45" fmla="*/ 634330 h 638175"/>
              <a:gd name="T46" fmla="*/ 407284 w 634365"/>
              <a:gd name="T47" fmla="*/ 624306 h 638175"/>
              <a:gd name="T48" fmla="*/ 449620 w 634365"/>
              <a:gd name="T49" fmla="*/ 608196 h 638175"/>
              <a:gd name="T50" fmla="*/ 488812 w 634365"/>
              <a:gd name="T51" fmla="*/ 586490 h 638175"/>
              <a:gd name="T52" fmla="*/ 524369 w 634365"/>
              <a:gd name="T53" fmla="*/ 559678 h 638175"/>
              <a:gd name="T54" fmla="*/ 555801 w 634365"/>
              <a:gd name="T55" fmla="*/ 528248 h 638175"/>
              <a:gd name="T56" fmla="*/ 582618 w 634365"/>
              <a:gd name="T57" fmla="*/ 492689 h 638175"/>
              <a:gd name="T58" fmla="*/ 604330 w 634365"/>
              <a:gd name="T59" fmla="*/ 453491 h 638175"/>
              <a:gd name="T60" fmla="*/ 620445 w 634365"/>
              <a:gd name="T61" fmla="*/ 411143 h 638175"/>
              <a:gd name="T62" fmla="*/ 630473 w 634365"/>
              <a:gd name="T63" fmla="*/ 366134 h 638175"/>
              <a:gd name="T64" fmla="*/ 633925 w 634365"/>
              <a:gd name="T65" fmla="*/ 318953 h 638175"/>
              <a:gd name="T66" fmla="*/ 630473 w 634365"/>
              <a:gd name="T67" fmla="*/ 272626 h 638175"/>
              <a:gd name="T68" fmla="*/ 620445 w 634365"/>
              <a:gd name="T69" fmla="*/ 228139 h 638175"/>
              <a:gd name="T70" fmla="*/ 604330 w 634365"/>
              <a:gd name="T71" fmla="*/ 186036 h 638175"/>
              <a:gd name="T72" fmla="*/ 582618 w 634365"/>
              <a:gd name="T73" fmla="*/ 146857 h 638175"/>
              <a:gd name="T74" fmla="*/ 555801 w 634365"/>
              <a:gd name="T75" fmla="*/ 111145 h 638175"/>
              <a:gd name="T76" fmla="*/ 524369 w 634365"/>
              <a:gd name="T77" fmla="*/ 79441 h 638175"/>
              <a:gd name="T78" fmla="*/ 488812 w 634365"/>
              <a:gd name="T79" fmla="*/ 52286 h 638175"/>
              <a:gd name="T80" fmla="*/ 449620 w 634365"/>
              <a:gd name="T81" fmla="*/ 30223 h 638175"/>
              <a:gd name="T82" fmla="*/ 407284 w 634365"/>
              <a:gd name="T83" fmla="*/ 13793 h 638175"/>
              <a:gd name="T84" fmla="*/ 362293 w 634365"/>
              <a:gd name="T85" fmla="*/ 3538 h 638175"/>
              <a:gd name="T86" fmla="*/ 315139 w 634365"/>
              <a:gd name="T87" fmla="*/ 0 h 638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634365" h="638175">
                <a:moveTo>
                  <a:pt x="315139" y="0"/>
                </a:moveTo>
                <a:lnTo>
                  <a:pt x="268833" y="3538"/>
                </a:lnTo>
                <a:lnTo>
                  <a:pt x="224369" y="13793"/>
                </a:lnTo>
                <a:lnTo>
                  <a:pt x="182289" y="30223"/>
                </a:lnTo>
                <a:lnTo>
                  <a:pt x="143132" y="52286"/>
                </a:lnTo>
                <a:lnTo>
                  <a:pt x="107441" y="79441"/>
                </a:lnTo>
                <a:lnTo>
                  <a:pt x="75757" y="111145"/>
                </a:lnTo>
                <a:lnTo>
                  <a:pt x="48620" y="146857"/>
                </a:lnTo>
                <a:lnTo>
                  <a:pt x="26572" y="186036"/>
                </a:lnTo>
                <a:lnTo>
                  <a:pt x="10153" y="228139"/>
                </a:lnTo>
                <a:lnTo>
                  <a:pt x="0" y="272216"/>
                </a:lnTo>
                <a:lnTo>
                  <a:pt x="0" y="366548"/>
                </a:lnTo>
                <a:lnTo>
                  <a:pt x="10153" y="411143"/>
                </a:lnTo>
                <a:lnTo>
                  <a:pt x="26572" y="453491"/>
                </a:lnTo>
                <a:lnTo>
                  <a:pt x="48620" y="492689"/>
                </a:lnTo>
                <a:lnTo>
                  <a:pt x="75757" y="528248"/>
                </a:lnTo>
                <a:lnTo>
                  <a:pt x="107441" y="559678"/>
                </a:lnTo>
                <a:lnTo>
                  <a:pt x="143132" y="586490"/>
                </a:lnTo>
                <a:lnTo>
                  <a:pt x="182289" y="608196"/>
                </a:lnTo>
                <a:lnTo>
                  <a:pt x="224369" y="624306"/>
                </a:lnTo>
                <a:lnTo>
                  <a:pt x="268833" y="634330"/>
                </a:lnTo>
                <a:lnTo>
                  <a:pt x="315139" y="637780"/>
                </a:lnTo>
                <a:lnTo>
                  <a:pt x="362293" y="634330"/>
                </a:lnTo>
                <a:lnTo>
                  <a:pt x="407284" y="624306"/>
                </a:lnTo>
                <a:lnTo>
                  <a:pt x="449620" y="608196"/>
                </a:lnTo>
                <a:lnTo>
                  <a:pt x="488812" y="586490"/>
                </a:lnTo>
                <a:lnTo>
                  <a:pt x="524369" y="559678"/>
                </a:lnTo>
                <a:lnTo>
                  <a:pt x="555801" y="528248"/>
                </a:lnTo>
                <a:lnTo>
                  <a:pt x="582618" y="492689"/>
                </a:lnTo>
                <a:lnTo>
                  <a:pt x="604330" y="453491"/>
                </a:lnTo>
                <a:lnTo>
                  <a:pt x="620445" y="411143"/>
                </a:lnTo>
                <a:lnTo>
                  <a:pt x="630473" y="366134"/>
                </a:lnTo>
                <a:lnTo>
                  <a:pt x="633925" y="318953"/>
                </a:lnTo>
                <a:lnTo>
                  <a:pt x="630473" y="272626"/>
                </a:lnTo>
                <a:lnTo>
                  <a:pt x="620445" y="228139"/>
                </a:lnTo>
                <a:lnTo>
                  <a:pt x="604330" y="186036"/>
                </a:lnTo>
                <a:lnTo>
                  <a:pt x="582618" y="146857"/>
                </a:lnTo>
                <a:lnTo>
                  <a:pt x="555801" y="111145"/>
                </a:lnTo>
                <a:lnTo>
                  <a:pt x="524369" y="79441"/>
                </a:lnTo>
                <a:lnTo>
                  <a:pt x="488812" y="52286"/>
                </a:lnTo>
                <a:lnTo>
                  <a:pt x="449620" y="30223"/>
                </a:lnTo>
                <a:lnTo>
                  <a:pt x="407284" y="13793"/>
                </a:lnTo>
                <a:lnTo>
                  <a:pt x="362293" y="3538"/>
                </a:lnTo>
                <a:lnTo>
                  <a:pt x="315139" y="0"/>
                </a:lnTo>
                <a:close/>
              </a:path>
            </a:pathLst>
          </a:custGeom>
          <a:solidFill>
            <a:srgbClr val="7A2E9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GB"/>
          </a:p>
        </p:txBody>
      </p:sp>
      <p:sp>
        <p:nvSpPr>
          <p:cNvPr id="44037" name="object 5">
            <a:extLst>
              <a:ext uri="{FF2B5EF4-FFF2-40B4-BE49-F238E27FC236}">
                <a16:creationId xmlns:a16="http://schemas.microsoft.com/office/drawing/2014/main" id="{4D0A6CB1-E17C-8348-0749-825D8D1B1FAC}"/>
              </a:ext>
            </a:extLst>
          </p:cNvPr>
          <p:cNvSpPr>
            <a:spLocks/>
          </p:cNvSpPr>
          <p:nvPr/>
        </p:nvSpPr>
        <p:spPr bwMode="auto">
          <a:xfrm>
            <a:off x="7524750" y="3592513"/>
            <a:ext cx="633413" cy="633412"/>
          </a:xfrm>
          <a:custGeom>
            <a:avLst/>
            <a:gdLst>
              <a:gd name="T0" fmla="*/ 633915 w 634365"/>
              <a:gd name="T1" fmla="*/ 0 h 634364"/>
              <a:gd name="T2" fmla="*/ 0 w 634365"/>
              <a:gd name="T3" fmla="*/ 0 h 634364"/>
              <a:gd name="T4" fmla="*/ 0 w 634365"/>
              <a:gd name="T5" fmla="*/ 634032 h 634364"/>
              <a:gd name="T6" fmla="*/ 633915 w 634365"/>
              <a:gd name="T7" fmla="*/ 634032 h 634364"/>
              <a:gd name="T8" fmla="*/ 633915 w 634365"/>
              <a:gd name="T9" fmla="*/ 0 h 634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34365" h="634364">
                <a:moveTo>
                  <a:pt x="633915" y="0"/>
                </a:moveTo>
                <a:lnTo>
                  <a:pt x="0" y="0"/>
                </a:lnTo>
                <a:lnTo>
                  <a:pt x="0" y="634032"/>
                </a:lnTo>
                <a:lnTo>
                  <a:pt x="633915" y="634032"/>
                </a:lnTo>
                <a:lnTo>
                  <a:pt x="633915" y="0"/>
                </a:lnTo>
                <a:close/>
              </a:path>
            </a:pathLst>
          </a:custGeom>
          <a:solidFill>
            <a:srgbClr val="CE036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GB"/>
          </a:p>
        </p:txBody>
      </p:sp>
      <p:grpSp>
        <p:nvGrpSpPr>
          <p:cNvPr id="44039" name="object 7">
            <a:extLst>
              <a:ext uri="{FF2B5EF4-FFF2-40B4-BE49-F238E27FC236}">
                <a16:creationId xmlns:a16="http://schemas.microsoft.com/office/drawing/2014/main" id="{0551D493-EA48-6D05-508B-8FD019B7E844}"/>
              </a:ext>
            </a:extLst>
          </p:cNvPr>
          <p:cNvGrpSpPr>
            <a:grpSpLocks/>
          </p:cNvGrpSpPr>
          <p:nvPr/>
        </p:nvGrpSpPr>
        <p:grpSpPr bwMode="auto">
          <a:xfrm>
            <a:off x="985837" y="1556792"/>
            <a:ext cx="7429500" cy="4286250"/>
            <a:chOff x="1714500" y="362711"/>
            <a:chExt cx="7429500" cy="4285615"/>
          </a:xfrm>
        </p:grpSpPr>
        <p:sp>
          <p:nvSpPr>
            <p:cNvPr id="44041" name="object 8">
              <a:extLst>
                <a:ext uri="{FF2B5EF4-FFF2-40B4-BE49-F238E27FC236}">
                  <a16:creationId xmlns:a16="http://schemas.microsoft.com/office/drawing/2014/main" id="{09DB690E-66BD-4FBE-C663-947909E56693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1685" y="3706571"/>
              <a:ext cx="637540" cy="634365"/>
            </a:xfrm>
            <a:custGeom>
              <a:avLst/>
              <a:gdLst>
                <a:gd name="T0" fmla="*/ 637546 w 637540"/>
                <a:gd name="T1" fmla="*/ 0 h 634364"/>
                <a:gd name="T2" fmla="*/ 0 w 637540"/>
                <a:gd name="T3" fmla="*/ 0 h 634364"/>
                <a:gd name="T4" fmla="*/ 0 w 637540"/>
                <a:gd name="T5" fmla="*/ 634032 h 634364"/>
                <a:gd name="T6" fmla="*/ 637546 w 637540"/>
                <a:gd name="T7" fmla="*/ 634032 h 634364"/>
                <a:gd name="T8" fmla="*/ 637546 w 637540"/>
                <a:gd name="T9" fmla="*/ 0 h 634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7540" h="634364">
                  <a:moveTo>
                    <a:pt x="637546" y="0"/>
                  </a:moveTo>
                  <a:lnTo>
                    <a:pt x="0" y="0"/>
                  </a:lnTo>
                  <a:lnTo>
                    <a:pt x="0" y="634032"/>
                  </a:lnTo>
                  <a:lnTo>
                    <a:pt x="637546" y="634032"/>
                  </a:lnTo>
                  <a:lnTo>
                    <a:pt x="637546" y="0"/>
                  </a:lnTo>
                  <a:close/>
                </a:path>
              </a:pathLst>
            </a:custGeom>
            <a:solidFill>
              <a:srgbClr val="CE03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GB"/>
            </a:p>
          </p:txBody>
        </p:sp>
        <p:sp>
          <p:nvSpPr>
            <p:cNvPr id="44042" name="object 9">
              <a:extLst>
                <a:ext uri="{FF2B5EF4-FFF2-40B4-BE49-F238E27FC236}">
                  <a16:creationId xmlns:a16="http://schemas.microsoft.com/office/drawing/2014/main" id="{594CFBC2-90AA-F6AF-790F-10BCECF27CA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5200" y="362711"/>
              <a:ext cx="1828800" cy="4114800"/>
            </a:xfrm>
            <a:custGeom>
              <a:avLst/>
              <a:gdLst>
                <a:gd name="T0" fmla="*/ 1828800 w 1828800"/>
                <a:gd name="T1" fmla="*/ 0 h 4114800"/>
                <a:gd name="T2" fmla="*/ 0 w 1828800"/>
                <a:gd name="T3" fmla="*/ 0 h 4114800"/>
                <a:gd name="T4" fmla="*/ 0 w 1828800"/>
                <a:gd name="T5" fmla="*/ 4114800 h 4114800"/>
                <a:gd name="T6" fmla="*/ 1828800 w 1828800"/>
                <a:gd name="T7" fmla="*/ 4114800 h 4114800"/>
                <a:gd name="T8" fmla="*/ 1828800 w 1828800"/>
                <a:gd name="T9" fmla="*/ 0 h 4114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28800" h="4114800">
                  <a:moveTo>
                    <a:pt x="1828800" y="0"/>
                  </a:moveTo>
                  <a:lnTo>
                    <a:pt x="0" y="0"/>
                  </a:lnTo>
                  <a:lnTo>
                    <a:pt x="0" y="4114800"/>
                  </a:lnTo>
                  <a:lnTo>
                    <a:pt x="1828800" y="411480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GB"/>
            </a:p>
          </p:txBody>
        </p:sp>
        <p:pic>
          <p:nvPicPr>
            <p:cNvPr id="44043" name="object 10">
              <a:extLst>
                <a:ext uri="{FF2B5EF4-FFF2-40B4-BE49-F238E27FC236}">
                  <a16:creationId xmlns:a16="http://schemas.microsoft.com/office/drawing/2014/main" id="{BAC29BA2-A915-35CB-D9B3-9CF6C6DDA4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14500" y="667511"/>
              <a:ext cx="5715000" cy="3980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" name="object 11">
            <a:extLst>
              <a:ext uri="{FF2B5EF4-FFF2-40B4-BE49-F238E27FC236}">
                <a16:creationId xmlns:a16="http://schemas.microsoft.com/office/drawing/2014/main" id="{F7B6530E-2324-29FE-C2E8-E8C5C63144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2422"/>
            <a:ext cx="8785225" cy="689932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dirty="0"/>
              <a:t>jQuery</a:t>
            </a:r>
            <a:r>
              <a:rPr spc="-30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spc="-5" dirty="0"/>
              <a:t>Dimension</a:t>
            </a:r>
            <a:r>
              <a:rPr spc="-30" dirty="0"/>
              <a:t> </a:t>
            </a:r>
            <a:r>
              <a:rPr spc="-5" dirty="0"/>
              <a:t>APIs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E5ED2114-8A03-1F04-2611-E7815B95AA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115888"/>
            <a:ext cx="8785225" cy="1143000"/>
          </a:xfrm>
        </p:spPr>
        <p:txBody>
          <a:bodyPr wrap="square" lIns="0" tIns="12700" rIns="0" bIns="0" rtlCol="0" anchor="ctr">
            <a:norm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pc="-10" dirty="0"/>
              <a:t>Example</a:t>
            </a:r>
            <a:r>
              <a:rPr spc="-3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5" dirty="0"/>
              <a:t>Dimensions</a:t>
            </a:r>
            <a:r>
              <a:rPr lang="en-US" spc="-5" dirty="0"/>
              <a:t> API</a:t>
            </a:r>
            <a:endParaRPr spc="-5" dirty="0"/>
          </a:p>
        </p:txBody>
      </p:sp>
      <p:pic>
        <p:nvPicPr>
          <p:cNvPr id="3" name="Picture 2" descr="A computer screen shot of a computer code&#10;&#10;Description automatically generated">
            <a:extLst>
              <a:ext uri="{FF2B5EF4-FFF2-40B4-BE49-F238E27FC236}">
                <a16:creationId xmlns:a16="http://schemas.microsoft.com/office/drawing/2014/main" id="{97DA20F7-73AF-CE74-08E0-5B8A26D84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1" y="1306131"/>
            <a:ext cx="4536504" cy="485971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B93E5E-034C-00BB-798B-8814F76CE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 err="1"/>
              <a:t>j</a:t>
            </a:r>
            <a:r>
              <a:rPr lang="en-US" dirty="0" err="1"/>
              <a:t>query</a:t>
            </a:r>
            <a:r>
              <a:rPr lang="en-US" dirty="0"/>
              <a:t> </a:t>
            </a:r>
            <a:r>
              <a:rPr lang="en-US" dirty="0" err="1"/>
              <a:t>ui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9E9F8E-66E5-BDCE-8774-D0821D9731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17109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D0AB9569-BF80-9F37-8377-63B3F0BF6A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jQuery UI – draggable()</a:t>
            </a:r>
            <a:endParaRPr lang="en-GB" altLang="en-US" dirty="0"/>
          </a:p>
        </p:txBody>
      </p:sp>
      <p:sp>
        <p:nvSpPr>
          <p:cNvPr id="46083" name="Content Placeholder 2">
            <a:extLst>
              <a:ext uri="{FF2B5EF4-FFF2-40B4-BE49-F238E27FC236}">
                <a16:creationId xmlns:a16="http://schemas.microsoft.com/office/drawing/2014/main" id="{14E2C297-88C1-0982-F928-0B3129E9A9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7468" y="1412776"/>
            <a:ext cx="4144491" cy="4319587"/>
          </a:xfrm>
        </p:spPr>
        <p:txBody>
          <a:bodyPr/>
          <a:lstStyle/>
          <a:p>
            <a:pPr marL="0" indent="0"/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jQuery UI draggable() method makes any DOM element draggable after which you can drag it anywhere within the HTML page.</a:t>
            </a:r>
          </a:p>
          <a:p>
            <a:pPr marL="0" indent="0"/>
            <a:endParaRPr lang="en-US" altLang="en-US" sz="1800" i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/>
            <a:endParaRPr lang="en-GB" altLang="en-US" sz="180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117BCEEC-A2ED-8A2F-AB43-442212AB5913}"/>
              </a:ext>
            </a:extLst>
          </p:cNvPr>
          <p:cNvSpPr txBox="1"/>
          <p:nvPr/>
        </p:nvSpPr>
        <p:spPr>
          <a:xfrm>
            <a:off x="395536" y="3592565"/>
            <a:ext cx="3240360" cy="258404"/>
          </a:xfrm>
          <a:prstGeom prst="rect">
            <a:avLst/>
          </a:prstGeom>
        </p:spPr>
        <p:txBody>
          <a:bodyPr wrap="square"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lang="en-US" sz="1600" b="1" spc="-5" dirty="0">
                <a:solidFill>
                  <a:srgbClr val="800000"/>
                </a:solidFill>
                <a:cs typeface="Arial" panose="020B0604020202020204" pitchFamily="34" charset="0"/>
              </a:rPr>
              <a:t>Syntax: </a:t>
            </a:r>
            <a:r>
              <a:rPr sz="1600" b="1" spc="-5" dirty="0">
                <a:cs typeface="Arial" panose="020B0604020202020204" pitchFamily="34" charset="0"/>
              </a:rPr>
              <a:t>$</a:t>
            </a:r>
            <a:r>
              <a:rPr lang="en-US" sz="1600" b="1" spc="-5" dirty="0">
                <a:cs typeface="Arial" panose="020B0604020202020204" pitchFamily="34" charset="0"/>
              </a:rPr>
              <a:t>(selector).draggable();</a:t>
            </a:r>
            <a:endParaRPr sz="1600" dirty="0"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23BC57-FE11-457C-6754-1895BEF14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9187" y="1268760"/>
            <a:ext cx="4144490" cy="491618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58737E13-A6FC-B5E1-ABB5-6EAF7429F5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jQuery UI – droppable()</a:t>
            </a:r>
            <a:endParaRPr lang="en-GB" altLang="en-US" dirty="0"/>
          </a:p>
        </p:txBody>
      </p:sp>
      <p:sp>
        <p:nvSpPr>
          <p:cNvPr id="47107" name="Content Placeholder 2">
            <a:extLst>
              <a:ext uri="{FF2B5EF4-FFF2-40B4-BE49-F238E27FC236}">
                <a16:creationId xmlns:a16="http://schemas.microsoft.com/office/drawing/2014/main" id="{BDAB3A66-BC1F-3C7D-485F-8D92C0E329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3668" y="1413669"/>
            <a:ext cx="4260463" cy="4319587"/>
          </a:xfrm>
        </p:spPr>
        <p:txBody>
          <a:bodyPr/>
          <a:lstStyle/>
          <a:p>
            <a:pPr marL="0" indent="0"/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jQuery UI droppable() method makes any DOM element droppable that can be dropped at a specified target area on the HTML page.</a:t>
            </a:r>
          </a:p>
          <a:p>
            <a:pPr marL="0" indent="0"/>
            <a:endParaRPr lang="en-US" altLang="en-US" sz="1600" i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/>
            <a:endParaRPr lang="en-GB" altLang="en-US" sz="160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F2C68124-562F-329A-5D01-7A4457BD7323}"/>
              </a:ext>
            </a:extLst>
          </p:cNvPr>
          <p:cNvSpPr txBox="1"/>
          <p:nvPr/>
        </p:nvSpPr>
        <p:spPr>
          <a:xfrm>
            <a:off x="455578" y="3170596"/>
            <a:ext cx="3240360" cy="258404"/>
          </a:xfrm>
          <a:prstGeom prst="rect">
            <a:avLst/>
          </a:prstGeom>
        </p:spPr>
        <p:txBody>
          <a:bodyPr wrap="square"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lang="en-US" sz="1600" b="1" spc="-5" dirty="0">
                <a:solidFill>
                  <a:srgbClr val="800000"/>
                </a:solidFill>
                <a:cs typeface="Arial" panose="020B0604020202020204" pitchFamily="34" charset="0"/>
              </a:rPr>
              <a:t>Syntax: </a:t>
            </a:r>
            <a:r>
              <a:rPr sz="1600" b="1" spc="-5" dirty="0">
                <a:cs typeface="Arial" panose="020B0604020202020204" pitchFamily="34" charset="0"/>
              </a:rPr>
              <a:t>$</a:t>
            </a:r>
            <a:r>
              <a:rPr lang="en-US" sz="1600" b="1" spc="-5" dirty="0">
                <a:cs typeface="Arial" panose="020B0604020202020204" pitchFamily="34" charset="0"/>
              </a:rPr>
              <a:t>(selector).droppable();</a:t>
            </a:r>
            <a:endParaRPr sz="1600" dirty="0"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CCA6AC-896B-D77D-1586-3701CA257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727" y="1385437"/>
            <a:ext cx="4519686" cy="4824536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EF95BFBD-6AB2-966E-B366-20FEC6CA17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jQuery UI – </a:t>
            </a:r>
            <a:r>
              <a:rPr lang="en-US" altLang="en-US" dirty="0" err="1"/>
              <a:t>DatePicker</a:t>
            </a:r>
            <a:endParaRPr lang="en-GB" altLang="en-US" dirty="0"/>
          </a:p>
        </p:txBody>
      </p:sp>
      <p:sp>
        <p:nvSpPr>
          <p:cNvPr id="48131" name="Content Placeholder 2">
            <a:extLst>
              <a:ext uri="{FF2B5EF4-FFF2-40B4-BE49-F238E27FC236}">
                <a16:creationId xmlns:a16="http://schemas.microsoft.com/office/drawing/2014/main" id="{DBE5AF4B-DD28-25C8-B11A-1711487496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830" y="1449388"/>
            <a:ext cx="8856663" cy="4319587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jQuery UI </a:t>
            </a:r>
            <a:r>
              <a:rPr lang="en-US" altLang="en-US" sz="2000" b="1" i="0" dirty="0" err="1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datepicker</a:t>
            </a: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facilitates user to enter dates easily and visually with an aid of calendar widget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i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More options in the </a:t>
            </a:r>
            <a:r>
              <a:rPr lang="en-GB" sz="2000" i="0" u="sng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jQuery UI </a:t>
            </a:r>
            <a:r>
              <a:rPr lang="en-GB" sz="2000" i="0" u="sng" dirty="0" err="1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Datepicker</a:t>
            </a:r>
            <a:r>
              <a:rPr lang="en-GB" sz="2000" i="0" u="sng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API documentation</a:t>
            </a:r>
            <a:endParaRPr lang="en-GB" altLang="en-US" sz="2000" i="0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8F35B7A5-8581-2930-30D6-17611A125976}"/>
              </a:ext>
            </a:extLst>
          </p:cNvPr>
          <p:cNvSpPr txBox="1"/>
          <p:nvPr/>
        </p:nvSpPr>
        <p:spPr>
          <a:xfrm>
            <a:off x="1115616" y="4221088"/>
            <a:ext cx="6499225" cy="504825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lang="en-US" sz="1600" b="1" spc="-5" dirty="0">
                <a:solidFill>
                  <a:srgbClr val="800000"/>
                </a:solidFill>
                <a:latin typeface="Courier New"/>
                <a:cs typeface="Courier New"/>
              </a:rPr>
              <a:t>Syntax:</a:t>
            </a:r>
            <a:endParaRPr sz="1600" dirty="0">
              <a:latin typeface="Courier New"/>
              <a:cs typeface="Courier New"/>
            </a:endParaRPr>
          </a:p>
          <a:p>
            <a:pPr marL="12700">
              <a:defRPr/>
            </a:pPr>
            <a:r>
              <a:rPr sz="1600" b="1" spc="-5" dirty="0">
                <a:latin typeface="Courier New"/>
                <a:cs typeface="Courier New"/>
              </a:rPr>
              <a:t>$</a:t>
            </a:r>
            <a:r>
              <a:rPr lang="en-US" sz="1600" b="1" spc="-5" dirty="0">
                <a:latin typeface="Courier New"/>
                <a:cs typeface="Courier New"/>
              </a:rPr>
              <a:t>(selector).</a:t>
            </a:r>
            <a:r>
              <a:rPr lang="en-US" sz="1600" b="1" spc="-5" dirty="0" err="1">
                <a:latin typeface="Courier New"/>
                <a:cs typeface="Courier New"/>
              </a:rPr>
              <a:t>datepicker</a:t>
            </a:r>
            <a:r>
              <a:rPr lang="en-US" sz="1600" b="1" spc="-5" dirty="0">
                <a:latin typeface="Courier New"/>
                <a:cs typeface="Courier New"/>
              </a:rPr>
              <a:t>();</a:t>
            </a:r>
            <a:endParaRPr sz="1600" dirty="0">
              <a:latin typeface="Courier New"/>
              <a:cs typeface="Courier New"/>
            </a:endParaRPr>
          </a:p>
        </p:txBody>
      </p:sp>
      <p:pic>
        <p:nvPicPr>
          <p:cNvPr id="48133" name="Picture 5">
            <a:extLst>
              <a:ext uri="{FF2B5EF4-FFF2-40B4-BE49-F238E27FC236}">
                <a16:creationId xmlns:a16="http://schemas.microsoft.com/office/drawing/2014/main" id="{03165626-A2BA-91F4-6CB6-BCBBF644A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3187700"/>
            <a:ext cx="3297238" cy="277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EF95BFBD-6AB2-966E-B366-20FEC6CA17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jQuery UI – </a:t>
            </a:r>
            <a:r>
              <a:rPr lang="en-US" altLang="en-US" dirty="0" err="1"/>
              <a:t>DatePicker</a:t>
            </a:r>
            <a:r>
              <a:rPr lang="en-US" altLang="en-US" dirty="0"/>
              <a:t> Example</a:t>
            </a:r>
            <a:endParaRPr lang="en-GB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4BB117-7069-7DE7-BED2-3A4721202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837" y="1514208"/>
            <a:ext cx="6212425" cy="42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970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4">
            <a:extLst>
              <a:ext uri="{FF2B5EF4-FFF2-40B4-BE49-F238E27FC236}">
                <a16:creationId xmlns:a16="http://schemas.microsoft.com/office/drawing/2014/main" id="{3183D611-8DA6-E0A5-DA8A-10C1BAF61B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References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4371E9E-EC2C-1BFA-FA75-A13E789455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88" y="1340768"/>
            <a:ext cx="8856663" cy="4968552"/>
          </a:xfrm>
        </p:spPr>
        <p:txBody>
          <a:bodyPr/>
          <a:lstStyle/>
          <a:p>
            <a:pPr algn="l"/>
            <a:r>
              <a:rPr lang="en-GB" sz="12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Books: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2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jQuery Introduction &amp; Syntax</a:t>
            </a:r>
            <a:endParaRPr lang="en-GB" sz="12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Chaffer, J., &amp; </a:t>
            </a:r>
            <a:r>
              <a:rPr lang="en-GB" sz="1200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Swedberg</a:t>
            </a:r>
            <a:r>
              <a:rPr lang="en-GB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K. (2013). </a:t>
            </a:r>
            <a:r>
              <a:rPr lang="en-GB" sz="1200" b="0" i="1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jQuery in Action</a:t>
            </a:r>
            <a:r>
              <a:rPr lang="en-GB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Manning Publications.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2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jQuery Events &amp; Effects</a:t>
            </a:r>
            <a:endParaRPr lang="en-GB" sz="12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200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Bibeault</a:t>
            </a:r>
            <a:r>
              <a:rPr lang="en-GB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B., &amp; Katz, Y. (2015). </a:t>
            </a:r>
            <a:r>
              <a:rPr lang="en-GB" sz="1200" b="0" i="1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Learning jQuery, 3rd Edition</a:t>
            </a:r>
            <a:r>
              <a:rPr lang="en-GB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GB" sz="1200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Packt</a:t>
            </a:r>
            <a:r>
              <a:rPr lang="en-GB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Publishing.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2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DOM</a:t>
            </a:r>
            <a:endParaRPr lang="en-GB" sz="12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Duckett, J. (2014). </a:t>
            </a:r>
            <a:r>
              <a:rPr lang="en-GB" sz="1200" b="0" i="1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JavaScript and </a:t>
            </a:r>
            <a:r>
              <a:rPr lang="en-GB" sz="1200" b="0" i="1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JQuery</a:t>
            </a:r>
            <a:r>
              <a:rPr lang="en-GB" sz="1200" b="0" i="1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Interactive Front-End Web Development</a:t>
            </a:r>
            <a:r>
              <a:rPr lang="en-GB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John Wiley &amp; Sons.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2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jQuery UI</a:t>
            </a:r>
            <a:endParaRPr lang="en-GB" sz="12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Libby, A. (2014). </a:t>
            </a:r>
            <a:r>
              <a:rPr lang="en-GB" sz="1200" b="0" i="1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jQuery UI in Action</a:t>
            </a:r>
            <a:r>
              <a:rPr lang="en-GB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Manning Publications. </a:t>
            </a:r>
            <a:r>
              <a:rPr lang="en-GB" sz="12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Web Resources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2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jQuery Introduction</a:t>
            </a:r>
            <a:endParaRPr lang="en-GB" sz="12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jQuery.com. </a:t>
            </a:r>
            <a:r>
              <a:rPr lang="en-GB" sz="1200" b="0" i="1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jQuery Introduction</a:t>
            </a:r>
            <a:r>
              <a:rPr lang="en-GB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Available at: </a:t>
            </a:r>
            <a:r>
              <a:rPr lang="en-GB" sz="1200" b="0" i="0" u="none" strike="noStrike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jQuery Introduction</a:t>
            </a:r>
            <a:endParaRPr lang="en-GB" sz="12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2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jQuery Syntax</a:t>
            </a:r>
            <a:endParaRPr lang="en-GB" sz="12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W3Schools. </a:t>
            </a:r>
            <a:r>
              <a:rPr lang="en-GB" sz="1200" b="0" i="1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jQuery Syntax</a:t>
            </a:r>
            <a:r>
              <a:rPr lang="en-GB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Available at: </a:t>
            </a:r>
            <a:r>
              <a:rPr lang="en-GB" sz="1200" b="0" i="0" u="none" strike="noStrike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W3Schools jQuery Syntax</a:t>
            </a:r>
            <a:endParaRPr lang="en-GB" sz="12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2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jQuery Events</a:t>
            </a:r>
            <a:endParaRPr lang="en-GB" sz="12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Mozilla Developer Network (MDN). </a:t>
            </a:r>
            <a:r>
              <a:rPr lang="en-GB" sz="1200" b="0" i="1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Introduction to events</a:t>
            </a:r>
            <a:r>
              <a:rPr lang="en-GB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Available at: </a:t>
            </a:r>
            <a:r>
              <a:rPr lang="en-GB" sz="1200" b="0" i="0" u="none" strike="noStrike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MDN Events</a:t>
            </a:r>
            <a:endParaRPr lang="en-GB" sz="12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2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jQuery Effects</a:t>
            </a:r>
            <a:endParaRPr lang="en-GB" sz="12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jQuery.com. </a:t>
            </a:r>
            <a:r>
              <a:rPr lang="en-GB" sz="1200" b="0" i="1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jQuery Effects</a:t>
            </a:r>
            <a:r>
              <a:rPr lang="en-GB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Available at: </a:t>
            </a:r>
            <a:r>
              <a:rPr lang="en-GB" sz="1200" b="0" i="0" u="none" strike="noStrike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jQuery Effects</a:t>
            </a:r>
            <a:endParaRPr lang="en-GB" sz="12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2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DOM</a:t>
            </a:r>
            <a:endParaRPr lang="en-GB" sz="12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Mozilla Developer Network (MDN). </a:t>
            </a:r>
            <a:r>
              <a:rPr lang="en-GB" sz="1200" b="0" i="1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Introduction to the DOM</a:t>
            </a:r>
            <a:r>
              <a:rPr lang="en-GB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Available at: </a:t>
            </a:r>
            <a:r>
              <a:rPr lang="en-GB" sz="1200" b="0" i="0" u="none" strike="noStrike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MDN DOM Introduction</a:t>
            </a:r>
            <a:endParaRPr lang="en-GB" sz="12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2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jQuery UI</a:t>
            </a:r>
            <a:endParaRPr lang="en-GB" sz="12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jQueryUI.com. </a:t>
            </a:r>
            <a:r>
              <a:rPr lang="en-GB" sz="1200" b="0" i="1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jQuery UI</a:t>
            </a:r>
            <a:r>
              <a:rPr lang="en-GB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Available at: </a:t>
            </a:r>
            <a:r>
              <a:rPr lang="en-GB" sz="1200" b="0" i="0" u="none" strike="noStrike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jQuery UI</a:t>
            </a:r>
            <a:endParaRPr lang="en-GB" sz="12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BDA45606-886C-32E0-2F1D-957CDFE039A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 dirty="0"/>
              <a:t>Topic 8 – jQuery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754AB1D9-1422-CD8E-00A3-C721D8907AD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Any Questions?</a:t>
            </a:r>
          </a:p>
          <a:p>
            <a:pPr eaLnBrk="1" hangingPunct="1"/>
            <a:endParaRPr lang="en-GB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Custom 11">
      <a:dk1>
        <a:srgbClr val="000000"/>
      </a:dk1>
      <a:lt1>
        <a:srgbClr val="FFFFFF"/>
      </a:lt1>
      <a:dk2>
        <a:srgbClr val="000000"/>
      </a:dk2>
      <a:lt2>
        <a:srgbClr val="3F3F3F"/>
      </a:lt2>
      <a:accent1>
        <a:srgbClr val="212167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Gill Sans"/>
        <a:ea typeface="ＭＳ Ｐゴシック"/>
        <a:cs typeface=""/>
      </a:majorFont>
      <a:minorFont>
        <a:latin typeface="Gill Sans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st 2">
  <a:themeElements>
    <a:clrScheme name="test 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est 2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lnDef>
  </a:objectDefaults>
  <a:extraClrSchemeLst>
    <a:extraClrScheme>
      <a:clrScheme name="test 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4219901A04064790C94E9A9AE89D33" ma:contentTypeVersion="3" ma:contentTypeDescription="Create a new document." ma:contentTypeScope="" ma:versionID="d9bbfaea230637e7c1669398b1eed2f4">
  <xsd:schema xmlns:xsd="http://www.w3.org/2001/XMLSchema" xmlns:xs="http://www.w3.org/2001/XMLSchema" xmlns:p="http://schemas.microsoft.com/office/2006/metadata/properties" xmlns:ns2="b7ca8b93-ffab-4a3f-973d-e2dcd4ec99d7" targetNamespace="http://schemas.microsoft.com/office/2006/metadata/properties" ma:root="true" ma:fieldsID="78ca82ca745a94011efef898cb6160cc" ns2:_="">
    <xsd:import namespace="b7ca8b93-ffab-4a3f-973d-e2dcd4ec99d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ca8b93-ffab-4a3f-973d-e2dcd4ec99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C16C11-291D-4470-85B1-F2446D0F4AF7}">
  <ds:schemaRefs>
    <ds:schemaRef ds:uri="http://www.w3.org/XML/1998/namespace"/>
    <ds:schemaRef ds:uri="http://purl.org/dc/terms/"/>
    <ds:schemaRef ds:uri="http://schemas.microsoft.com/office/2006/metadata/properties"/>
    <ds:schemaRef ds:uri="http://schemas.microsoft.com/office/infopath/2007/PartnerControls"/>
    <ds:schemaRef ds:uri="http://purl.org/dc/dcmitype/"/>
    <ds:schemaRef ds:uri="bdeceafc-5c0f-406d-b95f-35e6593d664b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dbeaa6b5-7a21-43b8-ab59-31e7cbf2c187"/>
  </ds:schemaRefs>
</ds:datastoreItem>
</file>

<file path=customXml/itemProps2.xml><?xml version="1.0" encoding="utf-8"?>
<ds:datastoreItem xmlns:ds="http://schemas.openxmlformats.org/officeDocument/2006/customXml" ds:itemID="{ECE04B11-C029-4A4B-AA6A-73246B1B825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CB945D-A7CF-45C4-80BB-7B9C61072EAB}"/>
</file>

<file path=docProps/app.xml><?xml version="1.0" encoding="utf-8"?>
<Properties xmlns="http://schemas.openxmlformats.org/officeDocument/2006/extended-properties" xmlns:vt="http://schemas.openxmlformats.org/officeDocument/2006/docPropsVTypes">
  <Template>Eric:Users:Eric:Desktop:test 2.ppt</Template>
  <TotalTime>107</TotalTime>
  <Words>2204</Words>
  <Application>Microsoft Office PowerPoint</Application>
  <PresentationFormat>On-screen Show (4:3)</PresentationFormat>
  <Paragraphs>374</Paragraphs>
  <Slides>48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57" baseType="lpstr">
      <vt:lpstr>Arial MT</vt:lpstr>
      <vt:lpstr>Gill Sans</vt:lpstr>
      <vt:lpstr>Arial</vt:lpstr>
      <vt:lpstr>Calibri</vt:lpstr>
      <vt:lpstr>Courier New</vt:lpstr>
      <vt:lpstr>Times New Roman</vt:lpstr>
      <vt:lpstr>Wingdings</vt:lpstr>
      <vt:lpstr>Blank Presentation</vt:lpstr>
      <vt:lpstr>test 2</vt:lpstr>
      <vt:lpstr>PowerPoint Presentation</vt:lpstr>
      <vt:lpstr>Scope and Coverage</vt:lpstr>
      <vt:lpstr>Learning Outcomes</vt:lpstr>
      <vt:lpstr>Unit Roadmap</vt:lpstr>
      <vt:lpstr>jQuery</vt:lpstr>
      <vt:lpstr>Introduction to jQuery</vt:lpstr>
      <vt:lpstr>Introduction to jQuery</vt:lpstr>
      <vt:lpstr>jQuery Development Principles</vt:lpstr>
      <vt:lpstr>jQuery syntax</vt:lpstr>
      <vt:lpstr>jquery events</vt:lpstr>
      <vt:lpstr>jQuery Ready Event</vt:lpstr>
      <vt:lpstr>jQuery Load Event</vt:lpstr>
      <vt:lpstr>jQuery Passing Named Functions</vt:lpstr>
      <vt:lpstr>jQuery noConflict Mode</vt:lpstr>
      <vt:lpstr>Selectors</vt:lpstr>
      <vt:lpstr>Selectors - Example</vt:lpstr>
      <vt:lpstr>Element Selectors</vt:lpstr>
      <vt:lpstr>Quiz -1</vt:lpstr>
      <vt:lpstr>jquery events and effects</vt:lpstr>
      <vt:lpstr>Event Handling Using jQuery</vt:lpstr>
      <vt:lpstr>Example Events</vt:lpstr>
      <vt:lpstr>Introduction to Effects</vt:lpstr>
      <vt:lpstr>Hide and Show Effects</vt:lpstr>
      <vt:lpstr>Hide and Show Effects Example</vt:lpstr>
      <vt:lpstr>Fading Effects</vt:lpstr>
      <vt:lpstr>Fading Effects - Example</vt:lpstr>
      <vt:lpstr>Sliding Effects</vt:lpstr>
      <vt:lpstr>Sliding Effects</vt:lpstr>
      <vt:lpstr>Animation Effects</vt:lpstr>
      <vt:lpstr>Callback usage in jQuery</vt:lpstr>
      <vt:lpstr>Chaining in jQuery</vt:lpstr>
      <vt:lpstr>Quiz - 2</vt:lpstr>
      <vt:lpstr>jquery dom</vt:lpstr>
      <vt:lpstr>Document Object Model (DOM)</vt:lpstr>
      <vt:lpstr>DOM APIs</vt:lpstr>
      <vt:lpstr>Setting values using DOM APIs</vt:lpstr>
      <vt:lpstr>DOM APIs – Insert and Remove</vt:lpstr>
      <vt:lpstr>DOM APIs – Insert and Remove Example</vt:lpstr>
      <vt:lpstr>jQuery – Dimension APIs</vt:lpstr>
      <vt:lpstr>jQuery – Dimension APIs</vt:lpstr>
      <vt:lpstr>Example – Dimensions API</vt:lpstr>
      <vt:lpstr>jquery ui</vt:lpstr>
      <vt:lpstr>jQuery UI – draggable()</vt:lpstr>
      <vt:lpstr>jQuery UI – droppable()</vt:lpstr>
      <vt:lpstr>jQuery UI – DatePicker</vt:lpstr>
      <vt:lpstr>jQuery UI – DatePicker Example</vt:lpstr>
      <vt:lpstr>References</vt:lpstr>
      <vt:lpstr>Topic 8 – jQuery</vt:lpstr>
    </vt:vector>
  </TitlesOfParts>
  <Company>True Creative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Riley</dc:creator>
  <cp:lastModifiedBy>Liew Pei Ling</cp:lastModifiedBy>
  <cp:revision>87</cp:revision>
  <dcterms:created xsi:type="dcterms:W3CDTF">2008-01-18T13:21:43Z</dcterms:created>
  <dcterms:modified xsi:type="dcterms:W3CDTF">2024-03-07T06:22:55Z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0x010100104219901A04064790C94E9A9AE89D33</vt:lpwstr>
  </property>
</Properties>
</file>