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650" r:id="rId5"/>
  </p:sldMasterIdLst>
  <p:notesMasterIdLst>
    <p:notesMasterId r:id="rId50"/>
  </p:notesMasterIdLst>
  <p:handoutMasterIdLst>
    <p:handoutMasterId r:id="rId51"/>
  </p:handoutMasterIdLst>
  <p:sldIdLst>
    <p:sldId id="261" r:id="rId6"/>
    <p:sldId id="371" r:id="rId7"/>
    <p:sldId id="372" r:id="rId8"/>
    <p:sldId id="343" r:id="rId9"/>
    <p:sldId id="374" r:id="rId10"/>
    <p:sldId id="257" r:id="rId11"/>
    <p:sldId id="259" r:id="rId12"/>
    <p:sldId id="260" r:id="rId13"/>
    <p:sldId id="275" r:id="rId14"/>
    <p:sldId id="276" r:id="rId15"/>
    <p:sldId id="277" r:id="rId16"/>
    <p:sldId id="278" r:id="rId17"/>
    <p:sldId id="279" r:id="rId18"/>
    <p:sldId id="280" r:id="rId19"/>
    <p:sldId id="281" r:id="rId20"/>
    <p:sldId id="283" r:id="rId21"/>
    <p:sldId id="284" r:id="rId22"/>
    <p:sldId id="285" r:id="rId23"/>
    <p:sldId id="286" r:id="rId24"/>
    <p:sldId id="287" r:id="rId25"/>
    <p:sldId id="288" r:id="rId26"/>
    <p:sldId id="378" r:id="rId27"/>
    <p:sldId id="289" r:id="rId28"/>
    <p:sldId id="290" r:id="rId29"/>
    <p:sldId id="291" r:id="rId30"/>
    <p:sldId id="292" r:id="rId31"/>
    <p:sldId id="376" r:id="rId32"/>
    <p:sldId id="350" r:id="rId33"/>
    <p:sldId id="351" r:id="rId34"/>
    <p:sldId id="352" r:id="rId35"/>
    <p:sldId id="353" r:id="rId36"/>
    <p:sldId id="355" r:id="rId37"/>
    <p:sldId id="356" r:id="rId38"/>
    <p:sldId id="358" r:id="rId39"/>
    <p:sldId id="359" r:id="rId40"/>
    <p:sldId id="361" r:id="rId41"/>
    <p:sldId id="363" r:id="rId42"/>
    <p:sldId id="364" r:id="rId43"/>
    <p:sldId id="366" r:id="rId44"/>
    <p:sldId id="367" r:id="rId45"/>
    <p:sldId id="368" r:id="rId46"/>
    <p:sldId id="379" r:id="rId47"/>
    <p:sldId id="268" r:id="rId48"/>
    <p:sldId id="262" r:id="rId4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96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113EB4E-260D-2BEF-3741-5FE299C88150}" name="Liew Pei Ling" initials="LPL" userId="S::peiling.liew@nccedu.com::c3090c8e-0726-43ba-95b9-123e980a216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7929"/>
    <a:srgbClr val="CB9535"/>
    <a:srgbClr val="974F8E"/>
    <a:srgbClr val="286A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FC98FC-57D9-4A37-B4EF-314556F7BF37}" v="7" dt="2024-03-07T06:57:14.8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81"/>
    <p:restoredTop sz="94648"/>
  </p:normalViewPr>
  <p:slideViewPr>
    <p:cSldViewPr>
      <p:cViewPr varScale="1">
        <p:scale>
          <a:sx n="62" d="100"/>
          <a:sy n="62" d="100"/>
        </p:scale>
        <p:origin x="1448" y="56"/>
      </p:cViewPr>
      <p:guideLst>
        <p:guide orient="horz" pos="2160"/>
        <p:guide pos="2880"/>
        <p:guide pos="9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2796"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microsoft.com/office/2016/11/relationships/changesInfo" Target="changesInfos/changesInfo1.xml"/><Relationship Id="rId8" Type="http://schemas.openxmlformats.org/officeDocument/2006/relationships/slide" Target="slides/slide3.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5/10/relationships/revisionInfo" Target="revisionInfo.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ew Pei Ling" userId="c3090c8e-0726-43ba-95b9-123e980a216d" providerId="ADAL" clId="{01FC98FC-57D9-4A37-B4EF-314556F7BF37}"/>
    <pc:docChg chg="custSel addSld delSld modSld">
      <pc:chgData name="Liew Pei Ling" userId="c3090c8e-0726-43ba-95b9-123e980a216d" providerId="ADAL" clId="{01FC98FC-57D9-4A37-B4EF-314556F7BF37}" dt="2024-03-07T06:57:16.420" v="27" actId="47"/>
      <pc:docMkLst>
        <pc:docMk/>
      </pc:docMkLst>
      <pc:sldChg chg="modSp mod">
        <pc:chgData name="Liew Pei Ling" userId="c3090c8e-0726-43ba-95b9-123e980a216d" providerId="ADAL" clId="{01FC98FC-57D9-4A37-B4EF-314556F7BF37}" dt="2024-03-07T06:55:53.888" v="16" actId="20577"/>
        <pc:sldMkLst>
          <pc:docMk/>
          <pc:sldMk cId="0" sldId="343"/>
        </pc:sldMkLst>
        <pc:graphicFrameChg chg="mod modGraphic">
          <ac:chgData name="Liew Pei Ling" userId="c3090c8e-0726-43ba-95b9-123e980a216d" providerId="ADAL" clId="{01FC98FC-57D9-4A37-B4EF-314556F7BF37}" dt="2024-03-07T06:55:53.888" v="16" actId="20577"/>
          <ac:graphicFrameMkLst>
            <pc:docMk/>
            <pc:sldMk cId="0" sldId="343"/>
            <ac:graphicFrameMk id="4" creationId="{586A019A-A170-ABD1-E062-95AD14D0A82E}"/>
          </ac:graphicFrameMkLst>
        </pc:graphicFrameChg>
      </pc:sldChg>
      <pc:sldChg chg="del">
        <pc:chgData name="Liew Pei Ling" userId="c3090c8e-0726-43ba-95b9-123e980a216d" providerId="ADAL" clId="{01FC98FC-57D9-4A37-B4EF-314556F7BF37}" dt="2024-03-07T06:55:23.514" v="0" actId="47"/>
        <pc:sldMkLst>
          <pc:docMk/>
          <pc:sldMk cId="0" sldId="373"/>
        </pc:sldMkLst>
      </pc:sldChg>
      <pc:sldChg chg="del">
        <pc:chgData name="Liew Pei Ling" userId="c3090c8e-0726-43ba-95b9-123e980a216d" providerId="ADAL" clId="{01FC98FC-57D9-4A37-B4EF-314556F7BF37}" dt="2024-03-07T06:56:25.274" v="18" actId="47"/>
        <pc:sldMkLst>
          <pc:docMk/>
          <pc:sldMk cId="2566412431" sldId="375"/>
        </pc:sldMkLst>
      </pc:sldChg>
      <pc:sldChg chg="del">
        <pc:chgData name="Liew Pei Ling" userId="c3090c8e-0726-43ba-95b9-123e980a216d" providerId="ADAL" clId="{01FC98FC-57D9-4A37-B4EF-314556F7BF37}" dt="2024-03-07T06:57:16.420" v="27" actId="47"/>
        <pc:sldMkLst>
          <pc:docMk/>
          <pc:sldMk cId="1383481168" sldId="377"/>
        </pc:sldMkLst>
      </pc:sldChg>
      <pc:sldChg chg="modSp add mod">
        <pc:chgData name="Liew Pei Ling" userId="c3090c8e-0726-43ba-95b9-123e980a216d" providerId="ADAL" clId="{01FC98FC-57D9-4A37-B4EF-314556F7BF37}" dt="2024-03-07T06:56:35.459" v="20" actId="14100"/>
        <pc:sldMkLst>
          <pc:docMk/>
          <pc:sldMk cId="4277856654" sldId="378"/>
        </pc:sldMkLst>
        <pc:spChg chg="mod">
          <ac:chgData name="Liew Pei Ling" userId="c3090c8e-0726-43ba-95b9-123e980a216d" providerId="ADAL" clId="{01FC98FC-57D9-4A37-B4EF-314556F7BF37}" dt="2024-03-07T06:56:35.459" v="20" actId="14100"/>
          <ac:spMkLst>
            <pc:docMk/>
            <pc:sldMk cId="4277856654" sldId="378"/>
            <ac:spMk id="3" creationId="{AC89EB3C-CBE4-FCE7-6A4D-F6D2AB06C0E2}"/>
          </ac:spMkLst>
        </pc:spChg>
      </pc:sldChg>
      <pc:sldChg chg="modSp add mod">
        <pc:chgData name="Liew Pei Ling" userId="c3090c8e-0726-43ba-95b9-123e980a216d" providerId="ADAL" clId="{01FC98FC-57D9-4A37-B4EF-314556F7BF37}" dt="2024-03-07T06:57:14.847" v="26" actId="1076"/>
        <pc:sldMkLst>
          <pc:docMk/>
          <pc:sldMk cId="1028014443" sldId="379"/>
        </pc:sldMkLst>
        <pc:spChg chg="mod">
          <ac:chgData name="Liew Pei Ling" userId="c3090c8e-0726-43ba-95b9-123e980a216d" providerId="ADAL" clId="{01FC98FC-57D9-4A37-B4EF-314556F7BF37}" dt="2024-03-07T06:57:14.847" v="26" actId="1076"/>
          <ac:spMkLst>
            <pc:docMk/>
            <pc:sldMk cId="1028014443" sldId="379"/>
            <ac:spMk id="4" creationId="{231F2998-49A2-5252-63C4-9D597822299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347CCC5-6FE1-F3E7-410C-0EB52F9DDE32}"/>
              </a:ext>
            </a:extLst>
          </p:cNvPr>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defRPr sz="1200">
                <a:latin typeface="Arial" charset="0"/>
                <a:ea typeface="ＭＳ Ｐゴシック" charset="-128"/>
              </a:defRPr>
            </a:lvl1pPr>
          </a:lstStyle>
          <a:p>
            <a:pPr>
              <a:defRPr/>
            </a:pPr>
            <a:r>
              <a:rPr lang="en-US" altLang="x-none"/>
              <a:t>Topic X – Topic Title</a:t>
            </a:r>
          </a:p>
        </p:txBody>
      </p:sp>
      <p:sp>
        <p:nvSpPr>
          <p:cNvPr id="16387" name="Rectangle 3">
            <a:extLst>
              <a:ext uri="{FF2B5EF4-FFF2-40B4-BE49-F238E27FC236}">
                <a16:creationId xmlns:a16="http://schemas.microsoft.com/office/drawing/2014/main" id="{576B53D9-9B83-8117-5CB5-14ADC96120A4}"/>
              </a:ext>
            </a:extLst>
          </p:cNvPr>
          <p:cNvSpPr>
            <a:spLocks noGrp="1" noChangeArrowheads="1"/>
          </p:cNvSpPr>
          <p:nvPr>
            <p:ph type="dt" sz="quarter" idx="1"/>
          </p:nvPr>
        </p:nvSpPr>
        <p:spPr bwMode="auto">
          <a:xfrm>
            <a:off x="388620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32" charset="-128"/>
                <a:cs typeface="+mn-cs"/>
              </a:defRPr>
            </a:lvl1pPr>
          </a:lstStyle>
          <a:p>
            <a:pPr>
              <a:defRPr/>
            </a:pPr>
            <a:r>
              <a:rPr lang="en-US"/>
              <a:t>Module Title</a:t>
            </a:r>
          </a:p>
        </p:txBody>
      </p:sp>
      <p:sp>
        <p:nvSpPr>
          <p:cNvPr id="16388" name="Rectangle 4">
            <a:extLst>
              <a:ext uri="{FF2B5EF4-FFF2-40B4-BE49-F238E27FC236}">
                <a16:creationId xmlns:a16="http://schemas.microsoft.com/office/drawing/2014/main" id="{BABFA0FA-D07B-4A8C-C5FF-40544CD63338}"/>
              </a:ext>
            </a:extLst>
          </p:cNvPr>
          <p:cNvSpPr>
            <a:spLocks noGrp="1" noChangeArrowheads="1"/>
          </p:cNvSpPr>
          <p:nvPr>
            <p:ph type="ftr" sz="quarter" idx="2"/>
          </p:nvPr>
        </p:nvSpPr>
        <p:spPr bwMode="auto">
          <a:xfrm>
            <a:off x="0" y="8686800"/>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32" charset="-128"/>
                <a:cs typeface="+mn-cs"/>
              </a:defRPr>
            </a:lvl1pPr>
          </a:lstStyle>
          <a:p>
            <a:pPr>
              <a:defRPr/>
            </a:pPr>
            <a:r>
              <a:rPr lang="en-US"/>
              <a:t>V0.0</a:t>
            </a:r>
          </a:p>
        </p:txBody>
      </p:sp>
      <p:sp>
        <p:nvSpPr>
          <p:cNvPr id="16389" name="Rectangle 5">
            <a:extLst>
              <a:ext uri="{FF2B5EF4-FFF2-40B4-BE49-F238E27FC236}">
                <a16:creationId xmlns:a16="http://schemas.microsoft.com/office/drawing/2014/main" id="{3764A379-E700-7A97-D4B9-05A92A8C0FA5}"/>
              </a:ext>
            </a:extLst>
          </p:cNvPr>
          <p:cNvSpPr>
            <a:spLocks noGrp="1" noChangeArrowheads="1"/>
          </p:cNvSpPr>
          <p:nvPr>
            <p:ph type="sldNum" sz="quarter" idx="3"/>
          </p:nvPr>
        </p:nvSpPr>
        <p:spPr bwMode="auto">
          <a:xfrm>
            <a:off x="3886200" y="8686800"/>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defRPr sz="1200"/>
            </a:lvl1pPr>
          </a:lstStyle>
          <a:p>
            <a:pPr>
              <a:defRPr/>
            </a:pPr>
            <a:r>
              <a:rPr lang="en-US" altLang="en-US"/>
              <a:t>Visuals Handout – Page </a:t>
            </a:r>
            <a:fld id="{5E82760B-9E07-4830-9EDB-E0C13152CD0E}" type="slidenum">
              <a:rPr lang="en-US" altLang="en-US" smtClean="0"/>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7DD8D678-6997-3A50-B2F1-D6980BA89225}"/>
              </a:ext>
            </a:extLst>
          </p:cNvPr>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32" charset="-128"/>
                <a:cs typeface="+mn-cs"/>
              </a:defRPr>
            </a:lvl1pPr>
          </a:lstStyle>
          <a:p>
            <a:pPr>
              <a:defRPr/>
            </a:pPr>
            <a:endParaRPr lang="en-US"/>
          </a:p>
        </p:txBody>
      </p:sp>
      <p:sp>
        <p:nvSpPr>
          <p:cNvPr id="3075" name="Rectangle 3">
            <a:extLst>
              <a:ext uri="{FF2B5EF4-FFF2-40B4-BE49-F238E27FC236}">
                <a16:creationId xmlns:a16="http://schemas.microsoft.com/office/drawing/2014/main" id="{994AAADF-97C6-F79B-6BE6-95D2BE4B64CA}"/>
              </a:ext>
            </a:extLst>
          </p:cNvPr>
          <p:cNvSpPr>
            <a:spLocks noGrp="1" noChangeArrowheads="1"/>
          </p:cNvSpPr>
          <p:nvPr>
            <p:ph type="dt" idx="1"/>
          </p:nvPr>
        </p:nvSpPr>
        <p:spPr bwMode="auto">
          <a:xfrm>
            <a:off x="388620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32" charset="-128"/>
                <a:cs typeface="+mn-cs"/>
              </a:defRPr>
            </a:lvl1pPr>
          </a:lstStyle>
          <a:p>
            <a:pPr>
              <a:defRPr/>
            </a:pPr>
            <a:endParaRPr lang="en-US"/>
          </a:p>
        </p:txBody>
      </p:sp>
      <p:sp>
        <p:nvSpPr>
          <p:cNvPr id="6148" name="Rectangle 4">
            <a:extLst>
              <a:ext uri="{FF2B5EF4-FFF2-40B4-BE49-F238E27FC236}">
                <a16:creationId xmlns:a16="http://schemas.microsoft.com/office/drawing/2014/main" id="{6FC37A7A-A2DB-1357-C47F-8FA6DC651A7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EB8B247E-6FD6-DDB3-4C3E-FC99B5E5EF25}"/>
              </a:ext>
            </a:extLst>
          </p:cNvPr>
          <p:cNvSpPr>
            <a:spLocks noGrp="1" noChangeArrowheads="1"/>
          </p:cNvSpPr>
          <p:nvPr>
            <p:ph type="body" sz="quarter" idx="3"/>
          </p:nvPr>
        </p:nvSpPr>
        <p:spPr bwMode="auto">
          <a:xfrm>
            <a:off x="914400" y="4343400"/>
            <a:ext cx="5029200" cy="4114800"/>
          </a:xfrm>
          <a:prstGeom prst="rect">
            <a:avLst/>
          </a:prstGeom>
          <a:noFill/>
          <a:ln>
            <a:noFill/>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B261B83A-F6A2-3561-C734-22F2402BEACC}"/>
              </a:ext>
            </a:extLst>
          </p:cNvPr>
          <p:cNvSpPr>
            <a:spLocks noGrp="1" noChangeArrowheads="1"/>
          </p:cNvSpPr>
          <p:nvPr>
            <p:ph type="ftr" sz="quarter" idx="4"/>
          </p:nvPr>
        </p:nvSpPr>
        <p:spPr bwMode="auto">
          <a:xfrm>
            <a:off x="0" y="8686800"/>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32" charset="-128"/>
                <a:cs typeface="+mn-cs"/>
              </a:defRPr>
            </a:lvl1pPr>
          </a:lstStyle>
          <a:p>
            <a:pPr>
              <a:defRPr/>
            </a:pPr>
            <a:endParaRPr lang="en-US"/>
          </a:p>
        </p:txBody>
      </p:sp>
      <p:sp>
        <p:nvSpPr>
          <p:cNvPr id="3079" name="Rectangle 7">
            <a:extLst>
              <a:ext uri="{FF2B5EF4-FFF2-40B4-BE49-F238E27FC236}">
                <a16:creationId xmlns:a16="http://schemas.microsoft.com/office/drawing/2014/main" id="{4BA8EE14-CEF9-E2C6-7F0D-2DDC00C5DDCD}"/>
              </a:ext>
            </a:extLst>
          </p:cNvPr>
          <p:cNvSpPr>
            <a:spLocks noGrp="1" noChangeArrowheads="1"/>
          </p:cNvSpPr>
          <p:nvPr>
            <p:ph type="sldNum" sz="quarter" idx="5"/>
          </p:nvPr>
        </p:nvSpPr>
        <p:spPr bwMode="auto">
          <a:xfrm>
            <a:off x="3886200" y="8686800"/>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defRPr sz="1200"/>
            </a:lvl1pPr>
          </a:lstStyle>
          <a:p>
            <a:pPr>
              <a:defRPr/>
            </a:pPr>
            <a:fld id="{EEC57E65-0C62-4E81-95E9-D48B492ED0F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32"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32"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32"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32"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32"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408FD71E-79A5-6549-E9A0-7D41589983D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ADB21A06-8D00-4F17-81C1-DABBAD5A8040}" type="slidenum">
              <a:rPr lang="en-US" altLang="en-US" sz="1200" smtClean="0"/>
              <a:pPr/>
              <a:t>1</a:t>
            </a:fld>
            <a:endParaRPr lang="en-US" altLang="en-US" sz="1200"/>
          </a:p>
        </p:txBody>
      </p:sp>
      <p:sp>
        <p:nvSpPr>
          <p:cNvPr id="9219" name="Rectangle 2">
            <a:extLst>
              <a:ext uri="{FF2B5EF4-FFF2-40B4-BE49-F238E27FC236}">
                <a16:creationId xmlns:a16="http://schemas.microsoft.com/office/drawing/2014/main" id="{41018A7D-A2B2-EFCB-68FD-66C1953F5241}"/>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03440267-FF5B-C68A-B2DD-CDA9CD0B22D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NCC Education - Title Master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88BCE46A-D35B-ACAB-B0BD-13A0B5F90D2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E2E63DB9-1768-400B-ABC3-BBC99E5FB810}" type="slidenum">
              <a:rPr lang="en-US" altLang="en-US" sz="1200" smtClean="0"/>
              <a:pPr/>
              <a:t>2</a:t>
            </a:fld>
            <a:endParaRPr lang="en-US" altLang="en-US" sz="1200"/>
          </a:p>
        </p:txBody>
      </p:sp>
      <p:sp>
        <p:nvSpPr>
          <p:cNvPr id="11267" name="Rectangle 2">
            <a:extLst>
              <a:ext uri="{FF2B5EF4-FFF2-40B4-BE49-F238E27FC236}">
                <a16:creationId xmlns:a16="http://schemas.microsoft.com/office/drawing/2014/main" id="{5F8AE84A-1477-2064-BC5A-ABFB8ACC86AC}"/>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5FF4B879-8200-19D4-28A8-33934782EA2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NCC Education - Slide Master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cap="none" normalizeH="0" baseline="0" dirty="0">
                <a:ln>
                  <a:noFill/>
                </a:ln>
                <a:solidFill>
                  <a:srgbClr val="0D0D0D"/>
                </a:solidFill>
                <a:effectLst/>
                <a:cs typeface="Arial" panose="020B0604020202020204" pitchFamily="34" charset="0"/>
              </a:rPr>
              <a:t>Correct Answer:</a:t>
            </a:r>
            <a:r>
              <a:rPr kumimoji="0" lang="en-US" altLang="en-US" sz="1200" b="0" i="0" u="none" strike="noStrike" cap="none" normalizeH="0" baseline="0" dirty="0">
                <a:ln>
                  <a:noFill/>
                </a:ln>
                <a:solidFill>
                  <a:srgbClr val="0D0D0D"/>
                </a:solidFill>
                <a:effectLst/>
                <a:cs typeface="Arial" panose="020B0604020202020204" pitchFamily="34" charset="0"/>
              </a:rPr>
              <a:t> C) To create complex web layouts on a two-dimensional grid-based system</a:t>
            </a:r>
            <a:endParaRPr kumimoji="0" lang="en-US" altLang="en-US" sz="12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cap="none" normalizeH="0" baseline="0" dirty="0">
                <a:ln>
                  <a:noFill/>
                </a:ln>
                <a:solidFill>
                  <a:srgbClr val="0D0D0D"/>
                </a:solidFill>
                <a:effectLst/>
                <a:cs typeface="Arial" panose="020B0604020202020204" pitchFamily="34" charset="0"/>
              </a:rPr>
              <a:t>Correct Answer:</a:t>
            </a:r>
            <a:r>
              <a:rPr kumimoji="0" lang="en-US" altLang="en-US" sz="1200" b="0" i="0" u="none" strike="noStrike" cap="none" normalizeH="0" baseline="0" dirty="0">
                <a:ln>
                  <a:noFill/>
                </a:ln>
                <a:solidFill>
                  <a:srgbClr val="0D0D0D"/>
                </a:solidFill>
                <a:effectLst/>
                <a:cs typeface="Arial" panose="020B0604020202020204" pitchFamily="34" charset="0"/>
              </a:rPr>
              <a:t> A) </a:t>
            </a:r>
            <a:r>
              <a:rPr kumimoji="0" lang="en-US" altLang="en-US" sz="1200" b="1" i="0" u="none" strike="noStrike" cap="none" normalizeH="0" baseline="0" dirty="0">
                <a:ln>
                  <a:noFill/>
                </a:ln>
                <a:solidFill>
                  <a:srgbClr val="0D0D0D"/>
                </a:solidFill>
                <a:effectLst/>
                <a:cs typeface="Arial" panose="020B0604020202020204" pitchFamily="34" charset="0"/>
              </a:rPr>
              <a:t>display: grid;</a:t>
            </a:r>
            <a:endParaRPr kumimoji="0" lang="en-US" altLang="en-US" sz="12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cap="none" normalizeH="0" baseline="0" dirty="0">
                <a:ln>
                  <a:noFill/>
                </a:ln>
                <a:solidFill>
                  <a:srgbClr val="0D0D0D"/>
                </a:solidFill>
                <a:effectLst/>
                <a:cs typeface="Arial" panose="020B0604020202020204" pitchFamily="34" charset="0"/>
              </a:rPr>
              <a:t>Correct Answer:</a:t>
            </a:r>
            <a:r>
              <a:rPr kumimoji="0" lang="en-US" altLang="en-US" sz="1200" b="0" i="0" u="none" strike="noStrike" cap="none" normalizeH="0" baseline="0" dirty="0">
                <a:ln>
                  <a:noFill/>
                </a:ln>
                <a:solidFill>
                  <a:srgbClr val="0D0D0D"/>
                </a:solidFill>
                <a:effectLst/>
                <a:cs typeface="Arial" panose="020B0604020202020204" pitchFamily="34" charset="0"/>
              </a:rPr>
              <a:t> A) </a:t>
            </a:r>
            <a:r>
              <a:rPr kumimoji="0" lang="en-US" altLang="en-US" sz="1200" b="1" i="0" u="none" strike="noStrike" cap="none" normalizeH="0" baseline="0" dirty="0">
                <a:ln>
                  <a:noFill/>
                </a:ln>
                <a:solidFill>
                  <a:srgbClr val="0D0D0D"/>
                </a:solidFill>
                <a:effectLst/>
                <a:cs typeface="Arial" panose="020B0604020202020204" pitchFamily="34" charset="0"/>
              </a:rPr>
              <a:t>grid-column: span 2;</a:t>
            </a:r>
            <a:endParaRPr kumimoji="0" lang="en-US" altLang="en-US" sz="1200" b="0" i="0" u="none" strike="noStrike" cap="none" normalizeH="0" baseline="0" dirty="0">
              <a:ln>
                <a:noFill/>
              </a:ln>
              <a:solidFill>
                <a:schemeClr val="tx1"/>
              </a:solidFill>
              <a:effectLst/>
              <a:cs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pPr>
              <a:defRPr/>
            </a:pPr>
            <a:fld id="{EEC57E65-0C62-4E81-95E9-D48B492ED0F1}" type="slidenum">
              <a:rPr lang="en-US" altLang="en-US" smtClean="0"/>
              <a:pPr>
                <a:defRPr/>
              </a:pPr>
              <a:t>22</a:t>
            </a:fld>
            <a:endParaRPr lang="en-US" altLang="en-US"/>
          </a:p>
        </p:txBody>
      </p:sp>
    </p:spTree>
    <p:extLst>
      <p:ext uri="{BB962C8B-B14F-4D97-AF65-F5344CB8AC3E}">
        <p14:creationId xmlns:p14="http://schemas.microsoft.com/office/powerpoint/2010/main" val="4169772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cap="none" normalizeH="0" baseline="0" dirty="0">
                <a:ln>
                  <a:noFill/>
                </a:ln>
                <a:solidFill>
                  <a:srgbClr val="0D0D0D"/>
                </a:solidFill>
                <a:effectLst/>
                <a:cs typeface="Arial" panose="020B0604020202020204" pitchFamily="34" charset="0"/>
              </a:rPr>
              <a:t>Correct Answer:</a:t>
            </a:r>
            <a:r>
              <a:rPr kumimoji="0" lang="en-US" altLang="en-US" sz="1200" b="0" i="0" u="none" strike="noStrike" cap="none" normalizeH="0" baseline="0" dirty="0">
                <a:ln>
                  <a:noFill/>
                </a:ln>
                <a:solidFill>
                  <a:srgbClr val="0D0D0D"/>
                </a:solidFill>
                <a:effectLst/>
                <a:cs typeface="Arial" panose="020B0604020202020204" pitchFamily="34" charset="0"/>
              </a:rPr>
              <a:t> B) To offer a one-dimensional layout model for laying out items in rows or columns</a:t>
            </a:r>
            <a:endParaRPr kumimoji="0" lang="en-US" altLang="en-US" sz="12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cap="none" normalizeH="0" baseline="0" dirty="0">
                <a:ln>
                  <a:noFill/>
                </a:ln>
                <a:solidFill>
                  <a:srgbClr val="0D0D0D"/>
                </a:solidFill>
                <a:effectLst/>
                <a:cs typeface="Arial" panose="020B0604020202020204" pitchFamily="34" charset="0"/>
              </a:rPr>
              <a:t>Correct Answer:</a:t>
            </a:r>
            <a:r>
              <a:rPr kumimoji="0" lang="en-US" altLang="en-US" sz="1200" b="0" i="0" u="none" strike="noStrike" cap="none" normalizeH="0" baseline="0" dirty="0">
                <a:ln>
                  <a:noFill/>
                </a:ln>
                <a:solidFill>
                  <a:srgbClr val="0D0D0D"/>
                </a:solidFill>
                <a:effectLst/>
                <a:cs typeface="Arial" panose="020B0604020202020204" pitchFamily="34" charset="0"/>
              </a:rPr>
              <a:t> A) </a:t>
            </a:r>
            <a:r>
              <a:rPr kumimoji="0" lang="en-US" altLang="en-US" sz="1200" b="1" i="0" u="none" strike="noStrike" cap="none" normalizeH="0" baseline="0" dirty="0">
                <a:ln>
                  <a:noFill/>
                </a:ln>
                <a:solidFill>
                  <a:srgbClr val="0D0D0D"/>
                </a:solidFill>
                <a:effectLst/>
                <a:cs typeface="Arial" panose="020B0604020202020204" pitchFamily="34" charset="0"/>
              </a:rPr>
              <a:t>display: flex;</a:t>
            </a:r>
            <a:endParaRPr kumimoji="0" lang="en-US" altLang="en-US" sz="12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cap="none" normalizeH="0" baseline="0" dirty="0">
                <a:ln>
                  <a:noFill/>
                </a:ln>
                <a:solidFill>
                  <a:srgbClr val="0D0D0D"/>
                </a:solidFill>
                <a:effectLst/>
                <a:cs typeface="Arial" panose="020B0604020202020204" pitchFamily="34" charset="0"/>
              </a:rPr>
              <a:t>Correct Answer:</a:t>
            </a:r>
            <a:r>
              <a:rPr kumimoji="0" lang="en-US" altLang="en-US" sz="1200" b="0" i="0" u="none" strike="noStrike" cap="none" normalizeH="0" baseline="0" dirty="0">
                <a:ln>
                  <a:noFill/>
                </a:ln>
                <a:solidFill>
                  <a:srgbClr val="0D0D0D"/>
                </a:solidFill>
                <a:effectLst/>
                <a:cs typeface="Arial" panose="020B0604020202020204" pitchFamily="34" charset="0"/>
              </a:rPr>
              <a:t> B) </a:t>
            </a:r>
            <a:r>
              <a:rPr kumimoji="0" lang="en-US" altLang="en-US" sz="1200" b="1" i="0" u="none" strike="noStrike" cap="none" normalizeH="0" baseline="0" dirty="0">
                <a:ln>
                  <a:noFill/>
                </a:ln>
                <a:solidFill>
                  <a:srgbClr val="0D0D0D"/>
                </a:solidFill>
                <a:effectLst/>
                <a:cs typeface="Arial" panose="020B0604020202020204" pitchFamily="34" charset="0"/>
              </a:rPr>
              <a:t>align-items: center;</a:t>
            </a:r>
            <a:endParaRPr kumimoji="0" lang="en-US" altLang="en-US" sz="1200" b="0" i="0" u="none" strike="noStrike" cap="none" normalizeH="0" baseline="0" dirty="0">
              <a:ln>
                <a:noFill/>
              </a:ln>
              <a:solidFill>
                <a:schemeClr val="tx1"/>
              </a:solidFill>
              <a:effectLst/>
              <a:cs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pPr>
              <a:defRPr/>
            </a:pPr>
            <a:fld id="{EEC57E65-0C62-4E81-95E9-D48B492ED0F1}" type="slidenum">
              <a:rPr lang="en-US" altLang="en-US" smtClean="0"/>
              <a:pPr>
                <a:defRPr/>
              </a:pPr>
              <a:t>42</a:t>
            </a:fld>
            <a:endParaRPr lang="en-US" altLang="en-US"/>
          </a:p>
        </p:txBody>
      </p:sp>
    </p:spTree>
    <p:extLst>
      <p:ext uri="{BB962C8B-B14F-4D97-AF65-F5344CB8AC3E}">
        <p14:creationId xmlns:p14="http://schemas.microsoft.com/office/powerpoint/2010/main" val="3315663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ACDA013B-991A-08CE-D380-1EDFD145A9D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361CC61B-90E4-4D82-81E5-570B625103A9}" type="slidenum">
              <a:rPr lang="en-US" altLang="en-US" sz="1200" smtClean="0"/>
              <a:pPr/>
              <a:t>44</a:t>
            </a:fld>
            <a:endParaRPr lang="en-US" altLang="en-US" sz="1200"/>
          </a:p>
        </p:txBody>
      </p:sp>
      <p:sp>
        <p:nvSpPr>
          <p:cNvPr id="60419" name="Rectangle 2">
            <a:extLst>
              <a:ext uri="{FF2B5EF4-FFF2-40B4-BE49-F238E27FC236}">
                <a16:creationId xmlns:a16="http://schemas.microsoft.com/office/drawing/2014/main" id="{01F27DF3-3A85-546E-03CA-FF0D9C874E5F}"/>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8C5F1F39-BAAB-468E-177F-4E2003E49D0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NCC Education - End Slide Master</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2" name="Group 24">
            <a:extLst>
              <a:ext uri="{FF2B5EF4-FFF2-40B4-BE49-F238E27FC236}">
                <a16:creationId xmlns:a16="http://schemas.microsoft.com/office/drawing/2014/main" id="{97D63232-1A40-6A57-F44C-248B2878899F}"/>
              </a:ext>
            </a:extLst>
          </p:cNvPr>
          <p:cNvGrpSpPr>
            <a:grpSpLocks/>
          </p:cNvGrpSpPr>
          <p:nvPr userDrawn="1"/>
        </p:nvGrpSpPr>
        <p:grpSpPr bwMode="auto">
          <a:xfrm>
            <a:off x="7439025" y="6616700"/>
            <a:ext cx="1684338" cy="242888"/>
            <a:chOff x="4513" y="4156"/>
            <a:chExt cx="1061" cy="153"/>
          </a:xfrm>
        </p:grpSpPr>
        <p:sp>
          <p:nvSpPr>
            <p:cNvPr id="3" name="Rectangle 25">
              <a:extLst>
                <a:ext uri="{FF2B5EF4-FFF2-40B4-BE49-F238E27FC236}">
                  <a16:creationId xmlns:a16="http://schemas.microsoft.com/office/drawing/2014/main" id="{E7F0E96D-467B-91DD-0DDE-F3A45441B8F4}"/>
                </a:ext>
              </a:extLst>
            </p:cNvPr>
            <p:cNvSpPr>
              <a:spLocks noChangeArrowheads="1"/>
            </p:cNvSpPr>
            <p:nvPr userDrawn="1"/>
          </p:nvSpPr>
          <p:spPr bwMode="auto">
            <a:xfrm>
              <a:off x="4513" y="4156"/>
              <a:ext cx="173" cy="152"/>
            </a:xfrm>
            <a:prstGeom prst="rect">
              <a:avLst/>
            </a:prstGeom>
            <a:noFill/>
            <a:ln>
              <a:noFill/>
            </a:ln>
            <a:effectLst/>
          </p:spPr>
          <p:txBody>
            <a:bodyPr wrap="none" lIns="90488" tIns="44450" rIns="90488" bIns="44450">
              <a:spAutoFit/>
            </a:bodyPr>
            <a:lstStyle>
              <a:lvl1pPr defTabSz="762000">
                <a:defRPr sz="2400">
                  <a:solidFill>
                    <a:schemeClr val="tx1"/>
                  </a:solidFill>
                  <a:latin typeface="Arial" panose="020B0604020202020204" pitchFamily="34" charset="0"/>
                  <a:ea typeface="ＭＳ Ｐゴシック" panose="020B0600070205080204" pitchFamily="34" charset="-128"/>
                </a:defRPr>
              </a:lvl1pPr>
              <a:lvl2pPr marL="742950" indent="-285750" defTabSz="762000">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defRPr sz="2400">
                  <a:solidFill>
                    <a:schemeClr val="tx1"/>
                  </a:solidFill>
                  <a:latin typeface="Arial" panose="020B0604020202020204" pitchFamily="34" charset="0"/>
                  <a:ea typeface="ＭＳ Ｐゴシック" panose="020B0600070205080204" pitchFamily="34" charset="-128"/>
                </a:defRPr>
              </a:lvl3pPr>
              <a:lvl4pPr marL="1600200" indent="-228600" defTabSz="762000">
                <a:defRPr sz="2400">
                  <a:solidFill>
                    <a:schemeClr val="tx1"/>
                  </a:solidFill>
                  <a:latin typeface="Arial" panose="020B0604020202020204" pitchFamily="34" charset="0"/>
                  <a:ea typeface="ＭＳ Ｐゴシック" panose="020B0600070205080204" pitchFamily="34" charset="-128"/>
                </a:defRPr>
              </a:lvl4pPr>
              <a:lvl5pPr marL="2057400" indent="-228600" defTabSz="762000">
                <a:defRPr sz="24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defRPr/>
              </a:pPr>
              <a:r>
                <a:rPr lang="en-GB" altLang="en-US" sz="1000">
                  <a:solidFill>
                    <a:srgbClr val="FFFFFF"/>
                  </a:solidFill>
                </a:rPr>
                <a:t>©</a:t>
              </a:r>
            </a:p>
          </p:txBody>
        </p:sp>
        <p:sp>
          <p:nvSpPr>
            <p:cNvPr id="4" name="Rectangle 26">
              <a:extLst>
                <a:ext uri="{FF2B5EF4-FFF2-40B4-BE49-F238E27FC236}">
                  <a16:creationId xmlns:a16="http://schemas.microsoft.com/office/drawing/2014/main" id="{2DCE8155-50D0-208D-20E3-5235A7F7EFD9}"/>
                </a:ext>
              </a:extLst>
            </p:cNvPr>
            <p:cNvSpPr>
              <a:spLocks noChangeArrowheads="1"/>
            </p:cNvSpPr>
            <p:nvPr userDrawn="1"/>
          </p:nvSpPr>
          <p:spPr bwMode="auto">
            <a:xfrm>
              <a:off x="4623" y="4156"/>
              <a:ext cx="951" cy="153"/>
            </a:xfrm>
            <a:prstGeom prst="rect">
              <a:avLst/>
            </a:prstGeom>
            <a:noFill/>
            <a:ln>
              <a:noFill/>
            </a:ln>
            <a:effectLst/>
          </p:spPr>
          <p:txBody>
            <a:bodyPr wrap="none" lIns="90488" tIns="44450" rIns="90488" bIns="44450">
              <a:spAutoFit/>
            </a:bodyPr>
            <a:lstStyle>
              <a:lvl1pPr defTabSz="762000">
                <a:defRPr sz="2400">
                  <a:solidFill>
                    <a:schemeClr val="tx1"/>
                  </a:solidFill>
                  <a:latin typeface="Arial" charset="0"/>
                  <a:ea typeface="ＭＳ Ｐゴシック" pitchFamily="34" charset="-128"/>
                </a:defRPr>
              </a:lvl1pPr>
              <a:lvl2pPr marL="742950" indent="-285750" defTabSz="762000">
                <a:defRPr sz="2400">
                  <a:solidFill>
                    <a:schemeClr val="tx1"/>
                  </a:solidFill>
                  <a:latin typeface="Arial" charset="0"/>
                  <a:ea typeface="ＭＳ Ｐゴシック" pitchFamily="34" charset="-128"/>
                </a:defRPr>
              </a:lvl2pPr>
              <a:lvl3pPr marL="1143000" indent="-228600" defTabSz="762000">
                <a:defRPr sz="2400">
                  <a:solidFill>
                    <a:schemeClr val="tx1"/>
                  </a:solidFill>
                  <a:latin typeface="Arial" charset="0"/>
                  <a:ea typeface="ＭＳ Ｐゴシック" pitchFamily="34" charset="-128"/>
                </a:defRPr>
              </a:lvl3pPr>
              <a:lvl4pPr marL="1600200" indent="-228600" defTabSz="762000">
                <a:defRPr sz="2400">
                  <a:solidFill>
                    <a:schemeClr val="tx1"/>
                  </a:solidFill>
                  <a:latin typeface="Arial" charset="0"/>
                  <a:ea typeface="ＭＳ Ｐゴシック" pitchFamily="34" charset="-128"/>
                </a:defRPr>
              </a:lvl4pPr>
              <a:lvl5pPr marL="2057400" indent="-228600" defTabSz="762000">
                <a:defRPr sz="2400">
                  <a:solidFill>
                    <a:schemeClr val="tx1"/>
                  </a:solidFill>
                  <a:latin typeface="Arial" charset="0"/>
                  <a:ea typeface="ＭＳ Ｐゴシック" pitchFamily="34" charset="-128"/>
                </a:defRPr>
              </a:lvl5pPr>
              <a:lvl6pPr marL="2514600" indent="-228600" defTabSz="7620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defTabSz="7620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defTabSz="7620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defTabSz="762000" eaLnBrk="0" fontAlgn="base" hangingPunct="0">
                <a:spcBef>
                  <a:spcPct val="0"/>
                </a:spcBef>
                <a:spcAft>
                  <a:spcPct val="0"/>
                </a:spcAft>
                <a:defRPr sz="2400">
                  <a:solidFill>
                    <a:schemeClr val="tx1"/>
                  </a:solidFill>
                  <a:latin typeface="Arial" charset="0"/>
                  <a:ea typeface="ＭＳ Ｐゴシック" pitchFamily="34" charset="-128"/>
                </a:defRPr>
              </a:lvl9pPr>
            </a:lstStyle>
            <a:p>
              <a:pPr eaLnBrk="1" hangingPunct="1">
                <a:defRPr/>
              </a:pPr>
              <a:r>
                <a:rPr lang="en-GB" altLang="en-US" sz="1000" dirty="0">
                  <a:solidFill>
                    <a:srgbClr val="FFFFFF"/>
                  </a:solidFill>
                  <a:latin typeface="Arial" panose="020B0604020202020204" pitchFamily="34" charset="0"/>
                  <a:cs typeface="Arial" panose="020B0604020202020204" pitchFamily="34" charset="0"/>
                </a:rPr>
                <a:t>NCC Education Limited</a:t>
              </a:r>
            </a:p>
          </p:txBody>
        </p:sp>
      </p:grpSp>
      <p:pic>
        <p:nvPicPr>
          <p:cNvPr id="5" name="Picture 8">
            <a:extLst>
              <a:ext uri="{FF2B5EF4-FFF2-40B4-BE49-F238E27FC236}">
                <a16:creationId xmlns:a16="http://schemas.microsoft.com/office/drawing/2014/main" id="{A8CF1C06-68BE-FC75-7AAF-8BC5694F3BA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6988"/>
            <a:ext cx="9144000" cy="6911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3278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rgbClr val="002060"/>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36459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rgbClr val="002060"/>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002060"/>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extLst>
      <p:ext uri="{BB962C8B-B14F-4D97-AF65-F5344CB8AC3E}">
        <p14:creationId xmlns:p14="http://schemas.microsoft.com/office/powerpoint/2010/main" val="4018435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07950" y="1845717"/>
            <a:ext cx="4351338" cy="4319587"/>
          </a:xfrm>
        </p:spPr>
        <p:txBody>
          <a:bodyPr/>
          <a:lstStyle>
            <a:lvl1pPr>
              <a:defRPr sz="2800">
                <a:solidFill>
                  <a:srgbClr val="002060"/>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11688" y="1845717"/>
            <a:ext cx="4352925" cy="4319587"/>
          </a:xfrm>
        </p:spPr>
        <p:txBody>
          <a:bodyPr/>
          <a:lstStyle>
            <a:lvl1pPr>
              <a:defRPr sz="2800">
                <a:solidFill>
                  <a:srgbClr val="002060"/>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841347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rgbClr val="002060"/>
                </a:solidFil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rgbClr val="002060"/>
                </a:solidFil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984554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2306459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8264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844824"/>
            <a:ext cx="3008313" cy="1162050"/>
          </a:xfrm>
        </p:spPr>
        <p:txBody>
          <a:bodyPr anchor="b"/>
          <a:lstStyle>
            <a:lvl1pPr algn="l">
              <a:defRPr sz="2000" b="1"/>
            </a:lvl1pPr>
          </a:lstStyle>
          <a:p>
            <a:r>
              <a:rPr lang="en-US" dirty="0"/>
              <a:t>Click to edit Master title style</a:t>
            </a:r>
            <a:endParaRPr lang="en-GB" dirty="0"/>
          </a:p>
        </p:txBody>
      </p:sp>
      <p:sp>
        <p:nvSpPr>
          <p:cNvPr id="3" name="Content Placeholder 2"/>
          <p:cNvSpPr>
            <a:spLocks noGrp="1"/>
          </p:cNvSpPr>
          <p:nvPr>
            <p:ph idx="1"/>
          </p:nvPr>
        </p:nvSpPr>
        <p:spPr>
          <a:xfrm>
            <a:off x="3575050" y="1844824"/>
            <a:ext cx="5111750" cy="5853113"/>
          </a:xfrm>
        </p:spPr>
        <p:txBody>
          <a:bodyPr/>
          <a:lstStyle>
            <a:lvl1pPr>
              <a:defRPr sz="3200">
                <a:solidFill>
                  <a:srgbClr val="002060"/>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457200" y="3019276"/>
            <a:ext cx="3008313" cy="4691063"/>
          </a:xfrm>
        </p:spPr>
        <p:txBody>
          <a:bodyPr/>
          <a:lstStyle>
            <a:lvl1pPr marL="0" indent="0">
              <a:buNone/>
              <a:defRPr sz="1400">
                <a:solidFill>
                  <a:srgbClr val="00206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041960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rgbClr val="F47929"/>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01631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lvl1pPr>
              <a:defRPr>
                <a:solidFill>
                  <a:srgbClr val="002060"/>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188633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0050" y="404813"/>
            <a:ext cx="2214563" cy="547211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3188" y="404813"/>
            <a:ext cx="6494462" cy="5472112"/>
          </a:xfrm>
        </p:spPr>
        <p:txBody>
          <a:bodyPr vert="eaVert"/>
          <a:lstStyle>
            <a:lvl1pPr>
              <a:defRPr>
                <a:solidFill>
                  <a:srgbClr val="002060"/>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82616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78800" y="833163"/>
            <a:ext cx="7786401" cy="677108"/>
          </a:xfrm>
          <a:prstGeom prst="rect">
            <a:avLst/>
          </a:prstGeom>
        </p:spPr>
        <p:txBody>
          <a:bodyPr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461665"/>
          </a:xfrm>
          <a:prstGeom prst="rect">
            <a:avLst/>
          </a:prstGeom>
        </p:spPr>
        <p:txBody>
          <a:bodyPr lIns="0" tIns="0" rIns="0" bIns="0">
            <a:spAutoFit/>
          </a:bodyPr>
          <a:lstStyle>
            <a:lvl1pPr>
              <a:defRPr/>
            </a:lvl1pPr>
          </a:lstStyle>
          <a:p>
            <a:endParaRPr/>
          </a:p>
        </p:txBody>
      </p:sp>
      <p:sp>
        <p:nvSpPr>
          <p:cNvPr id="4" name="Holder 4">
            <a:extLst>
              <a:ext uri="{FF2B5EF4-FFF2-40B4-BE49-F238E27FC236}">
                <a16:creationId xmlns:a16="http://schemas.microsoft.com/office/drawing/2014/main" id="{5113F26D-9BF5-D357-F767-D259AF5945D6}"/>
              </a:ext>
            </a:extLst>
          </p:cNvPr>
          <p:cNvSpPr>
            <a:spLocks noGrp="1"/>
          </p:cNvSpPr>
          <p:nvPr>
            <p:ph type="ftr" sz="quarter" idx="10"/>
          </p:nvPr>
        </p:nvSpPr>
        <p:spPr>
          <a:xfrm>
            <a:off x="0" y="0"/>
            <a:ext cx="0" cy="0"/>
          </a:xfrm>
        </p:spPr>
        <p:txBody>
          <a:bodyPr lIns="0" tIns="0" rIns="0" bIns="0"/>
          <a:lstStyle>
            <a:lvl1pPr algn="ctr">
              <a:defRPr>
                <a:solidFill>
                  <a:schemeClr val="tx1">
                    <a:tint val="75000"/>
                  </a:schemeClr>
                </a:solidFill>
              </a:defRPr>
            </a:lvl1pPr>
          </a:lstStyle>
          <a:p>
            <a:pPr>
              <a:defRPr/>
            </a:pPr>
            <a:endParaRPr/>
          </a:p>
        </p:txBody>
      </p:sp>
      <p:sp>
        <p:nvSpPr>
          <p:cNvPr id="5" name="Holder 5">
            <a:extLst>
              <a:ext uri="{FF2B5EF4-FFF2-40B4-BE49-F238E27FC236}">
                <a16:creationId xmlns:a16="http://schemas.microsoft.com/office/drawing/2014/main" id="{ED00E8E5-C1F4-0F5B-4C5D-999FB4BDADBC}"/>
              </a:ext>
            </a:extLst>
          </p:cNvPr>
          <p:cNvSpPr>
            <a:spLocks noGrp="1"/>
          </p:cNvSpPr>
          <p:nvPr>
            <p:ph type="dt" sz="half" idx="11"/>
          </p:nvPr>
        </p:nvSpPr>
        <p:spPr>
          <a:xfrm>
            <a:off x="0" y="0"/>
            <a:ext cx="0" cy="0"/>
          </a:xfrm>
        </p:spPr>
        <p:txBody>
          <a:bodyPr lIns="0" tIns="0" rIns="0" bIns="0"/>
          <a:lstStyle>
            <a:lvl1pPr algn="l">
              <a:defRPr>
                <a:solidFill>
                  <a:schemeClr val="tx1">
                    <a:tint val="75000"/>
                  </a:schemeClr>
                </a:solidFill>
              </a:defRPr>
            </a:lvl1pPr>
          </a:lstStyle>
          <a:p>
            <a:pPr>
              <a:defRPr/>
            </a:pPr>
            <a:fld id="{B52F43B1-C7AD-43EC-8F13-D9A2C70A7140}" type="datetimeFigureOut">
              <a:rPr lang="en-US"/>
              <a:pPr>
                <a:defRPr/>
              </a:pPr>
              <a:t>3/7/2024</a:t>
            </a:fld>
            <a:endParaRPr lang="en-US"/>
          </a:p>
        </p:txBody>
      </p:sp>
      <p:sp>
        <p:nvSpPr>
          <p:cNvPr id="6" name="Holder 6">
            <a:extLst>
              <a:ext uri="{FF2B5EF4-FFF2-40B4-BE49-F238E27FC236}">
                <a16:creationId xmlns:a16="http://schemas.microsoft.com/office/drawing/2014/main" id="{F700375C-958C-EE50-45BB-E9E4AF750DD6}"/>
              </a:ext>
            </a:extLst>
          </p:cNvPr>
          <p:cNvSpPr>
            <a:spLocks noGrp="1"/>
          </p:cNvSpPr>
          <p:nvPr>
            <p:ph type="sldNum" sz="quarter" idx="12"/>
          </p:nvPr>
        </p:nvSpPr>
        <p:spPr>
          <a:xfrm>
            <a:off x="0" y="0"/>
            <a:ext cx="0" cy="0"/>
          </a:xfrm>
        </p:spPr>
        <p:txBody>
          <a:bodyPr lIns="0" tIns="0" rIns="0" bIns="0"/>
          <a:lstStyle>
            <a:lvl1pPr algn="r">
              <a:defRPr>
                <a:solidFill>
                  <a:schemeClr val="tx1">
                    <a:tint val="75000"/>
                  </a:schemeClr>
                </a:solidFill>
              </a:defRPr>
            </a:lvl1pPr>
          </a:lstStyle>
          <a:p>
            <a:pPr>
              <a:defRPr/>
            </a:pPr>
            <a:fld id="{1B23AC9E-2F17-4291-AE12-D049AD653B9A}" type="slidenum">
              <a:rPr/>
              <a:pPr>
                <a:defRPr/>
              </a:pPr>
              <a:t>‹#›</a:t>
            </a:fld>
            <a:endParaRPr/>
          </a:p>
        </p:txBody>
      </p:sp>
    </p:spTree>
    <p:extLst>
      <p:ext uri="{BB962C8B-B14F-4D97-AF65-F5344CB8AC3E}">
        <p14:creationId xmlns:p14="http://schemas.microsoft.com/office/powerpoint/2010/main" val="261190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252525"/>
                </a:solidFill>
                <a:latin typeface="Arial"/>
                <a:cs typeface="Arial"/>
              </a:defRPr>
            </a:lvl1pPr>
          </a:lstStyle>
          <a:p>
            <a:endParaRPr/>
          </a:p>
        </p:txBody>
      </p:sp>
      <p:sp>
        <p:nvSpPr>
          <p:cNvPr id="3" name="Holder 3"/>
          <p:cNvSpPr>
            <a:spLocks noGrp="1"/>
          </p:cNvSpPr>
          <p:nvPr>
            <p:ph sz="half" idx="2"/>
          </p:nvPr>
        </p:nvSpPr>
        <p:spPr>
          <a:xfrm>
            <a:off x="457200" y="1577340"/>
            <a:ext cx="3977640" cy="461665"/>
          </a:xfrm>
          <a:prstGeom prst="rect">
            <a:avLst/>
          </a:prstGeom>
        </p:spPr>
        <p:txBody>
          <a:bodyPr lIns="0" tIns="0" rIns="0" bIns="0">
            <a:spAutoFit/>
          </a:bodyPr>
          <a:lstStyle>
            <a:lvl1pPr>
              <a:defRPr/>
            </a:lvl1pPr>
          </a:lstStyle>
          <a:p>
            <a:endParaRPr/>
          </a:p>
        </p:txBody>
      </p:sp>
      <p:sp>
        <p:nvSpPr>
          <p:cNvPr id="4" name="Holder 4"/>
          <p:cNvSpPr>
            <a:spLocks noGrp="1"/>
          </p:cNvSpPr>
          <p:nvPr>
            <p:ph sz="half" idx="3"/>
          </p:nvPr>
        </p:nvSpPr>
        <p:spPr>
          <a:xfrm>
            <a:off x="5778436" y="2291728"/>
            <a:ext cx="2011203" cy="161583"/>
          </a:xfrm>
          <a:prstGeom prst="rect">
            <a:avLst/>
          </a:prstGeom>
        </p:spPr>
        <p:txBody>
          <a:bodyPr lIns="0" tIns="0" rIns="0" bIns="0">
            <a:spAutoFit/>
          </a:bodyPr>
          <a:lstStyle>
            <a:lvl1pPr>
              <a:defRPr sz="1050" b="0" i="0">
                <a:solidFill>
                  <a:srgbClr val="585858"/>
                </a:solidFill>
                <a:latin typeface="Arial MT"/>
                <a:cs typeface="Arial MT"/>
              </a:defRPr>
            </a:lvl1pPr>
          </a:lstStyle>
          <a:p>
            <a:endParaRPr/>
          </a:p>
        </p:txBody>
      </p:sp>
      <p:sp>
        <p:nvSpPr>
          <p:cNvPr id="5" name="Holder 5">
            <a:extLst>
              <a:ext uri="{FF2B5EF4-FFF2-40B4-BE49-F238E27FC236}">
                <a16:creationId xmlns:a16="http://schemas.microsoft.com/office/drawing/2014/main" id="{D3928F37-3583-8141-831A-2D51DC975774}"/>
              </a:ext>
            </a:extLst>
          </p:cNvPr>
          <p:cNvSpPr>
            <a:spLocks noGrp="1"/>
          </p:cNvSpPr>
          <p:nvPr>
            <p:ph type="ftr" sz="quarter" idx="10"/>
          </p:nvPr>
        </p:nvSpPr>
        <p:spPr>
          <a:xfrm>
            <a:off x="0" y="0"/>
            <a:ext cx="0" cy="0"/>
          </a:xfrm>
        </p:spPr>
        <p:txBody>
          <a:bodyPr lIns="0" tIns="0" rIns="0" bIns="0"/>
          <a:lstStyle>
            <a:lvl1pPr algn="ctr">
              <a:defRPr>
                <a:solidFill>
                  <a:schemeClr val="tx1">
                    <a:tint val="75000"/>
                  </a:schemeClr>
                </a:solidFill>
              </a:defRPr>
            </a:lvl1pPr>
          </a:lstStyle>
          <a:p>
            <a:pPr>
              <a:defRPr/>
            </a:pPr>
            <a:endParaRPr/>
          </a:p>
        </p:txBody>
      </p:sp>
      <p:sp>
        <p:nvSpPr>
          <p:cNvPr id="6" name="Holder 6">
            <a:extLst>
              <a:ext uri="{FF2B5EF4-FFF2-40B4-BE49-F238E27FC236}">
                <a16:creationId xmlns:a16="http://schemas.microsoft.com/office/drawing/2014/main" id="{5B6D0B9C-2475-A43C-B129-186FC605D129}"/>
              </a:ext>
            </a:extLst>
          </p:cNvPr>
          <p:cNvSpPr>
            <a:spLocks noGrp="1"/>
          </p:cNvSpPr>
          <p:nvPr>
            <p:ph type="dt" sz="half" idx="11"/>
          </p:nvPr>
        </p:nvSpPr>
        <p:spPr>
          <a:xfrm>
            <a:off x="0" y="0"/>
            <a:ext cx="0" cy="0"/>
          </a:xfrm>
        </p:spPr>
        <p:txBody>
          <a:bodyPr lIns="0" tIns="0" rIns="0" bIns="0"/>
          <a:lstStyle>
            <a:lvl1pPr algn="l">
              <a:defRPr>
                <a:solidFill>
                  <a:schemeClr val="tx1">
                    <a:tint val="75000"/>
                  </a:schemeClr>
                </a:solidFill>
              </a:defRPr>
            </a:lvl1pPr>
          </a:lstStyle>
          <a:p>
            <a:pPr>
              <a:defRPr/>
            </a:pPr>
            <a:fld id="{45D6C083-285E-457D-BEC1-067DE3103D13}" type="datetimeFigureOut">
              <a:rPr lang="en-US"/>
              <a:pPr>
                <a:defRPr/>
              </a:pPr>
              <a:t>3/7/2024</a:t>
            </a:fld>
            <a:endParaRPr lang="en-US"/>
          </a:p>
        </p:txBody>
      </p:sp>
      <p:sp>
        <p:nvSpPr>
          <p:cNvPr id="7" name="Holder 7">
            <a:extLst>
              <a:ext uri="{FF2B5EF4-FFF2-40B4-BE49-F238E27FC236}">
                <a16:creationId xmlns:a16="http://schemas.microsoft.com/office/drawing/2014/main" id="{E37477E7-E4DE-07FE-216A-69C450DB406B}"/>
              </a:ext>
            </a:extLst>
          </p:cNvPr>
          <p:cNvSpPr>
            <a:spLocks noGrp="1"/>
          </p:cNvSpPr>
          <p:nvPr>
            <p:ph type="sldNum" sz="quarter" idx="12"/>
          </p:nvPr>
        </p:nvSpPr>
        <p:spPr>
          <a:xfrm>
            <a:off x="0" y="0"/>
            <a:ext cx="0" cy="0"/>
          </a:xfrm>
        </p:spPr>
        <p:txBody>
          <a:bodyPr lIns="0" tIns="0" rIns="0" bIns="0"/>
          <a:lstStyle>
            <a:lvl1pPr algn="r">
              <a:defRPr>
                <a:solidFill>
                  <a:schemeClr val="tx1">
                    <a:tint val="75000"/>
                  </a:schemeClr>
                </a:solidFill>
              </a:defRPr>
            </a:lvl1pPr>
          </a:lstStyle>
          <a:p>
            <a:pPr>
              <a:defRPr/>
            </a:pPr>
            <a:fld id="{9578A8EF-1B71-4EC3-BC1A-E4B25923C21C}" type="slidenum">
              <a:rPr/>
              <a:pPr>
                <a:defRPr/>
              </a:pPr>
              <a:t>‹#›</a:t>
            </a:fld>
            <a:endParaRPr/>
          </a:p>
        </p:txBody>
      </p:sp>
    </p:spTree>
    <p:extLst>
      <p:ext uri="{BB962C8B-B14F-4D97-AF65-F5344CB8AC3E}">
        <p14:creationId xmlns:p14="http://schemas.microsoft.com/office/powerpoint/2010/main" val="1563481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1330793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
            <a:extLst>
              <a:ext uri="{FF2B5EF4-FFF2-40B4-BE49-F238E27FC236}">
                <a16:creationId xmlns:a16="http://schemas.microsoft.com/office/drawing/2014/main" id="{84AF5959-2516-CAFE-B723-33EC97253BA7}"/>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26988"/>
            <a:ext cx="9144000" cy="6911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15">
            <a:extLst>
              <a:ext uri="{FF2B5EF4-FFF2-40B4-BE49-F238E27FC236}">
                <a16:creationId xmlns:a16="http://schemas.microsoft.com/office/drawing/2014/main" id="{AA6A8E34-21C4-9DF9-41C4-399B0A3A559B}"/>
              </a:ext>
            </a:extLst>
          </p:cNvPr>
          <p:cNvSpPr>
            <a:spLocks noGrp="1" noChangeArrowheads="1"/>
          </p:cNvSpPr>
          <p:nvPr>
            <p:ph type="title"/>
          </p:nvPr>
        </p:nvSpPr>
        <p:spPr bwMode="auto">
          <a:xfrm>
            <a:off x="103188" y="115888"/>
            <a:ext cx="8785225"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 name="Rectangle 17">
            <a:extLst>
              <a:ext uri="{FF2B5EF4-FFF2-40B4-BE49-F238E27FC236}">
                <a16:creationId xmlns:a16="http://schemas.microsoft.com/office/drawing/2014/main" id="{1CA069A4-5655-C477-456E-F3F6964EFD42}"/>
              </a:ext>
            </a:extLst>
          </p:cNvPr>
          <p:cNvSpPr>
            <a:spLocks noChangeArrowheads="1"/>
          </p:cNvSpPr>
          <p:nvPr userDrawn="1"/>
        </p:nvSpPr>
        <p:spPr bwMode="auto">
          <a:xfrm>
            <a:off x="6235700" y="0"/>
            <a:ext cx="2908300" cy="241300"/>
          </a:xfrm>
          <a:prstGeom prst="rect">
            <a:avLst/>
          </a:prstGeom>
          <a:noFill/>
          <a:ln>
            <a:noFill/>
          </a:ln>
          <a:effectLst/>
        </p:spPr>
        <p:txBody>
          <a:bodyPr lIns="90488" tIns="44450" rIns="90488" bIns="44450">
            <a:spAutoFit/>
          </a:bodyPr>
          <a:lstStyle>
            <a:lvl1pPr defTabSz="762000">
              <a:defRPr sz="2400">
                <a:solidFill>
                  <a:schemeClr val="tx1"/>
                </a:solidFill>
                <a:latin typeface="Arial" panose="020B0604020202020204" pitchFamily="34" charset="0"/>
                <a:ea typeface="ＭＳ Ｐゴシック" panose="020B0600070205080204" pitchFamily="34" charset="-128"/>
              </a:defRPr>
            </a:lvl1pPr>
            <a:lvl2pPr marL="742950" indent="-285750" defTabSz="762000">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defRPr sz="2400">
                <a:solidFill>
                  <a:schemeClr val="tx1"/>
                </a:solidFill>
                <a:latin typeface="Arial" panose="020B0604020202020204" pitchFamily="34" charset="0"/>
                <a:ea typeface="ＭＳ Ｐゴシック" panose="020B0600070205080204" pitchFamily="34" charset="-128"/>
              </a:defRPr>
            </a:lvl3pPr>
            <a:lvl4pPr marL="1600200" indent="-228600" defTabSz="762000">
              <a:defRPr sz="2400">
                <a:solidFill>
                  <a:schemeClr val="tx1"/>
                </a:solidFill>
                <a:latin typeface="Arial" panose="020B0604020202020204" pitchFamily="34" charset="0"/>
                <a:ea typeface="ＭＳ Ｐゴシック" panose="020B0600070205080204" pitchFamily="34" charset="-128"/>
              </a:defRPr>
            </a:lvl4pPr>
            <a:lvl5pPr marL="2057400" indent="-228600" defTabSz="762000">
              <a:defRPr sz="24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defRPr/>
            </a:pPr>
            <a:r>
              <a:rPr lang="en-GB" altLang="en-US" sz="1000" dirty="0">
                <a:solidFill>
                  <a:schemeClr val="bg1"/>
                </a:solidFill>
                <a:latin typeface="Gill Sans" charset="0"/>
              </a:rPr>
              <a:t>CSS Flexbox and Grid Layout  Topic 5 - 5.</a:t>
            </a:r>
            <a:fld id="{D689B27A-D940-44DB-8639-EE493F7E6B13}" type="slidenum">
              <a:rPr lang="en-GB" altLang="en-US" sz="1000" smtClean="0">
                <a:solidFill>
                  <a:schemeClr val="bg1"/>
                </a:solidFill>
                <a:latin typeface="Gill Sans" charset="0"/>
              </a:rPr>
              <a:pPr algn="r" eaLnBrk="1" hangingPunct="1">
                <a:defRPr/>
              </a:pPr>
              <a:t>‹#›</a:t>
            </a:fld>
            <a:endParaRPr lang="en-GB" altLang="en-US" sz="1000" dirty="0">
              <a:solidFill>
                <a:schemeClr val="bg1"/>
              </a:solidFill>
              <a:latin typeface="Gill Sans" charset="0"/>
            </a:endParaRPr>
          </a:p>
        </p:txBody>
      </p:sp>
      <p:sp>
        <p:nvSpPr>
          <p:cNvPr id="1029" name="Rectangle 22">
            <a:extLst>
              <a:ext uri="{FF2B5EF4-FFF2-40B4-BE49-F238E27FC236}">
                <a16:creationId xmlns:a16="http://schemas.microsoft.com/office/drawing/2014/main" id="{1368F889-6B2A-6954-046A-78194A99A665}"/>
              </a:ext>
            </a:extLst>
          </p:cNvPr>
          <p:cNvSpPr>
            <a:spLocks noGrp="1" noChangeArrowheads="1"/>
          </p:cNvSpPr>
          <p:nvPr>
            <p:ph type="body" idx="1"/>
          </p:nvPr>
        </p:nvSpPr>
        <p:spPr bwMode="auto">
          <a:xfrm>
            <a:off x="107950" y="1846263"/>
            <a:ext cx="8856663" cy="4319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US" altLang="en-US"/>
              <a:t>Third level</a:t>
            </a:r>
          </a:p>
          <a:p>
            <a:pPr lvl="3"/>
            <a:r>
              <a:rPr lang="en-US" altLang="en-US"/>
              <a:t>Fourth level</a:t>
            </a:r>
          </a:p>
        </p:txBody>
      </p:sp>
    </p:spTree>
  </p:cSld>
  <p:clrMap bg1="lt1" tx1="dk1" bg2="lt2" tx2="dk2" accent1="accent1" accent2="accent2" accent3="accent3" accent4="accent4" accent5="accent5" accent6="accent6" hlink="hlink" folHlink="folHlink"/>
  <p:sldLayoutIdLst>
    <p:sldLayoutId id="2147484022" r:id="rId1"/>
    <p:sldLayoutId id="2147484011" r:id="rId2"/>
    <p:sldLayoutId id="2147484012" r:id="rId3"/>
    <p:sldLayoutId id="2147484013" r:id="rId4"/>
    <p:sldLayoutId id="2147484014" r:id="rId5"/>
    <p:sldLayoutId id="2147484015" r:id="rId6"/>
    <p:sldLayoutId id="2147484016" r:id="rId7"/>
    <p:sldLayoutId id="2147484017" r:id="rId8"/>
    <p:sldLayoutId id="2147484018" r:id="rId9"/>
    <p:sldLayoutId id="2147484019" r:id="rId10"/>
    <p:sldLayoutId id="2147484020" r:id="rId11"/>
    <p:sldLayoutId id="2147484023" r:id="rId12"/>
    <p:sldLayoutId id="2147484024" r:id="rId13"/>
  </p:sldLayoutIdLst>
  <p:txStyles>
    <p:titleStyle>
      <a:lvl1pPr algn="l" rtl="0" eaLnBrk="0" fontAlgn="base" hangingPunct="0">
        <a:spcBef>
          <a:spcPct val="0"/>
        </a:spcBef>
        <a:spcAft>
          <a:spcPct val="0"/>
        </a:spcAft>
        <a:defRPr sz="4400">
          <a:solidFill>
            <a:schemeClr val="bg1"/>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2pPr>
      <a:lvl3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3pPr>
      <a:lvl4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4pPr>
      <a:lvl5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5pPr>
      <a:lvl6pPr marL="457200" algn="l" rtl="0" fontAlgn="base">
        <a:spcBef>
          <a:spcPct val="0"/>
        </a:spcBef>
        <a:spcAft>
          <a:spcPct val="0"/>
        </a:spcAft>
        <a:defRPr sz="4400">
          <a:solidFill>
            <a:srgbClr val="CB9535"/>
          </a:solidFill>
          <a:latin typeface="Gill Sans" pitchFamily="-32" charset="0"/>
          <a:ea typeface="ＭＳ Ｐゴシック" pitchFamily="-32" charset="-128"/>
        </a:defRPr>
      </a:lvl6pPr>
      <a:lvl7pPr marL="914400" algn="l" rtl="0" fontAlgn="base">
        <a:spcBef>
          <a:spcPct val="0"/>
        </a:spcBef>
        <a:spcAft>
          <a:spcPct val="0"/>
        </a:spcAft>
        <a:defRPr sz="4400">
          <a:solidFill>
            <a:srgbClr val="CB9535"/>
          </a:solidFill>
          <a:latin typeface="Gill Sans" pitchFamily="-32" charset="0"/>
          <a:ea typeface="ＭＳ Ｐゴシック" pitchFamily="-32" charset="-128"/>
        </a:defRPr>
      </a:lvl7pPr>
      <a:lvl8pPr marL="1371600" algn="l" rtl="0" fontAlgn="base">
        <a:spcBef>
          <a:spcPct val="0"/>
        </a:spcBef>
        <a:spcAft>
          <a:spcPct val="0"/>
        </a:spcAft>
        <a:defRPr sz="4400">
          <a:solidFill>
            <a:srgbClr val="CB9535"/>
          </a:solidFill>
          <a:latin typeface="Gill Sans" pitchFamily="-32" charset="0"/>
          <a:ea typeface="ＭＳ Ｐゴシック" pitchFamily="-32" charset="-128"/>
        </a:defRPr>
      </a:lvl8pPr>
      <a:lvl9pPr marL="1828800" algn="l" rtl="0" fontAlgn="base">
        <a:spcBef>
          <a:spcPct val="0"/>
        </a:spcBef>
        <a:spcAft>
          <a:spcPct val="0"/>
        </a:spcAft>
        <a:defRPr sz="4400">
          <a:solidFill>
            <a:srgbClr val="CB9535"/>
          </a:solidFill>
          <a:latin typeface="Gill Sans" pitchFamily="-32" charset="0"/>
          <a:ea typeface="ＭＳ Ｐゴシック" pitchFamily="-32" charset="-128"/>
        </a:defRPr>
      </a:lvl9pPr>
    </p:titleStyle>
    <p:bodyStyle>
      <a:lvl1pPr marL="88900" indent="-88900" algn="l" rtl="0" eaLnBrk="0" fontAlgn="base" hangingPunct="0">
        <a:spcBef>
          <a:spcPct val="20000"/>
        </a:spcBef>
        <a:spcAft>
          <a:spcPct val="0"/>
        </a:spcAft>
        <a:defRPr sz="3000" i="1">
          <a:solidFill>
            <a:srgbClr val="002060"/>
          </a:solidFill>
          <a:latin typeface="+mn-lt"/>
          <a:ea typeface="+mn-ea"/>
          <a:cs typeface="ＭＳ Ｐゴシック" charset="0"/>
        </a:defRPr>
      </a:lvl1pPr>
      <a:lvl2pPr marL="533400" indent="-265113" algn="l" rtl="0" eaLnBrk="0" fontAlgn="base" hangingPunct="0">
        <a:spcBef>
          <a:spcPct val="20000"/>
        </a:spcBef>
        <a:spcAft>
          <a:spcPct val="0"/>
        </a:spcAft>
        <a:buClr>
          <a:schemeClr val="bg2"/>
        </a:buClr>
        <a:buChar char="•"/>
        <a:defRPr sz="2800">
          <a:solidFill>
            <a:schemeClr val="bg2"/>
          </a:solidFill>
          <a:latin typeface="Arial" charset="0"/>
          <a:ea typeface="+mn-ea"/>
        </a:defRPr>
      </a:lvl2pPr>
      <a:lvl3pPr marL="1068388" indent="-355600" algn="l" rtl="0" eaLnBrk="0" fontAlgn="base" hangingPunct="0">
        <a:spcBef>
          <a:spcPct val="20000"/>
        </a:spcBef>
        <a:spcAft>
          <a:spcPct val="0"/>
        </a:spcAft>
        <a:buFont typeface="Gill Sans" charset="0"/>
        <a:buChar char="–"/>
        <a:defRPr sz="2400">
          <a:solidFill>
            <a:schemeClr val="bg2"/>
          </a:solidFill>
          <a:latin typeface="Arial" charset="0"/>
          <a:ea typeface="+mn-ea"/>
        </a:defRPr>
      </a:lvl3pPr>
      <a:lvl4pPr marL="1435100" indent="-187325" algn="l" rtl="0" eaLnBrk="0" fontAlgn="base" hangingPunct="0">
        <a:spcBef>
          <a:spcPct val="0"/>
        </a:spcBef>
        <a:spcAft>
          <a:spcPct val="0"/>
        </a:spcAft>
        <a:buChar char="•"/>
        <a:defRPr sz="2000">
          <a:solidFill>
            <a:schemeClr val="bg2"/>
          </a:solidFill>
          <a:latin typeface="Arial" charset="0"/>
          <a:ea typeface="+mn-ea"/>
        </a:defRPr>
      </a:lvl4pPr>
      <a:lvl5pPr marL="2098675" indent="-395288" algn="l" rtl="0" eaLnBrk="0" fontAlgn="base" hangingPunct="0">
        <a:spcBef>
          <a:spcPct val="20000"/>
        </a:spcBef>
        <a:spcAft>
          <a:spcPct val="0"/>
        </a:spcAft>
        <a:buChar char="»"/>
        <a:defRPr sz="2000">
          <a:solidFill>
            <a:schemeClr val="bg2"/>
          </a:solidFill>
          <a:latin typeface="+mn-lt"/>
          <a:ea typeface="+mn-ea"/>
        </a:defRPr>
      </a:lvl5pPr>
      <a:lvl6pPr marL="2555875" indent="-395288" algn="l" rtl="0" fontAlgn="base">
        <a:spcBef>
          <a:spcPct val="20000"/>
        </a:spcBef>
        <a:spcAft>
          <a:spcPct val="0"/>
        </a:spcAft>
        <a:buChar char="»"/>
        <a:defRPr sz="2000">
          <a:solidFill>
            <a:schemeClr val="bg2"/>
          </a:solidFill>
          <a:latin typeface="+mn-lt"/>
          <a:ea typeface="+mn-ea"/>
        </a:defRPr>
      </a:lvl6pPr>
      <a:lvl7pPr marL="3013075" indent="-395288" algn="l" rtl="0" fontAlgn="base">
        <a:spcBef>
          <a:spcPct val="20000"/>
        </a:spcBef>
        <a:spcAft>
          <a:spcPct val="0"/>
        </a:spcAft>
        <a:buChar char="»"/>
        <a:defRPr sz="2000">
          <a:solidFill>
            <a:schemeClr val="bg2"/>
          </a:solidFill>
          <a:latin typeface="+mn-lt"/>
          <a:ea typeface="+mn-ea"/>
        </a:defRPr>
      </a:lvl7pPr>
      <a:lvl8pPr marL="3470275" indent="-395288" algn="l" rtl="0" fontAlgn="base">
        <a:spcBef>
          <a:spcPct val="20000"/>
        </a:spcBef>
        <a:spcAft>
          <a:spcPct val="0"/>
        </a:spcAft>
        <a:buChar char="»"/>
        <a:defRPr sz="2000">
          <a:solidFill>
            <a:schemeClr val="bg2"/>
          </a:solidFill>
          <a:latin typeface="+mn-lt"/>
          <a:ea typeface="+mn-ea"/>
        </a:defRPr>
      </a:lvl8pPr>
      <a:lvl9pPr marL="3927475" indent="-395288" algn="l" rtl="0" fontAlgn="base">
        <a:spcBef>
          <a:spcPct val="20000"/>
        </a:spcBef>
        <a:spcAft>
          <a:spcPct val="0"/>
        </a:spcAft>
        <a:buChar char="»"/>
        <a:defRPr sz="2000">
          <a:solidFill>
            <a:schemeClr val="bg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9">
            <a:extLst>
              <a:ext uri="{FF2B5EF4-FFF2-40B4-BE49-F238E27FC236}">
                <a16:creationId xmlns:a16="http://schemas.microsoft.com/office/drawing/2014/main" id="{BD3F0692-56D7-CDD9-E4D7-19C63EEDF63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8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14">
            <a:extLst>
              <a:ext uri="{FF2B5EF4-FFF2-40B4-BE49-F238E27FC236}">
                <a16:creationId xmlns:a16="http://schemas.microsoft.com/office/drawing/2014/main" id="{09AF68FC-7C3A-B1FC-03E5-D08F72684408}"/>
              </a:ext>
            </a:extLst>
          </p:cNvPr>
          <p:cNvSpPr>
            <a:spLocks noGrp="1" noChangeArrowheads="1"/>
          </p:cNvSpPr>
          <p:nvPr>
            <p:ph type="title"/>
          </p:nvPr>
        </p:nvSpPr>
        <p:spPr bwMode="auto">
          <a:xfrm>
            <a:off x="1828800" y="2798763"/>
            <a:ext cx="54864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UNIT X</a:t>
            </a:r>
          </a:p>
        </p:txBody>
      </p:sp>
      <p:sp>
        <p:nvSpPr>
          <p:cNvPr id="2052" name="Rectangle 15">
            <a:extLst>
              <a:ext uri="{FF2B5EF4-FFF2-40B4-BE49-F238E27FC236}">
                <a16:creationId xmlns:a16="http://schemas.microsoft.com/office/drawing/2014/main" id="{182E904D-A04A-06D9-B9FE-1CD80F2A0CA7}"/>
              </a:ext>
            </a:extLst>
          </p:cNvPr>
          <p:cNvSpPr>
            <a:spLocks noGrp="1" noChangeArrowheads="1"/>
          </p:cNvSpPr>
          <p:nvPr>
            <p:ph type="body" idx="1"/>
          </p:nvPr>
        </p:nvSpPr>
        <p:spPr bwMode="auto">
          <a:xfrm>
            <a:off x="1835150" y="3794125"/>
            <a:ext cx="5486400"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Any Questions?</a:t>
            </a:r>
          </a:p>
        </p:txBody>
      </p:sp>
    </p:spTree>
  </p:cSld>
  <p:clrMap bg1="lt1" tx1="dk1" bg2="lt2" tx2="dk2" accent1="accent1" accent2="accent2" accent3="accent3" accent4="accent4" accent5="accent5" accent6="accent6" hlink="hlink" folHlink="folHlink"/>
  <p:sldLayoutIdLst>
    <p:sldLayoutId id="2147484021" r:id="rId1"/>
  </p:sldLayoutIdLst>
  <p:txStyles>
    <p:titleStyle>
      <a:lvl1pPr algn="ctr" rtl="0" eaLnBrk="0" fontAlgn="base" hangingPunct="0">
        <a:spcBef>
          <a:spcPct val="0"/>
        </a:spcBef>
        <a:spcAft>
          <a:spcPct val="0"/>
        </a:spcAft>
        <a:defRPr sz="3000">
          <a:solidFill>
            <a:schemeClr val="bg1"/>
          </a:solidFill>
          <a:latin typeface="+mj-lt"/>
          <a:ea typeface="+mj-ea"/>
          <a:cs typeface="ＭＳ Ｐゴシック" charset="0"/>
        </a:defRPr>
      </a:lvl1pPr>
      <a:lvl2pPr algn="ctr" rtl="0" eaLnBrk="0" fontAlgn="base" hangingPunct="0">
        <a:spcBef>
          <a:spcPct val="0"/>
        </a:spcBef>
        <a:spcAft>
          <a:spcPct val="0"/>
        </a:spcAft>
        <a:defRPr sz="3000">
          <a:solidFill>
            <a:schemeClr val="bg1"/>
          </a:solidFill>
          <a:latin typeface="Arial" charset="0"/>
          <a:ea typeface="ＭＳ Ｐゴシック" pitchFamily="-32" charset="-128"/>
          <a:cs typeface="ＭＳ Ｐゴシック" charset="0"/>
        </a:defRPr>
      </a:lvl2pPr>
      <a:lvl3pPr algn="ctr" rtl="0" eaLnBrk="0" fontAlgn="base" hangingPunct="0">
        <a:spcBef>
          <a:spcPct val="0"/>
        </a:spcBef>
        <a:spcAft>
          <a:spcPct val="0"/>
        </a:spcAft>
        <a:defRPr sz="3000">
          <a:solidFill>
            <a:schemeClr val="bg1"/>
          </a:solidFill>
          <a:latin typeface="Arial" charset="0"/>
          <a:ea typeface="ＭＳ Ｐゴシック" pitchFamily="-32" charset="-128"/>
          <a:cs typeface="ＭＳ Ｐゴシック" charset="0"/>
        </a:defRPr>
      </a:lvl3pPr>
      <a:lvl4pPr algn="ctr" rtl="0" eaLnBrk="0" fontAlgn="base" hangingPunct="0">
        <a:spcBef>
          <a:spcPct val="0"/>
        </a:spcBef>
        <a:spcAft>
          <a:spcPct val="0"/>
        </a:spcAft>
        <a:defRPr sz="3000">
          <a:solidFill>
            <a:schemeClr val="bg1"/>
          </a:solidFill>
          <a:latin typeface="Arial" charset="0"/>
          <a:ea typeface="ＭＳ Ｐゴシック" pitchFamily="-32" charset="-128"/>
          <a:cs typeface="ＭＳ Ｐゴシック" charset="0"/>
        </a:defRPr>
      </a:lvl4pPr>
      <a:lvl5pPr algn="ctr" rtl="0" eaLnBrk="0" fontAlgn="base" hangingPunct="0">
        <a:spcBef>
          <a:spcPct val="0"/>
        </a:spcBef>
        <a:spcAft>
          <a:spcPct val="0"/>
        </a:spcAft>
        <a:defRPr sz="3000">
          <a:solidFill>
            <a:schemeClr val="bg1"/>
          </a:solidFill>
          <a:latin typeface="Arial" charset="0"/>
          <a:ea typeface="ＭＳ Ｐゴシック" pitchFamily="-32" charset="-128"/>
          <a:cs typeface="ＭＳ Ｐゴシック" charset="0"/>
        </a:defRPr>
      </a:lvl5pPr>
      <a:lvl6pPr marL="457200" algn="ctr" rtl="0" fontAlgn="base">
        <a:spcBef>
          <a:spcPct val="0"/>
        </a:spcBef>
        <a:spcAft>
          <a:spcPct val="0"/>
        </a:spcAft>
        <a:defRPr sz="3000">
          <a:solidFill>
            <a:schemeClr val="bg1"/>
          </a:solidFill>
          <a:latin typeface="Arial" charset="0"/>
          <a:ea typeface="ＭＳ Ｐゴシック" pitchFamily="-32" charset="-128"/>
        </a:defRPr>
      </a:lvl6pPr>
      <a:lvl7pPr marL="914400" algn="ctr" rtl="0" fontAlgn="base">
        <a:spcBef>
          <a:spcPct val="0"/>
        </a:spcBef>
        <a:spcAft>
          <a:spcPct val="0"/>
        </a:spcAft>
        <a:defRPr sz="3000">
          <a:solidFill>
            <a:schemeClr val="bg1"/>
          </a:solidFill>
          <a:latin typeface="Arial" charset="0"/>
          <a:ea typeface="ＭＳ Ｐゴシック" pitchFamily="-32" charset="-128"/>
        </a:defRPr>
      </a:lvl7pPr>
      <a:lvl8pPr marL="1371600" algn="ctr" rtl="0" fontAlgn="base">
        <a:spcBef>
          <a:spcPct val="0"/>
        </a:spcBef>
        <a:spcAft>
          <a:spcPct val="0"/>
        </a:spcAft>
        <a:defRPr sz="3000">
          <a:solidFill>
            <a:schemeClr val="bg1"/>
          </a:solidFill>
          <a:latin typeface="Arial" charset="0"/>
          <a:ea typeface="ＭＳ Ｐゴシック" pitchFamily="-32" charset="-128"/>
        </a:defRPr>
      </a:lvl8pPr>
      <a:lvl9pPr marL="1828800" algn="ctr" rtl="0" fontAlgn="base">
        <a:spcBef>
          <a:spcPct val="0"/>
        </a:spcBef>
        <a:spcAft>
          <a:spcPct val="0"/>
        </a:spcAft>
        <a:defRPr sz="3000">
          <a:solidFill>
            <a:schemeClr val="bg1"/>
          </a:solidFill>
          <a:latin typeface="Arial" charset="0"/>
          <a:ea typeface="ＭＳ Ｐゴシック" pitchFamily="-32" charset="-128"/>
        </a:defRPr>
      </a:lvl9pPr>
    </p:titleStyle>
    <p:bodyStyle>
      <a:lvl1pPr marL="342900" indent="-342900" algn="ctr" rtl="0" eaLnBrk="0" fontAlgn="base" hangingPunct="0">
        <a:spcBef>
          <a:spcPct val="20000"/>
        </a:spcBef>
        <a:spcAft>
          <a:spcPct val="0"/>
        </a:spcAft>
        <a:defRPr sz="2500">
          <a:solidFill>
            <a:schemeClr val="bg1"/>
          </a:solidFill>
          <a:latin typeface="+mn-lt"/>
          <a:ea typeface="+mn-ea"/>
          <a:cs typeface="ＭＳ Ｐゴシック" charset="0"/>
        </a:defRPr>
      </a:lvl1pPr>
      <a:lvl2pPr marL="742950" indent="-285750" algn="l" rtl="0" eaLnBrk="0" fontAlgn="base" hangingPunct="0">
        <a:spcBef>
          <a:spcPct val="20000"/>
        </a:spcBef>
        <a:spcAft>
          <a:spcPct val="0"/>
        </a:spcAft>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hyperlink" Target="https://www.mozilla.org/en-US/firefox/developer/" TargetMode="External"/><Relationship Id="rId3" Type="http://schemas.openxmlformats.org/officeDocument/2006/relationships/hyperlink" Target="https://css-tricks.com/snippets/css/complete-guide-grid/" TargetMode="External"/><Relationship Id="rId7" Type="http://schemas.openxmlformats.org/officeDocument/2006/relationships/hyperlink" Target="https://www.w3.org/TR/css-grid-1/" TargetMode="External"/><Relationship Id="rId2" Type="http://schemas.openxmlformats.org/officeDocument/2006/relationships/hyperlink" Target="http://cssgrid.io/" TargetMode="External"/><Relationship Id="rId1" Type="http://schemas.openxmlformats.org/officeDocument/2006/relationships/slideLayout" Target="../slideLayouts/slideLayout2.xml"/><Relationship Id="rId6" Type="http://schemas.openxmlformats.org/officeDocument/2006/relationships/hyperlink" Target="https://medium.freecodecamp.org/how-to-recreate-mediums-article-layout-with-css-grid-b4608792bad1" TargetMode="External"/><Relationship Id="rId5" Type="http://schemas.openxmlformats.org/officeDocument/2006/relationships/hyperlink" Target="https://medium.freecodecamp.org/11-things-i-learned-reading-the-css-grid-specification-fb3983aa5e0" TargetMode="External"/><Relationship Id="rId4" Type="http://schemas.openxmlformats.org/officeDocument/2006/relationships/hyperlink" Target="https://abookapart.com/products/get-ready-for-css-grid-layout"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A7D7534F-4AE0-1813-83D8-D3740AE03F7B}"/>
              </a:ext>
            </a:extLst>
          </p:cNvPr>
          <p:cNvSpPr>
            <a:spLocks noGrp="1" noChangeArrowheads="1"/>
          </p:cNvSpPr>
          <p:nvPr>
            <p:ph type="subTitle" idx="4294967295"/>
          </p:nvPr>
        </p:nvSpPr>
        <p:spPr>
          <a:xfrm>
            <a:off x="3779838" y="4365625"/>
            <a:ext cx="4752602" cy="965200"/>
          </a:xfrm>
        </p:spPr>
        <p:txBody>
          <a:bodyPr/>
          <a:lstStyle/>
          <a:p>
            <a:pPr algn="ctr" eaLnBrk="1" hangingPunct="1"/>
            <a:r>
              <a:rPr lang="en-GB" altLang="en-US" sz="1700" i="0" dirty="0">
                <a:solidFill>
                  <a:schemeClr val="bg1"/>
                </a:solidFill>
                <a:latin typeface="Arial" panose="020B0604020202020204" pitchFamily="34" charset="0"/>
              </a:rPr>
              <a:t>Unit Title: Front-end Web Development </a:t>
            </a:r>
          </a:p>
          <a:p>
            <a:pPr algn="ctr" eaLnBrk="1" hangingPunct="1"/>
            <a:endParaRPr lang="en-GB" altLang="en-US" sz="1700" i="0" dirty="0">
              <a:solidFill>
                <a:schemeClr val="bg1"/>
              </a:solidFill>
              <a:latin typeface="Arial" panose="020B0604020202020204" pitchFamily="34" charset="0"/>
            </a:endParaRPr>
          </a:p>
          <a:p>
            <a:pPr algn="ctr" eaLnBrk="1" hangingPunct="1"/>
            <a:r>
              <a:rPr lang="en-GB" altLang="en-US" sz="1700" i="0" dirty="0">
                <a:solidFill>
                  <a:schemeClr val="bg1"/>
                </a:solidFill>
                <a:latin typeface="Arial" panose="020B0604020202020204" pitchFamily="34" charset="0"/>
              </a:rPr>
              <a:t>Topic 5: CSS Flexbox and Grid Layout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0551CADD-597B-03AB-0F9E-2EEF67A04C15}"/>
              </a:ext>
            </a:extLst>
          </p:cNvPr>
          <p:cNvSpPr>
            <a:spLocks noGrp="1" noChangeArrowheads="1"/>
          </p:cNvSpPr>
          <p:nvPr>
            <p:ph type="title"/>
          </p:nvPr>
        </p:nvSpPr>
        <p:spPr/>
        <p:txBody>
          <a:bodyPr/>
          <a:lstStyle/>
          <a:p>
            <a:pPr eaLnBrk="1" hangingPunct="1"/>
            <a:r>
              <a:rPr lang="en-GB" altLang="en-US"/>
              <a:t>Scope and Coverage</a:t>
            </a:r>
          </a:p>
        </p:txBody>
      </p:sp>
      <p:sp>
        <p:nvSpPr>
          <p:cNvPr id="10243" name="Rectangle 7">
            <a:extLst>
              <a:ext uri="{FF2B5EF4-FFF2-40B4-BE49-F238E27FC236}">
                <a16:creationId xmlns:a16="http://schemas.microsoft.com/office/drawing/2014/main" id="{E1FDD163-8DAC-9F26-4B4D-BDA58AF70641}"/>
              </a:ext>
            </a:extLst>
          </p:cNvPr>
          <p:cNvSpPr>
            <a:spLocks noGrp="1" noChangeArrowheads="1"/>
          </p:cNvSpPr>
          <p:nvPr>
            <p:ph idx="1"/>
          </p:nvPr>
        </p:nvSpPr>
        <p:spPr/>
        <p:txBody>
          <a:bodyPr/>
          <a:lstStyle/>
          <a:p>
            <a:pPr eaLnBrk="1" hangingPunct="1"/>
            <a:r>
              <a:rPr lang="en-GB" altLang="en-US" i="0" dirty="0">
                <a:latin typeface="Arial" panose="020B0604020202020204" pitchFamily="34" charset="0"/>
                <a:cs typeface="Arial" panose="020B0604020202020204" pitchFamily="34" charset="0"/>
              </a:rPr>
              <a:t>This topic will cover:</a:t>
            </a:r>
          </a:p>
          <a:p>
            <a:pPr lvl="1" eaLnBrk="1" hangingPunct="1"/>
            <a:r>
              <a:rPr lang="en-GB" altLang="en-US" dirty="0">
                <a:latin typeface="Arial" panose="020B0604020202020204" pitchFamily="34" charset="0"/>
              </a:rPr>
              <a:t>CSS Grid</a:t>
            </a:r>
          </a:p>
          <a:p>
            <a:pPr lvl="1" eaLnBrk="1" hangingPunct="1"/>
            <a:r>
              <a:rPr lang="en-GB" altLang="en-US" dirty="0">
                <a:latin typeface="Arial" panose="020B0604020202020204" pitchFamily="34" charset="0"/>
              </a:rPr>
              <a:t>CSS Grid layout</a:t>
            </a:r>
          </a:p>
          <a:p>
            <a:pPr lvl="1" eaLnBrk="1" hangingPunct="1"/>
            <a:r>
              <a:rPr lang="en-GB" altLang="en-US" dirty="0">
                <a:latin typeface="Arial" panose="020B0604020202020204" pitchFamily="34" charset="0"/>
              </a:rPr>
              <a:t>CSS Flexbox Layout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a:extLst>
              <a:ext uri="{FF2B5EF4-FFF2-40B4-BE49-F238E27FC236}">
                <a16:creationId xmlns:a16="http://schemas.microsoft.com/office/drawing/2014/main" id="{ABE9B95E-2A3F-63E5-63F7-345032A117FD}"/>
              </a:ext>
            </a:extLst>
          </p:cNvPr>
          <p:cNvSpPr>
            <a:spLocks noGrp="1" noChangeArrowheads="1"/>
          </p:cNvSpPr>
          <p:nvPr>
            <p:ph type="title"/>
          </p:nvPr>
        </p:nvSpPr>
        <p:spPr/>
        <p:txBody>
          <a:bodyPr/>
          <a:lstStyle/>
          <a:p>
            <a:pPr eaLnBrk="1" hangingPunct="1"/>
            <a:r>
              <a:rPr lang="en-GB" altLang="en-US"/>
              <a:t>Learning Outcomes</a:t>
            </a:r>
            <a:endParaRPr lang="en-US" altLang="en-US"/>
          </a:p>
        </p:txBody>
      </p:sp>
      <p:sp>
        <p:nvSpPr>
          <p:cNvPr id="12291" name="Rectangle 5">
            <a:extLst>
              <a:ext uri="{FF2B5EF4-FFF2-40B4-BE49-F238E27FC236}">
                <a16:creationId xmlns:a16="http://schemas.microsoft.com/office/drawing/2014/main" id="{E0A3610F-21A6-BB8A-71F7-5C7B2A70F0A9}"/>
              </a:ext>
            </a:extLst>
          </p:cNvPr>
          <p:cNvSpPr>
            <a:spLocks noGrp="1" noChangeArrowheads="1"/>
          </p:cNvSpPr>
          <p:nvPr>
            <p:ph idx="1"/>
          </p:nvPr>
        </p:nvSpPr>
        <p:spPr>
          <a:xfrm>
            <a:off x="103188" y="1557338"/>
            <a:ext cx="8856662" cy="4319587"/>
          </a:xfrm>
        </p:spPr>
        <p:txBody>
          <a:bodyPr/>
          <a:lstStyle/>
          <a:p>
            <a:pPr eaLnBrk="1" hangingPunct="1"/>
            <a:r>
              <a:rPr lang="en-GB" altLang="en-US" sz="2800" dirty="0"/>
              <a:t>By the end of this topic students will be able to:</a:t>
            </a:r>
          </a:p>
          <a:p>
            <a:pPr lvl="1" eaLnBrk="1" hangingPunct="1"/>
            <a:r>
              <a:rPr lang="en-US" altLang="en-US" sz="2400" dirty="0">
                <a:latin typeface="Arial" panose="020B0604020202020204" pitchFamily="34" charset="0"/>
              </a:rPr>
              <a:t>Create and design responsive website using Flexbox and Grid Layout</a:t>
            </a:r>
          </a:p>
          <a:p>
            <a:pPr lvl="1" eaLnBrk="1" hangingPunct="1"/>
            <a:r>
              <a:rPr lang="en-US" altLang="en-US" sz="2400" dirty="0">
                <a:latin typeface="Arial" panose="020B0604020202020204" pitchFamily="34" charset="0"/>
              </a:rPr>
              <a:t>Use CSS3 layout model: Flexbox for responsive and mobile-friendly design</a:t>
            </a:r>
          </a:p>
          <a:p>
            <a:pPr lvl="1" eaLnBrk="1" hangingPunct="1"/>
            <a:r>
              <a:rPr lang="en-US" altLang="en-US" sz="2400" dirty="0">
                <a:latin typeface="Arial" panose="020B0604020202020204" pitchFamily="34" charset="0"/>
              </a:rPr>
              <a:t>Explain the difference between CSS Grid Layout and CSS Flexbox Layout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E07D75E0-DE41-9BB4-80BC-7D253B3CFBF8}"/>
              </a:ext>
            </a:extLst>
          </p:cNvPr>
          <p:cNvSpPr>
            <a:spLocks noGrp="1" noChangeArrowheads="1"/>
          </p:cNvSpPr>
          <p:nvPr>
            <p:ph type="title"/>
          </p:nvPr>
        </p:nvSpPr>
        <p:spPr/>
        <p:txBody>
          <a:bodyPr/>
          <a:lstStyle/>
          <a:p>
            <a:r>
              <a:rPr lang="en-US" altLang="en-US"/>
              <a:t>Unit Roadmap</a:t>
            </a:r>
            <a:endParaRPr lang="en-GB" altLang="en-US"/>
          </a:p>
        </p:txBody>
      </p:sp>
      <p:graphicFrame>
        <p:nvGraphicFramePr>
          <p:cNvPr id="4" name="Table 4">
            <a:extLst>
              <a:ext uri="{FF2B5EF4-FFF2-40B4-BE49-F238E27FC236}">
                <a16:creationId xmlns:a16="http://schemas.microsoft.com/office/drawing/2014/main" id="{586A019A-A170-ABD1-E062-95AD14D0A82E}"/>
              </a:ext>
            </a:extLst>
          </p:cNvPr>
          <p:cNvGraphicFramePr>
            <a:graphicFrameLocks noGrp="1"/>
          </p:cNvGraphicFramePr>
          <p:nvPr>
            <p:ph idx="1"/>
            <p:extLst>
              <p:ext uri="{D42A27DB-BD31-4B8C-83A1-F6EECF244321}">
                <p14:modId xmlns:p14="http://schemas.microsoft.com/office/powerpoint/2010/main" val="379849653"/>
              </p:ext>
            </p:extLst>
          </p:nvPr>
        </p:nvGraphicFramePr>
        <p:xfrm>
          <a:off x="323529" y="1556792"/>
          <a:ext cx="8564884" cy="4423830"/>
        </p:xfrm>
        <a:graphic>
          <a:graphicData uri="http://schemas.openxmlformats.org/drawingml/2006/table">
            <a:tbl>
              <a:tblPr firstRow="1" bandRow="1">
                <a:tableStyleId>{5C22544A-7EE6-4342-B048-85BDC9FD1C3A}</a:tableStyleId>
              </a:tblPr>
              <a:tblGrid>
                <a:gridCol w="966745">
                  <a:extLst>
                    <a:ext uri="{9D8B030D-6E8A-4147-A177-3AD203B41FA5}">
                      <a16:colId xmlns:a16="http://schemas.microsoft.com/office/drawing/2014/main" val="20000"/>
                    </a:ext>
                  </a:extLst>
                </a:gridCol>
                <a:gridCol w="2532713">
                  <a:extLst>
                    <a:ext uri="{9D8B030D-6E8A-4147-A177-3AD203B41FA5}">
                      <a16:colId xmlns:a16="http://schemas.microsoft.com/office/drawing/2014/main" val="20001"/>
                    </a:ext>
                  </a:extLst>
                </a:gridCol>
                <a:gridCol w="980849">
                  <a:extLst>
                    <a:ext uri="{9D8B030D-6E8A-4147-A177-3AD203B41FA5}">
                      <a16:colId xmlns:a16="http://schemas.microsoft.com/office/drawing/2014/main" val="20002"/>
                    </a:ext>
                  </a:extLst>
                </a:gridCol>
                <a:gridCol w="4084577">
                  <a:extLst>
                    <a:ext uri="{9D8B030D-6E8A-4147-A177-3AD203B41FA5}">
                      <a16:colId xmlns:a16="http://schemas.microsoft.com/office/drawing/2014/main" val="20003"/>
                    </a:ext>
                  </a:extLst>
                </a:gridCol>
              </a:tblGrid>
              <a:tr h="475657">
                <a:tc>
                  <a:txBody>
                    <a:bodyPr/>
                    <a:lstStyle/>
                    <a:p>
                      <a:pPr algn="ctr"/>
                      <a:r>
                        <a:rPr lang="en-US" sz="2000" dirty="0">
                          <a:latin typeface="Arial" panose="020B0604020202020204" pitchFamily="34" charset="0"/>
                          <a:cs typeface="Arial" panose="020B0604020202020204" pitchFamily="34" charset="0"/>
                        </a:rPr>
                        <a:t>Week</a:t>
                      </a:r>
                      <a:endParaRPr lang="en-GB" sz="2000" dirty="0">
                        <a:latin typeface="Arial" panose="020B0604020202020204" pitchFamily="34" charset="0"/>
                        <a:cs typeface="Arial" panose="020B0604020202020204" pitchFamily="34" charset="0"/>
                      </a:endParaRPr>
                    </a:p>
                  </a:txBody>
                  <a:tcPr marL="51427" marR="51427" marT="25711" marB="25711"/>
                </a:tc>
                <a:tc>
                  <a:txBody>
                    <a:bodyPr/>
                    <a:lstStyle/>
                    <a:p>
                      <a:pPr algn="ctr"/>
                      <a:r>
                        <a:rPr lang="en-US" sz="2000" dirty="0">
                          <a:latin typeface="Arial" panose="020B0604020202020204" pitchFamily="34" charset="0"/>
                          <a:cs typeface="Arial" panose="020B0604020202020204" pitchFamily="34" charset="0"/>
                        </a:rPr>
                        <a:t>Topic</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pPr algn="ctr"/>
                      <a:r>
                        <a:rPr lang="en-US" sz="2000" dirty="0">
                          <a:latin typeface="Arial" panose="020B0604020202020204" pitchFamily="34" charset="0"/>
                          <a:cs typeface="Arial" panose="020B0604020202020204" pitchFamily="34" charset="0"/>
                        </a:rPr>
                        <a:t>Week</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pPr algn="ctr"/>
                      <a:r>
                        <a:rPr lang="en-US" sz="2000" dirty="0">
                          <a:latin typeface="Arial" panose="020B0604020202020204" pitchFamily="34" charset="0"/>
                          <a:cs typeface="Arial" panose="020B0604020202020204" pitchFamily="34" charset="0"/>
                        </a:rPr>
                        <a:t>Topic</a:t>
                      </a:r>
                      <a:endParaRPr lang="en-GB" sz="2000" dirty="0">
                        <a:latin typeface="Arial" panose="020B0604020202020204" pitchFamily="34" charset="0"/>
                        <a:cs typeface="Arial" panose="020B0604020202020204" pitchFamily="34" charset="0"/>
                      </a:endParaRPr>
                    </a:p>
                  </a:txBody>
                  <a:tcPr marL="51427" marR="51427" marT="25711" marB="25711" anchor="ctr"/>
                </a:tc>
                <a:extLst>
                  <a:ext uri="{0D108BD9-81ED-4DB2-BD59-A6C34878D82A}">
                    <a16:rowId xmlns:a16="http://schemas.microsoft.com/office/drawing/2014/main" val="10000"/>
                  </a:ext>
                </a:extLst>
              </a:tr>
              <a:tr h="955512">
                <a:tc>
                  <a:txBody>
                    <a:bodyPr/>
                    <a:lstStyle/>
                    <a:p>
                      <a:pPr algn="ctr"/>
                      <a:r>
                        <a:rPr lang="en-US" sz="2000" b="0" dirty="0">
                          <a:solidFill>
                            <a:schemeClr val="tx1"/>
                          </a:solidFill>
                          <a:latin typeface="Arial" panose="020B0604020202020204" pitchFamily="34" charset="0"/>
                          <a:cs typeface="Arial" panose="020B0604020202020204" pitchFamily="34" charset="0"/>
                        </a:rPr>
                        <a:t>1</a:t>
                      </a:r>
                      <a:endParaRPr lang="en-GB" sz="2000" b="0" dirty="0">
                        <a:solidFill>
                          <a:schemeClr val="tx1"/>
                        </a:solidFill>
                        <a:latin typeface="Arial" panose="020B0604020202020204" pitchFamily="34" charset="0"/>
                        <a:cs typeface="Arial" panose="020B0604020202020204" pitchFamily="34" charset="0"/>
                      </a:endParaRPr>
                    </a:p>
                  </a:txBody>
                  <a:tcPr marL="51427" marR="51427" marT="25711" marB="25711" anchor="ctr"/>
                </a:tc>
                <a:tc>
                  <a:txBody>
                    <a:bodyPr/>
                    <a:lstStyle/>
                    <a:p>
                      <a:r>
                        <a:rPr lang="en-US" sz="2000" b="0" dirty="0">
                          <a:solidFill>
                            <a:schemeClr val="tx1"/>
                          </a:solidFill>
                          <a:latin typeface="Arial" panose="020B0604020202020204" pitchFamily="34" charset="0"/>
                          <a:cs typeface="Arial" panose="020B0604020202020204" pitchFamily="34" charset="0"/>
                        </a:rPr>
                        <a:t>Overview of Web Application Architecture</a:t>
                      </a:r>
                      <a:endParaRPr lang="en-GB" sz="2000" b="0" dirty="0">
                        <a:solidFill>
                          <a:schemeClr val="tx1"/>
                        </a:solidFill>
                        <a:latin typeface="Arial" panose="020B0604020202020204" pitchFamily="34" charset="0"/>
                        <a:cs typeface="Arial" panose="020B0604020202020204" pitchFamily="34" charset="0"/>
                      </a:endParaRPr>
                    </a:p>
                  </a:txBody>
                  <a:tcPr marL="51427" marR="51427" marT="25711" marB="25711" anchor="ctr"/>
                </a:tc>
                <a:tc>
                  <a:txBody>
                    <a:bodyPr/>
                    <a:lstStyle/>
                    <a:p>
                      <a:pPr algn="ctr"/>
                      <a:r>
                        <a:rPr lang="en-US" sz="2000" dirty="0">
                          <a:latin typeface="Arial" panose="020B0604020202020204" pitchFamily="34" charset="0"/>
                          <a:cs typeface="Arial" panose="020B0604020202020204" pitchFamily="34" charset="0"/>
                        </a:rPr>
                        <a:t>7</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r>
                        <a:rPr lang="en-US" sz="2000" dirty="0">
                          <a:latin typeface="Arial" panose="020B0604020202020204" pitchFamily="34" charset="0"/>
                          <a:cs typeface="Arial" panose="020B0604020202020204" pitchFamily="34" charset="0"/>
                        </a:rPr>
                        <a:t>JavaScript - II</a:t>
                      </a:r>
                      <a:endParaRPr lang="en-GB" sz="2000" dirty="0">
                        <a:latin typeface="Arial" panose="020B0604020202020204" pitchFamily="34" charset="0"/>
                        <a:cs typeface="Arial" panose="020B0604020202020204" pitchFamily="34" charset="0"/>
                      </a:endParaRPr>
                    </a:p>
                  </a:txBody>
                  <a:tcPr marL="51427" marR="51427" marT="25711" marB="25711" anchor="ctr"/>
                </a:tc>
                <a:extLst>
                  <a:ext uri="{0D108BD9-81ED-4DB2-BD59-A6C34878D82A}">
                    <a16:rowId xmlns:a16="http://schemas.microsoft.com/office/drawing/2014/main" val="10001"/>
                  </a:ext>
                </a:extLst>
              </a:tr>
              <a:tr h="667833">
                <a:tc>
                  <a:txBody>
                    <a:bodyPr/>
                    <a:lstStyle/>
                    <a:p>
                      <a:pPr algn="ctr"/>
                      <a:r>
                        <a:rPr lang="en-US" sz="2000" dirty="0">
                          <a:latin typeface="Arial" panose="020B0604020202020204" pitchFamily="34" charset="0"/>
                          <a:cs typeface="Arial" panose="020B0604020202020204" pitchFamily="34" charset="0"/>
                        </a:rPr>
                        <a:t>2</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r>
                        <a:rPr lang="en-GB" sz="2000" kern="1200" dirty="0">
                          <a:solidFill>
                            <a:schemeClr val="dk1"/>
                          </a:solidFill>
                          <a:effectLst/>
                          <a:latin typeface="Arial" panose="020B0604020202020204" pitchFamily="34" charset="0"/>
                          <a:ea typeface="+mn-ea"/>
                          <a:cs typeface="Arial" panose="020B0604020202020204" pitchFamily="34" charset="0"/>
                        </a:rPr>
                        <a:t>Introduction to HTML5 </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pPr algn="ctr"/>
                      <a:r>
                        <a:rPr lang="en-US" sz="2000" dirty="0">
                          <a:latin typeface="Arial" panose="020B0604020202020204" pitchFamily="34" charset="0"/>
                          <a:cs typeface="Arial" panose="020B0604020202020204" pitchFamily="34" charset="0"/>
                        </a:rPr>
                        <a:t>8</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r>
                        <a:rPr lang="en-US" sz="2000" dirty="0">
                          <a:latin typeface="Arial" panose="020B0604020202020204" pitchFamily="34" charset="0"/>
                          <a:cs typeface="Arial" panose="020B0604020202020204" pitchFamily="34" charset="0"/>
                        </a:rPr>
                        <a:t>jQuery</a:t>
                      </a:r>
                      <a:endParaRPr lang="en-GB" sz="2000" dirty="0">
                        <a:latin typeface="Arial" panose="020B0604020202020204" pitchFamily="34" charset="0"/>
                        <a:cs typeface="Arial" panose="020B0604020202020204" pitchFamily="34" charset="0"/>
                      </a:endParaRPr>
                    </a:p>
                  </a:txBody>
                  <a:tcPr marL="51427" marR="51427" marT="25711" marB="25711" anchor="ctr"/>
                </a:tc>
                <a:extLst>
                  <a:ext uri="{0D108BD9-81ED-4DB2-BD59-A6C34878D82A}">
                    <a16:rowId xmlns:a16="http://schemas.microsoft.com/office/drawing/2014/main" val="10002"/>
                  </a:ext>
                </a:extLst>
              </a:tr>
              <a:tr h="619661">
                <a:tc>
                  <a:txBody>
                    <a:bodyPr/>
                    <a:lstStyle/>
                    <a:p>
                      <a:pPr algn="ctr"/>
                      <a:r>
                        <a:rPr lang="en-US" sz="2000" b="0" dirty="0">
                          <a:solidFill>
                            <a:schemeClr val="tx1"/>
                          </a:solidFill>
                          <a:latin typeface="Arial" panose="020B0604020202020204" pitchFamily="34" charset="0"/>
                          <a:cs typeface="Arial" panose="020B0604020202020204" pitchFamily="34" charset="0"/>
                        </a:rPr>
                        <a:t>3</a:t>
                      </a:r>
                      <a:endParaRPr lang="en-GB" sz="2000" b="0" dirty="0">
                        <a:solidFill>
                          <a:schemeClr val="tx1"/>
                        </a:solidFill>
                        <a:latin typeface="Arial" panose="020B0604020202020204" pitchFamily="34" charset="0"/>
                        <a:cs typeface="Arial" panose="020B0604020202020204" pitchFamily="34" charset="0"/>
                      </a:endParaRPr>
                    </a:p>
                  </a:txBody>
                  <a:tcPr marL="51427" marR="51427" marT="25711" marB="25711" anchor="ctr"/>
                </a:tc>
                <a:tc>
                  <a:txBody>
                    <a:bodyPr/>
                    <a:lstStyle/>
                    <a:p>
                      <a:pPr marL="0" lvl="0" indent="0" algn="l">
                        <a:spcBef>
                          <a:spcPts val="300"/>
                        </a:spcBef>
                        <a:spcAft>
                          <a:spcPts val="300"/>
                        </a:spcAft>
                        <a:buFont typeface="+mj-lt"/>
                        <a:buNone/>
                      </a:pPr>
                      <a:r>
                        <a:rPr lang="en-GB" sz="2000" b="0" kern="1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Introduction to CSS</a:t>
                      </a:r>
                    </a:p>
                  </a:txBody>
                  <a:tcPr marL="38570" marR="38570" marT="0" marB="0" anchor="ctr"/>
                </a:tc>
                <a:tc>
                  <a:txBody>
                    <a:bodyPr/>
                    <a:lstStyle/>
                    <a:p>
                      <a:pPr marL="0" lvl="0" indent="0" algn="ctr">
                        <a:spcBef>
                          <a:spcPts val="300"/>
                        </a:spcBef>
                        <a:spcAft>
                          <a:spcPts val="300"/>
                        </a:spcAft>
                        <a:buFont typeface="+mj-lt"/>
                        <a:buNone/>
                      </a:pPr>
                      <a:r>
                        <a:rPr lang="en-US" sz="2000" kern="100" dirty="0">
                          <a:effectLst/>
                          <a:latin typeface="Arial" panose="020B0604020202020204" pitchFamily="34" charset="0"/>
                          <a:ea typeface="Times New Roman" panose="02020603050405020304" pitchFamily="18" charset="0"/>
                          <a:cs typeface="Arial" panose="020B0604020202020204" pitchFamily="34" charset="0"/>
                        </a:rPr>
                        <a:t>9</a:t>
                      </a:r>
                      <a:endParaRPr lang="en-GB" sz="20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8570" marR="38570" marT="0" marB="0" anchor="ctr"/>
                </a:tc>
                <a:tc>
                  <a:txBody>
                    <a:bodyPr/>
                    <a:lstStyle/>
                    <a:p>
                      <a:pPr marL="0" lvl="0" indent="0" algn="l">
                        <a:spcBef>
                          <a:spcPts val="300"/>
                        </a:spcBef>
                        <a:spcAft>
                          <a:spcPts val="300"/>
                        </a:spcAft>
                        <a:buFont typeface="+mj-lt"/>
                        <a:buNone/>
                      </a:pPr>
                      <a:r>
                        <a:rPr lang="en-US" sz="2000" kern="100" dirty="0">
                          <a:effectLst/>
                          <a:latin typeface="Arial" panose="020B0604020202020204" pitchFamily="34" charset="0"/>
                          <a:ea typeface="Times New Roman" panose="02020603050405020304" pitchFamily="18" charset="0"/>
                          <a:cs typeface="Arial" panose="020B0604020202020204" pitchFamily="34" charset="0"/>
                        </a:rPr>
                        <a:t>Responsive CSS Framework: Bootstrap I</a:t>
                      </a:r>
                      <a:endParaRPr lang="en-GB" sz="20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8570" marR="38570" marT="0" marB="0" anchor="ctr"/>
                </a:tc>
                <a:extLst>
                  <a:ext uri="{0D108BD9-81ED-4DB2-BD59-A6C34878D82A}">
                    <a16:rowId xmlns:a16="http://schemas.microsoft.com/office/drawing/2014/main" val="10003"/>
                  </a:ext>
                </a:extLst>
              </a:tr>
              <a:tr h="475657">
                <a:tc>
                  <a:txBody>
                    <a:bodyPr/>
                    <a:lstStyle/>
                    <a:p>
                      <a:pPr algn="ctr"/>
                      <a:r>
                        <a:rPr lang="en-US" sz="2000" dirty="0">
                          <a:latin typeface="Arial" panose="020B0604020202020204" pitchFamily="34" charset="0"/>
                          <a:cs typeface="Arial" panose="020B0604020202020204" pitchFamily="34" charset="0"/>
                        </a:rPr>
                        <a:t>4</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pPr marL="0" lvl="0" indent="0" algn="l">
                        <a:spcBef>
                          <a:spcPts val="300"/>
                        </a:spcBef>
                        <a:spcAft>
                          <a:spcPts val="300"/>
                        </a:spcAft>
                        <a:buFont typeface="+mj-lt"/>
                        <a:buNone/>
                      </a:pPr>
                      <a:r>
                        <a:rPr lang="en-GB" sz="2000" kern="100" dirty="0">
                          <a:effectLst/>
                          <a:latin typeface="Arial" panose="020B0604020202020204" pitchFamily="34" charset="0"/>
                          <a:ea typeface="Times New Roman" panose="02020603050405020304" pitchFamily="18" charset="0"/>
                          <a:cs typeface="Arial" panose="020B0604020202020204" pitchFamily="34" charset="0"/>
                        </a:rPr>
                        <a:t>HTML and CSS</a:t>
                      </a:r>
                    </a:p>
                  </a:txBody>
                  <a:tcPr marL="38570" marR="38570" marT="0" marB="0" anchor="ctr"/>
                </a:tc>
                <a:tc>
                  <a:txBody>
                    <a:bodyPr/>
                    <a:lstStyle/>
                    <a:p>
                      <a:pPr marL="0" lvl="0" indent="0" algn="ctr">
                        <a:spcBef>
                          <a:spcPts val="300"/>
                        </a:spcBef>
                        <a:spcAft>
                          <a:spcPts val="300"/>
                        </a:spcAft>
                        <a:buFont typeface="+mj-lt"/>
                        <a:buNone/>
                      </a:pPr>
                      <a:r>
                        <a:rPr lang="en-US" sz="2000" kern="100" dirty="0">
                          <a:effectLst/>
                          <a:latin typeface="Arial" panose="020B0604020202020204" pitchFamily="34" charset="0"/>
                          <a:ea typeface="Times New Roman" panose="02020603050405020304" pitchFamily="18" charset="0"/>
                          <a:cs typeface="Arial" panose="020B0604020202020204" pitchFamily="34" charset="0"/>
                        </a:rPr>
                        <a:t>10</a:t>
                      </a:r>
                      <a:endParaRPr lang="en-GB" sz="20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8570" marR="38570" marT="0" marB="0" anchor="ctr"/>
                </a:tc>
                <a:tc>
                  <a:txBody>
                    <a:bodyPr/>
                    <a:lstStyle/>
                    <a:p>
                      <a:pPr marL="0" lvl="0" indent="0" algn="l">
                        <a:spcBef>
                          <a:spcPts val="300"/>
                        </a:spcBef>
                        <a:spcAft>
                          <a:spcPts val="300"/>
                        </a:spcAft>
                        <a:buFont typeface="+mj-lt"/>
                        <a:buNone/>
                      </a:pPr>
                      <a:r>
                        <a:rPr lang="en-US" sz="2000" kern="100" dirty="0">
                          <a:effectLst/>
                          <a:latin typeface="Arial" panose="020B0604020202020204" pitchFamily="34" charset="0"/>
                          <a:ea typeface="Times New Roman" panose="02020603050405020304" pitchFamily="18" charset="0"/>
                          <a:cs typeface="Arial" panose="020B0604020202020204" pitchFamily="34" charset="0"/>
                        </a:rPr>
                        <a:t>Responsive CSS Framework: Bootstrap II</a:t>
                      </a:r>
                      <a:endParaRPr lang="en-GB" sz="20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8570" marR="38570" marT="0" marB="0" anchor="ctr"/>
                </a:tc>
                <a:extLst>
                  <a:ext uri="{0D108BD9-81ED-4DB2-BD59-A6C34878D82A}">
                    <a16:rowId xmlns:a16="http://schemas.microsoft.com/office/drawing/2014/main" val="10004"/>
                  </a:ext>
                </a:extLst>
              </a:tr>
              <a:tr h="578494">
                <a:tc>
                  <a:txBody>
                    <a:bodyPr/>
                    <a:lstStyle/>
                    <a:p>
                      <a:pPr algn="ctr"/>
                      <a:r>
                        <a:rPr lang="en-US" sz="2000" b="1" dirty="0">
                          <a:solidFill>
                            <a:srgbClr val="002060"/>
                          </a:solidFill>
                          <a:latin typeface="Arial" panose="020B0604020202020204" pitchFamily="34" charset="0"/>
                          <a:cs typeface="Arial" panose="020B0604020202020204" pitchFamily="34" charset="0"/>
                        </a:rPr>
                        <a:t>5</a:t>
                      </a:r>
                      <a:endParaRPr lang="en-GB" sz="2000" b="1" dirty="0">
                        <a:solidFill>
                          <a:srgbClr val="002060"/>
                        </a:solidFill>
                        <a:latin typeface="Arial" panose="020B0604020202020204" pitchFamily="34" charset="0"/>
                        <a:cs typeface="Arial" panose="020B0604020202020204" pitchFamily="34" charset="0"/>
                      </a:endParaRPr>
                    </a:p>
                  </a:txBody>
                  <a:tcPr marL="51427" marR="51427" marT="25711" marB="25711" anchor="ctr"/>
                </a:tc>
                <a:tc>
                  <a:txBody>
                    <a:bodyPr/>
                    <a:lstStyle/>
                    <a:p>
                      <a:pPr marL="0" lvl="0" indent="0" algn="l">
                        <a:spcBef>
                          <a:spcPts val="300"/>
                        </a:spcBef>
                        <a:spcAft>
                          <a:spcPts val="300"/>
                        </a:spcAft>
                        <a:buFont typeface="+mj-lt"/>
                        <a:buNone/>
                      </a:pPr>
                      <a:r>
                        <a:rPr lang="en-GB" sz="2000" b="1" kern="100" dirty="0">
                          <a:solidFill>
                            <a:srgbClr val="002060"/>
                          </a:solidFill>
                          <a:effectLst/>
                          <a:latin typeface="Arial" panose="020B0604020202020204" pitchFamily="34" charset="0"/>
                          <a:ea typeface="Times New Roman" panose="02020603050405020304" pitchFamily="18" charset="0"/>
                          <a:cs typeface="Arial" panose="020B0604020202020204" pitchFamily="34" charset="0"/>
                        </a:rPr>
                        <a:t>CSS Flexbox and Grid Layout </a:t>
                      </a:r>
                    </a:p>
                  </a:txBody>
                  <a:tcPr marL="38570" marR="38570" marT="0" marB="0" anchor="ctr"/>
                </a:tc>
                <a:tc>
                  <a:txBody>
                    <a:bodyPr/>
                    <a:lstStyle/>
                    <a:p>
                      <a:pPr marL="0" lvl="0" indent="0" algn="ctr">
                        <a:spcBef>
                          <a:spcPts val="300"/>
                        </a:spcBef>
                        <a:spcAft>
                          <a:spcPts val="300"/>
                        </a:spcAft>
                        <a:buFont typeface="+mj-lt"/>
                        <a:buNone/>
                      </a:pPr>
                      <a:r>
                        <a:rPr lang="en-US" sz="2000" kern="100" dirty="0">
                          <a:effectLst/>
                          <a:latin typeface="Arial" panose="020B0604020202020204" pitchFamily="34" charset="0"/>
                          <a:ea typeface="Times New Roman" panose="02020603050405020304" pitchFamily="18" charset="0"/>
                          <a:cs typeface="Arial" panose="020B0604020202020204" pitchFamily="34" charset="0"/>
                        </a:rPr>
                        <a:t>11</a:t>
                      </a:r>
                      <a:endParaRPr lang="en-GB" sz="20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8570" marR="38570" marT="0" marB="0" anchor="ctr"/>
                </a:tc>
                <a:tc>
                  <a:txBody>
                    <a:bodyPr/>
                    <a:lstStyle/>
                    <a:p>
                      <a:pPr marL="0" lvl="0" indent="0" algn="l">
                        <a:spcBef>
                          <a:spcPts val="300"/>
                        </a:spcBef>
                        <a:spcAft>
                          <a:spcPts val="300"/>
                        </a:spcAft>
                        <a:buFont typeface="+mj-lt"/>
                        <a:buNone/>
                      </a:pPr>
                      <a:r>
                        <a:rPr lang="en-US" sz="2000" kern="100" dirty="0">
                          <a:effectLst/>
                          <a:latin typeface="Arial" panose="020B0604020202020204" pitchFamily="34" charset="0"/>
                          <a:ea typeface="Times New Roman" panose="02020603050405020304" pitchFamily="18" charset="0"/>
                          <a:cs typeface="Arial" panose="020B0604020202020204" pitchFamily="34" charset="0"/>
                        </a:rPr>
                        <a:t>Code Review, Testing and Collaboration</a:t>
                      </a:r>
                      <a:endParaRPr lang="en-GB" sz="20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8570" marR="38570" marT="0" marB="0" anchor="ctr"/>
                </a:tc>
                <a:extLst>
                  <a:ext uri="{0D108BD9-81ED-4DB2-BD59-A6C34878D82A}">
                    <a16:rowId xmlns:a16="http://schemas.microsoft.com/office/drawing/2014/main" val="10005"/>
                  </a:ext>
                </a:extLst>
              </a:tr>
              <a:tr h="475657">
                <a:tc>
                  <a:txBody>
                    <a:bodyPr/>
                    <a:lstStyle/>
                    <a:p>
                      <a:pPr algn="ctr"/>
                      <a:r>
                        <a:rPr lang="en-US" sz="2000" dirty="0">
                          <a:latin typeface="Arial" panose="020B0604020202020204" pitchFamily="34" charset="0"/>
                          <a:cs typeface="Arial" panose="020B0604020202020204" pitchFamily="34" charset="0"/>
                        </a:rPr>
                        <a:t>6</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r>
                        <a:rPr lang="en-US" sz="2000" dirty="0">
                          <a:latin typeface="Arial" panose="020B0604020202020204" pitchFamily="34" charset="0"/>
                          <a:cs typeface="Arial" panose="020B0604020202020204" pitchFamily="34" charset="0"/>
                        </a:rPr>
                        <a:t>JavaScript - I</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pPr algn="ctr"/>
                      <a:r>
                        <a:rPr lang="en-US" sz="2000" dirty="0">
                          <a:latin typeface="Arial" panose="020B0604020202020204" pitchFamily="34" charset="0"/>
                          <a:cs typeface="Arial" panose="020B0604020202020204" pitchFamily="34" charset="0"/>
                        </a:rPr>
                        <a:t>12</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r>
                        <a:rPr lang="en-US" sz="2000" dirty="0">
                          <a:latin typeface="Arial" panose="020B0604020202020204" pitchFamily="34" charset="0"/>
                          <a:cs typeface="Arial" panose="020B0604020202020204" pitchFamily="34" charset="0"/>
                        </a:rPr>
                        <a:t>Unit Summary</a:t>
                      </a:r>
                      <a:endParaRPr lang="en-GB" sz="2000" dirty="0">
                        <a:latin typeface="Arial" panose="020B0604020202020204" pitchFamily="34" charset="0"/>
                        <a:cs typeface="Arial" panose="020B0604020202020204" pitchFamily="34" charset="0"/>
                      </a:endParaRPr>
                    </a:p>
                  </a:txBody>
                  <a:tcPr marL="51427" marR="51427" marT="25711" marB="25711"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784C0D-70F8-F8D6-A61C-27722441E1F8}"/>
              </a:ext>
            </a:extLst>
          </p:cNvPr>
          <p:cNvSpPr>
            <a:spLocks noGrp="1"/>
          </p:cNvSpPr>
          <p:nvPr>
            <p:ph type="title"/>
          </p:nvPr>
        </p:nvSpPr>
        <p:spPr/>
        <p:txBody>
          <a:bodyPr/>
          <a:lstStyle/>
          <a:p>
            <a:pPr>
              <a:defRPr/>
            </a:pPr>
            <a:r>
              <a:rPr lang="en-US" dirty="0" err="1"/>
              <a:t>Css</a:t>
            </a:r>
            <a:r>
              <a:rPr lang="en-US" dirty="0"/>
              <a:t> grid layout</a:t>
            </a: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4DE5A34-CB00-F8A6-3243-F0A4C9A4ECBC}"/>
              </a:ext>
            </a:extLst>
          </p:cNvPr>
          <p:cNvSpPr txBox="1"/>
          <p:nvPr/>
        </p:nvSpPr>
        <p:spPr>
          <a:xfrm>
            <a:off x="467544" y="573579"/>
            <a:ext cx="7637463" cy="461962"/>
          </a:xfrm>
          <a:prstGeom prst="rect">
            <a:avLst/>
          </a:prstGeom>
        </p:spPr>
        <p:txBody>
          <a:bodyPr lIns="0" tIns="9376" rIns="0" bIns="0">
            <a:spAutoFit/>
          </a:bodyPr>
          <a:lstStyle/>
          <a:p>
            <a:pPr marL="8929">
              <a:lnSpc>
                <a:spcPts val="3473"/>
              </a:lnSpc>
              <a:spcBef>
                <a:spcPts val="74"/>
              </a:spcBef>
              <a:defRPr/>
            </a:pPr>
            <a:r>
              <a:rPr sz="4000" dirty="0">
                <a:solidFill>
                  <a:schemeClr val="bg1"/>
                </a:solidFill>
                <a:latin typeface="Arial"/>
                <a:cs typeface="Arial"/>
              </a:rPr>
              <a:t>W</a:t>
            </a:r>
            <a:r>
              <a:rPr lang="en-GB" sz="4000" dirty="0">
                <a:solidFill>
                  <a:schemeClr val="bg1"/>
                </a:solidFill>
                <a:latin typeface="Arial"/>
                <a:cs typeface="Arial"/>
              </a:rPr>
              <a:t>hat is </a:t>
            </a:r>
            <a:r>
              <a:rPr lang="en-US" sz="4000" dirty="0">
                <a:solidFill>
                  <a:schemeClr val="bg1"/>
                </a:solidFill>
                <a:latin typeface="Arial"/>
                <a:cs typeface="Arial"/>
              </a:rPr>
              <a:t> </a:t>
            </a:r>
            <a:r>
              <a:rPr sz="4000" spc="-4" dirty="0">
                <a:solidFill>
                  <a:schemeClr val="bg1"/>
                </a:solidFill>
                <a:latin typeface="Arial"/>
                <a:cs typeface="Arial"/>
              </a:rPr>
              <a:t>CSS</a:t>
            </a:r>
            <a:r>
              <a:rPr sz="4000" spc="-53" dirty="0">
                <a:solidFill>
                  <a:schemeClr val="bg1"/>
                </a:solidFill>
                <a:latin typeface="Arial"/>
                <a:cs typeface="Arial"/>
              </a:rPr>
              <a:t> </a:t>
            </a:r>
            <a:r>
              <a:rPr sz="4000" spc="-4" dirty="0">
                <a:solidFill>
                  <a:schemeClr val="bg1"/>
                </a:solidFill>
                <a:latin typeface="Arial"/>
                <a:cs typeface="Arial"/>
              </a:rPr>
              <a:t>GRID</a:t>
            </a:r>
            <a:r>
              <a:rPr lang="en-GB" sz="4000" spc="-4" dirty="0">
                <a:solidFill>
                  <a:schemeClr val="bg1"/>
                </a:solidFill>
                <a:latin typeface="Arial"/>
                <a:cs typeface="Arial"/>
              </a:rPr>
              <a:t>?</a:t>
            </a:r>
            <a:endParaRPr sz="4000" dirty="0">
              <a:solidFill>
                <a:schemeClr val="bg1"/>
              </a:solidFill>
              <a:latin typeface="Arial"/>
              <a:cs typeface="Arial"/>
            </a:endParaRPr>
          </a:p>
        </p:txBody>
      </p:sp>
      <p:sp>
        <p:nvSpPr>
          <p:cNvPr id="14339" name="object 3">
            <a:extLst>
              <a:ext uri="{FF2B5EF4-FFF2-40B4-BE49-F238E27FC236}">
                <a16:creationId xmlns:a16="http://schemas.microsoft.com/office/drawing/2014/main" id="{2B8A983D-5478-4417-8139-74EC24EB9B19}"/>
              </a:ext>
            </a:extLst>
          </p:cNvPr>
          <p:cNvSpPr txBox="1">
            <a:spLocks noChangeArrowheads="1"/>
          </p:cNvSpPr>
          <p:nvPr/>
        </p:nvSpPr>
        <p:spPr bwMode="auto">
          <a:xfrm>
            <a:off x="255301" y="1420414"/>
            <a:ext cx="8861102" cy="22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8930" rIns="0" bIns="0">
            <a:spAutoFit/>
          </a:bodyPr>
          <a:lstStyle>
            <a:lvl1pPr marL="79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93688" indent="-285750">
              <a:lnSpc>
                <a:spcPct val="150000"/>
              </a:lnSpc>
              <a:spcBef>
                <a:spcPts val="75"/>
              </a:spcBef>
              <a:buFont typeface="Arial" panose="020B0604020202020204" pitchFamily="34" charset="0"/>
              <a:buChar char="•"/>
            </a:pPr>
            <a:r>
              <a:rPr lang="en-US" altLang="en-US" sz="2000" dirty="0">
                <a:solidFill>
                  <a:srgbClr val="111111"/>
                </a:solidFill>
                <a:latin typeface="Arial MT"/>
                <a:ea typeface="Arial MT"/>
                <a:cs typeface="Arial MT"/>
              </a:rPr>
              <a:t>A concept that defines the layout and responsiveness of websites. </a:t>
            </a:r>
            <a:endParaRPr lang="en-US" altLang="en-US" sz="2000" dirty="0">
              <a:latin typeface="Arial MT"/>
              <a:ea typeface="Arial MT"/>
              <a:cs typeface="Arial MT"/>
            </a:endParaRPr>
          </a:p>
          <a:p>
            <a:pPr marL="293688" indent="-285750">
              <a:lnSpc>
                <a:spcPct val="150000"/>
              </a:lnSpc>
              <a:spcBef>
                <a:spcPts val="75"/>
              </a:spcBef>
              <a:buFont typeface="Arial" panose="020B0604020202020204" pitchFamily="34" charset="0"/>
              <a:buChar char="•"/>
            </a:pPr>
            <a:r>
              <a:rPr lang="en-US" altLang="en-US" sz="2000" dirty="0">
                <a:solidFill>
                  <a:srgbClr val="111111"/>
                </a:solidFill>
                <a:latin typeface="Arial MT"/>
                <a:ea typeface="Arial MT"/>
                <a:cs typeface="Arial MT"/>
              </a:rPr>
              <a:t>CSS Grid is a 2-dimensional layout system that can handle both columns and rows.</a:t>
            </a:r>
          </a:p>
          <a:p>
            <a:pPr marL="293688" indent="-285750">
              <a:lnSpc>
                <a:spcPct val="150000"/>
              </a:lnSpc>
              <a:spcBef>
                <a:spcPts val="75"/>
              </a:spcBef>
              <a:buFont typeface="Arial" panose="020B0604020202020204" pitchFamily="34" charset="0"/>
              <a:buChar char="•"/>
            </a:pPr>
            <a:r>
              <a:rPr lang="en-US" altLang="en-US" sz="2000" dirty="0">
                <a:solidFill>
                  <a:srgbClr val="111111"/>
                </a:solidFill>
                <a:latin typeface="Arial MT"/>
                <a:ea typeface="Arial MT"/>
                <a:cs typeface="Arial MT"/>
              </a:rPr>
              <a:t>Grid items can be positioned into the grid cell, spanning one or more cell, and even layered  over one another.  </a:t>
            </a:r>
          </a:p>
        </p:txBody>
      </p:sp>
      <p:pic>
        <p:nvPicPr>
          <p:cNvPr id="14340" name="object 4">
            <a:extLst>
              <a:ext uri="{FF2B5EF4-FFF2-40B4-BE49-F238E27FC236}">
                <a16:creationId xmlns:a16="http://schemas.microsoft.com/office/drawing/2014/main" id="{EC912A0E-DA11-8E17-AE2D-F456E87B8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3740846"/>
            <a:ext cx="3328051" cy="2248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22BD077-B79D-3BA9-E85F-F7B58CD9982D}"/>
              </a:ext>
            </a:extLst>
          </p:cNvPr>
          <p:cNvSpPr txBox="1"/>
          <p:nvPr/>
        </p:nvSpPr>
        <p:spPr>
          <a:xfrm>
            <a:off x="467544" y="404664"/>
            <a:ext cx="6269038" cy="457200"/>
          </a:xfrm>
          <a:prstGeom prst="rect">
            <a:avLst/>
          </a:prstGeom>
        </p:spPr>
        <p:txBody>
          <a:bodyPr lIns="0" tIns="9376" rIns="0" bIns="0">
            <a:spAutoFit/>
          </a:bodyPr>
          <a:lstStyle/>
          <a:p>
            <a:pPr marL="8929">
              <a:lnSpc>
                <a:spcPts val="3473"/>
              </a:lnSpc>
              <a:spcBef>
                <a:spcPts val="74"/>
              </a:spcBef>
              <a:defRPr/>
            </a:pPr>
            <a:r>
              <a:rPr sz="3600" dirty="0">
                <a:solidFill>
                  <a:schemeClr val="bg1"/>
                </a:solidFill>
                <a:latin typeface="Arial"/>
                <a:cs typeface="Arial"/>
              </a:rPr>
              <a:t>GRID</a:t>
            </a:r>
            <a:r>
              <a:rPr lang="en-US" sz="3600" dirty="0">
                <a:solidFill>
                  <a:schemeClr val="bg1"/>
                </a:solidFill>
                <a:latin typeface="Arial"/>
                <a:cs typeface="Arial"/>
              </a:rPr>
              <a:t> </a:t>
            </a:r>
            <a:r>
              <a:rPr lang="en-GB" sz="3600" spc="-4" dirty="0">
                <a:solidFill>
                  <a:schemeClr val="bg1"/>
                </a:solidFill>
                <a:latin typeface="Arial"/>
                <a:cs typeface="Arial"/>
              </a:rPr>
              <a:t>Container</a:t>
            </a:r>
            <a:endParaRPr sz="3600" dirty="0">
              <a:solidFill>
                <a:schemeClr val="bg1"/>
              </a:solidFill>
              <a:latin typeface="Arial"/>
              <a:cs typeface="Arial"/>
            </a:endParaRPr>
          </a:p>
        </p:txBody>
      </p:sp>
      <p:sp>
        <p:nvSpPr>
          <p:cNvPr id="15363" name="object 3">
            <a:extLst>
              <a:ext uri="{FF2B5EF4-FFF2-40B4-BE49-F238E27FC236}">
                <a16:creationId xmlns:a16="http://schemas.microsoft.com/office/drawing/2014/main" id="{480C5FDB-9392-8553-750D-125883B50A7B}"/>
              </a:ext>
            </a:extLst>
          </p:cNvPr>
          <p:cNvSpPr txBox="1">
            <a:spLocks noChangeArrowheads="1"/>
          </p:cNvSpPr>
          <p:nvPr/>
        </p:nvSpPr>
        <p:spPr bwMode="auto">
          <a:xfrm>
            <a:off x="447588" y="1700808"/>
            <a:ext cx="7996238" cy="888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8930" rIns="0" bIns="0">
            <a:spAutoFit/>
          </a:bodyPr>
          <a:lstStyle>
            <a:lvl1pPr marL="79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93688" indent="-285750">
              <a:lnSpc>
                <a:spcPct val="150000"/>
              </a:lnSpc>
              <a:spcBef>
                <a:spcPts val="75"/>
              </a:spcBef>
              <a:buFont typeface="Arial" panose="020B0604020202020204" pitchFamily="34" charset="0"/>
              <a:buChar char="•"/>
            </a:pPr>
            <a:r>
              <a:rPr lang="en-US" altLang="en-US" sz="2000" dirty="0">
                <a:solidFill>
                  <a:srgbClr val="111111"/>
                </a:solidFill>
                <a:latin typeface="Arial MT"/>
                <a:ea typeface="Arial MT"/>
                <a:cs typeface="Arial MT"/>
              </a:rPr>
              <a:t>The grid container is the parent of all grid items.</a:t>
            </a:r>
          </a:p>
          <a:p>
            <a:pPr marL="293688" indent="-285750">
              <a:lnSpc>
                <a:spcPct val="150000"/>
              </a:lnSpc>
              <a:spcBef>
                <a:spcPts val="75"/>
              </a:spcBef>
              <a:buFont typeface="Arial" panose="020B0604020202020204" pitchFamily="34" charset="0"/>
              <a:buChar char="•"/>
            </a:pPr>
            <a:r>
              <a:rPr lang="en-US" altLang="en-US" sz="2000" dirty="0">
                <a:solidFill>
                  <a:srgbClr val="111111"/>
                </a:solidFill>
                <a:latin typeface="Arial MT"/>
                <a:ea typeface="Arial MT"/>
                <a:cs typeface="Arial MT"/>
              </a:rPr>
              <a:t> It is declared with the display: grid; rule.</a:t>
            </a:r>
            <a:endParaRPr lang="en-US" altLang="en-US" sz="2000" dirty="0">
              <a:latin typeface="Arial MT"/>
              <a:ea typeface="Arial MT"/>
              <a:cs typeface="Arial MT"/>
            </a:endParaRPr>
          </a:p>
        </p:txBody>
      </p:sp>
      <p:pic>
        <p:nvPicPr>
          <p:cNvPr id="15364" name="object 4">
            <a:extLst>
              <a:ext uri="{FF2B5EF4-FFF2-40B4-BE49-F238E27FC236}">
                <a16:creationId xmlns:a16="http://schemas.microsoft.com/office/drawing/2014/main" id="{8B26303B-B1BF-7EFC-7272-34F41184EC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3212976"/>
            <a:ext cx="5243242" cy="2303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170E51E-F525-1CBC-1EE6-A8C4BFA263D0}"/>
              </a:ext>
            </a:extLst>
          </p:cNvPr>
          <p:cNvSpPr txBox="1"/>
          <p:nvPr/>
        </p:nvSpPr>
        <p:spPr>
          <a:xfrm>
            <a:off x="679450" y="582613"/>
            <a:ext cx="5600700" cy="457200"/>
          </a:xfrm>
          <a:prstGeom prst="rect">
            <a:avLst/>
          </a:prstGeom>
        </p:spPr>
        <p:txBody>
          <a:bodyPr lIns="0" tIns="9376" rIns="0" bIns="0">
            <a:spAutoFit/>
          </a:bodyPr>
          <a:lstStyle/>
          <a:p>
            <a:pPr marL="8929">
              <a:lnSpc>
                <a:spcPts val="3473"/>
              </a:lnSpc>
              <a:spcBef>
                <a:spcPts val="74"/>
              </a:spcBef>
              <a:defRPr/>
            </a:pPr>
            <a:r>
              <a:rPr sz="3200" dirty="0">
                <a:solidFill>
                  <a:schemeClr val="bg1"/>
                </a:solidFill>
                <a:latin typeface="Arial"/>
                <a:cs typeface="Arial"/>
              </a:rPr>
              <a:t>GRID</a:t>
            </a:r>
            <a:r>
              <a:rPr lang="en-US" sz="3200" dirty="0">
                <a:solidFill>
                  <a:schemeClr val="bg1"/>
                </a:solidFill>
                <a:latin typeface="Arial"/>
                <a:cs typeface="Arial"/>
              </a:rPr>
              <a:t> </a:t>
            </a:r>
            <a:r>
              <a:rPr lang="en-GB" sz="3200" spc="-4" dirty="0">
                <a:solidFill>
                  <a:schemeClr val="bg1"/>
                </a:solidFill>
                <a:latin typeface="Arial"/>
                <a:cs typeface="Arial"/>
              </a:rPr>
              <a:t>Item</a:t>
            </a:r>
            <a:endParaRPr sz="3200" dirty="0">
              <a:solidFill>
                <a:schemeClr val="bg1"/>
              </a:solidFill>
              <a:latin typeface="Arial"/>
              <a:cs typeface="Arial"/>
            </a:endParaRPr>
          </a:p>
        </p:txBody>
      </p:sp>
      <p:sp>
        <p:nvSpPr>
          <p:cNvPr id="16387" name="object 3">
            <a:extLst>
              <a:ext uri="{FF2B5EF4-FFF2-40B4-BE49-F238E27FC236}">
                <a16:creationId xmlns:a16="http://schemas.microsoft.com/office/drawing/2014/main" id="{74810F46-7385-A0FD-2D28-96356DBF4D0F}"/>
              </a:ext>
            </a:extLst>
          </p:cNvPr>
          <p:cNvSpPr txBox="1">
            <a:spLocks noChangeArrowheads="1"/>
          </p:cNvSpPr>
          <p:nvPr/>
        </p:nvSpPr>
        <p:spPr bwMode="auto">
          <a:xfrm>
            <a:off x="427410" y="1673224"/>
            <a:ext cx="7204918" cy="888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8930" rIns="0" bIns="0">
            <a:spAutoFit/>
          </a:bodyPr>
          <a:lstStyle>
            <a:lvl1pPr marL="79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93688" indent="-285750">
              <a:lnSpc>
                <a:spcPct val="150000"/>
              </a:lnSpc>
              <a:spcBef>
                <a:spcPts val="75"/>
              </a:spcBef>
              <a:buFont typeface="Arial" panose="020B0604020202020204" pitchFamily="34" charset="0"/>
              <a:buChar char="•"/>
            </a:pPr>
            <a:r>
              <a:rPr lang="en-US" altLang="en-US" sz="2000" dirty="0">
                <a:solidFill>
                  <a:srgbClr val="111111"/>
                </a:solidFill>
                <a:latin typeface="Arial MT"/>
                <a:ea typeface="Arial MT"/>
                <a:cs typeface="Arial MT"/>
              </a:rPr>
              <a:t>The items that are direct children of the grid container.  </a:t>
            </a:r>
          </a:p>
          <a:p>
            <a:pPr marL="293688" indent="-285750">
              <a:lnSpc>
                <a:spcPct val="150000"/>
              </a:lnSpc>
              <a:spcBef>
                <a:spcPts val="75"/>
              </a:spcBef>
              <a:buFont typeface="Arial" panose="020B0604020202020204" pitchFamily="34" charset="0"/>
              <a:buChar char="•"/>
            </a:pPr>
            <a:r>
              <a:rPr lang="en-US" altLang="en-US" sz="2000" dirty="0">
                <a:solidFill>
                  <a:srgbClr val="111111"/>
                </a:solidFill>
                <a:latin typeface="Arial MT"/>
                <a:ea typeface="Arial MT"/>
                <a:cs typeface="Arial MT"/>
              </a:rPr>
              <a:t>These are the elements that will be placed on the grid</a:t>
            </a:r>
            <a:r>
              <a:rPr lang="en-US" altLang="en-US" sz="1800" dirty="0">
                <a:solidFill>
                  <a:srgbClr val="111111"/>
                </a:solidFill>
                <a:latin typeface="Arial MT"/>
                <a:ea typeface="Arial MT"/>
                <a:cs typeface="Arial MT"/>
              </a:rPr>
              <a:t>.</a:t>
            </a:r>
            <a:endParaRPr lang="en-US" altLang="en-US" sz="1800" dirty="0">
              <a:latin typeface="Arial MT"/>
              <a:ea typeface="Arial MT"/>
              <a:cs typeface="Arial MT"/>
            </a:endParaRPr>
          </a:p>
        </p:txBody>
      </p:sp>
      <p:pic>
        <p:nvPicPr>
          <p:cNvPr id="16388" name="object 4">
            <a:extLst>
              <a:ext uri="{FF2B5EF4-FFF2-40B4-BE49-F238E27FC236}">
                <a16:creationId xmlns:a16="http://schemas.microsoft.com/office/drawing/2014/main" id="{18DFDB0B-C7E1-A526-2625-7D2A96E7E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3068638"/>
            <a:ext cx="5704772" cy="2808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C2A5BA3-6949-9F9D-0D4D-66677EAC5DC4}"/>
              </a:ext>
            </a:extLst>
          </p:cNvPr>
          <p:cNvSpPr txBox="1"/>
          <p:nvPr/>
        </p:nvSpPr>
        <p:spPr>
          <a:xfrm>
            <a:off x="679450" y="582613"/>
            <a:ext cx="5573713" cy="457200"/>
          </a:xfrm>
          <a:prstGeom prst="rect">
            <a:avLst/>
          </a:prstGeom>
        </p:spPr>
        <p:txBody>
          <a:bodyPr lIns="0" tIns="9376" rIns="0" bIns="0">
            <a:spAutoFit/>
          </a:bodyPr>
          <a:lstStyle/>
          <a:p>
            <a:pPr marL="8929">
              <a:lnSpc>
                <a:spcPts val="3473"/>
              </a:lnSpc>
              <a:spcBef>
                <a:spcPts val="74"/>
              </a:spcBef>
              <a:defRPr/>
            </a:pPr>
            <a:r>
              <a:rPr sz="3600" dirty="0">
                <a:solidFill>
                  <a:schemeClr val="bg1"/>
                </a:solidFill>
                <a:latin typeface="Arial"/>
                <a:cs typeface="Arial"/>
              </a:rPr>
              <a:t>GRID</a:t>
            </a:r>
            <a:r>
              <a:rPr lang="en-US" sz="3600" dirty="0">
                <a:solidFill>
                  <a:schemeClr val="bg1"/>
                </a:solidFill>
                <a:latin typeface="Arial"/>
                <a:cs typeface="Arial"/>
              </a:rPr>
              <a:t> </a:t>
            </a:r>
            <a:r>
              <a:rPr lang="en-GB" sz="3600" spc="-4" dirty="0">
                <a:solidFill>
                  <a:schemeClr val="bg1"/>
                </a:solidFill>
                <a:latin typeface="Arial"/>
                <a:cs typeface="Arial"/>
              </a:rPr>
              <a:t>Lines</a:t>
            </a:r>
            <a:endParaRPr sz="3600" dirty="0">
              <a:solidFill>
                <a:schemeClr val="bg1"/>
              </a:solidFill>
              <a:latin typeface="Arial"/>
              <a:cs typeface="Arial"/>
            </a:endParaRPr>
          </a:p>
        </p:txBody>
      </p:sp>
      <p:sp>
        <p:nvSpPr>
          <p:cNvPr id="17411" name="object 3">
            <a:extLst>
              <a:ext uri="{FF2B5EF4-FFF2-40B4-BE49-F238E27FC236}">
                <a16:creationId xmlns:a16="http://schemas.microsoft.com/office/drawing/2014/main" id="{13EEB6F1-A147-501F-BD0E-54B525E98166}"/>
              </a:ext>
            </a:extLst>
          </p:cNvPr>
          <p:cNvSpPr txBox="1">
            <a:spLocks noChangeArrowheads="1"/>
          </p:cNvSpPr>
          <p:nvPr/>
        </p:nvSpPr>
        <p:spPr bwMode="auto">
          <a:xfrm>
            <a:off x="395536" y="1412776"/>
            <a:ext cx="8208912" cy="2298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8930" rIns="0" bIns="0">
            <a:spAutoFit/>
          </a:bodyPr>
          <a:lstStyle>
            <a:lvl1pPr marL="79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93688" indent="-285750">
              <a:lnSpc>
                <a:spcPct val="150000"/>
              </a:lnSpc>
              <a:spcBef>
                <a:spcPts val="75"/>
              </a:spcBef>
              <a:buFont typeface="Arial" panose="020B0604020202020204" pitchFamily="34" charset="0"/>
              <a:buChar char="•"/>
            </a:pPr>
            <a:r>
              <a:rPr lang="en-US" altLang="en-US" sz="2000" dirty="0">
                <a:solidFill>
                  <a:srgbClr val="111111"/>
                </a:solidFill>
                <a:latin typeface="Arial MT"/>
                <a:ea typeface="Arial MT"/>
                <a:cs typeface="Arial MT"/>
              </a:rPr>
              <a:t>The lines that divide the columns and rows of the grid. </a:t>
            </a:r>
          </a:p>
          <a:p>
            <a:pPr marL="293688" indent="-285750">
              <a:lnSpc>
                <a:spcPct val="150000"/>
              </a:lnSpc>
              <a:spcBef>
                <a:spcPts val="75"/>
              </a:spcBef>
              <a:buFont typeface="Arial" panose="020B0604020202020204" pitchFamily="34" charset="0"/>
              <a:buChar char="•"/>
            </a:pPr>
            <a:r>
              <a:rPr lang="en-US" altLang="en-US" sz="2000" dirty="0">
                <a:solidFill>
                  <a:srgbClr val="111111"/>
                </a:solidFill>
                <a:latin typeface="Arial MT"/>
                <a:ea typeface="Arial MT"/>
                <a:cs typeface="Arial MT"/>
              </a:rPr>
              <a:t> These are numbered starting with 1.</a:t>
            </a:r>
          </a:p>
          <a:p>
            <a:pPr marL="293688" indent="-285750">
              <a:lnSpc>
                <a:spcPct val="150000"/>
              </a:lnSpc>
              <a:spcBef>
                <a:spcPts val="75"/>
              </a:spcBef>
              <a:buFont typeface="Arial" panose="020B0604020202020204" pitchFamily="34" charset="0"/>
              <a:buChar char="•"/>
            </a:pPr>
            <a:r>
              <a:rPr lang="en-GB" sz="2000" dirty="0">
                <a:effectLst/>
                <a:latin typeface="Arial" panose="020B0604020202020204" pitchFamily="34" charset="0"/>
                <a:ea typeface="Times New Roman" panose="02020603050405020304" pitchFamily="18" charset="0"/>
                <a:cs typeface="Arial" panose="020B0604020202020204" pitchFamily="34" charset="0"/>
              </a:rPr>
              <a:t>Grid lines can be referenced using positive numbers from the start (left/top) or negative numbers </a:t>
            </a:r>
            <a:r>
              <a:rPr lang="en-GB" sz="1800" dirty="0">
                <a:effectLst/>
                <a:latin typeface="Arial" panose="020B0604020202020204" pitchFamily="34" charset="0"/>
                <a:ea typeface="Times New Roman" panose="02020603050405020304" pitchFamily="18" charset="0"/>
                <a:cs typeface="Arial" panose="020B0604020202020204" pitchFamily="34" charset="0"/>
              </a:rPr>
              <a:t>from the end (right/bottom).</a:t>
            </a:r>
            <a:endParaRPr lang="en-GB"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293688" indent="-285750">
              <a:lnSpc>
                <a:spcPct val="150000"/>
              </a:lnSpc>
              <a:spcBef>
                <a:spcPts val="75"/>
              </a:spcBef>
              <a:buFont typeface="Arial" panose="020B0604020202020204" pitchFamily="34" charset="0"/>
              <a:buChar char="•"/>
            </a:pPr>
            <a:endParaRPr lang="en-US" altLang="en-US" sz="2000" dirty="0">
              <a:latin typeface="Arial MT"/>
              <a:ea typeface="Arial MT"/>
              <a:cs typeface="Arial MT"/>
            </a:endParaRPr>
          </a:p>
        </p:txBody>
      </p:sp>
      <p:pic>
        <p:nvPicPr>
          <p:cNvPr id="17412" name="object 4">
            <a:extLst>
              <a:ext uri="{FF2B5EF4-FFF2-40B4-BE49-F238E27FC236}">
                <a16:creationId xmlns:a16="http://schemas.microsoft.com/office/drawing/2014/main" id="{63005A56-16C8-023D-8674-6B115F7E72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3501007"/>
            <a:ext cx="4548188" cy="2496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39698F00-2046-2FB7-02FA-1C8F782A9D7C}"/>
              </a:ext>
            </a:extLst>
          </p:cNvPr>
          <p:cNvSpPr txBox="1"/>
          <p:nvPr/>
        </p:nvSpPr>
        <p:spPr>
          <a:xfrm>
            <a:off x="679450" y="582613"/>
            <a:ext cx="5692775" cy="457200"/>
          </a:xfrm>
          <a:prstGeom prst="rect">
            <a:avLst/>
          </a:prstGeom>
        </p:spPr>
        <p:txBody>
          <a:bodyPr lIns="0" tIns="9376" rIns="0" bIns="0">
            <a:spAutoFit/>
          </a:bodyPr>
          <a:lstStyle/>
          <a:p>
            <a:pPr marL="8929">
              <a:lnSpc>
                <a:spcPts val="3473"/>
              </a:lnSpc>
              <a:spcBef>
                <a:spcPts val="74"/>
              </a:spcBef>
              <a:defRPr/>
            </a:pPr>
            <a:r>
              <a:rPr sz="3600" dirty="0">
                <a:solidFill>
                  <a:schemeClr val="bg1"/>
                </a:solidFill>
                <a:latin typeface="Arial"/>
                <a:cs typeface="Arial"/>
              </a:rPr>
              <a:t>GRID</a:t>
            </a:r>
            <a:r>
              <a:rPr lang="en-US" sz="3600" dirty="0">
                <a:solidFill>
                  <a:schemeClr val="bg1"/>
                </a:solidFill>
                <a:latin typeface="Arial"/>
                <a:cs typeface="Arial"/>
              </a:rPr>
              <a:t> </a:t>
            </a:r>
            <a:r>
              <a:rPr sz="3600" spc="-4" dirty="0">
                <a:solidFill>
                  <a:schemeClr val="bg1"/>
                </a:solidFill>
                <a:latin typeface="Arial"/>
                <a:cs typeface="Arial"/>
              </a:rPr>
              <a:t>TRACK</a:t>
            </a:r>
            <a:endParaRPr sz="3600" dirty="0">
              <a:solidFill>
                <a:schemeClr val="bg1"/>
              </a:solidFill>
              <a:latin typeface="Arial"/>
              <a:cs typeface="Arial"/>
            </a:endParaRPr>
          </a:p>
        </p:txBody>
      </p:sp>
      <p:sp>
        <p:nvSpPr>
          <p:cNvPr id="18435" name="object 3">
            <a:extLst>
              <a:ext uri="{FF2B5EF4-FFF2-40B4-BE49-F238E27FC236}">
                <a16:creationId xmlns:a16="http://schemas.microsoft.com/office/drawing/2014/main" id="{CE6BC900-831D-DCDA-63A9-CBE72F948DFC}"/>
              </a:ext>
            </a:extLst>
          </p:cNvPr>
          <p:cNvSpPr txBox="1">
            <a:spLocks noChangeArrowheads="1"/>
          </p:cNvSpPr>
          <p:nvPr/>
        </p:nvSpPr>
        <p:spPr bwMode="auto">
          <a:xfrm>
            <a:off x="679450" y="1789113"/>
            <a:ext cx="70612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8930" rIns="0" bIns="0">
            <a:spAutoFit/>
          </a:bodyPr>
          <a:lstStyle>
            <a:lvl1pPr marL="79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150000"/>
              </a:lnSpc>
              <a:spcBef>
                <a:spcPts val="75"/>
              </a:spcBef>
            </a:pPr>
            <a:r>
              <a:rPr lang="en-US" altLang="en-US" sz="1800">
                <a:solidFill>
                  <a:srgbClr val="111111"/>
                </a:solidFill>
                <a:latin typeface="Arial MT"/>
                <a:ea typeface="Arial MT"/>
                <a:cs typeface="Arial MT"/>
              </a:rPr>
              <a:t>The space between 2 adjacent grid lines are the columns and rows.</a:t>
            </a:r>
            <a:endParaRPr lang="en-US" altLang="en-US" sz="1800">
              <a:latin typeface="Arial MT"/>
              <a:ea typeface="Arial MT"/>
              <a:cs typeface="Arial MT"/>
            </a:endParaRPr>
          </a:p>
        </p:txBody>
      </p:sp>
      <p:pic>
        <p:nvPicPr>
          <p:cNvPr id="18436" name="object 4">
            <a:extLst>
              <a:ext uri="{FF2B5EF4-FFF2-40B4-BE49-F238E27FC236}">
                <a16:creationId xmlns:a16="http://schemas.microsoft.com/office/drawing/2014/main" id="{34D93512-F95B-001B-96A4-80BC9BB88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2781300"/>
            <a:ext cx="4548188"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4E19CEB-F9EE-395A-32BB-8CCD68297C49}"/>
              </a:ext>
            </a:extLst>
          </p:cNvPr>
          <p:cNvSpPr txBox="1"/>
          <p:nvPr/>
        </p:nvSpPr>
        <p:spPr>
          <a:xfrm>
            <a:off x="679450" y="582613"/>
            <a:ext cx="4756150" cy="457200"/>
          </a:xfrm>
          <a:prstGeom prst="rect">
            <a:avLst/>
          </a:prstGeom>
        </p:spPr>
        <p:txBody>
          <a:bodyPr lIns="0" tIns="9376" rIns="0" bIns="0">
            <a:spAutoFit/>
          </a:bodyPr>
          <a:lstStyle/>
          <a:p>
            <a:pPr marL="8929">
              <a:lnSpc>
                <a:spcPts val="3473"/>
              </a:lnSpc>
              <a:spcBef>
                <a:spcPts val="74"/>
              </a:spcBef>
              <a:defRPr/>
            </a:pPr>
            <a:r>
              <a:rPr sz="3200" dirty="0">
                <a:solidFill>
                  <a:schemeClr val="bg1"/>
                </a:solidFill>
                <a:latin typeface="Arial"/>
                <a:cs typeface="Arial"/>
              </a:rPr>
              <a:t>GRID</a:t>
            </a:r>
            <a:r>
              <a:rPr lang="en-US" sz="3200" b="1" dirty="0">
                <a:solidFill>
                  <a:schemeClr val="bg1"/>
                </a:solidFill>
                <a:latin typeface="Arial"/>
                <a:cs typeface="Arial"/>
              </a:rPr>
              <a:t> </a:t>
            </a:r>
            <a:r>
              <a:rPr lang="en-GB" sz="3200" spc="-4" dirty="0">
                <a:solidFill>
                  <a:schemeClr val="bg1"/>
                </a:solidFill>
                <a:latin typeface="Arial"/>
                <a:cs typeface="Arial"/>
              </a:rPr>
              <a:t>Cell</a:t>
            </a:r>
            <a:endParaRPr sz="3200" dirty="0">
              <a:solidFill>
                <a:schemeClr val="bg1"/>
              </a:solidFill>
              <a:latin typeface="Arial"/>
              <a:cs typeface="Arial"/>
            </a:endParaRPr>
          </a:p>
        </p:txBody>
      </p:sp>
      <p:sp>
        <p:nvSpPr>
          <p:cNvPr id="19459" name="object 3">
            <a:extLst>
              <a:ext uri="{FF2B5EF4-FFF2-40B4-BE49-F238E27FC236}">
                <a16:creationId xmlns:a16="http://schemas.microsoft.com/office/drawing/2014/main" id="{E637A08B-49C5-E699-E0E9-D12285AF1B8C}"/>
              </a:ext>
            </a:extLst>
          </p:cNvPr>
          <p:cNvSpPr txBox="1">
            <a:spLocks noChangeArrowheads="1"/>
          </p:cNvSpPr>
          <p:nvPr/>
        </p:nvSpPr>
        <p:spPr bwMode="auto">
          <a:xfrm>
            <a:off x="679450" y="1789113"/>
            <a:ext cx="778033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8930" rIns="0" bIns="0">
            <a:spAutoFit/>
          </a:bodyPr>
          <a:lstStyle>
            <a:lvl1pPr marL="79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150000"/>
              </a:lnSpc>
              <a:spcBef>
                <a:spcPts val="75"/>
              </a:spcBef>
            </a:pPr>
            <a:r>
              <a:rPr lang="en-US" altLang="en-US" sz="1800" dirty="0">
                <a:solidFill>
                  <a:srgbClr val="111111"/>
                </a:solidFill>
                <a:latin typeface="Arial MT"/>
                <a:ea typeface="Arial MT"/>
                <a:cs typeface="Arial MT"/>
              </a:rPr>
              <a:t>The space between 2 adjacent grid column lines and 2 adjacent grid row lines.</a:t>
            </a:r>
            <a:endParaRPr lang="en-US" altLang="en-US" sz="1800" dirty="0">
              <a:latin typeface="Arial MT"/>
              <a:ea typeface="Arial MT"/>
              <a:cs typeface="Arial MT"/>
            </a:endParaRPr>
          </a:p>
        </p:txBody>
      </p:sp>
      <p:pic>
        <p:nvPicPr>
          <p:cNvPr id="19460" name="object 4">
            <a:extLst>
              <a:ext uri="{FF2B5EF4-FFF2-40B4-BE49-F238E27FC236}">
                <a16:creationId xmlns:a16="http://schemas.microsoft.com/office/drawing/2014/main" id="{29118905-14A7-BFC8-0626-DEC5F64D41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5525" y="2852738"/>
            <a:ext cx="4548188"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FC031A0-8B27-7DB8-1768-2FAE0B906B4C}"/>
              </a:ext>
            </a:extLst>
          </p:cNvPr>
          <p:cNvSpPr txBox="1"/>
          <p:nvPr/>
        </p:nvSpPr>
        <p:spPr>
          <a:xfrm>
            <a:off x="679450" y="582613"/>
            <a:ext cx="4108450" cy="457200"/>
          </a:xfrm>
          <a:prstGeom prst="rect">
            <a:avLst/>
          </a:prstGeom>
        </p:spPr>
        <p:txBody>
          <a:bodyPr lIns="0" tIns="9376" rIns="0" bIns="0">
            <a:spAutoFit/>
          </a:bodyPr>
          <a:lstStyle/>
          <a:p>
            <a:pPr marL="8929">
              <a:lnSpc>
                <a:spcPts val="3473"/>
              </a:lnSpc>
              <a:spcBef>
                <a:spcPts val="74"/>
              </a:spcBef>
              <a:defRPr/>
            </a:pPr>
            <a:r>
              <a:rPr sz="3600" dirty="0">
                <a:solidFill>
                  <a:schemeClr val="bg1"/>
                </a:solidFill>
                <a:latin typeface="Arial"/>
                <a:cs typeface="Arial"/>
              </a:rPr>
              <a:t>GRID</a:t>
            </a:r>
            <a:r>
              <a:rPr lang="en-US" sz="3600" dirty="0">
                <a:solidFill>
                  <a:schemeClr val="bg1"/>
                </a:solidFill>
                <a:latin typeface="Arial"/>
                <a:cs typeface="Arial"/>
              </a:rPr>
              <a:t> </a:t>
            </a:r>
            <a:r>
              <a:rPr lang="en-GB" sz="3600" spc="-4" dirty="0">
                <a:solidFill>
                  <a:schemeClr val="bg1"/>
                </a:solidFill>
                <a:latin typeface="Arial"/>
                <a:cs typeface="Arial"/>
              </a:rPr>
              <a:t>Area</a:t>
            </a:r>
            <a:endParaRPr sz="3600" dirty="0">
              <a:solidFill>
                <a:schemeClr val="bg1"/>
              </a:solidFill>
              <a:latin typeface="Arial"/>
              <a:cs typeface="Arial"/>
            </a:endParaRPr>
          </a:p>
        </p:txBody>
      </p:sp>
      <p:sp>
        <p:nvSpPr>
          <p:cNvPr id="20483" name="object 3">
            <a:extLst>
              <a:ext uri="{FF2B5EF4-FFF2-40B4-BE49-F238E27FC236}">
                <a16:creationId xmlns:a16="http://schemas.microsoft.com/office/drawing/2014/main" id="{F5D4D79F-6F82-9192-27B1-AD355C3A6819}"/>
              </a:ext>
            </a:extLst>
          </p:cNvPr>
          <p:cNvSpPr txBox="1">
            <a:spLocks noChangeArrowheads="1"/>
          </p:cNvSpPr>
          <p:nvPr/>
        </p:nvSpPr>
        <p:spPr bwMode="auto">
          <a:xfrm>
            <a:off x="755576" y="1611313"/>
            <a:ext cx="6624736" cy="888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8930" rIns="0" bIns="0">
            <a:spAutoFit/>
          </a:bodyPr>
          <a:lstStyle>
            <a:lvl1pPr marL="79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93688" indent="-285750">
              <a:lnSpc>
                <a:spcPct val="150000"/>
              </a:lnSpc>
              <a:spcBef>
                <a:spcPts val="75"/>
              </a:spcBef>
              <a:buFont typeface="Arial" panose="020B0604020202020204" pitchFamily="34" charset="0"/>
              <a:buChar char="•"/>
            </a:pPr>
            <a:r>
              <a:rPr lang="en-US" altLang="en-US" sz="2000" dirty="0">
                <a:solidFill>
                  <a:srgbClr val="111111"/>
                </a:solidFill>
                <a:latin typeface="Arial MT"/>
                <a:ea typeface="Arial MT"/>
                <a:cs typeface="Arial MT"/>
              </a:rPr>
              <a:t>The space between any 4 grid lines</a:t>
            </a:r>
          </a:p>
          <a:p>
            <a:pPr marL="293688" indent="-285750">
              <a:lnSpc>
                <a:spcPct val="150000"/>
              </a:lnSpc>
              <a:spcBef>
                <a:spcPts val="75"/>
              </a:spcBef>
              <a:buFont typeface="Arial" panose="020B0604020202020204" pitchFamily="34" charset="0"/>
              <a:buChar char="•"/>
            </a:pPr>
            <a:r>
              <a:rPr lang="en-US" altLang="en-US" sz="2000" dirty="0">
                <a:solidFill>
                  <a:srgbClr val="111111"/>
                </a:solidFill>
                <a:latin typeface="Arial MT"/>
                <a:ea typeface="Arial MT"/>
                <a:cs typeface="Arial MT"/>
              </a:rPr>
              <a:t>It can cover any number of rows and columns.</a:t>
            </a:r>
            <a:endParaRPr lang="en-US" altLang="en-US" sz="2000" dirty="0">
              <a:latin typeface="Arial MT"/>
              <a:ea typeface="Arial MT"/>
              <a:cs typeface="Arial MT"/>
            </a:endParaRPr>
          </a:p>
        </p:txBody>
      </p:sp>
      <p:pic>
        <p:nvPicPr>
          <p:cNvPr id="20484" name="object 4">
            <a:extLst>
              <a:ext uri="{FF2B5EF4-FFF2-40B4-BE49-F238E27FC236}">
                <a16:creationId xmlns:a16="http://schemas.microsoft.com/office/drawing/2014/main" id="{6E23E3F4-BB9D-BFDF-8EB9-4E967CC4A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2997200"/>
            <a:ext cx="4548188"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A813807-408B-0315-62A9-E208EAD86508}"/>
              </a:ext>
            </a:extLst>
          </p:cNvPr>
          <p:cNvSpPr txBox="1">
            <a:spLocks noGrp="1"/>
          </p:cNvSpPr>
          <p:nvPr>
            <p:ph type="title"/>
          </p:nvPr>
        </p:nvSpPr>
        <p:spPr>
          <a:xfrm>
            <a:off x="468313" y="639763"/>
            <a:ext cx="9148762" cy="458787"/>
          </a:xfrm>
        </p:spPr>
        <p:txBody>
          <a:bodyPr lIns="0" tIns="9376" rIns="0" bIns="0" rtlCol="0">
            <a:spAutoFit/>
          </a:bodyPr>
          <a:lstStyle/>
          <a:p>
            <a:pPr marL="8929">
              <a:lnSpc>
                <a:spcPts val="3473"/>
              </a:lnSpc>
              <a:spcBef>
                <a:spcPts val="74"/>
              </a:spcBef>
              <a:defRPr/>
            </a:pPr>
            <a:r>
              <a:rPr sz="3600" dirty="0"/>
              <a:t>GRID</a:t>
            </a:r>
            <a:r>
              <a:rPr sz="3600" spc="-70" dirty="0"/>
              <a:t> </a:t>
            </a:r>
            <a:r>
              <a:rPr lang="en-GB" sz="3600" dirty="0"/>
              <a:t>Template </a:t>
            </a:r>
            <a:r>
              <a:rPr lang="en-GB" sz="3600" spc="-4" dirty="0"/>
              <a:t>Columns</a:t>
            </a:r>
            <a:endParaRPr sz="3600" dirty="0"/>
          </a:p>
        </p:txBody>
      </p:sp>
      <p:sp>
        <p:nvSpPr>
          <p:cNvPr id="3" name="object 3">
            <a:extLst>
              <a:ext uri="{FF2B5EF4-FFF2-40B4-BE49-F238E27FC236}">
                <a16:creationId xmlns:a16="http://schemas.microsoft.com/office/drawing/2014/main" id="{19FB0913-1734-53D6-5AE9-12FEE03AA859}"/>
              </a:ext>
            </a:extLst>
          </p:cNvPr>
          <p:cNvSpPr txBox="1"/>
          <p:nvPr/>
        </p:nvSpPr>
        <p:spPr>
          <a:xfrm>
            <a:off x="323528" y="1556792"/>
            <a:ext cx="8424936" cy="1210756"/>
          </a:xfrm>
          <a:prstGeom prst="rect">
            <a:avLst/>
          </a:prstGeom>
        </p:spPr>
        <p:txBody>
          <a:bodyPr wrap="square" lIns="0" tIns="8930" rIns="0" bIns="0">
            <a:spAutoFit/>
          </a:bodyPr>
          <a:lstStyle/>
          <a:p>
            <a:pPr marL="351829" indent="-342900">
              <a:spcBef>
                <a:spcPts val="70"/>
              </a:spcBef>
              <a:buFont typeface="Arial" panose="020B0604020202020204" pitchFamily="34" charset="0"/>
              <a:buChar char="•"/>
              <a:defRPr/>
            </a:pPr>
            <a:r>
              <a:rPr sz="2000" dirty="0">
                <a:solidFill>
                  <a:srgbClr val="111111"/>
                </a:solidFill>
                <a:latin typeface="Arial MT"/>
                <a:cs typeface="Arial MT"/>
              </a:rPr>
              <a:t>Defines</a:t>
            </a:r>
            <a:r>
              <a:rPr sz="2000" spc="-11" dirty="0">
                <a:solidFill>
                  <a:srgbClr val="111111"/>
                </a:solidFill>
                <a:latin typeface="Arial MT"/>
                <a:cs typeface="Arial MT"/>
              </a:rPr>
              <a:t> </a:t>
            </a:r>
            <a:r>
              <a:rPr sz="2000" dirty="0">
                <a:solidFill>
                  <a:srgbClr val="111111"/>
                </a:solidFill>
                <a:latin typeface="Arial MT"/>
                <a:cs typeface="Arial MT"/>
              </a:rPr>
              <a:t>the</a:t>
            </a:r>
            <a:r>
              <a:rPr sz="2000" spc="-4" dirty="0">
                <a:solidFill>
                  <a:srgbClr val="111111"/>
                </a:solidFill>
                <a:latin typeface="Arial MT"/>
                <a:cs typeface="Arial MT"/>
              </a:rPr>
              <a:t> </a:t>
            </a:r>
            <a:r>
              <a:rPr sz="2000" dirty="0">
                <a:solidFill>
                  <a:srgbClr val="111111"/>
                </a:solidFill>
                <a:latin typeface="Arial MT"/>
                <a:cs typeface="Arial MT"/>
              </a:rPr>
              <a:t>width of the columns</a:t>
            </a:r>
            <a:r>
              <a:rPr sz="2000" spc="-18" dirty="0">
                <a:solidFill>
                  <a:srgbClr val="111111"/>
                </a:solidFill>
                <a:latin typeface="Arial MT"/>
                <a:cs typeface="Arial MT"/>
              </a:rPr>
              <a:t> </a:t>
            </a:r>
            <a:r>
              <a:rPr sz="2000" dirty="0">
                <a:solidFill>
                  <a:srgbClr val="111111"/>
                </a:solidFill>
                <a:latin typeface="Arial MT"/>
                <a:cs typeface="Arial MT"/>
              </a:rPr>
              <a:t>in the grid.</a:t>
            </a:r>
            <a:endParaRPr lang="en-GB" sz="2000" dirty="0">
              <a:solidFill>
                <a:srgbClr val="111111"/>
              </a:solidFill>
              <a:latin typeface="Arial MT"/>
              <a:cs typeface="Arial MT"/>
            </a:endParaRPr>
          </a:p>
          <a:p>
            <a:pPr marL="351829" indent="-342900">
              <a:spcBef>
                <a:spcPts val="70"/>
              </a:spcBef>
              <a:buFont typeface="Arial" panose="020B0604020202020204" pitchFamily="34" charset="0"/>
              <a:buChar char="•"/>
              <a:defRPr/>
            </a:pPr>
            <a:r>
              <a:rPr lang="en-GB" sz="1800" dirty="0">
                <a:effectLst/>
                <a:latin typeface="Arial" panose="020B0604020202020204" pitchFamily="34" charset="0"/>
                <a:ea typeface="Times New Roman" panose="02020603050405020304" pitchFamily="18" charset="0"/>
              </a:rPr>
              <a:t>The values can be in any length unit (like </a:t>
            </a:r>
            <a:r>
              <a:rPr lang="en-GB" sz="1800" dirty="0" err="1">
                <a:effectLst/>
                <a:latin typeface="Arial" panose="020B0604020202020204" pitchFamily="34" charset="0"/>
                <a:ea typeface="Times New Roman" panose="02020603050405020304" pitchFamily="18" charset="0"/>
              </a:rPr>
              <a:t>px</a:t>
            </a:r>
            <a:r>
              <a:rPr lang="en-GB" sz="1800" dirty="0">
                <a:effectLst/>
                <a:latin typeface="Arial" panose="020B0604020202020204" pitchFamily="34" charset="0"/>
                <a:ea typeface="Times New Roman" panose="02020603050405020304" pitchFamily="18" charset="0"/>
              </a:rPr>
              <a:t>, %) or using the </a:t>
            </a:r>
            <a:r>
              <a:rPr lang="en-GB" sz="1800" b="1" dirty="0">
                <a:effectLst/>
                <a:latin typeface="Arial" panose="020B0604020202020204" pitchFamily="34" charset="0"/>
                <a:ea typeface="Times New Roman" panose="02020603050405020304" pitchFamily="18" charset="0"/>
              </a:rPr>
              <a:t>auto</a:t>
            </a:r>
            <a:r>
              <a:rPr lang="en-GB" sz="1800" dirty="0">
                <a:effectLst/>
                <a:latin typeface="Arial" panose="020B0604020202020204" pitchFamily="34" charset="0"/>
                <a:ea typeface="Times New Roman" panose="02020603050405020304" pitchFamily="18" charset="0"/>
              </a:rPr>
              <a:t> keyword</a:t>
            </a:r>
            <a:r>
              <a:rPr lang="en-GB" sz="2000" dirty="0">
                <a:solidFill>
                  <a:srgbClr val="111111"/>
                </a:solidFill>
                <a:effectLst/>
                <a:latin typeface="Arial MT"/>
                <a:ea typeface="Times New Roman" panose="02020603050405020304" pitchFamily="18" charset="0"/>
              </a:rPr>
              <a:t>.</a:t>
            </a:r>
            <a:endParaRPr sz="2000" dirty="0">
              <a:latin typeface="Arial MT"/>
              <a:cs typeface="Arial MT"/>
            </a:endParaRPr>
          </a:p>
          <a:p>
            <a:pPr marL="342900" indent="-342900">
              <a:spcBef>
                <a:spcPts val="39"/>
              </a:spcBef>
              <a:buFont typeface="Arial" panose="020B0604020202020204" pitchFamily="34" charset="0"/>
              <a:buChar char="•"/>
              <a:defRPr/>
            </a:pPr>
            <a:endParaRPr sz="1898" dirty="0">
              <a:latin typeface="Arial MT"/>
              <a:cs typeface="Arial MT"/>
            </a:endParaRPr>
          </a:p>
          <a:p>
            <a:pPr marL="8929">
              <a:defRPr/>
            </a:pPr>
            <a:r>
              <a:rPr lang="en-US" sz="1828" dirty="0">
                <a:solidFill>
                  <a:srgbClr val="111111"/>
                </a:solidFill>
                <a:latin typeface="Arial MT"/>
                <a:cs typeface="Arial MT"/>
              </a:rPr>
              <a:t>       </a:t>
            </a:r>
            <a:r>
              <a:rPr lang="en-US" sz="1828" b="1" dirty="0">
                <a:solidFill>
                  <a:srgbClr val="111111"/>
                </a:solidFill>
                <a:latin typeface="Arial MT"/>
                <a:cs typeface="Arial MT"/>
              </a:rPr>
              <a:t>Example:  </a:t>
            </a:r>
            <a:r>
              <a:rPr sz="1828" b="1" dirty="0">
                <a:solidFill>
                  <a:srgbClr val="C00000"/>
                </a:solidFill>
                <a:latin typeface="Arial MT"/>
                <a:cs typeface="Arial MT"/>
              </a:rPr>
              <a:t>grid-template-columns:</a:t>
            </a:r>
            <a:r>
              <a:rPr sz="1828" b="1" spc="-25" dirty="0">
                <a:solidFill>
                  <a:srgbClr val="C00000"/>
                </a:solidFill>
                <a:latin typeface="Arial MT"/>
                <a:cs typeface="Arial MT"/>
              </a:rPr>
              <a:t> </a:t>
            </a:r>
            <a:r>
              <a:rPr sz="1828" b="1" dirty="0">
                <a:solidFill>
                  <a:srgbClr val="C00000"/>
                </a:solidFill>
                <a:latin typeface="Arial MT"/>
                <a:cs typeface="Arial MT"/>
              </a:rPr>
              <a:t>100px</a:t>
            </a:r>
            <a:r>
              <a:rPr sz="1828" b="1" spc="-11" dirty="0">
                <a:solidFill>
                  <a:srgbClr val="C00000"/>
                </a:solidFill>
                <a:latin typeface="Arial MT"/>
                <a:cs typeface="Arial MT"/>
              </a:rPr>
              <a:t> </a:t>
            </a:r>
            <a:r>
              <a:rPr sz="1828" b="1" dirty="0">
                <a:solidFill>
                  <a:srgbClr val="C00000"/>
                </a:solidFill>
                <a:latin typeface="Arial MT"/>
                <a:cs typeface="Arial MT"/>
              </a:rPr>
              <a:t>auto 200px;</a:t>
            </a:r>
          </a:p>
        </p:txBody>
      </p:sp>
      <p:pic>
        <p:nvPicPr>
          <p:cNvPr id="21508" name="object 4">
            <a:extLst>
              <a:ext uri="{FF2B5EF4-FFF2-40B4-BE49-F238E27FC236}">
                <a16:creationId xmlns:a16="http://schemas.microsoft.com/office/drawing/2014/main" id="{2ED6A43C-2E2D-8166-31C1-63DAFE39FB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924944"/>
            <a:ext cx="4549775"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56DD1DB-9418-CFAC-F3D4-DCF3CB5BD07B}"/>
              </a:ext>
            </a:extLst>
          </p:cNvPr>
          <p:cNvSpPr txBox="1">
            <a:spLocks noGrp="1"/>
          </p:cNvSpPr>
          <p:nvPr>
            <p:ph type="title"/>
          </p:nvPr>
        </p:nvSpPr>
        <p:spPr>
          <a:xfrm>
            <a:off x="323850" y="633413"/>
            <a:ext cx="9869488" cy="458787"/>
          </a:xfrm>
        </p:spPr>
        <p:txBody>
          <a:bodyPr lIns="0" tIns="9376" rIns="0" bIns="0" rtlCol="0">
            <a:spAutoFit/>
          </a:bodyPr>
          <a:lstStyle/>
          <a:p>
            <a:pPr marL="8929">
              <a:lnSpc>
                <a:spcPts val="3473"/>
              </a:lnSpc>
              <a:spcBef>
                <a:spcPts val="74"/>
              </a:spcBef>
              <a:defRPr/>
            </a:pPr>
            <a:r>
              <a:rPr sz="3600" dirty="0"/>
              <a:t>GRID</a:t>
            </a:r>
            <a:r>
              <a:rPr sz="3600" spc="-70" dirty="0"/>
              <a:t> </a:t>
            </a:r>
            <a:r>
              <a:rPr lang="en-GB" sz="3600" dirty="0"/>
              <a:t>Template </a:t>
            </a:r>
            <a:r>
              <a:rPr lang="en-GB" sz="3600" spc="-4" dirty="0"/>
              <a:t>Rows</a:t>
            </a:r>
            <a:endParaRPr sz="3600" dirty="0"/>
          </a:p>
        </p:txBody>
      </p:sp>
      <p:sp>
        <p:nvSpPr>
          <p:cNvPr id="22531" name="object 3">
            <a:extLst>
              <a:ext uri="{FF2B5EF4-FFF2-40B4-BE49-F238E27FC236}">
                <a16:creationId xmlns:a16="http://schemas.microsoft.com/office/drawing/2014/main" id="{0217B823-5690-FCAD-DF36-673CD9DC41FE}"/>
              </a:ext>
            </a:extLst>
          </p:cNvPr>
          <p:cNvSpPr txBox="1">
            <a:spLocks noChangeArrowheads="1"/>
          </p:cNvSpPr>
          <p:nvPr/>
        </p:nvSpPr>
        <p:spPr bwMode="auto">
          <a:xfrm>
            <a:off x="344774" y="1541523"/>
            <a:ext cx="8475698" cy="87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8930" rIns="0" bIns="0">
            <a:spAutoFit/>
          </a:bodyPr>
          <a:lstStyle>
            <a:lvl1pPr marL="79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93688" indent="-285750">
              <a:spcBef>
                <a:spcPts val="75"/>
              </a:spcBef>
              <a:buFont typeface="Arial" panose="020B0604020202020204" pitchFamily="34" charset="0"/>
              <a:buChar char="•"/>
            </a:pPr>
            <a:r>
              <a:rPr lang="en-US" altLang="en-US" sz="2000" dirty="0">
                <a:solidFill>
                  <a:srgbClr val="111111"/>
                </a:solidFill>
                <a:latin typeface="Arial MT"/>
                <a:ea typeface="Arial MT"/>
                <a:cs typeface="Arial MT"/>
              </a:rPr>
              <a:t>Defines the height of the grid rows.</a:t>
            </a:r>
            <a:endParaRPr lang="en-US" altLang="en-US" sz="2000" dirty="0">
              <a:latin typeface="Arial MT"/>
              <a:ea typeface="Arial MT"/>
              <a:cs typeface="Arial MT"/>
            </a:endParaRPr>
          </a:p>
          <a:p>
            <a:pPr>
              <a:lnSpc>
                <a:spcPct val="150000"/>
              </a:lnSpc>
              <a:spcBef>
                <a:spcPts val="1125"/>
              </a:spcBef>
            </a:pPr>
            <a:r>
              <a:rPr lang="en-US" altLang="en-US" sz="1800" b="1" dirty="0">
                <a:solidFill>
                  <a:srgbClr val="111111"/>
                </a:solidFill>
                <a:latin typeface="Arial MT"/>
                <a:ea typeface="Arial MT"/>
                <a:cs typeface="Arial MT"/>
              </a:rPr>
              <a:t>Example: </a:t>
            </a:r>
            <a:r>
              <a:rPr lang="en-US" altLang="en-US" sz="1800" b="1" dirty="0">
                <a:solidFill>
                  <a:srgbClr val="C00000"/>
                </a:solidFill>
                <a:latin typeface="Arial MT"/>
                <a:ea typeface="Arial MT"/>
                <a:cs typeface="Arial MT"/>
              </a:rPr>
              <a:t>grid-template-rows: [row1-start] 224px [row2-start]  224px [end];</a:t>
            </a:r>
          </a:p>
        </p:txBody>
      </p:sp>
      <p:pic>
        <p:nvPicPr>
          <p:cNvPr id="22532" name="object 4">
            <a:extLst>
              <a:ext uri="{FF2B5EF4-FFF2-40B4-BE49-F238E27FC236}">
                <a16:creationId xmlns:a16="http://schemas.microsoft.com/office/drawing/2014/main" id="{47BA111F-ED93-1D92-4A3B-F2D8AD1E19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957718"/>
            <a:ext cx="4548188"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7A7BE7D-B1F5-7430-CA44-B6A62B66CB0F}"/>
              </a:ext>
            </a:extLst>
          </p:cNvPr>
          <p:cNvSpPr txBox="1">
            <a:spLocks noGrp="1"/>
          </p:cNvSpPr>
          <p:nvPr>
            <p:ph type="title"/>
          </p:nvPr>
        </p:nvSpPr>
        <p:spPr>
          <a:xfrm>
            <a:off x="679450" y="620713"/>
            <a:ext cx="7277100" cy="458787"/>
          </a:xfrm>
        </p:spPr>
        <p:txBody>
          <a:bodyPr lIns="0" tIns="9376" rIns="0" bIns="0" rtlCol="0">
            <a:spAutoFit/>
          </a:bodyPr>
          <a:lstStyle/>
          <a:p>
            <a:pPr marL="8929">
              <a:lnSpc>
                <a:spcPts val="3473"/>
              </a:lnSpc>
              <a:spcBef>
                <a:spcPts val="74"/>
              </a:spcBef>
              <a:defRPr/>
            </a:pPr>
            <a:r>
              <a:rPr sz="3600" dirty="0"/>
              <a:t>GRID</a:t>
            </a:r>
            <a:r>
              <a:rPr sz="3600" spc="-53" dirty="0"/>
              <a:t> </a:t>
            </a:r>
            <a:r>
              <a:rPr lang="en-US" sz="3600" spc="-53" dirty="0"/>
              <a:t>Row-C</a:t>
            </a:r>
            <a:r>
              <a:rPr lang="en-US" sz="3600" dirty="0"/>
              <a:t>olumn </a:t>
            </a:r>
            <a:r>
              <a:rPr lang="en-US" sz="3600" spc="-7" dirty="0"/>
              <a:t>Gap</a:t>
            </a:r>
            <a:endParaRPr sz="3600" dirty="0"/>
          </a:p>
        </p:txBody>
      </p:sp>
      <p:sp>
        <p:nvSpPr>
          <p:cNvPr id="3" name="object 3">
            <a:extLst>
              <a:ext uri="{FF2B5EF4-FFF2-40B4-BE49-F238E27FC236}">
                <a16:creationId xmlns:a16="http://schemas.microsoft.com/office/drawing/2014/main" id="{C526BFA5-92DB-0C84-60C4-2559E0912624}"/>
              </a:ext>
            </a:extLst>
          </p:cNvPr>
          <p:cNvSpPr txBox="1"/>
          <p:nvPr/>
        </p:nvSpPr>
        <p:spPr>
          <a:xfrm>
            <a:off x="679450" y="1927225"/>
            <a:ext cx="7564958" cy="863675"/>
          </a:xfrm>
          <a:prstGeom prst="rect">
            <a:avLst/>
          </a:prstGeom>
        </p:spPr>
        <p:txBody>
          <a:bodyPr wrap="square" lIns="0" tIns="8930" rIns="0" bIns="0">
            <a:spAutoFit/>
          </a:bodyPr>
          <a:lstStyle/>
          <a:p>
            <a:pPr marL="351829" indent="-342900">
              <a:spcBef>
                <a:spcPts val="70"/>
              </a:spcBef>
              <a:buFont typeface="Arial" panose="020B0604020202020204" pitchFamily="34" charset="0"/>
              <a:buChar char="•"/>
              <a:defRPr/>
            </a:pPr>
            <a:r>
              <a:rPr sz="1828" dirty="0">
                <a:solidFill>
                  <a:srgbClr val="111111"/>
                </a:solidFill>
                <a:latin typeface="Arial MT"/>
                <a:cs typeface="Arial MT"/>
              </a:rPr>
              <a:t>Define</a:t>
            </a:r>
            <a:r>
              <a:rPr sz="1828" spc="-11" dirty="0">
                <a:solidFill>
                  <a:srgbClr val="111111"/>
                </a:solidFill>
                <a:latin typeface="Arial MT"/>
                <a:cs typeface="Arial MT"/>
              </a:rPr>
              <a:t> </a:t>
            </a:r>
            <a:r>
              <a:rPr sz="1828" dirty="0">
                <a:solidFill>
                  <a:srgbClr val="111111"/>
                </a:solidFill>
                <a:latin typeface="Arial MT"/>
                <a:cs typeface="Arial MT"/>
              </a:rPr>
              <a:t>the</a:t>
            </a:r>
            <a:r>
              <a:rPr sz="1828" spc="7" dirty="0">
                <a:solidFill>
                  <a:srgbClr val="111111"/>
                </a:solidFill>
                <a:latin typeface="Arial MT"/>
                <a:cs typeface="Arial MT"/>
              </a:rPr>
              <a:t> </a:t>
            </a:r>
            <a:r>
              <a:rPr sz="1828" dirty="0">
                <a:solidFill>
                  <a:srgbClr val="111111"/>
                </a:solidFill>
                <a:latin typeface="Arial MT"/>
                <a:cs typeface="Arial MT"/>
              </a:rPr>
              <a:t>size</a:t>
            </a:r>
            <a:r>
              <a:rPr sz="1828" spc="-11" dirty="0">
                <a:solidFill>
                  <a:srgbClr val="111111"/>
                </a:solidFill>
                <a:latin typeface="Arial MT"/>
                <a:cs typeface="Arial MT"/>
              </a:rPr>
              <a:t> </a:t>
            </a:r>
            <a:r>
              <a:rPr sz="1828" dirty="0">
                <a:solidFill>
                  <a:srgbClr val="111111"/>
                </a:solidFill>
                <a:latin typeface="Arial MT"/>
                <a:cs typeface="Arial MT"/>
              </a:rPr>
              <a:t>of</a:t>
            </a:r>
            <a:r>
              <a:rPr sz="1828" spc="4" dirty="0">
                <a:solidFill>
                  <a:srgbClr val="111111"/>
                </a:solidFill>
                <a:latin typeface="Arial MT"/>
                <a:cs typeface="Arial MT"/>
              </a:rPr>
              <a:t> </a:t>
            </a:r>
            <a:r>
              <a:rPr sz="1828" dirty="0">
                <a:solidFill>
                  <a:srgbClr val="111111"/>
                </a:solidFill>
                <a:latin typeface="Arial MT"/>
                <a:cs typeface="Arial MT"/>
              </a:rPr>
              <a:t>the grid lines</a:t>
            </a:r>
            <a:r>
              <a:rPr sz="1828" spc="-7" dirty="0">
                <a:solidFill>
                  <a:srgbClr val="111111"/>
                </a:solidFill>
                <a:latin typeface="Arial MT"/>
                <a:cs typeface="Arial MT"/>
              </a:rPr>
              <a:t> </a:t>
            </a:r>
            <a:r>
              <a:rPr sz="1828" dirty="0">
                <a:solidFill>
                  <a:srgbClr val="111111"/>
                </a:solidFill>
                <a:latin typeface="Arial MT"/>
                <a:cs typeface="Arial MT"/>
              </a:rPr>
              <a:t>between</a:t>
            </a:r>
            <a:r>
              <a:rPr sz="1828" spc="-11" dirty="0">
                <a:solidFill>
                  <a:srgbClr val="111111"/>
                </a:solidFill>
                <a:latin typeface="Arial MT"/>
                <a:cs typeface="Arial MT"/>
              </a:rPr>
              <a:t> </a:t>
            </a:r>
            <a:r>
              <a:rPr sz="1828" dirty="0">
                <a:solidFill>
                  <a:srgbClr val="111111"/>
                </a:solidFill>
                <a:latin typeface="Arial MT"/>
                <a:cs typeface="Arial MT"/>
              </a:rPr>
              <a:t>columns.</a:t>
            </a:r>
            <a:endParaRPr sz="1828" dirty="0">
              <a:latin typeface="Arial MT"/>
              <a:cs typeface="Arial MT"/>
            </a:endParaRPr>
          </a:p>
          <a:p>
            <a:pPr>
              <a:spcBef>
                <a:spcPts val="39"/>
              </a:spcBef>
              <a:defRPr/>
            </a:pPr>
            <a:endParaRPr sz="1898" dirty="0">
              <a:latin typeface="Arial MT"/>
              <a:cs typeface="Arial MT"/>
            </a:endParaRPr>
          </a:p>
          <a:p>
            <a:pPr marL="8929">
              <a:defRPr/>
            </a:pPr>
            <a:r>
              <a:rPr lang="en-US" sz="1828" b="1" dirty="0">
                <a:solidFill>
                  <a:srgbClr val="111111"/>
                </a:solidFill>
                <a:latin typeface="Arial MT"/>
                <a:cs typeface="Arial MT"/>
              </a:rPr>
              <a:t>	Example: </a:t>
            </a:r>
            <a:r>
              <a:rPr sz="1828" b="1" dirty="0">
                <a:solidFill>
                  <a:srgbClr val="C00000"/>
                </a:solidFill>
                <a:latin typeface="Arial MT"/>
                <a:cs typeface="Arial MT"/>
              </a:rPr>
              <a:t>grid-column-gap:</a:t>
            </a:r>
            <a:r>
              <a:rPr sz="1828" b="1" spc="-35" dirty="0">
                <a:solidFill>
                  <a:srgbClr val="C00000"/>
                </a:solidFill>
                <a:latin typeface="Arial MT"/>
                <a:cs typeface="Arial MT"/>
              </a:rPr>
              <a:t> </a:t>
            </a:r>
            <a:r>
              <a:rPr sz="1828" b="1" dirty="0">
                <a:solidFill>
                  <a:srgbClr val="C00000"/>
                </a:solidFill>
                <a:latin typeface="Arial MT"/>
                <a:cs typeface="Arial MT"/>
              </a:rPr>
              <a:t>30px;</a:t>
            </a:r>
          </a:p>
        </p:txBody>
      </p:sp>
      <p:sp>
        <p:nvSpPr>
          <p:cNvPr id="4" name="object 2">
            <a:extLst>
              <a:ext uri="{FF2B5EF4-FFF2-40B4-BE49-F238E27FC236}">
                <a16:creationId xmlns:a16="http://schemas.microsoft.com/office/drawing/2014/main" id="{7033D526-0368-A84F-1916-A36B253BA995}"/>
              </a:ext>
            </a:extLst>
          </p:cNvPr>
          <p:cNvSpPr txBox="1">
            <a:spLocks/>
          </p:cNvSpPr>
          <p:nvPr/>
        </p:nvSpPr>
        <p:spPr bwMode="auto">
          <a:xfrm>
            <a:off x="755650" y="1493838"/>
            <a:ext cx="7277100" cy="427037"/>
          </a:xfrm>
          <a:prstGeom prst="rect">
            <a:avLst/>
          </a:prstGeom>
          <a:noFill/>
          <a:ln>
            <a:noFill/>
          </a:ln>
        </p:spPr>
        <p:txBody>
          <a:bodyPr lIns="0" tIns="9376" rIns="0" bIns="0" anchor="ctr">
            <a:spAutoFit/>
          </a:bodyPr>
          <a:lstStyle>
            <a:lvl1pPr algn="l" rtl="0" eaLnBrk="0" fontAlgn="base" hangingPunct="0">
              <a:spcBef>
                <a:spcPct val="0"/>
              </a:spcBef>
              <a:spcAft>
                <a:spcPct val="0"/>
              </a:spcAft>
              <a:defRPr sz="4400">
                <a:solidFill>
                  <a:schemeClr val="bg1"/>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2pPr>
            <a:lvl3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3pPr>
            <a:lvl4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4pPr>
            <a:lvl5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5pPr>
            <a:lvl6pPr marL="457200" algn="l" rtl="0" fontAlgn="base">
              <a:spcBef>
                <a:spcPct val="0"/>
              </a:spcBef>
              <a:spcAft>
                <a:spcPct val="0"/>
              </a:spcAft>
              <a:defRPr sz="4400">
                <a:solidFill>
                  <a:srgbClr val="CB9535"/>
                </a:solidFill>
                <a:latin typeface="Gill Sans" pitchFamily="-32" charset="0"/>
                <a:ea typeface="ＭＳ Ｐゴシック" pitchFamily="-32" charset="-128"/>
              </a:defRPr>
            </a:lvl6pPr>
            <a:lvl7pPr marL="914400" algn="l" rtl="0" fontAlgn="base">
              <a:spcBef>
                <a:spcPct val="0"/>
              </a:spcBef>
              <a:spcAft>
                <a:spcPct val="0"/>
              </a:spcAft>
              <a:defRPr sz="4400">
                <a:solidFill>
                  <a:srgbClr val="CB9535"/>
                </a:solidFill>
                <a:latin typeface="Gill Sans" pitchFamily="-32" charset="0"/>
                <a:ea typeface="ＭＳ Ｐゴシック" pitchFamily="-32" charset="-128"/>
              </a:defRPr>
            </a:lvl7pPr>
            <a:lvl8pPr marL="1371600" algn="l" rtl="0" fontAlgn="base">
              <a:spcBef>
                <a:spcPct val="0"/>
              </a:spcBef>
              <a:spcAft>
                <a:spcPct val="0"/>
              </a:spcAft>
              <a:defRPr sz="4400">
                <a:solidFill>
                  <a:srgbClr val="CB9535"/>
                </a:solidFill>
                <a:latin typeface="Gill Sans" pitchFamily="-32" charset="0"/>
                <a:ea typeface="ＭＳ Ｐゴシック" pitchFamily="-32" charset="-128"/>
              </a:defRPr>
            </a:lvl8pPr>
            <a:lvl9pPr marL="1828800" algn="l" rtl="0" fontAlgn="base">
              <a:spcBef>
                <a:spcPct val="0"/>
              </a:spcBef>
              <a:spcAft>
                <a:spcPct val="0"/>
              </a:spcAft>
              <a:defRPr sz="4400">
                <a:solidFill>
                  <a:srgbClr val="CB9535"/>
                </a:solidFill>
                <a:latin typeface="Gill Sans" pitchFamily="-32" charset="0"/>
                <a:ea typeface="ＭＳ Ｐゴシック" pitchFamily="-32" charset="-128"/>
              </a:defRPr>
            </a:lvl9pPr>
          </a:lstStyle>
          <a:p>
            <a:pPr marL="8929">
              <a:lnSpc>
                <a:spcPts val="3473"/>
              </a:lnSpc>
              <a:spcBef>
                <a:spcPts val="74"/>
              </a:spcBef>
              <a:defRPr/>
            </a:pPr>
            <a:r>
              <a:rPr lang="en-GB" sz="2800" b="1" kern="0" dirty="0">
                <a:solidFill>
                  <a:schemeClr val="accent1"/>
                </a:solidFill>
              </a:rPr>
              <a:t>GRID</a:t>
            </a:r>
            <a:r>
              <a:rPr lang="en-GB" sz="2800" b="1" kern="0" spc="-53" dirty="0">
                <a:solidFill>
                  <a:schemeClr val="accent1"/>
                </a:solidFill>
              </a:rPr>
              <a:t> </a:t>
            </a:r>
            <a:r>
              <a:rPr lang="en-GB" sz="2800" b="1" kern="0" dirty="0">
                <a:solidFill>
                  <a:schemeClr val="accent1"/>
                </a:solidFill>
              </a:rPr>
              <a:t>COLUMN </a:t>
            </a:r>
            <a:r>
              <a:rPr lang="en-GB" sz="2800" b="1" kern="0" spc="-7" dirty="0">
                <a:solidFill>
                  <a:schemeClr val="accent1"/>
                </a:solidFill>
              </a:rPr>
              <a:t>GAP</a:t>
            </a:r>
            <a:endParaRPr lang="en-GB" sz="2800" b="1" kern="0" dirty="0">
              <a:solidFill>
                <a:schemeClr val="accent1"/>
              </a:solidFill>
            </a:endParaRPr>
          </a:p>
        </p:txBody>
      </p:sp>
      <p:sp>
        <p:nvSpPr>
          <p:cNvPr id="5" name="object 3">
            <a:extLst>
              <a:ext uri="{FF2B5EF4-FFF2-40B4-BE49-F238E27FC236}">
                <a16:creationId xmlns:a16="http://schemas.microsoft.com/office/drawing/2014/main" id="{A37DCB89-3164-F081-6112-7407B0468CE6}"/>
              </a:ext>
            </a:extLst>
          </p:cNvPr>
          <p:cNvSpPr txBox="1"/>
          <p:nvPr/>
        </p:nvSpPr>
        <p:spPr>
          <a:xfrm>
            <a:off x="679450" y="3861048"/>
            <a:ext cx="8136830" cy="863675"/>
          </a:xfrm>
          <a:prstGeom prst="rect">
            <a:avLst/>
          </a:prstGeom>
        </p:spPr>
        <p:txBody>
          <a:bodyPr wrap="square" lIns="0" tIns="8930" rIns="0" bIns="0">
            <a:spAutoFit/>
          </a:bodyPr>
          <a:lstStyle/>
          <a:p>
            <a:pPr marL="351829" indent="-342900">
              <a:spcBef>
                <a:spcPts val="70"/>
              </a:spcBef>
              <a:buFont typeface="Arial" panose="020B0604020202020204" pitchFamily="34" charset="0"/>
              <a:buChar char="•"/>
              <a:defRPr/>
            </a:pPr>
            <a:r>
              <a:rPr sz="1828" dirty="0">
                <a:solidFill>
                  <a:srgbClr val="111111"/>
                </a:solidFill>
                <a:latin typeface="Arial MT"/>
                <a:cs typeface="Arial MT"/>
              </a:rPr>
              <a:t>Defines</a:t>
            </a:r>
            <a:r>
              <a:rPr sz="1828" spc="-11" dirty="0">
                <a:solidFill>
                  <a:srgbClr val="111111"/>
                </a:solidFill>
                <a:latin typeface="Arial MT"/>
                <a:cs typeface="Arial MT"/>
              </a:rPr>
              <a:t> </a:t>
            </a:r>
            <a:r>
              <a:rPr sz="1828" dirty="0">
                <a:solidFill>
                  <a:srgbClr val="111111"/>
                </a:solidFill>
                <a:latin typeface="Arial MT"/>
                <a:cs typeface="Arial MT"/>
              </a:rPr>
              <a:t>the size</a:t>
            </a:r>
            <a:r>
              <a:rPr sz="1828" spc="-11" dirty="0">
                <a:solidFill>
                  <a:srgbClr val="111111"/>
                </a:solidFill>
                <a:latin typeface="Arial MT"/>
                <a:cs typeface="Arial MT"/>
              </a:rPr>
              <a:t> </a:t>
            </a:r>
            <a:r>
              <a:rPr sz="1828" dirty="0">
                <a:solidFill>
                  <a:srgbClr val="111111"/>
                </a:solidFill>
                <a:latin typeface="Arial MT"/>
                <a:cs typeface="Arial MT"/>
              </a:rPr>
              <a:t>of</a:t>
            </a:r>
            <a:r>
              <a:rPr sz="1828" spc="4" dirty="0">
                <a:solidFill>
                  <a:srgbClr val="111111"/>
                </a:solidFill>
                <a:latin typeface="Arial MT"/>
                <a:cs typeface="Arial MT"/>
              </a:rPr>
              <a:t> </a:t>
            </a:r>
            <a:r>
              <a:rPr sz="1828" dirty="0">
                <a:solidFill>
                  <a:srgbClr val="111111"/>
                </a:solidFill>
                <a:latin typeface="Arial MT"/>
                <a:cs typeface="Arial MT"/>
              </a:rPr>
              <a:t>the</a:t>
            </a:r>
            <a:r>
              <a:rPr sz="1828" spc="-4" dirty="0">
                <a:solidFill>
                  <a:srgbClr val="111111"/>
                </a:solidFill>
                <a:latin typeface="Arial MT"/>
                <a:cs typeface="Arial MT"/>
              </a:rPr>
              <a:t> </a:t>
            </a:r>
            <a:r>
              <a:rPr sz="1828" dirty="0">
                <a:solidFill>
                  <a:srgbClr val="111111"/>
                </a:solidFill>
                <a:latin typeface="Arial MT"/>
                <a:cs typeface="Arial MT"/>
              </a:rPr>
              <a:t>grid lines</a:t>
            </a:r>
            <a:r>
              <a:rPr sz="1828" spc="-7" dirty="0">
                <a:solidFill>
                  <a:srgbClr val="111111"/>
                </a:solidFill>
                <a:latin typeface="Arial MT"/>
                <a:cs typeface="Arial MT"/>
              </a:rPr>
              <a:t> </a:t>
            </a:r>
            <a:r>
              <a:rPr sz="1828" dirty="0">
                <a:solidFill>
                  <a:srgbClr val="111111"/>
                </a:solidFill>
                <a:latin typeface="Arial MT"/>
                <a:cs typeface="Arial MT"/>
              </a:rPr>
              <a:t>between rows.</a:t>
            </a:r>
            <a:endParaRPr sz="1828" dirty="0">
              <a:latin typeface="Arial MT"/>
              <a:cs typeface="Arial MT"/>
            </a:endParaRPr>
          </a:p>
          <a:p>
            <a:pPr>
              <a:spcBef>
                <a:spcPts val="39"/>
              </a:spcBef>
              <a:defRPr/>
            </a:pPr>
            <a:endParaRPr sz="1898" dirty="0">
              <a:latin typeface="Arial MT"/>
              <a:cs typeface="Arial MT"/>
            </a:endParaRPr>
          </a:p>
          <a:p>
            <a:pPr marL="8929">
              <a:defRPr/>
            </a:pPr>
            <a:r>
              <a:rPr lang="en-US" sz="1828" b="1" dirty="0">
                <a:solidFill>
                  <a:srgbClr val="111111"/>
                </a:solidFill>
                <a:latin typeface="Arial MT"/>
                <a:cs typeface="Arial MT"/>
              </a:rPr>
              <a:t>	Example: </a:t>
            </a:r>
            <a:r>
              <a:rPr sz="1828" b="1" dirty="0">
                <a:solidFill>
                  <a:srgbClr val="C00000"/>
                </a:solidFill>
                <a:latin typeface="Arial MT"/>
                <a:cs typeface="Arial MT"/>
              </a:rPr>
              <a:t>grid-row-gap:</a:t>
            </a:r>
            <a:r>
              <a:rPr sz="1828" b="1" spc="-32" dirty="0">
                <a:solidFill>
                  <a:srgbClr val="C00000"/>
                </a:solidFill>
                <a:latin typeface="Arial MT"/>
                <a:cs typeface="Arial MT"/>
              </a:rPr>
              <a:t> </a:t>
            </a:r>
            <a:r>
              <a:rPr sz="1828" b="1" dirty="0">
                <a:solidFill>
                  <a:srgbClr val="C00000"/>
                </a:solidFill>
                <a:latin typeface="Arial MT"/>
                <a:cs typeface="Arial MT"/>
              </a:rPr>
              <a:t>40px;</a:t>
            </a:r>
          </a:p>
        </p:txBody>
      </p:sp>
      <p:sp>
        <p:nvSpPr>
          <p:cNvPr id="6" name="object 2">
            <a:extLst>
              <a:ext uri="{FF2B5EF4-FFF2-40B4-BE49-F238E27FC236}">
                <a16:creationId xmlns:a16="http://schemas.microsoft.com/office/drawing/2014/main" id="{34074C5A-7A0A-3CC8-F1DF-2DE072C74777}"/>
              </a:ext>
            </a:extLst>
          </p:cNvPr>
          <p:cNvSpPr txBox="1">
            <a:spLocks/>
          </p:cNvSpPr>
          <p:nvPr/>
        </p:nvSpPr>
        <p:spPr bwMode="auto">
          <a:xfrm>
            <a:off x="823379" y="3162668"/>
            <a:ext cx="7277100" cy="428625"/>
          </a:xfrm>
          <a:prstGeom prst="rect">
            <a:avLst/>
          </a:prstGeom>
          <a:noFill/>
          <a:ln>
            <a:noFill/>
          </a:ln>
        </p:spPr>
        <p:txBody>
          <a:bodyPr lIns="0" tIns="9376" rIns="0" bIns="0" anchor="ctr">
            <a:spAutoFit/>
          </a:bodyPr>
          <a:lstStyle>
            <a:lvl1pPr algn="l" rtl="0" eaLnBrk="0" fontAlgn="base" hangingPunct="0">
              <a:spcBef>
                <a:spcPct val="0"/>
              </a:spcBef>
              <a:spcAft>
                <a:spcPct val="0"/>
              </a:spcAft>
              <a:defRPr sz="4400">
                <a:solidFill>
                  <a:schemeClr val="bg1"/>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2pPr>
            <a:lvl3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3pPr>
            <a:lvl4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4pPr>
            <a:lvl5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5pPr>
            <a:lvl6pPr marL="457200" algn="l" rtl="0" fontAlgn="base">
              <a:spcBef>
                <a:spcPct val="0"/>
              </a:spcBef>
              <a:spcAft>
                <a:spcPct val="0"/>
              </a:spcAft>
              <a:defRPr sz="4400">
                <a:solidFill>
                  <a:srgbClr val="CB9535"/>
                </a:solidFill>
                <a:latin typeface="Gill Sans" pitchFamily="-32" charset="0"/>
                <a:ea typeface="ＭＳ Ｐゴシック" pitchFamily="-32" charset="-128"/>
              </a:defRPr>
            </a:lvl6pPr>
            <a:lvl7pPr marL="914400" algn="l" rtl="0" fontAlgn="base">
              <a:spcBef>
                <a:spcPct val="0"/>
              </a:spcBef>
              <a:spcAft>
                <a:spcPct val="0"/>
              </a:spcAft>
              <a:defRPr sz="4400">
                <a:solidFill>
                  <a:srgbClr val="CB9535"/>
                </a:solidFill>
                <a:latin typeface="Gill Sans" pitchFamily="-32" charset="0"/>
                <a:ea typeface="ＭＳ Ｐゴシック" pitchFamily="-32" charset="-128"/>
              </a:defRPr>
            </a:lvl7pPr>
            <a:lvl8pPr marL="1371600" algn="l" rtl="0" fontAlgn="base">
              <a:spcBef>
                <a:spcPct val="0"/>
              </a:spcBef>
              <a:spcAft>
                <a:spcPct val="0"/>
              </a:spcAft>
              <a:defRPr sz="4400">
                <a:solidFill>
                  <a:srgbClr val="CB9535"/>
                </a:solidFill>
                <a:latin typeface="Gill Sans" pitchFamily="-32" charset="0"/>
                <a:ea typeface="ＭＳ Ｐゴシック" pitchFamily="-32" charset="-128"/>
              </a:defRPr>
            </a:lvl8pPr>
            <a:lvl9pPr marL="1828800" algn="l" rtl="0" fontAlgn="base">
              <a:spcBef>
                <a:spcPct val="0"/>
              </a:spcBef>
              <a:spcAft>
                <a:spcPct val="0"/>
              </a:spcAft>
              <a:defRPr sz="4400">
                <a:solidFill>
                  <a:srgbClr val="CB9535"/>
                </a:solidFill>
                <a:latin typeface="Gill Sans" pitchFamily="-32" charset="0"/>
                <a:ea typeface="ＭＳ Ｐゴシック" pitchFamily="-32" charset="-128"/>
              </a:defRPr>
            </a:lvl9pPr>
          </a:lstStyle>
          <a:p>
            <a:pPr marL="8929">
              <a:lnSpc>
                <a:spcPts val="3473"/>
              </a:lnSpc>
              <a:spcBef>
                <a:spcPts val="74"/>
              </a:spcBef>
              <a:defRPr/>
            </a:pPr>
            <a:r>
              <a:rPr lang="en-GB" sz="2800" b="1" kern="0" dirty="0">
                <a:solidFill>
                  <a:schemeClr val="accent1"/>
                </a:solidFill>
              </a:rPr>
              <a:t>GRID</a:t>
            </a:r>
            <a:r>
              <a:rPr lang="en-GB" sz="2800" b="1" kern="0" spc="-53" dirty="0">
                <a:solidFill>
                  <a:schemeClr val="accent1"/>
                </a:solidFill>
              </a:rPr>
              <a:t> </a:t>
            </a:r>
            <a:r>
              <a:rPr lang="en-GB" sz="2800" b="1" kern="0" dirty="0">
                <a:solidFill>
                  <a:schemeClr val="accent1"/>
                </a:solidFill>
              </a:rPr>
              <a:t>ROW </a:t>
            </a:r>
            <a:r>
              <a:rPr lang="en-GB" sz="2800" b="1" kern="0" spc="-7" dirty="0">
                <a:solidFill>
                  <a:schemeClr val="accent1"/>
                </a:solidFill>
              </a:rPr>
              <a:t>GAP</a:t>
            </a:r>
            <a:endParaRPr lang="en-GB" sz="2800" b="1" kern="0" dirty="0">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0349748-C374-39D0-2648-42A372323583}"/>
              </a:ext>
            </a:extLst>
          </p:cNvPr>
          <p:cNvSpPr txBox="1">
            <a:spLocks noGrp="1"/>
          </p:cNvSpPr>
          <p:nvPr>
            <p:ph type="title"/>
          </p:nvPr>
        </p:nvSpPr>
        <p:spPr>
          <a:xfrm>
            <a:off x="827088" y="631825"/>
            <a:ext cx="3965575" cy="461963"/>
          </a:xfrm>
        </p:spPr>
        <p:txBody>
          <a:bodyPr lIns="0" tIns="9376" rIns="0" bIns="0" rtlCol="0">
            <a:spAutoFit/>
          </a:bodyPr>
          <a:lstStyle/>
          <a:p>
            <a:pPr marL="8929">
              <a:lnSpc>
                <a:spcPts val="3473"/>
              </a:lnSpc>
              <a:spcBef>
                <a:spcPts val="74"/>
              </a:spcBef>
              <a:defRPr/>
            </a:pPr>
            <a:r>
              <a:rPr sz="4000" dirty="0"/>
              <a:t>GRID</a:t>
            </a:r>
            <a:r>
              <a:rPr lang="en-US" sz="4000" dirty="0"/>
              <a:t> </a:t>
            </a:r>
            <a:r>
              <a:rPr lang="en-GB" sz="4000" spc="-7" dirty="0"/>
              <a:t>Gap</a:t>
            </a:r>
            <a:endParaRPr lang="en-GB" sz="4000" dirty="0"/>
          </a:p>
        </p:txBody>
      </p:sp>
      <p:sp>
        <p:nvSpPr>
          <p:cNvPr id="24579" name="object 3">
            <a:extLst>
              <a:ext uri="{FF2B5EF4-FFF2-40B4-BE49-F238E27FC236}">
                <a16:creationId xmlns:a16="http://schemas.microsoft.com/office/drawing/2014/main" id="{2D23952E-51A3-8998-0086-9C0A9675F69C}"/>
              </a:ext>
            </a:extLst>
          </p:cNvPr>
          <p:cNvSpPr txBox="1">
            <a:spLocks noChangeArrowheads="1"/>
          </p:cNvSpPr>
          <p:nvPr/>
        </p:nvSpPr>
        <p:spPr bwMode="auto">
          <a:xfrm>
            <a:off x="251520" y="1412776"/>
            <a:ext cx="8892480" cy="1495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8930" rIns="0" bIns="0">
            <a:spAutoFit/>
          </a:bodyPr>
          <a:lstStyle>
            <a:lvl1pPr marL="79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93688" indent="-285750">
              <a:spcBef>
                <a:spcPts val="75"/>
              </a:spcBef>
              <a:buFont typeface="Arial" panose="020B0604020202020204" pitchFamily="34" charset="0"/>
              <a:buChar char="•"/>
            </a:pPr>
            <a:r>
              <a:rPr lang="en-US" altLang="en-US" sz="2000" dirty="0">
                <a:solidFill>
                  <a:srgbClr val="111111"/>
                </a:solidFill>
                <a:latin typeface="Arial MT"/>
                <a:ea typeface="Arial MT"/>
                <a:cs typeface="Arial MT"/>
              </a:rPr>
              <a:t>Shorthand for row and column gap.</a:t>
            </a:r>
            <a:endParaRPr lang="en-US" altLang="en-US" sz="2000" dirty="0">
              <a:latin typeface="Arial MT"/>
              <a:ea typeface="Arial MT"/>
              <a:cs typeface="Arial MT"/>
            </a:endParaRPr>
          </a:p>
          <a:p>
            <a:pPr>
              <a:lnSpc>
                <a:spcPct val="150000"/>
              </a:lnSpc>
              <a:spcBef>
                <a:spcPts val="1125"/>
              </a:spcBef>
            </a:pPr>
            <a:r>
              <a:rPr lang="en-US" altLang="en-US" sz="1830" b="1" dirty="0">
                <a:solidFill>
                  <a:srgbClr val="111111"/>
                </a:solidFill>
                <a:latin typeface="Arial MT"/>
                <a:ea typeface="Arial MT"/>
                <a:cs typeface="Arial MT"/>
              </a:rPr>
              <a:t>Example: grid-gap: &lt;grid-row-gap&gt; &lt;grid-column-gap&gt;;  </a:t>
            </a:r>
            <a:r>
              <a:rPr lang="en-US" altLang="en-US" sz="1830" b="1" dirty="0">
                <a:solidFill>
                  <a:srgbClr val="C00000"/>
                </a:solidFill>
                <a:latin typeface="Arial MT"/>
                <a:ea typeface="Arial MT"/>
                <a:cs typeface="Arial MT"/>
              </a:rPr>
              <a:t>grid-gap: 40px 30px;</a:t>
            </a:r>
          </a:p>
          <a:p>
            <a:pPr marL="293688" indent="-285750">
              <a:lnSpc>
                <a:spcPct val="150000"/>
              </a:lnSpc>
              <a:spcBef>
                <a:spcPts val="1163"/>
              </a:spcBef>
              <a:buFont typeface="Arial" panose="020B0604020202020204" pitchFamily="34" charset="0"/>
              <a:buChar char="•"/>
            </a:pPr>
            <a:r>
              <a:rPr lang="en-US" altLang="en-US" sz="2000" dirty="0">
                <a:solidFill>
                  <a:srgbClr val="111111"/>
                </a:solidFill>
                <a:latin typeface="Arial MT"/>
                <a:ea typeface="Arial MT"/>
                <a:cs typeface="Arial MT"/>
              </a:rPr>
              <a:t>Note: The gap is only between columns and rows. Not outside.</a:t>
            </a:r>
            <a:endParaRPr lang="en-US" altLang="en-US" sz="2000" dirty="0">
              <a:latin typeface="Arial MT"/>
              <a:ea typeface="Arial MT"/>
              <a:cs typeface="Arial MT"/>
            </a:endParaRPr>
          </a:p>
        </p:txBody>
      </p:sp>
      <p:pic>
        <p:nvPicPr>
          <p:cNvPr id="24580" name="object 4">
            <a:extLst>
              <a:ext uri="{FF2B5EF4-FFF2-40B4-BE49-F238E27FC236}">
                <a16:creationId xmlns:a16="http://schemas.microsoft.com/office/drawing/2014/main" id="{951A4A68-4D99-081D-5D80-E248E88278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924944"/>
            <a:ext cx="4548188"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36BFCF5-AC5D-1369-23F8-F554C9EB1F3C}"/>
              </a:ext>
            </a:extLst>
          </p:cNvPr>
          <p:cNvSpPr txBox="1">
            <a:spLocks noGrp="1"/>
          </p:cNvSpPr>
          <p:nvPr>
            <p:ph type="title"/>
          </p:nvPr>
        </p:nvSpPr>
        <p:spPr>
          <a:xfrm>
            <a:off x="679450" y="554038"/>
            <a:ext cx="7637463" cy="461962"/>
          </a:xfrm>
        </p:spPr>
        <p:txBody>
          <a:bodyPr lIns="0" tIns="9376" rIns="0" bIns="0" rtlCol="0">
            <a:spAutoFit/>
          </a:bodyPr>
          <a:lstStyle/>
          <a:p>
            <a:pPr marL="8929">
              <a:lnSpc>
                <a:spcPts val="3473"/>
              </a:lnSpc>
              <a:spcBef>
                <a:spcPts val="74"/>
              </a:spcBef>
              <a:defRPr/>
            </a:pPr>
            <a:r>
              <a:rPr sz="4000" dirty="0"/>
              <a:t>GRID</a:t>
            </a:r>
            <a:r>
              <a:rPr lang="en-US" sz="4000" dirty="0"/>
              <a:t> </a:t>
            </a:r>
            <a:r>
              <a:rPr lang="en-GB" sz="4000" spc="-4" dirty="0"/>
              <a:t>Template</a:t>
            </a:r>
            <a:r>
              <a:rPr lang="en-GB" sz="4000" spc="-28" dirty="0"/>
              <a:t> </a:t>
            </a:r>
            <a:r>
              <a:rPr lang="en-GB" sz="4000" spc="-4" dirty="0"/>
              <a:t>Area</a:t>
            </a:r>
            <a:endParaRPr sz="4000" dirty="0"/>
          </a:p>
        </p:txBody>
      </p:sp>
      <p:sp>
        <p:nvSpPr>
          <p:cNvPr id="25603" name="object 3">
            <a:extLst>
              <a:ext uri="{FF2B5EF4-FFF2-40B4-BE49-F238E27FC236}">
                <a16:creationId xmlns:a16="http://schemas.microsoft.com/office/drawing/2014/main" id="{AAC05811-0642-D40C-3A2D-DE4BCC0E1D84}"/>
              </a:ext>
            </a:extLst>
          </p:cNvPr>
          <p:cNvSpPr txBox="1">
            <a:spLocks noChangeArrowheads="1"/>
          </p:cNvSpPr>
          <p:nvPr/>
        </p:nvSpPr>
        <p:spPr bwMode="auto">
          <a:xfrm>
            <a:off x="368353" y="1484784"/>
            <a:ext cx="8407294" cy="1501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8930" rIns="0" bIns="0">
            <a:spAutoFit/>
          </a:bodyPr>
          <a:lstStyle>
            <a:lvl1pPr marL="79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93688" indent="-285750">
              <a:spcBef>
                <a:spcPts val="75"/>
              </a:spcBef>
              <a:buFont typeface="Arial" panose="020B0604020202020204" pitchFamily="34" charset="0"/>
              <a:buChar char="•"/>
            </a:pPr>
            <a:r>
              <a:rPr lang="en-US" altLang="en-US" sz="2000" dirty="0">
                <a:solidFill>
                  <a:srgbClr val="111111"/>
                </a:solidFill>
                <a:latin typeface="Arial MT"/>
                <a:ea typeface="Arial MT"/>
                <a:cs typeface="Arial MT"/>
              </a:rPr>
              <a:t>Allows you to name sections of the grid.</a:t>
            </a:r>
            <a:endParaRPr lang="en-US" altLang="en-US" sz="2000" dirty="0">
              <a:latin typeface="Arial MT"/>
              <a:ea typeface="Arial MT"/>
              <a:cs typeface="Arial MT"/>
            </a:endParaRPr>
          </a:p>
          <a:p>
            <a:pPr>
              <a:spcBef>
                <a:spcPts val="38"/>
              </a:spcBef>
            </a:pPr>
            <a:endParaRPr lang="en-US" altLang="en-US" sz="1800" dirty="0">
              <a:solidFill>
                <a:srgbClr val="0070C0"/>
              </a:solidFill>
              <a:latin typeface="Arial MT"/>
              <a:ea typeface="Arial MT"/>
              <a:cs typeface="Arial MT"/>
            </a:endParaRPr>
          </a:p>
          <a:p>
            <a:r>
              <a:rPr lang="en-US" altLang="en-US" sz="1800" b="1" dirty="0">
                <a:solidFill>
                  <a:srgbClr val="C00000"/>
                </a:solidFill>
                <a:latin typeface="Arial MT"/>
                <a:ea typeface="Arial MT"/>
                <a:cs typeface="Arial MT"/>
              </a:rPr>
              <a:t>grid-template-columns: 100px auto 200px;</a:t>
            </a:r>
          </a:p>
          <a:p>
            <a:pPr>
              <a:spcBef>
                <a:spcPts val="288"/>
              </a:spcBef>
            </a:pPr>
            <a:r>
              <a:rPr lang="en-US" altLang="en-US" sz="1800" b="1" dirty="0">
                <a:solidFill>
                  <a:srgbClr val="C00000"/>
                </a:solidFill>
                <a:latin typeface="Arial MT"/>
                <a:ea typeface="Arial MT"/>
                <a:cs typeface="Arial MT"/>
              </a:rPr>
              <a:t>grid-template-rows: [row1-start] 224px [row2-start] 224px [end];  </a:t>
            </a:r>
          </a:p>
          <a:p>
            <a:pPr>
              <a:spcBef>
                <a:spcPts val="288"/>
              </a:spcBef>
            </a:pPr>
            <a:r>
              <a:rPr lang="en-US" altLang="en-US" sz="1800" b="1" dirty="0">
                <a:solidFill>
                  <a:srgbClr val="C00000"/>
                </a:solidFill>
                <a:latin typeface="Arial MT"/>
                <a:ea typeface="Arial MT"/>
                <a:cs typeface="Arial MT"/>
              </a:rPr>
              <a:t>grid-template-areas: "header </a:t>
            </a:r>
            <a:r>
              <a:rPr lang="en-US" altLang="en-US" sz="1800" b="1" dirty="0" err="1">
                <a:solidFill>
                  <a:srgbClr val="C00000"/>
                </a:solidFill>
                <a:latin typeface="Arial MT"/>
                <a:ea typeface="Arial MT"/>
                <a:cs typeface="Arial MT"/>
              </a:rPr>
              <a:t>header</a:t>
            </a:r>
            <a:r>
              <a:rPr lang="en-US" altLang="en-US" sz="1800" b="1" dirty="0">
                <a:solidFill>
                  <a:srgbClr val="C00000"/>
                </a:solidFill>
                <a:latin typeface="Arial MT"/>
                <a:ea typeface="Arial MT"/>
                <a:cs typeface="Arial MT"/>
              </a:rPr>
              <a:t> </a:t>
            </a:r>
            <a:r>
              <a:rPr lang="en-US" altLang="en-US" sz="1800" b="1" dirty="0" err="1">
                <a:solidFill>
                  <a:srgbClr val="C00000"/>
                </a:solidFill>
                <a:latin typeface="Arial MT"/>
                <a:ea typeface="Arial MT"/>
                <a:cs typeface="Arial MT"/>
              </a:rPr>
              <a:t>header</a:t>
            </a:r>
            <a:r>
              <a:rPr lang="en-US" altLang="en-US" sz="1800" b="1" dirty="0">
                <a:solidFill>
                  <a:srgbClr val="C00000"/>
                </a:solidFill>
                <a:latin typeface="Arial MT"/>
                <a:ea typeface="Arial MT"/>
                <a:cs typeface="Arial MT"/>
              </a:rPr>
              <a:t>"  "content </a:t>
            </a:r>
            <a:r>
              <a:rPr lang="en-US" altLang="en-US" sz="1800" b="1" dirty="0" err="1">
                <a:solidFill>
                  <a:srgbClr val="C00000"/>
                </a:solidFill>
                <a:latin typeface="Arial MT"/>
                <a:ea typeface="Arial MT"/>
                <a:cs typeface="Arial MT"/>
              </a:rPr>
              <a:t>content</a:t>
            </a:r>
            <a:r>
              <a:rPr lang="en-US" altLang="en-US" sz="1800" b="1" dirty="0">
                <a:solidFill>
                  <a:srgbClr val="C00000"/>
                </a:solidFill>
                <a:latin typeface="Arial MT"/>
                <a:ea typeface="Arial MT"/>
                <a:cs typeface="Arial MT"/>
              </a:rPr>
              <a:t> sidebar";</a:t>
            </a:r>
          </a:p>
        </p:txBody>
      </p:sp>
      <p:pic>
        <p:nvPicPr>
          <p:cNvPr id="25604" name="object 4">
            <a:extLst>
              <a:ext uri="{FF2B5EF4-FFF2-40B4-BE49-F238E27FC236}">
                <a16:creationId xmlns:a16="http://schemas.microsoft.com/office/drawing/2014/main" id="{5FDD381D-8C13-A163-D0BA-42CF3C5CB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3003062"/>
            <a:ext cx="4548188" cy="307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996B823-BF07-9C72-349A-45BC3AA70976}"/>
              </a:ext>
            </a:extLst>
          </p:cNvPr>
          <p:cNvSpPr txBox="1">
            <a:spLocks noGrp="1"/>
          </p:cNvSpPr>
          <p:nvPr>
            <p:ph type="title"/>
          </p:nvPr>
        </p:nvSpPr>
        <p:spPr>
          <a:xfrm>
            <a:off x="463810" y="476672"/>
            <a:ext cx="7996238" cy="461962"/>
          </a:xfrm>
        </p:spPr>
        <p:txBody>
          <a:bodyPr lIns="0" tIns="9376" rIns="0" bIns="0" rtlCol="0">
            <a:spAutoFit/>
          </a:bodyPr>
          <a:lstStyle/>
          <a:p>
            <a:pPr marL="8929">
              <a:lnSpc>
                <a:spcPts val="3473"/>
              </a:lnSpc>
              <a:spcBef>
                <a:spcPts val="74"/>
              </a:spcBef>
              <a:defRPr/>
            </a:pPr>
            <a:r>
              <a:rPr sz="4000" dirty="0"/>
              <a:t>FRACTIONAL</a:t>
            </a:r>
            <a:r>
              <a:rPr sz="4000" spc="-49" dirty="0"/>
              <a:t> </a:t>
            </a:r>
            <a:r>
              <a:rPr sz="4000" dirty="0"/>
              <a:t>(FR)</a:t>
            </a:r>
            <a:r>
              <a:rPr lang="en-US" sz="4000" dirty="0"/>
              <a:t> </a:t>
            </a:r>
            <a:r>
              <a:rPr lang="en-GB" sz="4000" spc="-4" dirty="0"/>
              <a:t>Units</a:t>
            </a:r>
            <a:endParaRPr sz="4000" dirty="0"/>
          </a:p>
        </p:txBody>
      </p:sp>
      <p:sp>
        <p:nvSpPr>
          <p:cNvPr id="26627" name="object 3">
            <a:extLst>
              <a:ext uri="{FF2B5EF4-FFF2-40B4-BE49-F238E27FC236}">
                <a16:creationId xmlns:a16="http://schemas.microsoft.com/office/drawing/2014/main" id="{A50578DD-F757-A2C2-FE71-FFD36D34B571}"/>
              </a:ext>
            </a:extLst>
          </p:cNvPr>
          <p:cNvSpPr txBox="1">
            <a:spLocks noChangeArrowheads="1"/>
          </p:cNvSpPr>
          <p:nvPr/>
        </p:nvSpPr>
        <p:spPr bwMode="auto">
          <a:xfrm>
            <a:off x="679450" y="1789113"/>
            <a:ext cx="7996238" cy="243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8930" rIns="0" bIns="0">
            <a:spAutoFit/>
          </a:bodyPr>
          <a:lstStyle>
            <a:lvl1pPr marL="79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93688" indent="-285750">
              <a:lnSpc>
                <a:spcPct val="150000"/>
              </a:lnSpc>
              <a:spcBef>
                <a:spcPts val="75"/>
              </a:spcBef>
              <a:buFont typeface="Arial" panose="020B0604020202020204" pitchFamily="34" charset="0"/>
              <a:buChar char="•"/>
            </a:pPr>
            <a:r>
              <a:rPr lang="en-US" altLang="en-US" sz="2000" dirty="0">
                <a:solidFill>
                  <a:srgbClr val="111111"/>
                </a:solidFill>
                <a:latin typeface="Arial MT"/>
                <a:ea typeface="Arial MT"/>
                <a:cs typeface="Arial MT"/>
              </a:rPr>
              <a:t>Grid comes with the ‘</a:t>
            </a:r>
            <a:r>
              <a:rPr lang="en-US" altLang="en-US" sz="2000" b="1" dirty="0" err="1">
                <a:solidFill>
                  <a:srgbClr val="111111"/>
                </a:solidFill>
                <a:latin typeface="Arial MT"/>
                <a:ea typeface="Arial MT"/>
                <a:cs typeface="Arial MT"/>
              </a:rPr>
              <a:t>fr</a:t>
            </a:r>
            <a:r>
              <a:rPr lang="en-US" altLang="en-US" sz="2000" dirty="0">
                <a:solidFill>
                  <a:srgbClr val="111111"/>
                </a:solidFill>
                <a:latin typeface="Arial MT"/>
                <a:ea typeface="Arial MT"/>
                <a:cs typeface="Arial MT"/>
              </a:rPr>
              <a:t>’ unit.</a:t>
            </a:r>
          </a:p>
          <a:p>
            <a:pPr marL="293688" indent="-285750">
              <a:lnSpc>
                <a:spcPct val="150000"/>
              </a:lnSpc>
              <a:spcBef>
                <a:spcPts val="75"/>
              </a:spcBef>
              <a:buFont typeface="Arial" panose="020B0604020202020204" pitchFamily="34" charset="0"/>
              <a:buChar char="•"/>
            </a:pPr>
            <a:r>
              <a:rPr lang="en-GB" sz="2000" dirty="0">
                <a:ea typeface="Times New Roman" panose="02020603050405020304" pitchFamily="18" charset="0"/>
              </a:rPr>
              <a:t>I</a:t>
            </a:r>
            <a:r>
              <a:rPr lang="en-GB" sz="2000" dirty="0">
                <a:effectLst/>
                <a:latin typeface="Arial" panose="020B0604020202020204" pitchFamily="34" charset="0"/>
                <a:ea typeface="Times New Roman" panose="02020603050405020304" pitchFamily="18" charset="0"/>
              </a:rPr>
              <a:t>t divides the available space into fractional parts and assigns them according to each track’s </a:t>
            </a:r>
            <a:r>
              <a:rPr lang="en-GB" sz="2000" b="1" dirty="0" err="1">
                <a:effectLst/>
                <a:latin typeface="Arial" panose="020B0604020202020204" pitchFamily="34" charset="0"/>
                <a:ea typeface="Times New Roman" panose="02020603050405020304" pitchFamily="18" charset="0"/>
              </a:rPr>
              <a:t>fr</a:t>
            </a:r>
            <a:r>
              <a:rPr lang="en-GB" sz="2000" dirty="0">
                <a:effectLst/>
                <a:latin typeface="Arial" panose="020B0604020202020204" pitchFamily="34" charset="0"/>
                <a:ea typeface="Times New Roman" panose="02020603050405020304" pitchFamily="18" charset="0"/>
              </a:rPr>
              <a:t> value. </a:t>
            </a:r>
            <a:endParaRPr lang="en-US" altLang="en-US" sz="2000" dirty="0">
              <a:solidFill>
                <a:srgbClr val="111111"/>
              </a:solidFill>
              <a:latin typeface="Arial MT"/>
              <a:ea typeface="Arial MT"/>
              <a:cs typeface="Arial MT"/>
            </a:endParaRPr>
          </a:p>
          <a:p>
            <a:pPr marL="293688" indent="-285750">
              <a:lnSpc>
                <a:spcPct val="150000"/>
              </a:lnSpc>
              <a:spcBef>
                <a:spcPts val="75"/>
              </a:spcBef>
              <a:buFont typeface="Arial" panose="020B0604020202020204" pitchFamily="34" charset="0"/>
              <a:buChar char="•"/>
            </a:pPr>
            <a:r>
              <a:rPr lang="en-GB" altLang="en-US" sz="2000" dirty="0">
                <a:solidFill>
                  <a:srgbClr val="111111"/>
                </a:solidFill>
                <a:latin typeface="Arial MT"/>
                <a:ea typeface="Arial MT"/>
                <a:cs typeface="Arial MT"/>
              </a:rPr>
              <a:t>It</a:t>
            </a:r>
            <a:r>
              <a:rPr lang="en-US" altLang="en-US" sz="2000" dirty="0">
                <a:solidFill>
                  <a:srgbClr val="111111"/>
                </a:solidFill>
                <a:latin typeface="Arial MT"/>
                <a:ea typeface="Arial MT"/>
                <a:cs typeface="Arial MT"/>
              </a:rPr>
              <a:t> uses up a fraction of the remaining free space in the grid.</a:t>
            </a:r>
            <a:endParaRPr lang="en-US" altLang="en-US" sz="2000" dirty="0">
              <a:latin typeface="Arial MT"/>
              <a:ea typeface="Arial MT"/>
              <a:cs typeface="Arial MT"/>
            </a:endParaRPr>
          </a:p>
          <a:p>
            <a:pPr marL="293688" indent="-285750">
              <a:spcBef>
                <a:spcPts val="38"/>
              </a:spcBef>
              <a:buFont typeface="Arial" panose="020B0604020202020204" pitchFamily="34" charset="0"/>
              <a:buChar char="•"/>
            </a:pPr>
            <a:endParaRPr lang="en-US" altLang="en-US" sz="1800" dirty="0">
              <a:latin typeface="Arial MT"/>
              <a:ea typeface="Arial MT"/>
              <a:cs typeface="Arial MT"/>
            </a:endParaRPr>
          </a:p>
          <a:p>
            <a:r>
              <a:rPr lang="en-US" altLang="en-US" sz="1800" b="1" dirty="0">
                <a:solidFill>
                  <a:srgbClr val="111111"/>
                </a:solidFill>
                <a:latin typeface="Arial MT"/>
                <a:ea typeface="Arial MT"/>
                <a:cs typeface="Arial MT"/>
              </a:rPr>
              <a:t>	Example: </a:t>
            </a:r>
            <a:r>
              <a:rPr lang="en-US" altLang="en-US" sz="1800" b="1" dirty="0">
                <a:solidFill>
                  <a:srgbClr val="C00000"/>
                </a:solidFill>
                <a:latin typeface="Arial MT"/>
                <a:ea typeface="Arial MT"/>
                <a:cs typeface="Arial MT"/>
              </a:rPr>
              <a:t>grid-template-columns: 1fr 50px 1fr </a:t>
            </a:r>
            <a:r>
              <a:rPr lang="en-US" altLang="en-US" sz="1800" b="1" dirty="0" err="1">
                <a:solidFill>
                  <a:srgbClr val="C00000"/>
                </a:solidFill>
                <a:latin typeface="Arial MT"/>
                <a:ea typeface="Arial MT"/>
                <a:cs typeface="Arial MT"/>
              </a:rPr>
              <a:t>1fr</a:t>
            </a:r>
            <a:r>
              <a:rPr lang="en-US" altLang="en-US" sz="1800" b="1" dirty="0">
                <a:solidFill>
                  <a:srgbClr val="C00000"/>
                </a:solidFill>
                <a:latin typeface="Arial MT"/>
                <a:ea typeface="Arial MT"/>
                <a:cs typeface="Arial MT"/>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E0BE0E6-487D-AB02-FA2E-EB29AF4A9250}"/>
              </a:ext>
            </a:extLst>
          </p:cNvPr>
          <p:cNvSpPr txBox="1">
            <a:spLocks noGrp="1"/>
          </p:cNvSpPr>
          <p:nvPr>
            <p:ph type="title"/>
          </p:nvPr>
        </p:nvSpPr>
        <p:spPr>
          <a:xfrm>
            <a:off x="679450" y="566738"/>
            <a:ext cx="8572500" cy="458787"/>
          </a:xfrm>
        </p:spPr>
        <p:txBody>
          <a:bodyPr lIns="0" tIns="9376" rIns="0" bIns="0" rtlCol="0">
            <a:spAutoFit/>
          </a:bodyPr>
          <a:lstStyle/>
          <a:p>
            <a:pPr marL="8929">
              <a:lnSpc>
                <a:spcPts val="3473"/>
              </a:lnSpc>
              <a:spcBef>
                <a:spcPts val="74"/>
              </a:spcBef>
              <a:defRPr/>
            </a:pPr>
            <a:r>
              <a:rPr sz="3600" spc="-4" dirty="0"/>
              <a:t>REPEAT()</a:t>
            </a:r>
            <a:r>
              <a:rPr lang="en-US" sz="3600" spc="-4" dirty="0"/>
              <a:t> </a:t>
            </a:r>
            <a:r>
              <a:rPr lang="en-GB" sz="3600" spc="-4" dirty="0"/>
              <a:t>Notation</a:t>
            </a:r>
            <a:endParaRPr sz="3600" dirty="0"/>
          </a:p>
        </p:txBody>
      </p:sp>
      <p:sp>
        <p:nvSpPr>
          <p:cNvPr id="3" name="object 3">
            <a:extLst>
              <a:ext uri="{FF2B5EF4-FFF2-40B4-BE49-F238E27FC236}">
                <a16:creationId xmlns:a16="http://schemas.microsoft.com/office/drawing/2014/main" id="{2A714BF2-46F9-E540-ECD4-2B4A95B3476D}"/>
              </a:ext>
            </a:extLst>
          </p:cNvPr>
          <p:cNvSpPr txBox="1"/>
          <p:nvPr/>
        </p:nvSpPr>
        <p:spPr>
          <a:xfrm>
            <a:off x="395536" y="1484784"/>
            <a:ext cx="8280920" cy="2115299"/>
          </a:xfrm>
          <a:prstGeom prst="rect">
            <a:avLst/>
          </a:prstGeom>
        </p:spPr>
        <p:txBody>
          <a:bodyPr wrap="square" lIns="0" tIns="8930" rIns="0" bIns="0">
            <a:spAutoFit/>
          </a:bodyPr>
          <a:lstStyle/>
          <a:p>
            <a:pPr marL="351829" indent="-342900">
              <a:spcBef>
                <a:spcPts val="70"/>
              </a:spcBef>
              <a:buFont typeface="Arial" panose="020B0604020202020204" pitchFamily="34" charset="0"/>
              <a:buChar char="•"/>
              <a:defRPr/>
            </a:pPr>
            <a:endParaRPr lang="en-GB" sz="1828" dirty="0">
              <a:solidFill>
                <a:srgbClr val="111111"/>
              </a:solidFill>
              <a:latin typeface="Arial MT"/>
              <a:cs typeface="Arial MT"/>
            </a:endParaRPr>
          </a:p>
          <a:p>
            <a:pPr marL="351829" indent="-342900">
              <a:spcBef>
                <a:spcPts val="70"/>
              </a:spcBef>
              <a:buFont typeface="Arial" panose="020B0604020202020204" pitchFamily="34" charset="0"/>
              <a:buChar char="•"/>
              <a:defRPr/>
            </a:pPr>
            <a:r>
              <a:rPr lang="en-GB" sz="2000" dirty="0">
                <a:effectLst/>
                <a:latin typeface="Arial" panose="020B0604020202020204" pitchFamily="34" charset="0"/>
                <a:ea typeface="Times New Roman" panose="02020603050405020304" pitchFamily="18" charset="0"/>
              </a:rPr>
              <a:t>Used within properties like </a:t>
            </a:r>
            <a:r>
              <a:rPr lang="en-GB" sz="2000" b="1" dirty="0">
                <a:effectLst/>
                <a:latin typeface="Arial" panose="020B0604020202020204" pitchFamily="34" charset="0"/>
                <a:ea typeface="Times New Roman" panose="02020603050405020304" pitchFamily="18" charset="0"/>
              </a:rPr>
              <a:t>grid-template-columns</a:t>
            </a:r>
            <a:r>
              <a:rPr lang="en-GB" sz="2000" dirty="0">
                <a:effectLst/>
                <a:latin typeface="Arial" panose="020B0604020202020204" pitchFamily="34" charset="0"/>
                <a:ea typeface="Times New Roman" panose="02020603050405020304" pitchFamily="18" charset="0"/>
              </a:rPr>
              <a:t> and </a:t>
            </a:r>
            <a:r>
              <a:rPr lang="en-GB" sz="2000" b="1" dirty="0">
                <a:effectLst/>
                <a:latin typeface="Arial" panose="020B0604020202020204" pitchFamily="34" charset="0"/>
                <a:ea typeface="Times New Roman" panose="02020603050405020304" pitchFamily="18" charset="0"/>
              </a:rPr>
              <a:t>grid-template-rows</a:t>
            </a:r>
            <a:r>
              <a:rPr lang="en-GB" sz="2000" b="1" dirty="0">
                <a:ea typeface="Times New Roman" panose="02020603050405020304" pitchFamily="18" charset="0"/>
              </a:rPr>
              <a:t>. </a:t>
            </a:r>
          </a:p>
          <a:p>
            <a:pPr marL="351829" indent="-342900">
              <a:spcBef>
                <a:spcPts val="70"/>
              </a:spcBef>
              <a:buFont typeface="Arial" panose="020B0604020202020204" pitchFamily="34" charset="0"/>
              <a:buChar char="•"/>
              <a:defRPr/>
            </a:pPr>
            <a:endParaRPr lang="en-GB" sz="2000" dirty="0">
              <a:solidFill>
                <a:srgbClr val="111111"/>
              </a:solidFill>
              <a:effectLst/>
              <a:latin typeface="Arial MT"/>
              <a:ea typeface="Times New Roman" panose="02020603050405020304" pitchFamily="18" charset="0"/>
            </a:endParaRPr>
          </a:p>
          <a:p>
            <a:pPr marL="351829" indent="-342900">
              <a:spcBef>
                <a:spcPts val="70"/>
              </a:spcBef>
              <a:buFont typeface="Arial" panose="020B0604020202020204" pitchFamily="34" charset="0"/>
              <a:buChar char="•"/>
              <a:defRPr/>
            </a:pPr>
            <a:r>
              <a:rPr lang="en-GB" sz="1800" dirty="0">
                <a:effectLst/>
                <a:latin typeface="Arial" panose="020B0604020202020204" pitchFamily="34" charset="0"/>
                <a:ea typeface="Times New Roman" panose="02020603050405020304" pitchFamily="18" charset="0"/>
              </a:rPr>
              <a:t>To repeat a pattern of track sizes for a specified number of times. </a:t>
            </a:r>
          </a:p>
          <a:p>
            <a:pPr marL="8929">
              <a:spcBef>
                <a:spcPts val="70"/>
              </a:spcBef>
              <a:defRPr/>
            </a:pPr>
            <a:endParaRPr sz="1898" dirty="0">
              <a:latin typeface="Arial MT"/>
              <a:cs typeface="Arial MT"/>
            </a:endParaRPr>
          </a:p>
          <a:p>
            <a:pPr marL="8929">
              <a:defRPr/>
            </a:pPr>
            <a:r>
              <a:rPr lang="en-US" sz="1828" b="1" dirty="0">
                <a:solidFill>
                  <a:srgbClr val="111111"/>
                </a:solidFill>
                <a:latin typeface="Arial MT"/>
                <a:cs typeface="Arial MT"/>
              </a:rPr>
              <a:t>	Example: </a:t>
            </a:r>
            <a:r>
              <a:rPr sz="1828" b="1" dirty="0">
                <a:solidFill>
                  <a:srgbClr val="C00000"/>
                </a:solidFill>
                <a:latin typeface="Arial MT"/>
                <a:cs typeface="Arial MT"/>
              </a:rPr>
              <a:t>grid-template-columns:</a:t>
            </a:r>
            <a:r>
              <a:rPr sz="1828" b="1" spc="-28" dirty="0">
                <a:solidFill>
                  <a:srgbClr val="C00000"/>
                </a:solidFill>
                <a:latin typeface="Arial MT"/>
                <a:cs typeface="Arial MT"/>
              </a:rPr>
              <a:t> </a:t>
            </a:r>
            <a:r>
              <a:rPr sz="1828" b="1" dirty="0">
                <a:solidFill>
                  <a:srgbClr val="C00000"/>
                </a:solidFill>
                <a:latin typeface="Arial MT"/>
                <a:cs typeface="Arial MT"/>
              </a:rPr>
              <a:t>repeat(12,</a:t>
            </a:r>
            <a:r>
              <a:rPr sz="1828" b="1" spc="-7" dirty="0">
                <a:solidFill>
                  <a:srgbClr val="C00000"/>
                </a:solidFill>
                <a:latin typeface="Arial MT"/>
                <a:cs typeface="Arial MT"/>
              </a:rPr>
              <a:t> </a:t>
            </a:r>
            <a:r>
              <a:rPr sz="1828" b="1" spc="-4" dirty="0">
                <a:solidFill>
                  <a:srgbClr val="C00000"/>
                </a:solidFill>
                <a:latin typeface="Arial MT"/>
                <a:cs typeface="Arial MT"/>
              </a:rPr>
              <a:t>1fr);</a:t>
            </a:r>
            <a:endParaRPr sz="1828" b="1" dirty="0">
              <a:solidFill>
                <a:srgbClr val="C00000"/>
              </a:solidFill>
              <a:latin typeface="Arial MT"/>
              <a:cs typeface="Arial M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E2F3D77-CDB3-C7DE-7121-FB3A66AB53A4}"/>
              </a:ext>
            </a:extLst>
          </p:cNvPr>
          <p:cNvSpPr txBox="1">
            <a:spLocks noGrp="1"/>
          </p:cNvSpPr>
          <p:nvPr>
            <p:ph type="title"/>
          </p:nvPr>
        </p:nvSpPr>
        <p:spPr>
          <a:xfrm>
            <a:off x="611188" y="565150"/>
            <a:ext cx="8358187" cy="463550"/>
          </a:xfrm>
        </p:spPr>
        <p:txBody>
          <a:bodyPr lIns="0" tIns="9376" rIns="0" bIns="0" rtlCol="0">
            <a:spAutoFit/>
          </a:bodyPr>
          <a:lstStyle/>
          <a:p>
            <a:pPr marL="8929">
              <a:lnSpc>
                <a:spcPts val="3473"/>
              </a:lnSpc>
              <a:spcBef>
                <a:spcPts val="74"/>
              </a:spcBef>
              <a:defRPr/>
            </a:pPr>
            <a:r>
              <a:rPr sz="4000" dirty="0"/>
              <a:t>GRID</a:t>
            </a:r>
            <a:r>
              <a:rPr sz="4000" spc="-53" dirty="0"/>
              <a:t> </a:t>
            </a:r>
            <a:r>
              <a:rPr lang="en-GB" sz="4000" dirty="0"/>
              <a:t>Column </a:t>
            </a:r>
            <a:r>
              <a:rPr lang="en-GB" sz="4000" spc="-4" dirty="0"/>
              <a:t>Start and Column End</a:t>
            </a:r>
            <a:endParaRPr sz="4000" dirty="0"/>
          </a:p>
        </p:txBody>
      </p:sp>
      <p:sp>
        <p:nvSpPr>
          <p:cNvPr id="3" name="object 3">
            <a:extLst>
              <a:ext uri="{FF2B5EF4-FFF2-40B4-BE49-F238E27FC236}">
                <a16:creationId xmlns:a16="http://schemas.microsoft.com/office/drawing/2014/main" id="{2E41EDC6-545E-A52A-0FA5-1FC8DDF8A229}"/>
              </a:ext>
            </a:extLst>
          </p:cNvPr>
          <p:cNvSpPr txBox="1"/>
          <p:nvPr/>
        </p:nvSpPr>
        <p:spPr>
          <a:xfrm>
            <a:off x="537492" y="1556792"/>
            <a:ext cx="8210971" cy="3747220"/>
          </a:xfrm>
          <a:prstGeom prst="rect">
            <a:avLst/>
          </a:prstGeom>
        </p:spPr>
        <p:txBody>
          <a:bodyPr wrap="square" lIns="0" tIns="8930" rIns="0" bIns="0">
            <a:spAutoFit/>
          </a:bodyPr>
          <a:lstStyle/>
          <a:p>
            <a:pPr marL="351829" indent="-342900">
              <a:spcBef>
                <a:spcPts val="70"/>
              </a:spcBef>
              <a:buFont typeface="Arial" panose="020B0604020202020204" pitchFamily="34" charset="0"/>
              <a:buChar char="•"/>
              <a:defRPr/>
            </a:pPr>
            <a:r>
              <a:rPr lang="en-GB" sz="2000" dirty="0">
                <a:ea typeface="Times New Roman" panose="02020603050405020304" pitchFamily="18" charset="0"/>
                <a:cs typeface="Arial" panose="020B0604020202020204" pitchFamily="34" charset="0"/>
              </a:rPr>
              <a:t>D</a:t>
            </a:r>
            <a:r>
              <a:rPr lang="en-GB" sz="2000" dirty="0">
                <a:effectLst/>
                <a:ea typeface="Times New Roman" panose="02020603050405020304" pitchFamily="18" charset="0"/>
                <a:cs typeface="Arial" panose="020B0604020202020204" pitchFamily="34" charset="0"/>
              </a:rPr>
              <a:t>etermine where a grid item begins and ends along the column axis.</a:t>
            </a:r>
          </a:p>
          <a:p>
            <a:pPr marL="351829" indent="-342900">
              <a:spcBef>
                <a:spcPts val="70"/>
              </a:spcBef>
              <a:buFont typeface="Arial" panose="020B0604020202020204" pitchFamily="34" charset="0"/>
              <a:buChar char="•"/>
              <a:defRPr/>
            </a:pPr>
            <a:endParaRPr lang="en-GB" sz="2000" dirty="0">
              <a:effectLst/>
              <a:ea typeface="Times New Roman" panose="02020603050405020304" pitchFamily="18" charset="0"/>
              <a:cs typeface="Arial" panose="020B0604020202020204" pitchFamily="34" charset="0"/>
            </a:endParaRPr>
          </a:p>
          <a:p>
            <a:pPr marL="351829" indent="-342900">
              <a:spcBef>
                <a:spcPts val="70"/>
              </a:spcBef>
              <a:buFont typeface="Arial" panose="020B0604020202020204" pitchFamily="34" charset="0"/>
              <a:buChar char="•"/>
              <a:defRPr/>
            </a:pPr>
            <a:r>
              <a:rPr lang="en-GB" sz="2000" dirty="0">
                <a:effectLst/>
                <a:latin typeface="Arial" panose="020B0604020202020204" pitchFamily="34" charset="0"/>
                <a:ea typeface="Times New Roman" panose="02020603050405020304" pitchFamily="18" charset="0"/>
              </a:rPr>
              <a:t>The values reference the grid line numbers.</a:t>
            </a:r>
          </a:p>
          <a:p>
            <a:pPr marL="351829" indent="-342900">
              <a:spcBef>
                <a:spcPts val="70"/>
              </a:spcBef>
              <a:buFont typeface="Arial" panose="020B0604020202020204" pitchFamily="34" charset="0"/>
              <a:buChar char="•"/>
              <a:defRPr/>
            </a:pPr>
            <a:endParaRPr lang="en-GB" sz="2000" dirty="0">
              <a:solidFill>
                <a:srgbClr val="111111"/>
              </a:solidFill>
              <a:cs typeface="Arial" panose="020B0604020202020204" pitchFamily="34" charset="0"/>
            </a:endParaRPr>
          </a:p>
          <a:p>
            <a:pPr marL="351829" indent="-342900">
              <a:spcBef>
                <a:spcPts val="70"/>
              </a:spcBef>
              <a:buFont typeface="Arial" panose="020B0604020202020204" pitchFamily="34" charset="0"/>
              <a:buChar char="•"/>
              <a:defRPr/>
            </a:pPr>
            <a:r>
              <a:rPr sz="2000" dirty="0">
                <a:solidFill>
                  <a:srgbClr val="111111"/>
                </a:solidFill>
                <a:cs typeface="Arial" panose="020B0604020202020204" pitchFamily="34" charset="0"/>
              </a:rPr>
              <a:t>Grid</a:t>
            </a:r>
            <a:r>
              <a:rPr sz="2000" spc="-4" dirty="0">
                <a:solidFill>
                  <a:srgbClr val="111111"/>
                </a:solidFill>
                <a:cs typeface="Arial" panose="020B0604020202020204" pitchFamily="34" charset="0"/>
              </a:rPr>
              <a:t> </a:t>
            </a:r>
            <a:r>
              <a:rPr sz="2000" dirty="0">
                <a:solidFill>
                  <a:srgbClr val="111111"/>
                </a:solidFill>
                <a:cs typeface="Arial" panose="020B0604020202020204" pitchFamily="34" charset="0"/>
              </a:rPr>
              <a:t>Column</a:t>
            </a:r>
            <a:r>
              <a:rPr sz="2000" spc="-18" dirty="0">
                <a:solidFill>
                  <a:srgbClr val="111111"/>
                </a:solidFill>
                <a:cs typeface="Arial" panose="020B0604020202020204" pitchFamily="34" charset="0"/>
              </a:rPr>
              <a:t> </a:t>
            </a:r>
            <a:r>
              <a:rPr sz="2000" dirty="0">
                <a:solidFill>
                  <a:srgbClr val="111111"/>
                </a:solidFill>
                <a:cs typeface="Arial" panose="020B0604020202020204" pitchFamily="34" charset="0"/>
              </a:rPr>
              <a:t>Start /</a:t>
            </a:r>
            <a:r>
              <a:rPr sz="2000" spc="4" dirty="0">
                <a:solidFill>
                  <a:srgbClr val="111111"/>
                </a:solidFill>
                <a:cs typeface="Arial" panose="020B0604020202020204" pitchFamily="34" charset="0"/>
              </a:rPr>
              <a:t> </a:t>
            </a:r>
            <a:r>
              <a:rPr sz="2000" dirty="0">
                <a:solidFill>
                  <a:srgbClr val="111111"/>
                </a:solidFill>
                <a:cs typeface="Arial" panose="020B0604020202020204" pitchFamily="34" charset="0"/>
              </a:rPr>
              <a:t>Grid</a:t>
            </a:r>
            <a:r>
              <a:rPr sz="2000" spc="-14" dirty="0">
                <a:solidFill>
                  <a:srgbClr val="111111"/>
                </a:solidFill>
                <a:cs typeface="Arial" panose="020B0604020202020204" pitchFamily="34" charset="0"/>
              </a:rPr>
              <a:t> </a:t>
            </a:r>
            <a:r>
              <a:rPr sz="2000" dirty="0">
                <a:solidFill>
                  <a:srgbClr val="111111"/>
                </a:solidFill>
                <a:cs typeface="Arial" panose="020B0604020202020204" pitchFamily="34" charset="0"/>
              </a:rPr>
              <a:t>Column</a:t>
            </a:r>
            <a:r>
              <a:rPr sz="2000" spc="-7" dirty="0">
                <a:solidFill>
                  <a:srgbClr val="111111"/>
                </a:solidFill>
                <a:cs typeface="Arial" panose="020B0604020202020204" pitchFamily="34" charset="0"/>
              </a:rPr>
              <a:t> </a:t>
            </a:r>
            <a:r>
              <a:rPr sz="2000" dirty="0">
                <a:solidFill>
                  <a:srgbClr val="111111"/>
                </a:solidFill>
                <a:cs typeface="Arial" panose="020B0604020202020204" pitchFamily="34" charset="0"/>
              </a:rPr>
              <a:t>End</a:t>
            </a:r>
            <a:r>
              <a:rPr sz="2000" spc="4" dirty="0">
                <a:solidFill>
                  <a:srgbClr val="111111"/>
                </a:solidFill>
                <a:cs typeface="Arial" panose="020B0604020202020204" pitchFamily="34" charset="0"/>
              </a:rPr>
              <a:t> </a:t>
            </a:r>
            <a:r>
              <a:rPr sz="2000" dirty="0">
                <a:solidFill>
                  <a:srgbClr val="111111"/>
                </a:solidFill>
                <a:cs typeface="Arial" panose="020B0604020202020204" pitchFamily="34" charset="0"/>
              </a:rPr>
              <a:t>|</a:t>
            </a:r>
            <a:r>
              <a:rPr sz="2000" spc="-11" dirty="0">
                <a:solidFill>
                  <a:srgbClr val="111111"/>
                </a:solidFill>
                <a:cs typeface="Arial" panose="020B0604020202020204" pitchFamily="34" charset="0"/>
              </a:rPr>
              <a:t> </a:t>
            </a:r>
            <a:r>
              <a:rPr sz="2000" dirty="0">
                <a:solidFill>
                  <a:srgbClr val="111111"/>
                </a:solidFill>
                <a:cs typeface="Arial" panose="020B0604020202020204" pitchFamily="34" charset="0"/>
              </a:rPr>
              <a:t>Grid Column</a:t>
            </a:r>
            <a:endParaRPr sz="2000" dirty="0">
              <a:cs typeface="Arial" panose="020B0604020202020204" pitchFamily="34" charset="0"/>
            </a:endParaRPr>
          </a:p>
          <a:p>
            <a:pPr>
              <a:spcBef>
                <a:spcPts val="39"/>
              </a:spcBef>
              <a:defRPr/>
            </a:pPr>
            <a:endParaRPr sz="1898" dirty="0">
              <a:latin typeface="Arial MT"/>
              <a:cs typeface="Arial MT"/>
            </a:endParaRPr>
          </a:p>
          <a:p>
            <a:pPr marL="466129" lvl="1">
              <a:defRPr/>
            </a:pPr>
            <a:r>
              <a:rPr sz="1828" b="1" dirty="0">
                <a:solidFill>
                  <a:srgbClr val="C00000"/>
                </a:solidFill>
                <a:latin typeface="Arial MT"/>
                <a:cs typeface="Arial MT"/>
              </a:rPr>
              <a:t>grid-column-start:</a:t>
            </a:r>
            <a:r>
              <a:rPr sz="1828" b="1" spc="-46" dirty="0">
                <a:solidFill>
                  <a:srgbClr val="C00000"/>
                </a:solidFill>
                <a:latin typeface="Arial MT"/>
                <a:cs typeface="Arial MT"/>
              </a:rPr>
              <a:t> </a:t>
            </a:r>
            <a:r>
              <a:rPr sz="1828" b="1" dirty="0">
                <a:solidFill>
                  <a:srgbClr val="C00000"/>
                </a:solidFill>
                <a:latin typeface="Arial MT"/>
                <a:cs typeface="Arial MT"/>
              </a:rPr>
              <a:t>2;</a:t>
            </a:r>
          </a:p>
          <a:p>
            <a:pPr marL="466129" lvl="1">
              <a:spcBef>
                <a:spcPts val="1097"/>
              </a:spcBef>
              <a:defRPr/>
            </a:pPr>
            <a:r>
              <a:rPr sz="1828" b="1" dirty="0">
                <a:solidFill>
                  <a:srgbClr val="C00000"/>
                </a:solidFill>
                <a:latin typeface="Arial MT"/>
                <a:cs typeface="Arial MT"/>
              </a:rPr>
              <a:t>grid-column-end:</a:t>
            </a:r>
            <a:r>
              <a:rPr sz="1828" b="1" spc="-42" dirty="0">
                <a:solidFill>
                  <a:srgbClr val="C00000"/>
                </a:solidFill>
                <a:latin typeface="Arial MT"/>
                <a:cs typeface="Arial MT"/>
              </a:rPr>
              <a:t> </a:t>
            </a:r>
            <a:r>
              <a:rPr sz="1828" b="1" dirty="0">
                <a:solidFill>
                  <a:srgbClr val="C00000"/>
                </a:solidFill>
                <a:latin typeface="Arial MT"/>
                <a:cs typeface="Arial MT"/>
              </a:rPr>
              <a:t>4;</a:t>
            </a:r>
          </a:p>
          <a:p>
            <a:pPr>
              <a:spcBef>
                <a:spcPts val="35"/>
              </a:spcBef>
              <a:defRPr/>
            </a:pPr>
            <a:endParaRPr sz="1898" dirty="0">
              <a:latin typeface="Arial MT"/>
              <a:cs typeface="Arial MT"/>
            </a:endParaRPr>
          </a:p>
          <a:p>
            <a:pPr marL="351829" indent="-342900">
              <a:buFont typeface="Arial" panose="020B0604020202020204" pitchFamily="34" charset="0"/>
              <a:buChar char="•"/>
              <a:defRPr/>
            </a:pPr>
            <a:r>
              <a:rPr sz="1828" dirty="0">
                <a:solidFill>
                  <a:srgbClr val="111111"/>
                </a:solidFill>
                <a:latin typeface="Arial MT"/>
                <a:cs typeface="Arial MT"/>
              </a:rPr>
              <a:t>Shorthand</a:t>
            </a:r>
            <a:endParaRPr sz="1828" dirty="0">
              <a:latin typeface="Arial MT"/>
              <a:cs typeface="Arial MT"/>
            </a:endParaRPr>
          </a:p>
          <a:p>
            <a:pPr>
              <a:spcBef>
                <a:spcPts val="4"/>
              </a:spcBef>
              <a:defRPr/>
            </a:pPr>
            <a:endParaRPr sz="1934" dirty="0">
              <a:latin typeface="Arial MT"/>
              <a:cs typeface="Arial MT"/>
            </a:endParaRPr>
          </a:p>
          <a:p>
            <a:pPr marL="466129" lvl="1">
              <a:spcBef>
                <a:spcPts val="4"/>
              </a:spcBef>
              <a:defRPr/>
            </a:pPr>
            <a:r>
              <a:rPr sz="1828" b="1" dirty="0">
                <a:solidFill>
                  <a:srgbClr val="C00000"/>
                </a:solidFill>
                <a:latin typeface="Arial MT"/>
                <a:cs typeface="Arial MT"/>
              </a:rPr>
              <a:t>grid-column:</a:t>
            </a:r>
            <a:r>
              <a:rPr sz="1828" b="1" spc="-32" dirty="0">
                <a:solidFill>
                  <a:srgbClr val="C00000"/>
                </a:solidFill>
                <a:latin typeface="Arial MT"/>
                <a:cs typeface="Arial MT"/>
              </a:rPr>
              <a:t> </a:t>
            </a:r>
            <a:r>
              <a:rPr sz="1828" b="1" dirty="0">
                <a:solidFill>
                  <a:srgbClr val="C00000"/>
                </a:solidFill>
                <a:latin typeface="Arial MT"/>
                <a:cs typeface="Arial MT"/>
              </a:rPr>
              <a:t>2</a:t>
            </a:r>
            <a:r>
              <a:rPr sz="1828" b="1" spc="-11" dirty="0">
                <a:solidFill>
                  <a:srgbClr val="C00000"/>
                </a:solidFill>
                <a:latin typeface="Arial MT"/>
                <a:cs typeface="Arial MT"/>
              </a:rPr>
              <a:t> </a:t>
            </a:r>
            <a:r>
              <a:rPr sz="1828" b="1" dirty="0">
                <a:solidFill>
                  <a:srgbClr val="C00000"/>
                </a:solidFill>
                <a:latin typeface="Arial MT"/>
                <a:cs typeface="Arial MT"/>
              </a:rPr>
              <a:t>/</a:t>
            </a:r>
            <a:r>
              <a:rPr sz="1828" b="1" spc="-14" dirty="0">
                <a:solidFill>
                  <a:srgbClr val="C00000"/>
                </a:solidFill>
                <a:latin typeface="Arial MT"/>
                <a:cs typeface="Arial MT"/>
              </a:rPr>
              <a:t> </a:t>
            </a:r>
            <a:r>
              <a:rPr sz="1828" b="1" dirty="0">
                <a:solidFill>
                  <a:srgbClr val="C00000"/>
                </a:solidFill>
                <a:latin typeface="Arial MT"/>
                <a:cs typeface="Arial MT"/>
              </a:rPr>
              <a:t>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5AE7CA5-3E29-1E40-5AC9-765A612C32BF}"/>
              </a:ext>
            </a:extLst>
          </p:cNvPr>
          <p:cNvSpPr txBox="1">
            <a:spLocks noGrp="1"/>
          </p:cNvSpPr>
          <p:nvPr>
            <p:ph type="title"/>
          </p:nvPr>
        </p:nvSpPr>
        <p:spPr>
          <a:xfrm>
            <a:off x="611188" y="565150"/>
            <a:ext cx="7566025" cy="463550"/>
          </a:xfrm>
        </p:spPr>
        <p:txBody>
          <a:bodyPr lIns="0" tIns="9376" rIns="0" bIns="0" rtlCol="0">
            <a:spAutoFit/>
          </a:bodyPr>
          <a:lstStyle/>
          <a:p>
            <a:pPr marL="8929">
              <a:lnSpc>
                <a:spcPts val="3473"/>
              </a:lnSpc>
              <a:spcBef>
                <a:spcPts val="74"/>
              </a:spcBef>
              <a:defRPr/>
            </a:pPr>
            <a:r>
              <a:rPr sz="4000" dirty="0"/>
              <a:t>GRID</a:t>
            </a:r>
            <a:r>
              <a:rPr sz="4000" spc="-70" dirty="0"/>
              <a:t> </a:t>
            </a:r>
            <a:r>
              <a:rPr lang="en-GB" sz="4000" spc="4" dirty="0"/>
              <a:t>Row </a:t>
            </a:r>
            <a:r>
              <a:rPr lang="en-GB" sz="4000" spc="-4" dirty="0"/>
              <a:t>Start and End</a:t>
            </a:r>
            <a:endParaRPr sz="4000" dirty="0"/>
          </a:p>
        </p:txBody>
      </p:sp>
      <p:sp>
        <p:nvSpPr>
          <p:cNvPr id="29699" name="object 3">
            <a:extLst>
              <a:ext uri="{FF2B5EF4-FFF2-40B4-BE49-F238E27FC236}">
                <a16:creationId xmlns:a16="http://schemas.microsoft.com/office/drawing/2014/main" id="{BE756659-927F-A79B-2128-C9DBE9488F8A}"/>
              </a:ext>
            </a:extLst>
          </p:cNvPr>
          <p:cNvSpPr txBox="1">
            <a:spLocks noChangeArrowheads="1"/>
          </p:cNvSpPr>
          <p:nvPr/>
        </p:nvSpPr>
        <p:spPr bwMode="auto">
          <a:xfrm>
            <a:off x="679450" y="1927225"/>
            <a:ext cx="8141022" cy="3468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8930" rIns="0" bIns="0">
            <a:spAutoFit/>
          </a:bodyPr>
          <a:lstStyle>
            <a:lvl1pPr marL="79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93688" indent="-285750">
              <a:spcBef>
                <a:spcPts val="75"/>
              </a:spcBef>
              <a:buFont typeface="Arial" panose="020B0604020202020204" pitchFamily="34" charset="0"/>
              <a:buChar char="•"/>
            </a:pPr>
            <a:r>
              <a:rPr lang="en-GB" sz="2000" b="1" dirty="0">
                <a:effectLst/>
                <a:latin typeface="Arial" panose="020B0604020202020204" pitchFamily="34" charset="0"/>
                <a:ea typeface="Times New Roman" panose="02020603050405020304" pitchFamily="18" charset="0"/>
              </a:rPr>
              <a:t>grid-row-start</a:t>
            </a:r>
            <a:r>
              <a:rPr lang="en-GB" sz="2000" dirty="0">
                <a:effectLst/>
                <a:latin typeface="Arial" panose="020B0604020202020204" pitchFamily="34" charset="0"/>
                <a:ea typeface="Times New Roman" panose="02020603050405020304" pitchFamily="18" charset="0"/>
              </a:rPr>
              <a:t> and </a:t>
            </a:r>
            <a:r>
              <a:rPr lang="en-GB" sz="2000" b="1" dirty="0">
                <a:effectLst/>
                <a:latin typeface="Arial" panose="020B0604020202020204" pitchFamily="34" charset="0"/>
                <a:ea typeface="Times New Roman" panose="02020603050405020304" pitchFamily="18" charset="0"/>
              </a:rPr>
              <a:t>grid-row-end</a:t>
            </a:r>
            <a:r>
              <a:rPr lang="en-GB" sz="2000" dirty="0">
                <a:effectLst/>
                <a:latin typeface="Arial" panose="020B0604020202020204" pitchFamily="34" charset="0"/>
                <a:ea typeface="Times New Roman" panose="02020603050405020304" pitchFamily="18" charset="0"/>
              </a:rPr>
              <a:t> manage the vertical placement of grid items by referencing the grid line numbers of rows. </a:t>
            </a:r>
          </a:p>
          <a:p>
            <a:pPr marL="293688" indent="-285750">
              <a:spcBef>
                <a:spcPts val="75"/>
              </a:spcBef>
              <a:buFont typeface="Arial" panose="020B0604020202020204" pitchFamily="34" charset="0"/>
              <a:buChar char="•"/>
            </a:pPr>
            <a:endParaRPr lang="en-US" altLang="en-US" sz="2000" dirty="0">
              <a:solidFill>
                <a:srgbClr val="111111"/>
              </a:solidFill>
              <a:latin typeface="Arial MT"/>
              <a:ea typeface="Arial MT"/>
              <a:cs typeface="Arial MT"/>
            </a:endParaRPr>
          </a:p>
          <a:p>
            <a:pPr marL="293688" indent="-285750">
              <a:spcBef>
                <a:spcPts val="75"/>
              </a:spcBef>
              <a:buFont typeface="Arial" panose="020B0604020202020204" pitchFamily="34" charset="0"/>
              <a:buChar char="•"/>
            </a:pPr>
            <a:r>
              <a:rPr lang="en-US" altLang="en-US" sz="2000" dirty="0">
                <a:solidFill>
                  <a:srgbClr val="111111"/>
                </a:solidFill>
                <a:latin typeface="Arial MT"/>
                <a:ea typeface="Arial MT"/>
                <a:cs typeface="Arial MT"/>
              </a:rPr>
              <a:t>Grid Row Start / Grid Row End | Grid Row</a:t>
            </a:r>
            <a:endParaRPr lang="en-US" altLang="en-US" sz="2000" dirty="0">
              <a:latin typeface="Arial MT"/>
              <a:ea typeface="Arial MT"/>
              <a:cs typeface="Arial MT"/>
            </a:endParaRPr>
          </a:p>
          <a:p>
            <a:pPr>
              <a:spcBef>
                <a:spcPts val="38"/>
              </a:spcBef>
            </a:pPr>
            <a:endParaRPr lang="en-US" altLang="en-US" sz="1800" dirty="0">
              <a:latin typeface="Arial MT"/>
              <a:ea typeface="Arial MT"/>
              <a:cs typeface="Arial MT"/>
            </a:endParaRPr>
          </a:p>
          <a:p>
            <a:pPr lvl="1"/>
            <a:r>
              <a:rPr lang="en-US" altLang="en-US" sz="1800" b="1" dirty="0">
                <a:solidFill>
                  <a:srgbClr val="C00000"/>
                </a:solidFill>
                <a:latin typeface="Arial MT"/>
                <a:ea typeface="Arial MT"/>
                <a:cs typeface="Arial MT"/>
              </a:rPr>
              <a:t>grid-row-start: 1;</a:t>
            </a:r>
          </a:p>
          <a:p>
            <a:pPr lvl="1">
              <a:spcBef>
                <a:spcPts val="1100"/>
              </a:spcBef>
            </a:pPr>
            <a:r>
              <a:rPr lang="en-US" altLang="en-US" sz="1800" b="1" dirty="0">
                <a:solidFill>
                  <a:srgbClr val="C00000"/>
                </a:solidFill>
                <a:latin typeface="Arial MT"/>
                <a:ea typeface="Arial MT"/>
                <a:cs typeface="Arial MT"/>
              </a:rPr>
              <a:t>grid-row-end: 2;</a:t>
            </a:r>
          </a:p>
          <a:p>
            <a:pPr marL="293688" indent="-285750">
              <a:lnSpc>
                <a:spcPts val="4425"/>
              </a:lnSpc>
              <a:spcBef>
                <a:spcPts val="375"/>
              </a:spcBef>
              <a:buFont typeface="Arial" panose="020B0604020202020204" pitchFamily="34" charset="0"/>
              <a:buChar char="•"/>
            </a:pPr>
            <a:r>
              <a:rPr lang="en-US" altLang="en-US" sz="2000" dirty="0">
                <a:solidFill>
                  <a:srgbClr val="111111"/>
                </a:solidFill>
                <a:latin typeface="Arial MT"/>
                <a:ea typeface="Arial MT"/>
                <a:cs typeface="Arial MT"/>
              </a:rPr>
              <a:t>Shorthand </a:t>
            </a:r>
          </a:p>
          <a:p>
            <a:pPr lvl="1">
              <a:lnSpc>
                <a:spcPts val="4425"/>
              </a:lnSpc>
              <a:spcBef>
                <a:spcPts val="375"/>
              </a:spcBef>
            </a:pPr>
            <a:r>
              <a:rPr lang="en-US" altLang="en-US" sz="2000" dirty="0">
                <a:solidFill>
                  <a:srgbClr val="111111"/>
                </a:solidFill>
                <a:latin typeface="Arial MT"/>
                <a:ea typeface="Arial MT"/>
                <a:cs typeface="Arial MT"/>
              </a:rPr>
              <a:t> </a:t>
            </a:r>
            <a:r>
              <a:rPr lang="en-US" altLang="en-US" sz="2000" b="1" dirty="0">
                <a:solidFill>
                  <a:srgbClr val="C00000"/>
                </a:solidFill>
                <a:latin typeface="Arial MT"/>
                <a:ea typeface="Arial MT"/>
                <a:cs typeface="Arial MT"/>
              </a:rPr>
              <a:t>grid-row: 1 / 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E0B235-0E81-8942-EC7A-59B6150D4AB4}"/>
              </a:ext>
            </a:extLst>
          </p:cNvPr>
          <p:cNvSpPr>
            <a:spLocks noGrp="1"/>
          </p:cNvSpPr>
          <p:nvPr>
            <p:ph type="title"/>
          </p:nvPr>
        </p:nvSpPr>
        <p:spPr/>
        <p:txBody>
          <a:bodyPr/>
          <a:lstStyle/>
          <a:p>
            <a:r>
              <a:rPr lang="en-US" dirty="0"/>
              <a:t>Quiz - 1</a:t>
            </a:r>
            <a:endParaRPr lang="en-GB" dirty="0"/>
          </a:p>
        </p:txBody>
      </p:sp>
      <p:sp>
        <p:nvSpPr>
          <p:cNvPr id="3" name="Rectangle 1">
            <a:extLst>
              <a:ext uri="{FF2B5EF4-FFF2-40B4-BE49-F238E27FC236}">
                <a16:creationId xmlns:a16="http://schemas.microsoft.com/office/drawing/2014/main" id="{AC89EB3C-CBE4-FCE7-6A4D-F6D2AB06C0E2}"/>
              </a:ext>
            </a:extLst>
          </p:cNvPr>
          <p:cNvSpPr>
            <a:spLocks noGrp="1" noChangeArrowheads="1"/>
          </p:cNvSpPr>
          <p:nvPr>
            <p:ph idx="1"/>
          </p:nvPr>
        </p:nvSpPr>
        <p:spPr bwMode="auto">
          <a:xfrm>
            <a:off x="135196" y="1605713"/>
            <a:ext cx="8325236" cy="39703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D0D0D"/>
                </a:solidFill>
                <a:effectLst/>
                <a:cs typeface="Arial" panose="020B0604020202020204" pitchFamily="34" charset="0"/>
              </a:rPr>
              <a:t>1. What is the purpose of the CSS Grid Layout?</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A) To manage the background images of a website</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B) To provide a one-dimensional layout system</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C) To create complex web layouts on a two-dimensional grid-based 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D0D0D"/>
                </a:solidFill>
                <a:effectLst/>
                <a:cs typeface="Arial" panose="020B0604020202020204" pitchFamily="34" charset="0"/>
              </a:rPr>
              <a:t>2. Which CSS property is used to define a container as a grid layout?</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A) </a:t>
            </a:r>
            <a:r>
              <a:rPr kumimoji="0" lang="en-US" altLang="en-US" sz="1800" b="1" i="0" u="none" strike="noStrike" cap="none" normalizeH="0" baseline="0" dirty="0">
                <a:ln>
                  <a:noFill/>
                </a:ln>
                <a:solidFill>
                  <a:srgbClr val="0D0D0D"/>
                </a:solidFill>
                <a:effectLst/>
                <a:cs typeface="Arial" panose="020B0604020202020204" pitchFamily="34" charset="0"/>
              </a:rPr>
              <a:t>display: grid;</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B) </a:t>
            </a:r>
            <a:r>
              <a:rPr kumimoji="0" lang="en-US" altLang="en-US" sz="1800" b="1" i="0" u="none" strike="noStrike" cap="none" normalizeH="0" baseline="0" dirty="0">
                <a:ln>
                  <a:noFill/>
                </a:ln>
                <a:solidFill>
                  <a:srgbClr val="0D0D0D"/>
                </a:solidFill>
                <a:effectLst/>
                <a:cs typeface="Arial" panose="020B0604020202020204" pitchFamily="34" charset="0"/>
              </a:rPr>
              <a:t>display: flex;</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C) </a:t>
            </a:r>
            <a:r>
              <a:rPr kumimoji="0" lang="en-US" altLang="en-US" sz="1800" b="1" i="0" u="none" strike="noStrike" cap="none" normalizeH="0" baseline="0" dirty="0">
                <a:ln>
                  <a:noFill/>
                </a:ln>
                <a:solidFill>
                  <a:srgbClr val="0D0D0D"/>
                </a:solidFill>
                <a:effectLst/>
                <a:cs typeface="Arial" panose="020B0604020202020204" pitchFamily="34" charset="0"/>
              </a:rPr>
              <a:t>grid-template-columns: auto;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D0D0D"/>
                </a:solidFill>
                <a:effectLst/>
                <a:cs typeface="Arial" panose="020B0604020202020204" pitchFamily="34" charset="0"/>
              </a:rPr>
              <a:t>3. How do you make a grid item span across two columns?</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A) </a:t>
            </a:r>
            <a:r>
              <a:rPr kumimoji="0" lang="en-US" altLang="en-US" sz="1800" b="1" i="0" u="none" strike="noStrike" cap="none" normalizeH="0" baseline="0" dirty="0">
                <a:ln>
                  <a:noFill/>
                </a:ln>
                <a:solidFill>
                  <a:srgbClr val="0D0D0D"/>
                </a:solidFill>
                <a:effectLst/>
                <a:cs typeface="Arial" panose="020B0604020202020204" pitchFamily="34" charset="0"/>
              </a:rPr>
              <a:t>grid-column: span 2;</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B) </a:t>
            </a:r>
            <a:r>
              <a:rPr kumimoji="0" lang="en-US" altLang="en-US" sz="1800" b="1" i="0" u="none" strike="noStrike" cap="none" normalizeH="0" baseline="0" dirty="0">
                <a:ln>
                  <a:noFill/>
                </a:ln>
                <a:solidFill>
                  <a:srgbClr val="0D0D0D"/>
                </a:solidFill>
                <a:effectLst/>
                <a:cs typeface="Arial" panose="020B0604020202020204" pitchFamily="34" charset="0"/>
              </a:rPr>
              <a:t>grid-span: 2 columns;</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C) </a:t>
            </a:r>
            <a:r>
              <a:rPr kumimoji="0" lang="en-US" altLang="en-US" sz="1800" b="1" i="0" u="none" strike="noStrike" cap="none" normalizeH="0" baseline="0" dirty="0">
                <a:ln>
                  <a:noFill/>
                </a:ln>
                <a:solidFill>
                  <a:srgbClr val="0D0D0D"/>
                </a:solidFill>
                <a:effectLst/>
                <a:cs typeface="Arial" panose="020B0604020202020204" pitchFamily="34" charset="0"/>
              </a:rPr>
              <a:t>grid-columns: 2;</a:t>
            </a:r>
            <a:endParaRPr kumimoji="0" lang="en-US" altLang="en-US" sz="1800" b="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4277856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2FCC6D5-6D65-9C5B-C927-BB26A0AF0FC3}"/>
              </a:ext>
            </a:extLst>
          </p:cNvPr>
          <p:cNvSpPr txBox="1">
            <a:spLocks noGrp="1"/>
          </p:cNvSpPr>
          <p:nvPr>
            <p:ph type="title"/>
          </p:nvPr>
        </p:nvSpPr>
        <p:spPr>
          <a:xfrm>
            <a:off x="527050" y="488950"/>
            <a:ext cx="7421563" cy="461963"/>
          </a:xfrm>
        </p:spPr>
        <p:txBody>
          <a:bodyPr lIns="0" tIns="9376" rIns="0" bIns="0" rtlCol="0">
            <a:spAutoFit/>
          </a:bodyPr>
          <a:lstStyle/>
          <a:p>
            <a:pPr marL="8929">
              <a:lnSpc>
                <a:spcPts val="3473"/>
              </a:lnSpc>
              <a:spcBef>
                <a:spcPts val="74"/>
              </a:spcBef>
              <a:defRPr/>
            </a:pPr>
            <a:r>
              <a:rPr lang="en-GB" sz="4000" dirty="0"/>
              <a:t>Placing </a:t>
            </a:r>
            <a:r>
              <a:rPr lang="en-GB" sz="4000" spc="-4" dirty="0"/>
              <a:t>Grid Items</a:t>
            </a:r>
            <a:endParaRPr lang="en-GB" sz="4000" dirty="0"/>
          </a:p>
        </p:txBody>
      </p:sp>
      <p:pic>
        <p:nvPicPr>
          <p:cNvPr id="30723" name="object 3">
            <a:extLst>
              <a:ext uri="{FF2B5EF4-FFF2-40B4-BE49-F238E27FC236}">
                <a16:creationId xmlns:a16="http://schemas.microsoft.com/office/drawing/2014/main" id="{A8081048-A0BD-B332-57C8-06371DCC3C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093" y="1556792"/>
            <a:ext cx="3623941" cy="4320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object 4">
            <a:extLst>
              <a:ext uri="{FF2B5EF4-FFF2-40B4-BE49-F238E27FC236}">
                <a16:creationId xmlns:a16="http://schemas.microsoft.com/office/drawing/2014/main" id="{687FB524-10F8-A7D4-AFE3-4C53C7A178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3011" y="2095500"/>
            <a:ext cx="4548188"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object 2">
            <a:extLst>
              <a:ext uri="{FF2B5EF4-FFF2-40B4-BE49-F238E27FC236}">
                <a16:creationId xmlns:a16="http://schemas.microsoft.com/office/drawing/2014/main" id="{C019416E-462A-1596-E478-66B95365B93A}"/>
              </a:ext>
            </a:extLst>
          </p:cNvPr>
          <p:cNvGrpSpPr>
            <a:grpSpLocks/>
          </p:cNvGrpSpPr>
          <p:nvPr/>
        </p:nvGrpSpPr>
        <p:grpSpPr bwMode="auto">
          <a:xfrm>
            <a:off x="6325" y="1225550"/>
            <a:ext cx="3106737" cy="5030788"/>
            <a:chOff x="960119" y="2598420"/>
            <a:chExt cx="4417060" cy="7155180"/>
          </a:xfrm>
        </p:grpSpPr>
        <p:pic>
          <p:nvPicPr>
            <p:cNvPr id="31749" name="object 3">
              <a:extLst>
                <a:ext uri="{FF2B5EF4-FFF2-40B4-BE49-F238E27FC236}">
                  <a16:creationId xmlns:a16="http://schemas.microsoft.com/office/drawing/2014/main" id="{1765D5D5-04DE-670C-271F-44B2E0B799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1643" y="4082794"/>
              <a:ext cx="4415028" cy="5670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object 4">
              <a:extLst>
                <a:ext uri="{FF2B5EF4-FFF2-40B4-BE49-F238E27FC236}">
                  <a16:creationId xmlns:a16="http://schemas.microsoft.com/office/drawing/2014/main" id="{E8542C8C-C053-D6D1-7BCA-31B0FE6ED7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119" y="2598420"/>
              <a:ext cx="3072384" cy="1577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bject 5">
              <a:extLst>
                <a:ext uri="{FF2B5EF4-FFF2-40B4-BE49-F238E27FC236}">
                  <a16:creationId xmlns:a16="http://schemas.microsoft.com/office/drawing/2014/main" id="{9F943E6E-CC9A-B255-DDE3-6F4DE95C3B0A}"/>
                </a:ext>
              </a:extLst>
            </p:cNvPr>
            <p:cNvSpPr/>
            <p:nvPr/>
          </p:nvSpPr>
          <p:spPr>
            <a:xfrm>
              <a:off x="3910092" y="2600679"/>
              <a:ext cx="1467087" cy="1578248"/>
            </a:xfrm>
            <a:custGeom>
              <a:avLst/>
              <a:gdLst/>
              <a:ahLst/>
              <a:cxnLst/>
              <a:rect l="l" t="t" r="r" b="b"/>
              <a:pathLst>
                <a:path w="1466214" h="1577339">
                  <a:moveTo>
                    <a:pt x="1466088" y="0"/>
                  </a:moveTo>
                  <a:lnTo>
                    <a:pt x="0" y="0"/>
                  </a:lnTo>
                  <a:lnTo>
                    <a:pt x="0" y="1577339"/>
                  </a:lnTo>
                  <a:lnTo>
                    <a:pt x="1466088" y="1577339"/>
                  </a:lnTo>
                  <a:lnTo>
                    <a:pt x="1466088" y="0"/>
                  </a:lnTo>
                  <a:close/>
                </a:path>
              </a:pathLst>
            </a:custGeom>
            <a:solidFill>
              <a:srgbClr val="282C34"/>
            </a:solidFill>
          </p:spPr>
          <p:txBody>
            <a:bodyPr lIns="0" tIns="0" rIns="0" bIns="0"/>
            <a:lstStyle/>
            <a:p>
              <a:pPr>
                <a:defRPr/>
              </a:pPr>
              <a:endParaRPr sz="1687"/>
            </a:p>
          </p:txBody>
        </p:sp>
      </p:grpSp>
      <p:sp>
        <p:nvSpPr>
          <p:cNvPr id="6" name="object 6">
            <a:extLst>
              <a:ext uri="{FF2B5EF4-FFF2-40B4-BE49-F238E27FC236}">
                <a16:creationId xmlns:a16="http://schemas.microsoft.com/office/drawing/2014/main" id="{DE6D5599-E718-595D-7142-C32423D4449B}"/>
              </a:ext>
            </a:extLst>
          </p:cNvPr>
          <p:cNvSpPr txBox="1">
            <a:spLocks noGrp="1"/>
          </p:cNvSpPr>
          <p:nvPr>
            <p:ph type="title"/>
          </p:nvPr>
        </p:nvSpPr>
        <p:spPr>
          <a:xfrm>
            <a:off x="663575" y="552450"/>
            <a:ext cx="8213725" cy="463550"/>
          </a:xfrm>
        </p:spPr>
        <p:txBody>
          <a:bodyPr lIns="0" tIns="9376" rIns="0" bIns="0" rtlCol="0">
            <a:spAutoFit/>
          </a:bodyPr>
          <a:lstStyle/>
          <a:p>
            <a:pPr marL="8929">
              <a:lnSpc>
                <a:spcPts val="3473"/>
              </a:lnSpc>
              <a:spcBef>
                <a:spcPts val="74"/>
              </a:spcBef>
              <a:defRPr/>
            </a:pPr>
            <a:r>
              <a:rPr lang="en-GB" sz="4000" dirty="0"/>
              <a:t>Building </a:t>
            </a:r>
            <a:r>
              <a:rPr lang="en-GB" sz="4000" spc="-4" dirty="0"/>
              <a:t>A Layout</a:t>
            </a:r>
            <a:endParaRPr lang="en-GB" sz="4000" dirty="0"/>
          </a:p>
        </p:txBody>
      </p:sp>
      <p:pic>
        <p:nvPicPr>
          <p:cNvPr id="31748" name="object 7">
            <a:extLst>
              <a:ext uri="{FF2B5EF4-FFF2-40B4-BE49-F238E27FC236}">
                <a16:creationId xmlns:a16="http://schemas.microsoft.com/office/drawing/2014/main" id="{E9023BA7-2BED-4769-49E6-5CA7925F02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1075" y="2247480"/>
            <a:ext cx="4549775"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B6AA77E-5335-DB0D-5ADE-616A1A35D569}"/>
              </a:ext>
            </a:extLst>
          </p:cNvPr>
          <p:cNvSpPr txBox="1"/>
          <p:nvPr/>
        </p:nvSpPr>
        <p:spPr>
          <a:xfrm>
            <a:off x="679450" y="582613"/>
            <a:ext cx="8213725" cy="457200"/>
          </a:xfrm>
          <a:prstGeom prst="rect">
            <a:avLst/>
          </a:prstGeom>
        </p:spPr>
        <p:txBody>
          <a:bodyPr lIns="0" tIns="9376" rIns="0" bIns="0">
            <a:spAutoFit/>
          </a:bodyPr>
          <a:lstStyle/>
          <a:p>
            <a:pPr marL="8929">
              <a:lnSpc>
                <a:spcPts val="3473"/>
              </a:lnSpc>
              <a:spcBef>
                <a:spcPts val="74"/>
              </a:spcBef>
              <a:defRPr/>
            </a:pPr>
            <a:r>
              <a:rPr sz="3600" dirty="0">
                <a:solidFill>
                  <a:schemeClr val="bg1"/>
                </a:solidFill>
                <a:latin typeface="Arial"/>
                <a:cs typeface="Arial"/>
              </a:rPr>
              <a:t>GRID</a:t>
            </a:r>
            <a:r>
              <a:rPr sz="3600" spc="-35" dirty="0">
                <a:solidFill>
                  <a:schemeClr val="bg1"/>
                </a:solidFill>
                <a:latin typeface="Arial"/>
                <a:cs typeface="Arial"/>
              </a:rPr>
              <a:t> </a:t>
            </a:r>
            <a:r>
              <a:rPr lang="en-GB" sz="3600" dirty="0">
                <a:solidFill>
                  <a:schemeClr val="bg1"/>
                </a:solidFill>
                <a:latin typeface="Arial"/>
                <a:cs typeface="Arial"/>
              </a:rPr>
              <a:t>Auto </a:t>
            </a:r>
            <a:r>
              <a:rPr lang="en-GB" sz="3600" spc="-4" dirty="0">
                <a:solidFill>
                  <a:schemeClr val="bg1"/>
                </a:solidFill>
                <a:latin typeface="Arial"/>
                <a:cs typeface="Arial"/>
              </a:rPr>
              <a:t>Rows &amp; Columns</a:t>
            </a:r>
            <a:endParaRPr sz="3600" dirty="0">
              <a:solidFill>
                <a:schemeClr val="bg1"/>
              </a:solidFill>
              <a:latin typeface="Arial"/>
              <a:cs typeface="Arial"/>
            </a:endParaRPr>
          </a:p>
        </p:txBody>
      </p:sp>
      <p:sp>
        <p:nvSpPr>
          <p:cNvPr id="3" name="object 3">
            <a:extLst>
              <a:ext uri="{FF2B5EF4-FFF2-40B4-BE49-F238E27FC236}">
                <a16:creationId xmlns:a16="http://schemas.microsoft.com/office/drawing/2014/main" id="{E740D717-029E-563A-0610-ADE1A8B9642F}"/>
              </a:ext>
            </a:extLst>
          </p:cNvPr>
          <p:cNvSpPr txBox="1"/>
          <p:nvPr/>
        </p:nvSpPr>
        <p:spPr>
          <a:xfrm>
            <a:off x="679450" y="1570038"/>
            <a:ext cx="6484838" cy="316794"/>
          </a:xfrm>
          <a:prstGeom prst="rect">
            <a:avLst/>
          </a:prstGeom>
        </p:spPr>
        <p:txBody>
          <a:bodyPr wrap="square" lIns="0" tIns="8930" rIns="0" bIns="0">
            <a:spAutoFit/>
          </a:bodyPr>
          <a:lstStyle/>
          <a:p>
            <a:pPr marL="8929">
              <a:spcBef>
                <a:spcPts val="70"/>
              </a:spcBef>
              <a:defRPr/>
            </a:pPr>
            <a:r>
              <a:rPr sz="2000" dirty="0">
                <a:solidFill>
                  <a:srgbClr val="111111"/>
                </a:solidFill>
                <a:latin typeface="Arial MT"/>
                <a:cs typeface="Arial MT"/>
              </a:rPr>
              <a:t>Set row or column</a:t>
            </a:r>
            <a:r>
              <a:rPr sz="2000" spc="-14" dirty="0">
                <a:solidFill>
                  <a:srgbClr val="111111"/>
                </a:solidFill>
                <a:latin typeface="Arial MT"/>
                <a:cs typeface="Arial MT"/>
              </a:rPr>
              <a:t> </a:t>
            </a:r>
            <a:r>
              <a:rPr sz="2000" dirty="0">
                <a:solidFill>
                  <a:srgbClr val="111111"/>
                </a:solidFill>
                <a:latin typeface="Arial MT"/>
                <a:cs typeface="Arial MT"/>
              </a:rPr>
              <a:t>sizes</a:t>
            </a:r>
            <a:r>
              <a:rPr sz="2000" spc="-7" dirty="0">
                <a:solidFill>
                  <a:srgbClr val="111111"/>
                </a:solidFill>
                <a:latin typeface="Arial MT"/>
                <a:cs typeface="Arial MT"/>
              </a:rPr>
              <a:t> </a:t>
            </a:r>
            <a:r>
              <a:rPr sz="2000" dirty="0">
                <a:solidFill>
                  <a:srgbClr val="111111"/>
                </a:solidFill>
                <a:latin typeface="Arial MT"/>
                <a:cs typeface="Arial MT"/>
              </a:rPr>
              <a:t>for</a:t>
            </a:r>
            <a:r>
              <a:rPr sz="2000" spc="4" dirty="0">
                <a:solidFill>
                  <a:srgbClr val="111111"/>
                </a:solidFill>
                <a:latin typeface="Arial MT"/>
                <a:cs typeface="Arial MT"/>
              </a:rPr>
              <a:t> </a:t>
            </a:r>
            <a:r>
              <a:rPr sz="2000" spc="-4" dirty="0">
                <a:solidFill>
                  <a:srgbClr val="111111"/>
                </a:solidFill>
                <a:latin typeface="Arial MT"/>
                <a:cs typeface="Arial MT"/>
              </a:rPr>
              <a:t>those</a:t>
            </a:r>
            <a:r>
              <a:rPr sz="2000" spc="4" dirty="0">
                <a:solidFill>
                  <a:srgbClr val="111111"/>
                </a:solidFill>
                <a:latin typeface="Arial MT"/>
                <a:cs typeface="Arial MT"/>
              </a:rPr>
              <a:t> </a:t>
            </a:r>
            <a:r>
              <a:rPr sz="2000" dirty="0">
                <a:solidFill>
                  <a:srgbClr val="111111"/>
                </a:solidFill>
                <a:latin typeface="Arial MT"/>
                <a:cs typeface="Arial MT"/>
              </a:rPr>
              <a:t>not explicitly</a:t>
            </a:r>
            <a:r>
              <a:rPr sz="2000" spc="-21" dirty="0">
                <a:solidFill>
                  <a:srgbClr val="111111"/>
                </a:solidFill>
                <a:latin typeface="Arial MT"/>
                <a:cs typeface="Arial MT"/>
              </a:rPr>
              <a:t> </a:t>
            </a:r>
            <a:r>
              <a:rPr sz="2000" dirty="0">
                <a:solidFill>
                  <a:srgbClr val="111111"/>
                </a:solidFill>
                <a:latin typeface="Arial MT"/>
                <a:cs typeface="Arial MT"/>
              </a:rPr>
              <a:t>set.</a:t>
            </a:r>
            <a:endParaRPr sz="2000" dirty="0">
              <a:latin typeface="Arial MT"/>
              <a:cs typeface="Arial MT"/>
            </a:endParaRPr>
          </a:p>
        </p:txBody>
      </p:sp>
      <p:grpSp>
        <p:nvGrpSpPr>
          <p:cNvPr id="32772" name="object 4">
            <a:extLst>
              <a:ext uri="{FF2B5EF4-FFF2-40B4-BE49-F238E27FC236}">
                <a16:creationId xmlns:a16="http://schemas.microsoft.com/office/drawing/2014/main" id="{3F48DB66-5FBA-DF52-1CF7-B76F8178E5C9}"/>
              </a:ext>
            </a:extLst>
          </p:cNvPr>
          <p:cNvGrpSpPr>
            <a:grpSpLocks/>
          </p:cNvGrpSpPr>
          <p:nvPr/>
        </p:nvGrpSpPr>
        <p:grpSpPr bwMode="auto">
          <a:xfrm>
            <a:off x="423068" y="2132856"/>
            <a:ext cx="8979528" cy="3960440"/>
            <a:chOff x="969263" y="3398520"/>
            <a:chExt cx="12772077" cy="4885944"/>
          </a:xfrm>
        </p:grpSpPr>
        <p:pic>
          <p:nvPicPr>
            <p:cNvPr id="32773" name="object 5">
              <a:extLst>
                <a:ext uri="{FF2B5EF4-FFF2-40B4-BE49-F238E27FC236}">
                  <a16:creationId xmlns:a16="http://schemas.microsoft.com/office/drawing/2014/main" id="{6107FBAA-4A22-0D60-7226-4E1C94DBB1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9263" y="3398520"/>
              <a:ext cx="5515356" cy="488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object 6">
              <a:extLst>
                <a:ext uri="{FF2B5EF4-FFF2-40B4-BE49-F238E27FC236}">
                  <a16:creationId xmlns:a16="http://schemas.microsoft.com/office/drawing/2014/main" id="{2394E168-7C35-C8EE-A5CC-F272425DE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2938" y="3576191"/>
              <a:ext cx="6768402" cy="4571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5509A448-F3AC-1A15-E553-E0BE5384EC7D}"/>
              </a:ext>
            </a:extLst>
          </p:cNvPr>
          <p:cNvSpPr txBox="1"/>
          <p:nvPr/>
        </p:nvSpPr>
        <p:spPr>
          <a:xfrm>
            <a:off x="679450" y="1549090"/>
            <a:ext cx="6844878" cy="316794"/>
          </a:xfrm>
          <a:prstGeom prst="rect">
            <a:avLst/>
          </a:prstGeom>
        </p:spPr>
        <p:txBody>
          <a:bodyPr wrap="square" lIns="0" tIns="8930" rIns="0" bIns="0">
            <a:spAutoFit/>
          </a:bodyPr>
          <a:lstStyle/>
          <a:p>
            <a:pPr marL="8929">
              <a:spcBef>
                <a:spcPts val="70"/>
              </a:spcBef>
              <a:defRPr/>
            </a:pPr>
            <a:r>
              <a:rPr sz="2000" dirty="0">
                <a:solidFill>
                  <a:srgbClr val="111111"/>
                </a:solidFill>
                <a:latin typeface="Arial MT"/>
                <a:cs typeface="Arial MT"/>
              </a:rPr>
              <a:t>Set row or column</a:t>
            </a:r>
            <a:r>
              <a:rPr sz="2000" spc="-14" dirty="0">
                <a:solidFill>
                  <a:srgbClr val="111111"/>
                </a:solidFill>
                <a:latin typeface="Arial MT"/>
                <a:cs typeface="Arial MT"/>
              </a:rPr>
              <a:t> </a:t>
            </a:r>
            <a:r>
              <a:rPr sz="2000" dirty="0">
                <a:solidFill>
                  <a:srgbClr val="111111"/>
                </a:solidFill>
                <a:latin typeface="Arial MT"/>
                <a:cs typeface="Arial MT"/>
              </a:rPr>
              <a:t>sizes</a:t>
            </a:r>
            <a:r>
              <a:rPr sz="2000" spc="-7" dirty="0">
                <a:solidFill>
                  <a:srgbClr val="111111"/>
                </a:solidFill>
                <a:latin typeface="Arial MT"/>
                <a:cs typeface="Arial MT"/>
              </a:rPr>
              <a:t> </a:t>
            </a:r>
            <a:r>
              <a:rPr sz="2000" dirty="0">
                <a:solidFill>
                  <a:srgbClr val="111111"/>
                </a:solidFill>
                <a:latin typeface="Arial MT"/>
                <a:cs typeface="Arial MT"/>
              </a:rPr>
              <a:t>for</a:t>
            </a:r>
            <a:r>
              <a:rPr sz="2000" spc="4" dirty="0">
                <a:solidFill>
                  <a:srgbClr val="111111"/>
                </a:solidFill>
                <a:latin typeface="Arial MT"/>
                <a:cs typeface="Arial MT"/>
              </a:rPr>
              <a:t> </a:t>
            </a:r>
            <a:r>
              <a:rPr sz="2000" spc="-4" dirty="0">
                <a:solidFill>
                  <a:srgbClr val="111111"/>
                </a:solidFill>
                <a:latin typeface="Arial MT"/>
                <a:cs typeface="Arial MT"/>
              </a:rPr>
              <a:t>those</a:t>
            </a:r>
            <a:r>
              <a:rPr sz="2000" spc="4" dirty="0">
                <a:solidFill>
                  <a:srgbClr val="111111"/>
                </a:solidFill>
                <a:latin typeface="Arial MT"/>
                <a:cs typeface="Arial MT"/>
              </a:rPr>
              <a:t> </a:t>
            </a:r>
            <a:r>
              <a:rPr sz="2000" dirty="0">
                <a:solidFill>
                  <a:srgbClr val="111111"/>
                </a:solidFill>
                <a:latin typeface="Arial MT"/>
                <a:cs typeface="Arial MT"/>
              </a:rPr>
              <a:t>not explicitly</a:t>
            </a:r>
            <a:r>
              <a:rPr sz="2000" spc="-21" dirty="0">
                <a:solidFill>
                  <a:srgbClr val="111111"/>
                </a:solidFill>
                <a:latin typeface="Arial MT"/>
                <a:cs typeface="Arial MT"/>
              </a:rPr>
              <a:t> </a:t>
            </a:r>
            <a:r>
              <a:rPr sz="2000" dirty="0">
                <a:solidFill>
                  <a:srgbClr val="111111"/>
                </a:solidFill>
                <a:latin typeface="Arial MT"/>
                <a:cs typeface="Arial MT"/>
              </a:rPr>
              <a:t>set.</a:t>
            </a:r>
            <a:endParaRPr sz="2000" dirty="0">
              <a:latin typeface="Arial MT"/>
              <a:cs typeface="Arial MT"/>
            </a:endParaRPr>
          </a:p>
        </p:txBody>
      </p:sp>
      <p:grpSp>
        <p:nvGrpSpPr>
          <p:cNvPr id="33795" name="object 4">
            <a:extLst>
              <a:ext uri="{FF2B5EF4-FFF2-40B4-BE49-F238E27FC236}">
                <a16:creationId xmlns:a16="http://schemas.microsoft.com/office/drawing/2014/main" id="{2DA7A6B1-3378-AEFC-9CC1-E3B7B580E7CE}"/>
              </a:ext>
            </a:extLst>
          </p:cNvPr>
          <p:cNvGrpSpPr>
            <a:grpSpLocks/>
          </p:cNvGrpSpPr>
          <p:nvPr/>
        </p:nvGrpSpPr>
        <p:grpSpPr bwMode="auto">
          <a:xfrm>
            <a:off x="179512" y="2348880"/>
            <a:ext cx="8713664" cy="3601176"/>
            <a:chOff x="254457" y="3341032"/>
            <a:chExt cx="12393753" cy="5120640"/>
          </a:xfrm>
        </p:grpSpPr>
        <p:pic>
          <p:nvPicPr>
            <p:cNvPr id="33797" name="object 5">
              <a:extLst>
                <a:ext uri="{FF2B5EF4-FFF2-40B4-BE49-F238E27FC236}">
                  <a16:creationId xmlns:a16="http://schemas.microsoft.com/office/drawing/2014/main" id="{25E6649B-4E8C-FB51-1552-AAE05A9646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457" y="3341032"/>
              <a:ext cx="5515356" cy="512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object 6">
              <a:extLst>
                <a:ext uri="{FF2B5EF4-FFF2-40B4-BE49-F238E27FC236}">
                  <a16:creationId xmlns:a16="http://schemas.microsoft.com/office/drawing/2014/main" id="{AFAEA5FD-1C2D-1BE3-1CA8-CB3563EF9D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8829" y="3716697"/>
              <a:ext cx="6469381" cy="43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object 2">
            <a:extLst>
              <a:ext uri="{FF2B5EF4-FFF2-40B4-BE49-F238E27FC236}">
                <a16:creationId xmlns:a16="http://schemas.microsoft.com/office/drawing/2014/main" id="{C7F46469-6590-EA01-4A22-9011C63EB67D}"/>
              </a:ext>
            </a:extLst>
          </p:cNvPr>
          <p:cNvSpPr txBox="1"/>
          <p:nvPr/>
        </p:nvSpPr>
        <p:spPr>
          <a:xfrm>
            <a:off x="679450" y="582613"/>
            <a:ext cx="8213725" cy="457200"/>
          </a:xfrm>
          <a:prstGeom prst="rect">
            <a:avLst/>
          </a:prstGeom>
        </p:spPr>
        <p:txBody>
          <a:bodyPr lIns="0" tIns="9376" rIns="0" bIns="0">
            <a:spAutoFit/>
          </a:bodyPr>
          <a:lstStyle/>
          <a:p>
            <a:pPr marL="8929">
              <a:lnSpc>
                <a:spcPts val="3473"/>
              </a:lnSpc>
              <a:spcBef>
                <a:spcPts val="74"/>
              </a:spcBef>
              <a:defRPr/>
            </a:pPr>
            <a:r>
              <a:rPr sz="3600" dirty="0">
                <a:solidFill>
                  <a:schemeClr val="bg1"/>
                </a:solidFill>
                <a:latin typeface="Arial"/>
                <a:cs typeface="Arial"/>
              </a:rPr>
              <a:t>GRID</a:t>
            </a:r>
            <a:r>
              <a:rPr sz="3600" spc="-35" dirty="0">
                <a:solidFill>
                  <a:schemeClr val="bg1"/>
                </a:solidFill>
                <a:latin typeface="Arial"/>
                <a:cs typeface="Arial"/>
              </a:rPr>
              <a:t> </a:t>
            </a:r>
            <a:r>
              <a:rPr lang="en-GB" sz="3600" dirty="0">
                <a:solidFill>
                  <a:schemeClr val="bg1"/>
                </a:solidFill>
                <a:latin typeface="Arial"/>
                <a:cs typeface="Arial"/>
              </a:rPr>
              <a:t>Auto </a:t>
            </a:r>
            <a:r>
              <a:rPr lang="en-GB" sz="3600" spc="-4" dirty="0">
                <a:solidFill>
                  <a:schemeClr val="bg1"/>
                </a:solidFill>
                <a:latin typeface="Arial"/>
                <a:cs typeface="Arial"/>
              </a:rPr>
              <a:t>Rows &amp; Columns</a:t>
            </a:r>
            <a:endParaRPr sz="3600" dirty="0">
              <a:solidFill>
                <a:schemeClr val="bg1"/>
              </a:solidFill>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5825D8-CBB6-EC58-C502-6D19A5387757}"/>
              </a:ext>
            </a:extLst>
          </p:cNvPr>
          <p:cNvSpPr>
            <a:spLocks noGrp="1"/>
          </p:cNvSpPr>
          <p:nvPr>
            <p:ph type="title"/>
          </p:nvPr>
        </p:nvSpPr>
        <p:spPr/>
        <p:txBody>
          <a:bodyPr/>
          <a:lstStyle/>
          <a:p>
            <a:r>
              <a:rPr lang="en-US" dirty="0"/>
              <a:t>CSS flexbox layout</a:t>
            </a:r>
            <a:endParaRPr lang="en-GB" dirty="0"/>
          </a:p>
        </p:txBody>
      </p:sp>
      <p:sp>
        <p:nvSpPr>
          <p:cNvPr id="5" name="Text Placeholder 4">
            <a:extLst>
              <a:ext uri="{FF2B5EF4-FFF2-40B4-BE49-F238E27FC236}">
                <a16:creationId xmlns:a16="http://schemas.microsoft.com/office/drawing/2014/main" id="{0332D3A1-0E05-DA88-2505-12EEB669CFE8}"/>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335845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B42582A5-98C5-21FF-821E-06EA8E2E7D22}"/>
              </a:ext>
            </a:extLst>
          </p:cNvPr>
          <p:cNvSpPr txBox="1">
            <a:spLocks noGrp="1"/>
          </p:cNvSpPr>
          <p:nvPr>
            <p:ph type="title"/>
          </p:nvPr>
        </p:nvSpPr>
        <p:spPr>
          <a:xfrm>
            <a:off x="395288" y="445625"/>
            <a:ext cx="7632700" cy="686726"/>
          </a:xfrm>
        </p:spPr>
        <p:txBody>
          <a:bodyPr lIns="0" tIns="9525" rIns="0" bIns="0" rtlCol="0">
            <a:spAutoFit/>
          </a:bodyPr>
          <a:lstStyle/>
          <a:p>
            <a:pPr marL="9525">
              <a:spcBef>
                <a:spcPts val="75"/>
              </a:spcBef>
              <a:defRPr/>
            </a:pPr>
            <a:r>
              <a:rPr lang="en-US" spc="-4" dirty="0"/>
              <a:t>Flexbox Layout</a:t>
            </a:r>
            <a:endParaRPr dirty="0"/>
          </a:p>
        </p:txBody>
      </p:sp>
      <p:sp>
        <p:nvSpPr>
          <p:cNvPr id="3" name="object 3">
            <a:extLst>
              <a:ext uri="{FF2B5EF4-FFF2-40B4-BE49-F238E27FC236}">
                <a16:creationId xmlns:a16="http://schemas.microsoft.com/office/drawing/2014/main" id="{94FAFCA6-C6EC-4027-57BC-F43FB371EB2B}"/>
              </a:ext>
            </a:extLst>
          </p:cNvPr>
          <p:cNvSpPr txBox="1"/>
          <p:nvPr/>
        </p:nvSpPr>
        <p:spPr>
          <a:xfrm>
            <a:off x="611560" y="1521619"/>
            <a:ext cx="7632700" cy="3908121"/>
          </a:xfrm>
          <a:prstGeom prst="rect">
            <a:avLst/>
          </a:prstGeom>
        </p:spPr>
        <p:txBody>
          <a:bodyPr lIns="0" tIns="9525" rIns="0" bIns="0">
            <a:spAutoFit/>
          </a:bodyPr>
          <a:lstStyle>
            <a:lvl1pPr marL="9525">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ts val="3150"/>
              </a:lnSpc>
              <a:spcBef>
                <a:spcPts val="75"/>
              </a:spcBef>
            </a:pPr>
            <a:r>
              <a:rPr lang="en-US" altLang="en-US" sz="2000" b="1" dirty="0">
                <a:solidFill>
                  <a:schemeClr val="accent6"/>
                </a:solidFill>
                <a:cs typeface="Arial" panose="020B0604020202020204" pitchFamily="34" charset="0"/>
              </a:rPr>
              <a:t>Flexible Box Layout Module - Flexbox</a:t>
            </a:r>
          </a:p>
          <a:p>
            <a:pPr marL="352425" indent="-342900">
              <a:spcBef>
                <a:spcPts val="175"/>
              </a:spcBef>
              <a:buFont typeface="Arial" panose="020B0604020202020204" pitchFamily="34" charset="0"/>
              <a:buChar char="•"/>
            </a:pPr>
            <a:r>
              <a:rPr lang="en-US" altLang="en-US" sz="2000" dirty="0">
                <a:solidFill>
                  <a:srgbClr val="585858"/>
                </a:solidFill>
                <a:ea typeface="Arial MT"/>
                <a:cs typeface="Arial" panose="020B0604020202020204" pitchFamily="34" charset="0"/>
              </a:rPr>
              <a:t>Popular CSS Layout Module</a:t>
            </a:r>
          </a:p>
          <a:p>
            <a:pPr marL="352425" indent="-342900">
              <a:spcBef>
                <a:spcPts val="175"/>
              </a:spcBef>
              <a:buFont typeface="Arial" panose="020B0604020202020204" pitchFamily="34" charset="0"/>
              <a:buChar char="•"/>
            </a:pPr>
            <a:r>
              <a:rPr lang="en-US" altLang="en-US" sz="2000" dirty="0">
                <a:solidFill>
                  <a:srgbClr val="585858"/>
                </a:solidFill>
                <a:ea typeface="Arial MT"/>
                <a:cs typeface="Arial" panose="020B0604020202020204" pitchFamily="34" charset="0"/>
              </a:rPr>
              <a:t>Offers greater control over arranging components of  web page items </a:t>
            </a:r>
            <a:r>
              <a:rPr lang="en-US" altLang="en-US" sz="2000" b="1" dirty="0">
                <a:solidFill>
                  <a:schemeClr val="accent2"/>
                </a:solidFill>
                <a:cs typeface="Arial" panose="020B0604020202020204" pitchFamily="34" charset="0"/>
              </a:rPr>
              <a:t>along one axis </a:t>
            </a:r>
            <a:r>
              <a:rPr lang="en-US" altLang="en-US" sz="2000" dirty="0">
                <a:solidFill>
                  <a:srgbClr val="585858"/>
                </a:solidFill>
                <a:ea typeface="Arial MT"/>
                <a:cs typeface="Arial" panose="020B0604020202020204" pitchFamily="34" charset="0"/>
              </a:rPr>
              <a:t>(Ex: menu bars, product listings, galleries)</a:t>
            </a:r>
            <a:endParaRPr lang="en-US" altLang="en-US" sz="2000" dirty="0">
              <a:ea typeface="Arial MT"/>
              <a:cs typeface="Arial" panose="020B0604020202020204" pitchFamily="34" charset="0"/>
            </a:endParaRPr>
          </a:p>
          <a:p>
            <a:endParaRPr lang="en-US" altLang="en-US" sz="2000" dirty="0">
              <a:ea typeface="Arial MT"/>
              <a:cs typeface="Arial" panose="020B0604020202020204" pitchFamily="34" charset="0"/>
            </a:endParaRPr>
          </a:p>
          <a:p>
            <a:pPr>
              <a:spcBef>
                <a:spcPts val="13"/>
              </a:spcBef>
            </a:pPr>
            <a:endParaRPr lang="en-US" altLang="en-US" sz="2000" dirty="0">
              <a:ea typeface="Arial MT"/>
              <a:cs typeface="Arial" panose="020B0604020202020204" pitchFamily="34" charset="0"/>
            </a:endParaRPr>
          </a:p>
          <a:p>
            <a:r>
              <a:rPr lang="en-US" altLang="en-US" sz="2000" b="1" dirty="0">
                <a:solidFill>
                  <a:schemeClr val="accent2"/>
                </a:solidFill>
                <a:cs typeface="Arial" panose="020B0604020202020204" pitchFamily="34" charset="0"/>
              </a:rPr>
              <a:t>Advantages of Flexbox</a:t>
            </a:r>
            <a:endParaRPr lang="en-US" altLang="en-US" sz="2000" dirty="0">
              <a:solidFill>
                <a:schemeClr val="accent2"/>
              </a:solidFill>
              <a:cs typeface="Arial" panose="020B0604020202020204" pitchFamily="34" charset="0"/>
            </a:endParaRPr>
          </a:p>
          <a:p>
            <a:pPr marL="352425" indent="-342900">
              <a:spcBef>
                <a:spcPts val="50"/>
              </a:spcBef>
              <a:buClr>
                <a:srgbClr val="000000"/>
              </a:buClr>
              <a:buFont typeface="Arial" panose="020B0604020202020204" pitchFamily="34" charset="0"/>
              <a:buChar char="•"/>
            </a:pPr>
            <a:r>
              <a:rPr lang="en-US" altLang="en-US" sz="2000" dirty="0">
                <a:solidFill>
                  <a:srgbClr val="404040"/>
                </a:solidFill>
                <a:ea typeface="Arial MT"/>
                <a:cs typeface="Arial" panose="020B0604020202020204" pitchFamily="34" charset="0"/>
              </a:rPr>
              <a:t>Ability to “flex” – stretch or shrink inside their containers</a:t>
            </a:r>
            <a:endParaRPr lang="en-US" altLang="en-US" sz="2000" dirty="0">
              <a:ea typeface="Arial MT"/>
              <a:cs typeface="Arial" panose="020B0604020202020204" pitchFamily="34" charset="0"/>
            </a:endParaRPr>
          </a:p>
          <a:p>
            <a:pPr marL="352425" indent="-342900">
              <a:spcBef>
                <a:spcPts val="50"/>
              </a:spcBef>
              <a:buClr>
                <a:srgbClr val="000000"/>
              </a:buClr>
              <a:buFont typeface="Arial" panose="020B0604020202020204" pitchFamily="34" charset="0"/>
              <a:buChar char="•"/>
            </a:pPr>
            <a:r>
              <a:rPr lang="en-US" altLang="en-US" sz="2000" dirty="0">
                <a:solidFill>
                  <a:srgbClr val="404040"/>
                </a:solidFill>
                <a:ea typeface="Arial MT"/>
                <a:cs typeface="Arial" panose="020B0604020202020204" pitchFamily="34" charset="0"/>
              </a:rPr>
              <a:t>Ability to make all neighboring items the same height</a:t>
            </a:r>
            <a:endParaRPr lang="en-US" altLang="en-US" sz="2000" dirty="0">
              <a:ea typeface="Arial MT"/>
              <a:cs typeface="Arial" panose="020B0604020202020204" pitchFamily="34" charset="0"/>
            </a:endParaRPr>
          </a:p>
          <a:p>
            <a:pPr marL="352425" indent="-342900">
              <a:spcBef>
                <a:spcPts val="50"/>
              </a:spcBef>
              <a:buClr>
                <a:srgbClr val="000000"/>
              </a:buClr>
              <a:buFont typeface="Arial" panose="020B0604020202020204" pitchFamily="34" charset="0"/>
              <a:buChar char="•"/>
            </a:pPr>
            <a:r>
              <a:rPr lang="en-US" altLang="en-US" sz="2000" dirty="0">
                <a:solidFill>
                  <a:srgbClr val="404040"/>
                </a:solidFill>
                <a:ea typeface="Arial MT"/>
                <a:cs typeface="Arial" panose="020B0604020202020204" pitchFamily="34" charset="0"/>
              </a:rPr>
              <a:t>Easy horizontal and vertical centering</a:t>
            </a:r>
            <a:endParaRPr lang="en-US" altLang="en-US" sz="2000" dirty="0">
              <a:ea typeface="Arial MT"/>
              <a:cs typeface="Arial" panose="020B0604020202020204" pitchFamily="34" charset="0"/>
            </a:endParaRPr>
          </a:p>
          <a:p>
            <a:pPr marL="352425" indent="-342900">
              <a:spcBef>
                <a:spcPts val="50"/>
              </a:spcBef>
              <a:buClr>
                <a:srgbClr val="000000"/>
              </a:buClr>
              <a:buFont typeface="Arial" panose="020B0604020202020204" pitchFamily="34" charset="0"/>
              <a:buChar char="•"/>
            </a:pPr>
            <a:r>
              <a:rPr lang="en-US" altLang="en-US" sz="2000" dirty="0">
                <a:solidFill>
                  <a:srgbClr val="404040"/>
                </a:solidFill>
                <a:ea typeface="Arial MT"/>
                <a:cs typeface="Arial" panose="020B0604020202020204" pitchFamily="34" charset="0"/>
              </a:rPr>
              <a:t>Ability to change the display order of items independent of the html source</a:t>
            </a:r>
            <a:endParaRPr lang="en-US" altLang="en-US" sz="2000" dirty="0">
              <a:ea typeface="Arial MT"/>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BCDC6DA4-6ABB-398F-ECF7-49538AF097EB}"/>
              </a:ext>
            </a:extLst>
          </p:cNvPr>
          <p:cNvSpPr txBox="1">
            <a:spLocks noGrp="1"/>
          </p:cNvSpPr>
          <p:nvPr>
            <p:ph type="title"/>
          </p:nvPr>
        </p:nvSpPr>
        <p:spPr>
          <a:xfrm>
            <a:off x="323528" y="362463"/>
            <a:ext cx="6153150" cy="687387"/>
          </a:xfrm>
        </p:spPr>
        <p:txBody>
          <a:bodyPr lIns="0" tIns="9525" rIns="0" bIns="0" rtlCol="0">
            <a:spAutoFit/>
          </a:bodyPr>
          <a:lstStyle/>
          <a:p>
            <a:pPr marL="9525">
              <a:spcBef>
                <a:spcPts val="75"/>
              </a:spcBef>
              <a:defRPr/>
            </a:pPr>
            <a:r>
              <a:rPr spc="-4" dirty="0"/>
              <a:t>CSS</a:t>
            </a:r>
            <a:r>
              <a:rPr spc="-15" dirty="0"/>
              <a:t> </a:t>
            </a:r>
            <a:r>
              <a:rPr dirty="0"/>
              <a:t>Layout</a:t>
            </a:r>
            <a:r>
              <a:rPr spc="-26" dirty="0"/>
              <a:t> </a:t>
            </a:r>
            <a:r>
              <a:rPr dirty="0"/>
              <a:t>-</a:t>
            </a:r>
            <a:r>
              <a:rPr spc="-15" dirty="0"/>
              <a:t> </a:t>
            </a:r>
            <a:r>
              <a:rPr spc="-8" dirty="0"/>
              <a:t>Flexbox</a:t>
            </a:r>
            <a:endParaRPr dirty="0"/>
          </a:p>
        </p:txBody>
      </p:sp>
      <p:sp>
        <p:nvSpPr>
          <p:cNvPr id="3" name="object 3">
            <a:extLst>
              <a:ext uri="{FF2B5EF4-FFF2-40B4-BE49-F238E27FC236}">
                <a16:creationId xmlns:a16="http://schemas.microsoft.com/office/drawing/2014/main" id="{8FE62E8B-9592-E545-C9E5-BA48383D288F}"/>
              </a:ext>
            </a:extLst>
          </p:cNvPr>
          <p:cNvSpPr txBox="1"/>
          <p:nvPr/>
        </p:nvSpPr>
        <p:spPr>
          <a:xfrm>
            <a:off x="304094" y="1429310"/>
            <a:ext cx="8496944" cy="919643"/>
          </a:xfrm>
          <a:prstGeom prst="rect">
            <a:avLst/>
          </a:prstGeom>
        </p:spPr>
        <p:txBody>
          <a:bodyPr wrap="square" lIns="0" tIns="9049" rIns="0" bIns="0">
            <a:spAutoFit/>
          </a:bodyPr>
          <a:lstStyle/>
          <a:p>
            <a:pPr marL="9525">
              <a:lnSpc>
                <a:spcPts val="2325"/>
              </a:lnSpc>
              <a:spcBef>
                <a:spcPts val="71"/>
              </a:spcBef>
              <a:defRPr/>
            </a:pPr>
            <a:r>
              <a:rPr sz="2100" b="1" spc="-8" dirty="0">
                <a:solidFill>
                  <a:schemeClr val="accent6"/>
                </a:solidFill>
                <a:cs typeface="Arial" panose="020B0604020202020204" pitchFamily="34" charset="0"/>
              </a:rPr>
              <a:t>Flexbox</a:t>
            </a:r>
            <a:r>
              <a:rPr sz="2100" b="1" spc="-75" dirty="0">
                <a:solidFill>
                  <a:schemeClr val="accent6"/>
                </a:solidFill>
                <a:cs typeface="Arial" panose="020B0604020202020204" pitchFamily="34" charset="0"/>
              </a:rPr>
              <a:t> </a:t>
            </a:r>
            <a:r>
              <a:rPr sz="2100" b="1" spc="-8" dirty="0">
                <a:solidFill>
                  <a:schemeClr val="accent6"/>
                </a:solidFill>
                <a:cs typeface="Arial" panose="020B0604020202020204" pitchFamily="34" charset="0"/>
              </a:rPr>
              <a:t>Container</a:t>
            </a:r>
            <a:endParaRPr lang="en-GB" sz="2100" b="1" spc="-8" dirty="0">
              <a:solidFill>
                <a:schemeClr val="accent6"/>
              </a:solidFill>
              <a:cs typeface="Arial" panose="020B0604020202020204" pitchFamily="34" charset="0"/>
            </a:endParaRPr>
          </a:p>
          <a:p>
            <a:pPr marL="9525">
              <a:defRPr/>
            </a:pPr>
            <a:r>
              <a:rPr lang="en-US" sz="2000" spc="-4" dirty="0">
                <a:solidFill>
                  <a:srgbClr val="585858"/>
                </a:solidFill>
                <a:cs typeface="Arial" panose="020B0604020202020204" pitchFamily="34" charset="0"/>
              </a:rPr>
              <a:t>C</a:t>
            </a:r>
            <a:r>
              <a:rPr sz="2000" spc="-4" dirty="0">
                <a:solidFill>
                  <a:srgbClr val="585858"/>
                </a:solidFill>
                <a:cs typeface="Arial" panose="020B0604020202020204" pitchFamily="34" charset="0"/>
              </a:rPr>
              <a:t>reate</a:t>
            </a:r>
            <a:r>
              <a:rPr sz="2000" spc="8" dirty="0">
                <a:solidFill>
                  <a:srgbClr val="585858"/>
                </a:solidFill>
                <a:cs typeface="Arial" panose="020B0604020202020204" pitchFamily="34" charset="0"/>
              </a:rPr>
              <a:t> </a:t>
            </a:r>
            <a:r>
              <a:rPr sz="2000" dirty="0">
                <a:solidFill>
                  <a:srgbClr val="585858"/>
                </a:solidFill>
                <a:cs typeface="Arial" panose="020B0604020202020204" pitchFamily="34" charset="0"/>
              </a:rPr>
              <a:t>a </a:t>
            </a:r>
            <a:r>
              <a:rPr sz="2000" spc="-4" dirty="0">
                <a:solidFill>
                  <a:srgbClr val="585858"/>
                </a:solidFill>
                <a:cs typeface="Arial" panose="020B0604020202020204" pitchFamily="34" charset="0"/>
              </a:rPr>
              <a:t>flex</a:t>
            </a:r>
            <a:r>
              <a:rPr sz="2000" dirty="0">
                <a:solidFill>
                  <a:srgbClr val="585858"/>
                </a:solidFill>
                <a:cs typeface="Arial" panose="020B0604020202020204" pitchFamily="34" charset="0"/>
              </a:rPr>
              <a:t> </a:t>
            </a:r>
            <a:r>
              <a:rPr sz="2000" spc="-4" dirty="0">
                <a:solidFill>
                  <a:srgbClr val="585858"/>
                </a:solidFill>
                <a:cs typeface="Arial" panose="020B0604020202020204" pitchFamily="34" charset="0"/>
              </a:rPr>
              <a:t>container</a:t>
            </a:r>
            <a:r>
              <a:rPr sz="2000" spc="8" dirty="0">
                <a:solidFill>
                  <a:srgbClr val="585858"/>
                </a:solidFill>
                <a:cs typeface="Arial" panose="020B0604020202020204" pitchFamily="34" charset="0"/>
              </a:rPr>
              <a:t> </a:t>
            </a:r>
            <a:r>
              <a:rPr sz="2000" spc="-4" dirty="0">
                <a:solidFill>
                  <a:srgbClr val="585858"/>
                </a:solidFill>
                <a:cs typeface="Arial" panose="020B0604020202020204" pitchFamily="34" charset="0"/>
              </a:rPr>
              <a:t>by setting </a:t>
            </a:r>
            <a:r>
              <a:rPr sz="2000" dirty="0">
                <a:solidFill>
                  <a:srgbClr val="585858"/>
                </a:solidFill>
                <a:cs typeface="Arial" panose="020B0604020202020204" pitchFamily="34" charset="0"/>
              </a:rPr>
              <a:t>the</a:t>
            </a:r>
            <a:r>
              <a:rPr sz="2000" spc="-4" dirty="0">
                <a:solidFill>
                  <a:srgbClr val="585858"/>
                </a:solidFill>
                <a:cs typeface="Arial" panose="020B0604020202020204" pitchFamily="34" charset="0"/>
              </a:rPr>
              <a:t> </a:t>
            </a:r>
            <a:r>
              <a:rPr sz="2000" spc="-8" dirty="0">
                <a:solidFill>
                  <a:srgbClr val="585858"/>
                </a:solidFill>
                <a:cs typeface="Arial" panose="020B0604020202020204" pitchFamily="34" charset="0"/>
              </a:rPr>
              <a:t>element’s</a:t>
            </a:r>
            <a:r>
              <a:rPr sz="2000" spc="23" dirty="0">
                <a:solidFill>
                  <a:srgbClr val="585858"/>
                </a:solidFill>
                <a:cs typeface="Arial" panose="020B0604020202020204" pitchFamily="34" charset="0"/>
              </a:rPr>
              <a:t> </a:t>
            </a:r>
            <a:r>
              <a:rPr sz="2000" b="1" dirty="0">
                <a:solidFill>
                  <a:srgbClr val="BB791C"/>
                </a:solidFill>
                <a:cs typeface="Arial" panose="020B0604020202020204" pitchFamily="34" charset="0"/>
              </a:rPr>
              <a:t>display</a:t>
            </a:r>
            <a:r>
              <a:rPr sz="2000" b="1" spc="-11" dirty="0">
                <a:solidFill>
                  <a:srgbClr val="BB791C"/>
                </a:solidFill>
                <a:cs typeface="Arial" panose="020B0604020202020204" pitchFamily="34" charset="0"/>
              </a:rPr>
              <a:t> </a:t>
            </a:r>
            <a:r>
              <a:rPr sz="2000" spc="-4" dirty="0">
                <a:solidFill>
                  <a:srgbClr val="585858"/>
                </a:solidFill>
                <a:cs typeface="Arial" panose="020B0604020202020204" pitchFamily="34" charset="0"/>
              </a:rPr>
              <a:t>property</a:t>
            </a:r>
            <a:r>
              <a:rPr sz="2000" spc="15" dirty="0">
                <a:solidFill>
                  <a:srgbClr val="585858"/>
                </a:solidFill>
                <a:cs typeface="Arial" panose="020B0604020202020204" pitchFamily="34" charset="0"/>
              </a:rPr>
              <a:t> </a:t>
            </a:r>
            <a:r>
              <a:rPr sz="2000" dirty="0">
                <a:solidFill>
                  <a:srgbClr val="585858"/>
                </a:solidFill>
                <a:cs typeface="Arial" panose="020B0604020202020204" pitchFamily="34" charset="0"/>
              </a:rPr>
              <a:t>to</a:t>
            </a:r>
            <a:r>
              <a:rPr sz="2000" spc="4" dirty="0">
                <a:solidFill>
                  <a:srgbClr val="585858"/>
                </a:solidFill>
                <a:cs typeface="Arial" panose="020B0604020202020204" pitchFamily="34" charset="0"/>
              </a:rPr>
              <a:t> </a:t>
            </a:r>
            <a:r>
              <a:rPr sz="2000" b="1" dirty="0">
                <a:solidFill>
                  <a:srgbClr val="BB791C"/>
                </a:solidFill>
                <a:cs typeface="Arial" panose="020B0604020202020204" pitchFamily="34" charset="0"/>
              </a:rPr>
              <a:t>flex</a:t>
            </a:r>
            <a:r>
              <a:rPr lang="en-GB" sz="2000" b="1" dirty="0">
                <a:solidFill>
                  <a:srgbClr val="BB791C"/>
                </a:solidFill>
                <a:cs typeface="Arial" panose="020B0604020202020204" pitchFamily="34" charset="0"/>
              </a:rPr>
              <a:t> </a:t>
            </a:r>
            <a:r>
              <a:rPr lang="en-GB" sz="2000" dirty="0">
                <a:cs typeface="Arial" panose="020B0604020202020204" pitchFamily="34" charset="0"/>
              </a:rPr>
              <a:t>or</a:t>
            </a:r>
            <a:r>
              <a:rPr lang="en-GB" sz="2000" b="1" dirty="0">
                <a:solidFill>
                  <a:srgbClr val="BB791C"/>
                </a:solidFill>
                <a:cs typeface="Arial" panose="020B0604020202020204" pitchFamily="34" charset="0"/>
              </a:rPr>
              <a:t> inline-flex</a:t>
            </a:r>
            <a:r>
              <a:rPr lang="en-GB" sz="2000" dirty="0">
                <a:cs typeface="Arial" panose="020B0604020202020204" pitchFamily="34" charset="0"/>
              </a:rPr>
              <a:t>.</a:t>
            </a:r>
            <a:r>
              <a:rPr lang="en-GB" sz="2000" b="1" dirty="0">
                <a:solidFill>
                  <a:srgbClr val="BB791C"/>
                </a:solidFill>
                <a:cs typeface="Arial" panose="020B0604020202020204" pitchFamily="34" charset="0"/>
              </a:rPr>
              <a:t> </a:t>
            </a:r>
            <a:endParaRPr sz="2000" dirty="0">
              <a:cs typeface="Arial" panose="020B0604020202020204" pitchFamily="34" charset="0"/>
            </a:endParaRPr>
          </a:p>
        </p:txBody>
      </p:sp>
      <p:sp>
        <p:nvSpPr>
          <p:cNvPr id="4" name="object 4">
            <a:extLst>
              <a:ext uri="{FF2B5EF4-FFF2-40B4-BE49-F238E27FC236}">
                <a16:creationId xmlns:a16="http://schemas.microsoft.com/office/drawing/2014/main" id="{798AD0A4-B8FA-B0A9-D67F-646BE8DAD920}"/>
              </a:ext>
            </a:extLst>
          </p:cNvPr>
          <p:cNvSpPr txBox="1"/>
          <p:nvPr/>
        </p:nvSpPr>
        <p:spPr>
          <a:xfrm>
            <a:off x="699021" y="4097525"/>
            <a:ext cx="1825625" cy="1624964"/>
          </a:xfrm>
          <a:prstGeom prst="rect">
            <a:avLst/>
          </a:prstGeom>
        </p:spPr>
        <p:txBody>
          <a:bodyPr lIns="0" tIns="9049" rIns="0" bIns="0">
            <a:spAutoFit/>
          </a:bodyPr>
          <a:lstStyle/>
          <a:p>
            <a:pPr marL="9525">
              <a:spcBef>
                <a:spcPts val="71"/>
              </a:spcBef>
              <a:defRPr/>
            </a:pPr>
            <a:r>
              <a:rPr sz="2100" spc="-8" dirty="0">
                <a:solidFill>
                  <a:srgbClr val="585858"/>
                </a:solidFill>
                <a:cs typeface="Arial" panose="020B0604020202020204" pitchFamily="34" charset="0"/>
              </a:rPr>
              <a:t>.flex-container</a:t>
            </a:r>
            <a:r>
              <a:rPr sz="2100" spc="-15" dirty="0">
                <a:solidFill>
                  <a:srgbClr val="585858"/>
                </a:solidFill>
                <a:cs typeface="Arial" panose="020B0604020202020204" pitchFamily="34" charset="0"/>
              </a:rPr>
              <a:t> </a:t>
            </a:r>
            <a:r>
              <a:rPr sz="2100" spc="-4" dirty="0">
                <a:solidFill>
                  <a:srgbClr val="585858"/>
                </a:solidFill>
                <a:cs typeface="Arial" panose="020B0604020202020204" pitchFamily="34" charset="0"/>
              </a:rPr>
              <a:t>{</a:t>
            </a:r>
            <a:endParaRPr sz="2100" dirty="0">
              <a:cs typeface="Arial" panose="020B0604020202020204" pitchFamily="34" charset="0"/>
            </a:endParaRPr>
          </a:p>
          <a:p>
            <a:pPr marL="352425">
              <a:defRPr/>
            </a:pPr>
            <a:r>
              <a:rPr sz="2100" b="1" spc="-4" dirty="0">
                <a:solidFill>
                  <a:srgbClr val="BB791C"/>
                </a:solidFill>
                <a:cs typeface="Arial" panose="020B0604020202020204" pitchFamily="34" charset="0"/>
              </a:rPr>
              <a:t>display:</a:t>
            </a:r>
            <a:r>
              <a:rPr sz="2100" b="1" spc="-30" dirty="0">
                <a:solidFill>
                  <a:srgbClr val="BB791C"/>
                </a:solidFill>
                <a:cs typeface="Arial" panose="020B0604020202020204" pitchFamily="34" charset="0"/>
              </a:rPr>
              <a:t> </a:t>
            </a:r>
            <a:r>
              <a:rPr sz="2100" b="1" spc="-8" dirty="0">
                <a:solidFill>
                  <a:srgbClr val="BB791C"/>
                </a:solidFill>
                <a:cs typeface="Arial" panose="020B0604020202020204" pitchFamily="34" charset="0"/>
              </a:rPr>
              <a:t>flex;</a:t>
            </a:r>
            <a:endParaRPr sz="2100" dirty="0">
              <a:cs typeface="Arial" panose="020B0604020202020204" pitchFamily="34" charset="0"/>
            </a:endParaRPr>
          </a:p>
          <a:p>
            <a:pPr marL="9525">
              <a:defRPr/>
            </a:pPr>
            <a:r>
              <a:rPr sz="2100" spc="-4" dirty="0">
                <a:solidFill>
                  <a:srgbClr val="585858"/>
                </a:solidFill>
                <a:cs typeface="Arial" panose="020B0604020202020204" pitchFamily="34" charset="0"/>
              </a:rPr>
              <a:t>}</a:t>
            </a:r>
            <a:endParaRPr sz="2100" dirty="0">
              <a:cs typeface="Arial" panose="020B0604020202020204" pitchFamily="34" charset="0"/>
            </a:endParaRPr>
          </a:p>
        </p:txBody>
      </p:sp>
      <p:sp>
        <p:nvSpPr>
          <p:cNvPr id="5" name="object 5">
            <a:extLst>
              <a:ext uri="{FF2B5EF4-FFF2-40B4-BE49-F238E27FC236}">
                <a16:creationId xmlns:a16="http://schemas.microsoft.com/office/drawing/2014/main" id="{E83F2106-37F0-386C-7CFB-6919CD8F3C75}"/>
              </a:ext>
            </a:extLst>
          </p:cNvPr>
          <p:cNvSpPr txBox="1"/>
          <p:nvPr/>
        </p:nvSpPr>
        <p:spPr>
          <a:xfrm>
            <a:off x="5652120" y="4099267"/>
            <a:ext cx="2544762" cy="1301799"/>
          </a:xfrm>
          <a:prstGeom prst="rect">
            <a:avLst/>
          </a:prstGeom>
        </p:spPr>
        <p:txBody>
          <a:bodyPr lIns="0" tIns="9049" rIns="0" bIns="0">
            <a:spAutoFit/>
          </a:bodyPr>
          <a:lstStyle/>
          <a:p>
            <a:pPr marL="9525">
              <a:spcBef>
                <a:spcPts val="71"/>
              </a:spcBef>
              <a:defRPr/>
            </a:pPr>
            <a:r>
              <a:rPr sz="2100" spc="-8" dirty="0">
                <a:solidFill>
                  <a:srgbClr val="585858"/>
                </a:solidFill>
                <a:cs typeface="Arial" panose="020B0604020202020204" pitchFamily="34" charset="0"/>
              </a:rPr>
              <a:t>.flex-container</a:t>
            </a:r>
            <a:r>
              <a:rPr sz="2100" spc="-15" dirty="0">
                <a:solidFill>
                  <a:srgbClr val="585858"/>
                </a:solidFill>
                <a:cs typeface="Arial" panose="020B0604020202020204" pitchFamily="34" charset="0"/>
              </a:rPr>
              <a:t> </a:t>
            </a:r>
            <a:r>
              <a:rPr sz="2100" spc="-4" dirty="0">
                <a:solidFill>
                  <a:srgbClr val="585858"/>
                </a:solidFill>
                <a:cs typeface="Arial" panose="020B0604020202020204" pitchFamily="34" charset="0"/>
              </a:rPr>
              <a:t>{</a:t>
            </a:r>
            <a:endParaRPr sz="2100" dirty="0">
              <a:cs typeface="Arial" panose="020B0604020202020204" pitchFamily="34" charset="0"/>
            </a:endParaRPr>
          </a:p>
          <a:p>
            <a:pPr marL="352425">
              <a:defRPr/>
            </a:pPr>
            <a:r>
              <a:rPr sz="2100" b="1" spc="-4" dirty="0">
                <a:solidFill>
                  <a:srgbClr val="BB791C"/>
                </a:solidFill>
                <a:cs typeface="Arial" panose="020B0604020202020204" pitchFamily="34" charset="0"/>
              </a:rPr>
              <a:t>display:</a:t>
            </a:r>
            <a:r>
              <a:rPr sz="2100" b="1" spc="-15" dirty="0">
                <a:solidFill>
                  <a:srgbClr val="BB791C"/>
                </a:solidFill>
                <a:cs typeface="Arial" panose="020B0604020202020204" pitchFamily="34" charset="0"/>
              </a:rPr>
              <a:t> </a:t>
            </a:r>
            <a:r>
              <a:rPr sz="2100" b="1" spc="-8" dirty="0">
                <a:solidFill>
                  <a:srgbClr val="BB791C"/>
                </a:solidFill>
                <a:cs typeface="Arial" panose="020B0604020202020204" pitchFamily="34" charset="0"/>
              </a:rPr>
              <a:t>inline-flex;</a:t>
            </a:r>
            <a:endParaRPr sz="2100" dirty="0">
              <a:cs typeface="Arial" panose="020B0604020202020204" pitchFamily="34" charset="0"/>
            </a:endParaRPr>
          </a:p>
          <a:p>
            <a:pPr marL="9525">
              <a:defRPr/>
            </a:pPr>
            <a:r>
              <a:rPr sz="2100" spc="-4" dirty="0">
                <a:solidFill>
                  <a:srgbClr val="585858"/>
                </a:solidFill>
                <a:cs typeface="Arial" panose="020B0604020202020204" pitchFamily="34" charset="0"/>
              </a:rPr>
              <a:t>}</a:t>
            </a:r>
            <a:endParaRPr sz="2100" dirty="0">
              <a:cs typeface="Arial" panose="020B0604020202020204" pitchFamily="34" charset="0"/>
            </a:endParaRPr>
          </a:p>
        </p:txBody>
      </p:sp>
      <p:sp>
        <p:nvSpPr>
          <p:cNvPr id="6" name="object 6">
            <a:extLst>
              <a:ext uri="{FF2B5EF4-FFF2-40B4-BE49-F238E27FC236}">
                <a16:creationId xmlns:a16="http://schemas.microsoft.com/office/drawing/2014/main" id="{AC12653D-66CA-C122-4ED3-4D5884E47B2E}"/>
              </a:ext>
            </a:extLst>
          </p:cNvPr>
          <p:cNvSpPr txBox="1"/>
          <p:nvPr/>
        </p:nvSpPr>
        <p:spPr>
          <a:xfrm>
            <a:off x="3635896" y="4365104"/>
            <a:ext cx="875779" cy="317395"/>
          </a:xfrm>
          <a:prstGeom prst="rect">
            <a:avLst/>
          </a:prstGeom>
        </p:spPr>
        <p:txBody>
          <a:bodyPr wrap="square" lIns="0" tIns="9525" rIns="0" bIns="0">
            <a:spAutoFit/>
          </a:bodyPr>
          <a:lstStyle/>
          <a:p>
            <a:pPr marL="9525">
              <a:spcBef>
                <a:spcPts val="75"/>
              </a:spcBef>
              <a:defRPr/>
            </a:pPr>
            <a:r>
              <a:rPr sz="2000" dirty="0">
                <a:solidFill>
                  <a:srgbClr val="7E7E7E"/>
                </a:solidFill>
                <a:latin typeface="Corbel"/>
                <a:cs typeface="Corbel"/>
              </a:rPr>
              <a:t>/*</a:t>
            </a:r>
            <a:r>
              <a:rPr sz="2000" spc="-30" dirty="0">
                <a:solidFill>
                  <a:srgbClr val="7E7E7E"/>
                </a:solidFill>
                <a:latin typeface="Corbel"/>
                <a:cs typeface="Corbel"/>
              </a:rPr>
              <a:t> </a:t>
            </a:r>
            <a:r>
              <a:rPr sz="2000" spc="-4" dirty="0">
                <a:solidFill>
                  <a:srgbClr val="7E7E7E"/>
                </a:solidFill>
                <a:latin typeface="Corbel"/>
                <a:cs typeface="Corbel"/>
              </a:rPr>
              <a:t>or</a:t>
            </a:r>
            <a:r>
              <a:rPr sz="2000" spc="-34" dirty="0">
                <a:solidFill>
                  <a:srgbClr val="7E7E7E"/>
                </a:solidFill>
                <a:latin typeface="Corbel"/>
                <a:cs typeface="Corbel"/>
              </a:rPr>
              <a:t> </a:t>
            </a:r>
            <a:r>
              <a:rPr sz="2000" dirty="0">
                <a:solidFill>
                  <a:srgbClr val="7E7E7E"/>
                </a:solidFill>
                <a:latin typeface="Corbel"/>
                <a:cs typeface="Corbel"/>
              </a:rPr>
              <a:t>*/</a:t>
            </a:r>
            <a:endParaRPr sz="2000" dirty="0">
              <a:latin typeface="Corbel"/>
              <a:cs typeface="Corbel"/>
            </a:endParaRPr>
          </a:p>
        </p:txBody>
      </p:sp>
      <p:sp>
        <p:nvSpPr>
          <p:cNvPr id="7" name="object 7">
            <a:extLst>
              <a:ext uri="{FF2B5EF4-FFF2-40B4-BE49-F238E27FC236}">
                <a16:creationId xmlns:a16="http://schemas.microsoft.com/office/drawing/2014/main" id="{2B66F9A0-E3A5-5000-19EF-75A619B8B342}"/>
              </a:ext>
            </a:extLst>
          </p:cNvPr>
          <p:cNvSpPr txBox="1"/>
          <p:nvPr/>
        </p:nvSpPr>
        <p:spPr>
          <a:xfrm>
            <a:off x="1259632" y="5502513"/>
            <a:ext cx="6821326" cy="625171"/>
          </a:xfrm>
          <a:prstGeom prst="rect">
            <a:avLst/>
          </a:prstGeom>
        </p:spPr>
        <p:txBody>
          <a:bodyPr wrap="square" lIns="0" tIns="9525" rIns="0" bIns="0">
            <a:spAutoFit/>
          </a:bodyPr>
          <a:lstStyle/>
          <a:p>
            <a:pPr marL="476" algn="ctr">
              <a:spcBef>
                <a:spcPts val="75"/>
              </a:spcBef>
              <a:defRPr/>
            </a:pPr>
            <a:r>
              <a:rPr sz="2000" b="1" dirty="0">
                <a:cs typeface="Arial" panose="020B0604020202020204" pitchFamily="34" charset="0"/>
              </a:rPr>
              <a:t>Display:</a:t>
            </a:r>
            <a:r>
              <a:rPr sz="2000" b="1" spc="-38" dirty="0">
                <a:cs typeface="Arial" panose="020B0604020202020204" pitchFamily="34" charset="0"/>
              </a:rPr>
              <a:t> </a:t>
            </a:r>
            <a:r>
              <a:rPr sz="2000" b="1" dirty="0">
                <a:cs typeface="Arial" panose="020B0604020202020204" pitchFamily="34" charset="0"/>
              </a:rPr>
              <a:t>flex</a:t>
            </a:r>
            <a:r>
              <a:rPr sz="2000" b="1" spc="4" dirty="0">
                <a:cs typeface="Arial" panose="020B0604020202020204" pitchFamily="34" charset="0"/>
              </a:rPr>
              <a:t> </a:t>
            </a:r>
            <a:r>
              <a:rPr sz="2000" spc="-4" dirty="0">
                <a:cs typeface="Arial" panose="020B0604020202020204" pitchFamily="34" charset="0"/>
              </a:rPr>
              <a:t>creates</a:t>
            </a:r>
            <a:r>
              <a:rPr sz="2000" spc="-8" dirty="0">
                <a:cs typeface="Arial" panose="020B0604020202020204" pitchFamily="34" charset="0"/>
              </a:rPr>
              <a:t> </a:t>
            </a:r>
            <a:r>
              <a:rPr sz="2000" dirty="0">
                <a:cs typeface="Arial" panose="020B0604020202020204" pitchFamily="34" charset="0"/>
              </a:rPr>
              <a:t>a block-level</a:t>
            </a:r>
            <a:r>
              <a:rPr sz="2000" spc="-19" dirty="0">
                <a:cs typeface="Arial" panose="020B0604020202020204" pitchFamily="34" charset="0"/>
              </a:rPr>
              <a:t> </a:t>
            </a:r>
            <a:r>
              <a:rPr sz="2000" dirty="0">
                <a:cs typeface="Arial" panose="020B0604020202020204" pitchFamily="34" charset="0"/>
              </a:rPr>
              <a:t>flex</a:t>
            </a:r>
            <a:r>
              <a:rPr sz="2000" spc="4" dirty="0">
                <a:cs typeface="Arial" panose="020B0604020202020204" pitchFamily="34" charset="0"/>
              </a:rPr>
              <a:t> </a:t>
            </a:r>
            <a:r>
              <a:rPr sz="2000" spc="-4" dirty="0">
                <a:cs typeface="Arial" panose="020B0604020202020204" pitchFamily="34" charset="0"/>
              </a:rPr>
              <a:t>container</a:t>
            </a:r>
            <a:endParaRPr sz="2000" dirty="0">
              <a:cs typeface="Arial" panose="020B0604020202020204" pitchFamily="34" charset="0"/>
            </a:endParaRPr>
          </a:p>
          <a:p>
            <a:pPr algn="ctr">
              <a:defRPr/>
            </a:pPr>
            <a:r>
              <a:rPr sz="2000" b="1" dirty="0">
                <a:cs typeface="Arial" panose="020B0604020202020204" pitchFamily="34" charset="0"/>
              </a:rPr>
              <a:t>Display:</a:t>
            </a:r>
            <a:r>
              <a:rPr sz="2000" b="1" spc="-30" dirty="0">
                <a:cs typeface="Arial" panose="020B0604020202020204" pitchFamily="34" charset="0"/>
              </a:rPr>
              <a:t> </a:t>
            </a:r>
            <a:r>
              <a:rPr sz="2000" b="1" dirty="0">
                <a:cs typeface="Arial" panose="020B0604020202020204" pitchFamily="34" charset="0"/>
              </a:rPr>
              <a:t>inline-flex</a:t>
            </a:r>
            <a:r>
              <a:rPr sz="2000" b="1" spc="-15" dirty="0">
                <a:cs typeface="Arial" panose="020B0604020202020204" pitchFamily="34" charset="0"/>
              </a:rPr>
              <a:t> </a:t>
            </a:r>
            <a:r>
              <a:rPr sz="2000" spc="-4" dirty="0">
                <a:cs typeface="Arial" panose="020B0604020202020204" pitchFamily="34" charset="0"/>
              </a:rPr>
              <a:t>creates</a:t>
            </a:r>
            <a:r>
              <a:rPr sz="2000" spc="8" dirty="0">
                <a:cs typeface="Arial" panose="020B0604020202020204" pitchFamily="34" charset="0"/>
              </a:rPr>
              <a:t> </a:t>
            </a:r>
            <a:r>
              <a:rPr sz="2000" dirty="0">
                <a:cs typeface="Arial" panose="020B0604020202020204" pitchFamily="34" charset="0"/>
              </a:rPr>
              <a:t>an</a:t>
            </a:r>
            <a:r>
              <a:rPr sz="2000" spc="-8" dirty="0">
                <a:cs typeface="Arial" panose="020B0604020202020204" pitchFamily="34" charset="0"/>
              </a:rPr>
              <a:t> </a:t>
            </a:r>
            <a:r>
              <a:rPr sz="2000" spc="-4" dirty="0">
                <a:cs typeface="Arial" panose="020B0604020202020204" pitchFamily="34" charset="0"/>
              </a:rPr>
              <a:t>inline-level</a:t>
            </a:r>
            <a:r>
              <a:rPr sz="2000" spc="-11" dirty="0">
                <a:cs typeface="Arial" panose="020B0604020202020204" pitchFamily="34" charset="0"/>
              </a:rPr>
              <a:t> </a:t>
            </a:r>
            <a:r>
              <a:rPr sz="2000" dirty="0">
                <a:cs typeface="Arial" panose="020B0604020202020204" pitchFamily="34" charset="0"/>
              </a:rPr>
              <a:t>flex </a:t>
            </a:r>
            <a:r>
              <a:rPr sz="2000" spc="-4" dirty="0">
                <a:cs typeface="Arial" panose="020B0604020202020204" pitchFamily="34" charset="0"/>
              </a:rPr>
              <a:t>container</a:t>
            </a:r>
            <a:endParaRPr sz="2000" dirty="0">
              <a:cs typeface="Arial" panose="020B0604020202020204" pitchFamily="34" charset="0"/>
            </a:endParaRPr>
          </a:p>
        </p:txBody>
      </p:sp>
      <p:pic>
        <p:nvPicPr>
          <p:cNvPr id="36872" name="object 8">
            <a:extLst>
              <a:ext uri="{FF2B5EF4-FFF2-40B4-BE49-F238E27FC236}">
                <a16:creationId xmlns:a16="http://schemas.microsoft.com/office/drawing/2014/main" id="{09425EEA-324D-C7EA-D223-4D4546ECA4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368790"/>
            <a:ext cx="6897837" cy="1707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object 2">
            <a:extLst>
              <a:ext uri="{FF2B5EF4-FFF2-40B4-BE49-F238E27FC236}">
                <a16:creationId xmlns:a16="http://schemas.microsoft.com/office/drawing/2014/main" id="{CA15C0BB-1D81-F847-D692-8D659DF192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2" y="2638628"/>
            <a:ext cx="9013166" cy="2230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ject 3">
            <a:extLst>
              <a:ext uri="{FF2B5EF4-FFF2-40B4-BE49-F238E27FC236}">
                <a16:creationId xmlns:a16="http://schemas.microsoft.com/office/drawing/2014/main" id="{94BEEDE1-8ED2-498A-3600-61B5C0704351}"/>
              </a:ext>
            </a:extLst>
          </p:cNvPr>
          <p:cNvSpPr txBox="1">
            <a:spLocks noGrp="1"/>
          </p:cNvSpPr>
          <p:nvPr>
            <p:ph type="title"/>
          </p:nvPr>
        </p:nvSpPr>
        <p:spPr>
          <a:xfrm>
            <a:off x="103188" y="344025"/>
            <a:ext cx="8785225" cy="686726"/>
          </a:xfrm>
        </p:spPr>
        <p:txBody>
          <a:bodyPr lIns="0" tIns="9525" rIns="0" bIns="0" rtlCol="0">
            <a:spAutoFit/>
          </a:bodyPr>
          <a:lstStyle/>
          <a:p>
            <a:pPr marL="9525">
              <a:spcBef>
                <a:spcPts val="75"/>
              </a:spcBef>
              <a:defRPr/>
            </a:pPr>
            <a:r>
              <a:rPr dirty="0"/>
              <a:t>CSS</a:t>
            </a:r>
            <a:r>
              <a:rPr spc="-11" dirty="0"/>
              <a:t> </a:t>
            </a:r>
            <a:r>
              <a:rPr spc="-4" dirty="0"/>
              <a:t>Layout</a:t>
            </a:r>
            <a:r>
              <a:rPr spc="-15" dirty="0"/>
              <a:t> </a:t>
            </a:r>
            <a:r>
              <a:rPr dirty="0"/>
              <a:t>-</a:t>
            </a:r>
            <a:r>
              <a:rPr spc="-15" dirty="0"/>
              <a:t> </a:t>
            </a:r>
            <a:r>
              <a:rPr dirty="0"/>
              <a:t>Flexbox</a:t>
            </a:r>
          </a:p>
        </p:txBody>
      </p:sp>
      <p:sp>
        <p:nvSpPr>
          <p:cNvPr id="4" name="object 4">
            <a:extLst>
              <a:ext uri="{FF2B5EF4-FFF2-40B4-BE49-F238E27FC236}">
                <a16:creationId xmlns:a16="http://schemas.microsoft.com/office/drawing/2014/main" id="{3154BFB9-E941-154E-02F1-7775ABA8F68A}"/>
              </a:ext>
            </a:extLst>
          </p:cNvPr>
          <p:cNvSpPr txBox="1"/>
          <p:nvPr/>
        </p:nvSpPr>
        <p:spPr>
          <a:xfrm>
            <a:off x="467214" y="1596472"/>
            <a:ext cx="8420868" cy="947856"/>
          </a:xfrm>
          <a:prstGeom prst="rect">
            <a:avLst/>
          </a:prstGeom>
        </p:spPr>
        <p:txBody>
          <a:bodyPr wrap="square" lIns="0" tIns="9049" rIns="0" bIns="0">
            <a:spAutoFit/>
          </a:bodyPr>
          <a:lstStyle/>
          <a:p>
            <a:pPr marL="9525">
              <a:spcBef>
                <a:spcPts val="71"/>
              </a:spcBef>
              <a:defRPr/>
            </a:pPr>
            <a:r>
              <a:rPr sz="2100" b="1" spc="-4" dirty="0">
                <a:cs typeface="Arial" panose="020B0604020202020204" pitchFamily="34" charset="0"/>
              </a:rPr>
              <a:t>Flex</a:t>
            </a:r>
            <a:r>
              <a:rPr sz="2100" b="1" spc="4" dirty="0">
                <a:cs typeface="Arial" panose="020B0604020202020204" pitchFamily="34" charset="0"/>
              </a:rPr>
              <a:t> </a:t>
            </a:r>
            <a:r>
              <a:rPr sz="2100" b="1" spc="-4" dirty="0">
                <a:cs typeface="Arial" panose="020B0604020202020204" pitchFamily="34" charset="0"/>
              </a:rPr>
              <a:t>container</a:t>
            </a:r>
            <a:r>
              <a:rPr sz="2100" b="1" spc="8" dirty="0">
                <a:cs typeface="Arial" panose="020B0604020202020204" pitchFamily="34" charset="0"/>
              </a:rPr>
              <a:t> </a:t>
            </a:r>
            <a:r>
              <a:rPr sz="2100" b="1" spc="-4" dirty="0">
                <a:cs typeface="Arial" panose="020B0604020202020204" pitchFamily="34" charset="0"/>
              </a:rPr>
              <a:t>-</a:t>
            </a:r>
            <a:r>
              <a:rPr sz="2100" b="1" spc="-11" dirty="0">
                <a:cs typeface="Arial" panose="020B0604020202020204" pitchFamily="34" charset="0"/>
              </a:rPr>
              <a:t> </a:t>
            </a:r>
            <a:r>
              <a:rPr sz="2100" b="1" spc="-4" dirty="0">
                <a:cs typeface="Arial" panose="020B0604020202020204" pitchFamily="34" charset="0"/>
              </a:rPr>
              <a:t>Flex</a:t>
            </a:r>
            <a:r>
              <a:rPr sz="2100" b="1" spc="8" dirty="0">
                <a:cs typeface="Arial" panose="020B0604020202020204" pitchFamily="34" charset="0"/>
              </a:rPr>
              <a:t> </a:t>
            </a:r>
            <a:r>
              <a:rPr sz="2100" b="1" spc="-8" dirty="0">
                <a:cs typeface="Arial" panose="020B0604020202020204" pitchFamily="34" charset="0"/>
              </a:rPr>
              <a:t>items</a:t>
            </a:r>
            <a:endParaRPr sz="2100" dirty="0">
              <a:cs typeface="Arial" panose="020B0604020202020204" pitchFamily="34" charset="0"/>
            </a:endParaRPr>
          </a:p>
          <a:p>
            <a:pPr marL="9525">
              <a:defRPr/>
            </a:pPr>
            <a:r>
              <a:rPr lang="en-GB" sz="2000" spc="-8" dirty="0">
                <a:solidFill>
                  <a:srgbClr val="585858"/>
                </a:solidFill>
                <a:cs typeface="Arial" panose="020B0604020202020204" pitchFamily="34" charset="0"/>
              </a:rPr>
              <a:t>A</a:t>
            </a:r>
            <a:r>
              <a:rPr sz="2000" spc="-8" dirty="0" err="1">
                <a:solidFill>
                  <a:srgbClr val="585858"/>
                </a:solidFill>
                <a:cs typeface="Arial" panose="020B0604020202020204" pitchFamily="34" charset="0"/>
              </a:rPr>
              <a:t>pplying</a:t>
            </a:r>
            <a:r>
              <a:rPr sz="2000" spc="30" dirty="0">
                <a:solidFill>
                  <a:srgbClr val="585858"/>
                </a:solidFill>
                <a:cs typeface="Arial" panose="020B0604020202020204" pitchFamily="34" charset="0"/>
              </a:rPr>
              <a:t> </a:t>
            </a:r>
            <a:r>
              <a:rPr sz="2000" dirty="0">
                <a:solidFill>
                  <a:srgbClr val="585858"/>
                </a:solidFill>
                <a:cs typeface="Arial" panose="020B0604020202020204" pitchFamily="34" charset="0"/>
              </a:rPr>
              <a:t>the</a:t>
            </a:r>
            <a:r>
              <a:rPr sz="2000" spc="-8" dirty="0">
                <a:solidFill>
                  <a:srgbClr val="585858"/>
                </a:solidFill>
                <a:cs typeface="Arial" panose="020B0604020202020204" pitchFamily="34" charset="0"/>
              </a:rPr>
              <a:t> </a:t>
            </a:r>
            <a:r>
              <a:rPr sz="2000" spc="-4" dirty="0">
                <a:solidFill>
                  <a:srgbClr val="585858"/>
                </a:solidFill>
                <a:cs typeface="Arial" panose="020B0604020202020204" pitchFamily="34" charset="0"/>
              </a:rPr>
              <a:t>flex</a:t>
            </a:r>
            <a:r>
              <a:rPr sz="2000" dirty="0">
                <a:solidFill>
                  <a:srgbClr val="585858"/>
                </a:solidFill>
                <a:cs typeface="Arial" panose="020B0604020202020204" pitchFamily="34" charset="0"/>
              </a:rPr>
              <a:t> </a:t>
            </a:r>
            <a:r>
              <a:rPr sz="2000" spc="-4" dirty="0">
                <a:solidFill>
                  <a:srgbClr val="585858"/>
                </a:solidFill>
                <a:cs typeface="Arial" panose="020B0604020202020204" pitchFamily="34" charset="0"/>
              </a:rPr>
              <a:t>display</a:t>
            </a:r>
            <a:r>
              <a:rPr sz="2000" spc="8" dirty="0">
                <a:solidFill>
                  <a:srgbClr val="585858"/>
                </a:solidFill>
                <a:cs typeface="Arial" panose="020B0604020202020204" pitchFamily="34" charset="0"/>
              </a:rPr>
              <a:t> </a:t>
            </a:r>
            <a:r>
              <a:rPr sz="2000" spc="-4" dirty="0">
                <a:solidFill>
                  <a:srgbClr val="585858"/>
                </a:solidFill>
                <a:cs typeface="Arial" panose="020B0604020202020204" pitchFamily="34" charset="0"/>
              </a:rPr>
              <a:t>mode</a:t>
            </a:r>
            <a:r>
              <a:rPr sz="2000" spc="4" dirty="0">
                <a:solidFill>
                  <a:srgbClr val="585858"/>
                </a:solidFill>
                <a:cs typeface="Arial" panose="020B0604020202020204" pitchFamily="34" charset="0"/>
              </a:rPr>
              <a:t> </a:t>
            </a:r>
            <a:r>
              <a:rPr sz="2000" spc="-4" dirty="0">
                <a:solidFill>
                  <a:srgbClr val="585858"/>
                </a:solidFill>
                <a:cs typeface="Arial" panose="020B0604020202020204" pitchFamily="34" charset="0"/>
              </a:rPr>
              <a:t>turns</a:t>
            </a:r>
            <a:r>
              <a:rPr sz="2000" dirty="0">
                <a:solidFill>
                  <a:srgbClr val="585858"/>
                </a:solidFill>
                <a:cs typeface="Arial" panose="020B0604020202020204" pitchFamily="34" charset="0"/>
              </a:rPr>
              <a:t> the</a:t>
            </a:r>
            <a:r>
              <a:rPr sz="2000" spc="-8" dirty="0">
                <a:solidFill>
                  <a:srgbClr val="585858"/>
                </a:solidFill>
                <a:cs typeface="Arial" panose="020B0604020202020204" pitchFamily="34" charset="0"/>
              </a:rPr>
              <a:t> </a:t>
            </a:r>
            <a:r>
              <a:rPr sz="2000" spc="-4" dirty="0">
                <a:solidFill>
                  <a:srgbClr val="585858"/>
                </a:solidFill>
                <a:cs typeface="Arial" panose="020B0604020202020204" pitchFamily="34" charset="0"/>
              </a:rPr>
              <a:t>child</a:t>
            </a:r>
            <a:r>
              <a:rPr sz="2000" dirty="0">
                <a:solidFill>
                  <a:srgbClr val="585858"/>
                </a:solidFill>
                <a:cs typeface="Arial" panose="020B0604020202020204" pitchFamily="34" charset="0"/>
              </a:rPr>
              <a:t> </a:t>
            </a:r>
            <a:r>
              <a:rPr sz="2000" spc="-4" dirty="0">
                <a:solidFill>
                  <a:srgbClr val="585858"/>
                </a:solidFill>
                <a:cs typeface="Arial" panose="020B0604020202020204" pitchFamily="34" charset="0"/>
              </a:rPr>
              <a:t>elements</a:t>
            </a:r>
            <a:r>
              <a:rPr sz="2000" spc="11" dirty="0">
                <a:solidFill>
                  <a:srgbClr val="585858"/>
                </a:solidFill>
                <a:cs typeface="Arial" panose="020B0604020202020204" pitchFamily="34" charset="0"/>
              </a:rPr>
              <a:t> </a:t>
            </a:r>
            <a:r>
              <a:rPr sz="2000" spc="-4" dirty="0">
                <a:solidFill>
                  <a:srgbClr val="585858"/>
                </a:solidFill>
                <a:cs typeface="Arial" panose="020B0604020202020204" pitchFamily="34" charset="0"/>
              </a:rPr>
              <a:t>of</a:t>
            </a:r>
            <a:r>
              <a:rPr sz="2000" dirty="0">
                <a:solidFill>
                  <a:srgbClr val="585858"/>
                </a:solidFill>
                <a:cs typeface="Arial" panose="020B0604020202020204" pitchFamily="34" charset="0"/>
              </a:rPr>
              <a:t> the</a:t>
            </a:r>
            <a:r>
              <a:rPr sz="2000" spc="-8" dirty="0">
                <a:solidFill>
                  <a:srgbClr val="585858"/>
                </a:solidFill>
                <a:cs typeface="Arial" panose="020B0604020202020204" pitchFamily="34" charset="0"/>
              </a:rPr>
              <a:t> </a:t>
            </a:r>
            <a:r>
              <a:rPr sz="2000" spc="-4" dirty="0">
                <a:solidFill>
                  <a:srgbClr val="585858"/>
                </a:solidFill>
                <a:cs typeface="Arial" panose="020B0604020202020204" pitchFamily="34" charset="0"/>
              </a:rPr>
              <a:t>flex</a:t>
            </a:r>
            <a:r>
              <a:rPr sz="2000" dirty="0">
                <a:solidFill>
                  <a:srgbClr val="585858"/>
                </a:solidFill>
                <a:cs typeface="Arial" panose="020B0604020202020204" pitchFamily="34" charset="0"/>
              </a:rPr>
              <a:t> </a:t>
            </a:r>
            <a:r>
              <a:rPr sz="2000" spc="-4" dirty="0">
                <a:solidFill>
                  <a:srgbClr val="585858"/>
                </a:solidFill>
                <a:cs typeface="Arial" panose="020B0604020202020204" pitchFamily="34" charset="0"/>
              </a:rPr>
              <a:t>container</a:t>
            </a:r>
            <a:r>
              <a:rPr sz="2000" spc="8" dirty="0">
                <a:solidFill>
                  <a:srgbClr val="585858"/>
                </a:solidFill>
                <a:cs typeface="Arial" panose="020B0604020202020204" pitchFamily="34" charset="0"/>
              </a:rPr>
              <a:t> </a:t>
            </a:r>
            <a:r>
              <a:rPr sz="2000" spc="-4" dirty="0">
                <a:solidFill>
                  <a:srgbClr val="585858"/>
                </a:solidFill>
                <a:cs typeface="Arial" panose="020B0604020202020204" pitchFamily="34" charset="0"/>
              </a:rPr>
              <a:t>into</a:t>
            </a:r>
            <a:r>
              <a:rPr lang="en-GB" sz="2000" spc="-4" dirty="0">
                <a:solidFill>
                  <a:srgbClr val="585858"/>
                </a:solidFill>
                <a:cs typeface="Arial" panose="020B0604020202020204" pitchFamily="34" charset="0"/>
              </a:rPr>
              <a:t> </a:t>
            </a:r>
            <a:r>
              <a:rPr sz="2000" spc="-4" dirty="0">
                <a:solidFill>
                  <a:srgbClr val="585858"/>
                </a:solidFill>
                <a:cs typeface="Arial" panose="020B0604020202020204" pitchFamily="34" charset="0"/>
              </a:rPr>
              <a:t>flex</a:t>
            </a:r>
            <a:r>
              <a:rPr sz="2000" spc="-34" dirty="0">
                <a:solidFill>
                  <a:srgbClr val="585858"/>
                </a:solidFill>
                <a:cs typeface="Arial" panose="020B0604020202020204" pitchFamily="34" charset="0"/>
              </a:rPr>
              <a:t> </a:t>
            </a:r>
            <a:r>
              <a:rPr sz="2000" dirty="0">
                <a:solidFill>
                  <a:srgbClr val="585858"/>
                </a:solidFill>
                <a:cs typeface="Arial" panose="020B0604020202020204" pitchFamily="34" charset="0"/>
              </a:rPr>
              <a:t>items</a:t>
            </a:r>
            <a:endParaRPr sz="2000" dirty="0">
              <a:cs typeface="Arial" panose="020B0604020202020204" pitchFamily="34" charset="0"/>
            </a:endParaRPr>
          </a:p>
        </p:txBody>
      </p:sp>
      <p:sp>
        <p:nvSpPr>
          <p:cNvPr id="5" name="object 5">
            <a:extLst>
              <a:ext uri="{FF2B5EF4-FFF2-40B4-BE49-F238E27FC236}">
                <a16:creationId xmlns:a16="http://schemas.microsoft.com/office/drawing/2014/main" id="{3E092F9F-E7ED-5649-31A4-173A64DEF77F}"/>
              </a:ext>
            </a:extLst>
          </p:cNvPr>
          <p:cNvSpPr txBox="1"/>
          <p:nvPr/>
        </p:nvSpPr>
        <p:spPr>
          <a:xfrm>
            <a:off x="895375" y="5157192"/>
            <a:ext cx="7200850" cy="625652"/>
          </a:xfrm>
          <a:prstGeom prst="rect">
            <a:avLst/>
          </a:prstGeom>
        </p:spPr>
        <p:txBody>
          <a:bodyPr wrap="square" lIns="0" tIns="10001" rIns="0" bIns="0">
            <a:spAutoFit/>
          </a:bodyPr>
          <a:lstStyle/>
          <a:p>
            <a:pPr marL="9525" algn="ctr">
              <a:spcBef>
                <a:spcPts val="79"/>
              </a:spcBef>
              <a:defRPr/>
            </a:pPr>
            <a:r>
              <a:rPr lang="en-US" sz="2000" dirty="0">
                <a:cs typeface="Arial" panose="020B0604020202020204" pitchFamily="34" charset="0"/>
              </a:rPr>
              <a:t>A</a:t>
            </a:r>
            <a:r>
              <a:rPr sz="2000" dirty="0">
                <a:cs typeface="Arial" panose="020B0604020202020204" pitchFamily="34" charset="0"/>
              </a:rPr>
              <a:t>ny</a:t>
            </a:r>
            <a:r>
              <a:rPr sz="2000" spc="-15" dirty="0">
                <a:cs typeface="Arial" panose="020B0604020202020204" pitchFamily="34" charset="0"/>
              </a:rPr>
              <a:t> </a:t>
            </a:r>
            <a:r>
              <a:rPr sz="2000" dirty="0">
                <a:cs typeface="Arial" panose="020B0604020202020204" pitchFamily="34" charset="0"/>
              </a:rPr>
              <a:t>flex</a:t>
            </a:r>
            <a:r>
              <a:rPr sz="2000" spc="-4" dirty="0">
                <a:cs typeface="Arial" panose="020B0604020202020204" pitchFamily="34" charset="0"/>
              </a:rPr>
              <a:t> </a:t>
            </a:r>
            <a:r>
              <a:rPr sz="2000" dirty="0">
                <a:cs typeface="Arial" panose="020B0604020202020204" pitchFamily="34" charset="0"/>
              </a:rPr>
              <a:t>item</a:t>
            </a:r>
            <a:r>
              <a:rPr sz="2000" spc="8" dirty="0">
                <a:cs typeface="Arial" panose="020B0604020202020204" pitchFamily="34" charset="0"/>
              </a:rPr>
              <a:t> </a:t>
            </a:r>
            <a:r>
              <a:rPr lang="en-US" sz="2000" spc="8" dirty="0">
                <a:cs typeface="Arial" panose="020B0604020202020204" pitchFamily="34" charset="0"/>
              </a:rPr>
              <a:t>can be turned </a:t>
            </a:r>
            <a:r>
              <a:rPr sz="2000" dirty="0">
                <a:cs typeface="Arial" panose="020B0604020202020204" pitchFamily="34" charset="0"/>
              </a:rPr>
              <a:t>into</a:t>
            </a:r>
            <a:r>
              <a:rPr sz="2000" spc="-15" dirty="0">
                <a:cs typeface="Arial" panose="020B0604020202020204" pitchFamily="34" charset="0"/>
              </a:rPr>
              <a:t> </a:t>
            </a:r>
            <a:r>
              <a:rPr sz="2000" dirty="0">
                <a:cs typeface="Arial" panose="020B0604020202020204" pitchFamily="34" charset="0"/>
              </a:rPr>
              <a:t>a</a:t>
            </a:r>
            <a:r>
              <a:rPr sz="2000" spc="-8" dirty="0">
                <a:cs typeface="Arial" panose="020B0604020202020204" pitchFamily="34" charset="0"/>
              </a:rPr>
              <a:t> </a:t>
            </a:r>
            <a:r>
              <a:rPr sz="2000" dirty="0">
                <a:cs typeface="Arial" panose="020B0604020202020204" pitchFamily="34" charset="0"/>
              </a:rPr>
              <a:t>flex</a:t>
            </a:r>
            <a:r>
              <a:rPr sz="2000" spc="4" dirty="0">
                <a:cs typeface="Arial" panose="020B0604020202020204" pitchFamily="34" charset="0"/>
              </a:rPr>
              <a:t> </a:t>
            </a:r>
            <a:r>
              <a:rPr sz="2000" spc="-4" dirty="0">
                <a:cs typeface="Arial" panose="020B0604020202020204" pitchFamily="34" charset="0"/>
              </a:rPr>
              <a:t>container</a:t>
            </a:r>
            <a:r>
              <a:rPr sz="2000" spc="-26" dirty="0">
                <a:cs typeface="Arial" panose="020B0604020202020204" pitchFamily="34" charset="0"/>
              </a:rPr>
              <a:t> </a:t>
            </a:r>
            <a:r>
              <a:rPr sz="2000" spc="-4" dirty="0">
                <a:cs typeface="Arial" panose="020B0604020202020204" pitchFamily="34" charset="0"/>
              </a:rPr>
              <a:t>by</a:t>
            </a:r>
            <a:r>
              <a:rPr lang="en-US" sz="2000" spc="-4" dirty="0">
                <a:cs typeface="Arial" panose="020B0604020202020204" pitchFamily="34" charset="0"/>
              </a:rPr>
              <a:t> </a:t>
            </a:r>
            <a:r>
              <a:rPr sz="2000" dirty="0">
                <a:cs typeface="Arial" panose="020B0604020202020204" pitchFamily="34" charset="0"/>
              </a:rPr>
              <a:t>setting its </a:t>
            </a:r>
            <a:r>
              <a:rPr sz="2000" b="1" dirty="0">
                <a:cs typeface="Arial" panose="020B0604020202020204" pitchFamily="34" charset="0"/>
              </a:rPr>
              <a:t>display</a:t>
            </a:r>
            <a:r>
              <a:rPr sz="2000" b="1" spc="-38" dirty="0">
                <a:cs typeface="Arial" panose="020B0604020202020204" pitchFamily="34" charset="0"/>
              </a:rPr>
              <a:t> </a:t>
            </a:r>
            <a:r>
              <a:rPr sz="2000" spc="-4" dirty="0">
                <a:cs typeface="Arial" panose="020B0604020202020204" pitchFamily="34" charset="0"/>
              </a:rPr>
              <a:t>to</a:t>
            </a:r>
            <a:r>
              <a:rPr sz="2000" spc="-8" dirty="0">
                <a:cs typeface="Arial" panose="020B0604020202020204" pitchFamily="34" charset="0"/>
              </a:rPr>
              <a:t> </a:t>
            </a:r>
            <a:r>
              <a:rPr sz="2000" b="1" spc="-4" dirty="0">
                <a:cs typeface="Arial" panose="020B0604020202020204" pitchFamily="34" charset="0"/>
              </a:rPr>
              <a:t>flex</a:t>
            </a:r>
            <a:r>
              <a:rPr sz="2000" b="1" dirty="0">
                <a:cs typeface="Arial" panose="020B0604020202020204" pitchFamily="34" charset="0"/>
              </a:rPr>
              <a:t> </a:t>
            </a:r>
            <a:r>
              <a:rPr sz="2000" dirty="0">
                <a:cs typeface="Arial" panose="020B0604020202020204" pitchFamily="34" charset="0"/>
              </a:rPr>
              <a:t>(resulting</a:t>
            </a:r>
            <a:r>
              <a:rPr sz="2000" spc="-8" dirty="0">
                <a:cs typeface="Arial" panose="020B0604020202020204" pitchFamily="34" charset="0"/>
              </a:rPr>
              <a:t> </a:t>
            </a:r>
            <a:r>
              <a:rPr sz="2000" dirty="0">
                <a:cs typeface="Arial" panose="020B0604020202020204" pitchFamily="34" charset="0"/>
              </a:rPr>
              <a:t>in</a:t>
            </a:r>
            <a:r>
              <a:rPr sz="2000" spc="-4" dirty="0">
                <a:cs typeface="Arial" panose="020B0604020202020204" pitchFamily="34" charset="0"/>
              </a:rPr>
              <a:t> nested </a:t>
            </a:r>
            <a:r>
              <a:rPr sz="2000" dirty="0">
                <a:cs typeface="Arial" panose="020B0604020202020204" pitchFamily="34" charset="0"/>
              </a:rPr>
              <a:t>flexbox)</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object 2">
            <a:extLst>
              <a:ext uri="{FF2B5EF4-FFF2-40B4-BE49-F238E27FC236}">
                <a16:creationId xmlns:a16="http://schemas.microsoft.com/office/drawing/2014/main" id="{E816CE0F-F670-5375-C06D-339469B49E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49" y="2687229"/>
            <a:ext cx="6862143" cy="34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ject 3">
            <a:extLst>
              <a:ext uri="{FF2B5EF4-FFF2-40B4-BE49-F238E27FC236}">
                <a16:creationId xmlns:a16="http://schemas.microsoft.com/office/drawing/2014/main" id="{05254691-D5EA-302D-3ACB-4E510A34B7D7}"/>
              </a:ext>
            </a:extLst>
          </p:cNvPr>
          <p:cNvSpPr txBox="1">
            <a:spLocks noGrp="1"/>
          </p:cNvSpPr>
          <p:nvPr>
            <p:ph type="title"/>
          </p:nvPr>
        </p:nvSpPr>
        <p:spPr>
          <a:xfrm>
            <a:off x="103188" y="344025"/>
            <a:ext cx="8785225" cy="686726"/>
          </a:xfrm>
        </p:spPr>
        <p:txBody>
          <a:bodyPr lIns="0" tIns="9525" rIns="0" bIns="0" rtlCol="0">
            <a:spAutoFit/>
          </a:bodyPr>
          <a:lstStyle/>
          <a:p>
            <a:pPr marL="9525">
              <a:spcBef>
                <a:spcPts val="75"/>
              </a:spcBef>
              <a:defRPr/>
            </a:pPr>
            <a:r>
              <a:rPr dirty="0"/>
              <a:t>CSS</a:t>
            </a:r>
            <a:r>
              <a:rPr spc="-11" dirty="0"/>
              <a:t> </a:t>
            </a:r>
            <a:r>
              <a:rPr spc="-4" dirty="0"/>
              <a:t>Layout</a:t>
            </a:r>
            <a:r>
              <a:rPr spc="-15" dirty="0"/>
              <a:t> </a:t>
            </a:r>
            <a:r>
              <a:rPr dirty="0"/>
              <a:t>-</a:t>
            </a:r>
            <a:r>
              <a:rPr spc="-15" dirty="0"/>
              <a:t> </a:t>
            </a:r>
            <a:r>
              <a:rPr dirty="0"/>
              <a:t>Flexbox</a:t>
            </a:r>
          </a:p>
        </p:txBody>
      </p:sp>
      <p:sp>
        <p:nvSpPr>
          <p:cNvPr id="5" name="object 5">
            <a:extLst>
              <a:ext uri="{FF2B5EF4-FFF2-40B4-BE49-F238E27FC236}">
                <a16:creationId xmlns:a16="http://schemas.microsoft.com/office/drawing/2014/main" id="{A1F38BD9-8BC5-FD59-E46D-9F2D24D62FF2}"/>
              </a:ext>
            </a:extLst>
          </p:cNvPr>
          <p:cNvSpPr txBox="1"/>
          <p:nvPr/>
        </p:nvSpPr>
        <p:spPr>
          <a:xfrm>
            <a:off x="346349" y="1338172"/>
            <a:ext cx="8568952" cy="1337706"/>
          </a:xfrm>
          <a:prstGeom prst="rect">
            <a:avLst/>
          </a:prstGeom>
        </p:spPr>
        <p:txBody>
          <a:bodyPr wrap="square" lIns="0" tIns="9049" rIns="0" bIns="0">
            <a:spAutoFit/>
          </a:bodyPr>
          <a:lstStyle/>
          <a:p>
            <a:pPr marL="9525">
              <a:spcBef>
                <a:spcPts val="71"/>
              </a:spcBef>
              <a:defRPr/>
            </a:pPr>
            <a:r>
              <a:rPr sz="2000" b="1" spc="-4" dirty="0">
                <a:solidFill>
                  <a:schemeClr val="accent2"/>
                </a:solidFill>
                <a:cs typeface="Arial" panose="020B0604020202020204" pitchFamily="34" charset="0"/>
              </a:rPr>
              <a:t>Flex</a:t>
            </a:r>
            <a:r>
              <a:rPr sz="2000" b="1" dirty="0">
                <a:solidFill>
                  <a:schemeClr val="accent2"/>
                </a:solidFill>
                <a:cs typeface="Arial" panose="020B0604020202020204" pitchFamily="34" charset="0"/>
              </a:rPr>
              <a:t> </a:t>
            </a:r>
            <a:r>
              <a:rPr sz="2000" b="1" spc="-4" dirty="0">
                <a:solidFill>
                  <a:schemeClr val="accent2"/>
                </a:solidFill>
                <a:cs typeface="Arial" panose="020B0604020202020204" pitchFamily="34" charset="0"/>
              </a:rPr>
              <a:t>container</a:t>
            </a:r>
            <a:r>
              <a:rPr sz="2000" b="1" dirty="0">
                <a:solidFill>
                  <a:schemeClr val="accent2"/>
                </a:solidFill>
                <a:cs typeface="Arial" panose="020B0604020202020204" pitchFamily="34" charset="0"/>
              </a:rPr>
              <a:t> </a:t>
            </a:r>
            <a:r>
              <a:rPr sz="2000" b="1" spc="-4" dirty="0">
                <a:solidFill>
                  <a:schemeClr val="accent2"/>
                </a:solidFill>
                <a:cs typeface="Arial" panose="020B0604020202020204" pitchFamily="34" charset="0"/>
              </a:rPr>
              <a:t>-</a:t>
            </a:r>
            <a:r>
              <a:rPr sz="2000" b="1" spc="-19" dirty="0">
                <a:solidFill>
                  <a:schemeClr val="accent2"/>
                </a:solidFill>
                <a:cs typeface="Arial" panose="020B0604020202020204" pitchFamily="34" charset="0"/>
              </a:rPr>
              <a:t> </a:t>
            </a:r>
            <a:r>
              <a:rPr sz="2000" b="1" spc="-4" dirty="0">
                <a:solidFill>
                  <a:schemeClr val="accent2"/>
                </a:solidFill>
                <a:cs typeface="Arial" panose="020B0604020202020204" pitchFamily="34" charset="0"/>
              </a:rPr>
              <a:t>Properties</a:t>
            </a:r>
            <a:endParaRPr sz="2000" dirty="0">
              <a:solidFill>
                <a:schemeClr val="accent2"/>
              </a:solidFill>
              <a:cs typeface="Arial" panose="020B0604020202020204" pitchFamily="34" charset="0"/>
            </a:endParaRPr>
          </a:p>
          <a:p>
            <a:pPr marL="9525">
              <a:defRPr/>
            </a:pPr>
            <a:r>
              <a:rPr lang="en-GB" sz="1800" spc="-4" dirty="0">
                <a:solidFill>
                  <a:srgbClr val="585858"/>
                </a:solidFill>
                <a:cs typeface="Arial" panose="020B0604020202020204" pitchFamily="34" charset="0"/>
              </a:rPr>
              <a:t>F</a:t>
            </a:r>
            <a:r>
              <a:rPr sz="1800" spc="-4" dirty="0">
                <a:solidFill>
                  <a:srgbClr val="585858"/>
                </a:solidFill>
                <a:cs typeface="Arial" panose="020B0604020202020204" pitchFamily="34" charset="0"/>
              </a:rPr>
              <a:t>lex</a:t>
            </a:r>
            <a:r>
              <a:rPr sz="1800" dirty="0">
                <a:solidFill>
                  <a:srgbClr val="585858"/>
                </a:solidFill>
                <a:cs typeface="Arial" panose="020B0604020202020204" pitchFamily="34" charset="0"/>
              </a:rPr>
              <a:t> </a:t>
            </a:r>
            <a:r>
              <a:rPr sz="1800" spc="-4" dirty="0">
                <a:solidFill>
                  <a:srgbClr val="585858"/>
                </a:solidFill>
                <a:cs typeface="Arial" panose="020B0604020202020204" pitchFamily="34" charset="0"/>
              </a:rPr>
              <a:t>container</a:t>
            </a:r>
            <a:r>
              <a:rPr sz="1800" spc="11" dirty="0">
                <a:solidFill>
                  <a:srgbClr val="585858"/>
                </a:solidFill>
                <a:cs typeface="Arial" panose="020B0604020202020204" pitchFamily="34" charset="0"/>
              </a:rPr>
              <a:t> </a:t>
            </a:r>
            <a:r>
              <a:rPr sz="1800" spc="-4" dirty="0">
                <a:solidFill>
                  <a:srgbClr val="585858"/>
                </a:solidFill>
                <a:cs typeface="Arial" panose="020B0604020202020204" pitchFamily="34" charset="0"/>
              </a:rPr>
              <a:t>properties</a:t>
            </a:r>
            <a:r>
              <a:rPr sz="1800" spc="19" dirty="0">
                <a:solidFill>
                  <a:srgbClr val="585858"/>
                </a:solidFill>
                <a:cs typeface="Arial" panose="020B0604020202020204" pitchFamily="34" charset="0"/>
              </a:rPr>
              <a:t> </a:t>
            </a:r>
            <a:r>
              <a:rPr sz="1800" spc="-8" dirty="0">
                <a:solidFill>
                  <a:srgbClr val="585858"/>
                </a:solidFill>
                <a:cs typeface="Arial" panose="020B0604020202020204" pitchFamily="34" charset="0"/>
              </a:rPr>
              <a:t>allow</a:t>
            </a:r>
            <a:r>
              <a:rPr sz="1800" spc="8" dirty="0">
                <a:solidFill>
                  <a:srgbClr val="585858"/>
                </a:solidFill>
                <a:cs typeface="Arial" panose="020B0604020202020204" pitchFamily="34" charset="0"/>
              </a:rPr>
              <a:t> </a:t>
            </a:r>
            <a:r>
              <a:rPr sz="1800" spc="-11" dirty="0">
                <a:solidFill>
                  <a:srgbClr val="585858"/>
                </a:solidFill>
                <a:cs typeface="Arial" panose="020B0604020202020204" pitchFamily="34" charset="0"/>
              </a:rPr>
              <a:t>you</a:t>
            </a:r>
            <a:r>
              <a:rPr sz="1800" spc="19" dirty="0">
                <a:solidFill>
                  <a:srgbClr val="585858"/>
                </a:solidFill>
                <a:cs typeface="Arial" panose="020B0604020202020204" pitchFamily="34" charset="0"/>
              </a:rPr>
              <a:t> </a:t>
            </a:r>
            <a:r>
              <a:rPr sz="1800" dirty="0">
                <a:solidFill>
                  <a:srgbClr val="585858"/>
                </a:solidFill>
                <a:cs typeface="Arial" panose="020B0604020202020204" pitchFamily="34" charset="0"/>
              </a:rPr>
              <a:t>to</a:t>
            </a:r>
            <a:r>
              <a:rPr sz="1800" spc="4" dirty="0">
                <a:solidFill>
                  <a:srgbClr val="585858"/>
                </a:solidFill>
                <a:cs typeface="Arial" panose="020B0604020202020204" pitchFamily="34" charset="0"/>
              </a:rPr>
              <a:t> </a:t>
            </a:r>
            <a:r>
              <a:rPr sz="1800" spc="-4" dirty="0">
                <a:solidFill>
                  <a:srgbClr val="585858"/>
                </a:solidFill>
                <a:cs typeface="Arial" panose="020B0604020202020204" pitchFamily="34" charset="0"/>
              </a:rPr>
              <a:t>control</a:t>
            </a:r>
            <a:r>
              <a:rPr sz="1800" spc="4" dirty="0">
                <a:solidFill>
                  <a:srgbClr val="585858"/>
                </a:solidFill>
                <a:cs typeface="Arial" panose="020B0604020202020204" pitchFamily="34" charset="0"/>
              </a:rPr>
              <a:t> </a:t>
            </a:r>
            <a:r>
              <a:rPr sz="1800" spc="-8" dirty="0">
                <a:solidFill>
                  <a:srgbClr val="585858"/>
                </a:solidFill>
                <a:cs typeface="Arial" panose="020B0604020202020204" pitchFamily="34" charset="0"/>
              </a:rPr>
              <a:t>how</a:t>
            </a:r>
            <a:r>
              <a:rPr sz="1800" dirty="0">
                <a:solidFill>
                  <a:srgbClr val="585858"/>
                </a:solidFill>
                <a:cs typeface="Arial" panose="020B0604020202020204" pitchFamily="34" charset="0"/>
              </a:rPr>
              <a:t> </a:t>
            </a:r>
            <a:r>
              <a:rPr sz="1800" spc="-4" dirty="0">
                <a:solidFill>
                  <a:srgbClr val="585858"/>
                </a:solidFill>
                <a:cs typeface="Arial" panose="020B0604020202020204" pitchFamily="34" charset="0"/>
              </a:rPr>
              <a:t>items</a:t>
            </a:r>
            <a:r>
              <a:rPr sz="1800" spc="4" dirty="0">
                <a:solidFill>
                  <a:srgbClr val="585858"/>
                </a:solidFill>
                <a:cs typeface="Arial" panose="020B0604020202020204" pitchFamily="34" charset="0"/>
              </a:rPr>
              <a:t> </a:t>
            </a:r>
            <a:r>
              <a:rPr sz="1800" spc="-8" dirty="0">
                <a:solidFill>
                  <a:srgbClr val="585858"/>
                </a:solidFill>
                <a:cs typeface="Arial" panose="020B0604020202020204" pitchFamily="34" charset="0"/>
              </a:rPr>
              <a:t>appear</a:t>
            </a:r>
            <a:r>
              <a:rPr sz="1800" spc="23" dirty="0">
                <a:solidFill>
                  <a:srgbClr val="585858"/>
                </a:solidFill>
                <a:cs typeface="Arial" panose="020B0604020202020204" pitchFamily="34" charset="0"/>
              </a:rPr>
              <a:t> </a:t>
            </a:r>
            <a:r>
              <a:rPr sz="1800" spc="-8" dirty="0">
                <a:solidFill>
                  <a:srgbClr val="585858"/>
                </a:solidFill>
                <a:cs typeface="Arial" panose="020B0604020202020204" pitchFamily="34" charset="0"/>
              </a:rPr>
              <a:t>within</a:t>
            </a:r>
            <a:r>
              <a:rPr sz="1800" spc="30" dirty="0">
                <a:solidFill>
                  <a:srgbClr val="585858"/>
                </a:solidFill>
                <a:cs typeface="Arial" panose="020B0604020202020204" pitchFamily="34" charset="0"/>
              </a:rPr>
              <a:t> </a:t>
            </a:r>
            <a:r>
              <a:rPr sz="1800" dirty="0">
                <a:solidFill>
                  <a:srgbClr val="585858"/>
                </a:solidFill>
                <a:cs typeface="Arial" panose="020B0604020202020204" pitchFamily="34" charset="0"/>
              </a:rPr>
              <a:t>the</a:t>
            </a:r>
            <a:r>
              <a:rPr sz="1800" spc="-4" dirty="0">
                <a:solidFill>
                  <a:srgbClr val="585858"/>
                </a:solidFill>
                <a:cs typeface="Arial" panose="020B0604020202020204" pitchFamily="34" charset="0"/>
              </a:rPr>
              <a:t> container</a:t>
            </a:r>
            <a:r>
              <a:rPr lang="en-GB" sz="1800" spc="-4" dirty="0">
                <a:solidFill>
                  <a:srgbClr val="585858"/>
                </a:solidFill>
                <a:cs typeface="Arial" panose="020B0604020202020204" pitchFamily="34" charset="0"/>
              </a:rPr>
              <a:t>.</a:t>
            </a:r>
            <a:endParaRPr sz="1800" dirty="0">
              <a:cs typeface="Arial" panose="020B0604020202020204" pitchFamily="34" charset="0"/>
            </a:endParaRPr>
          </a:p>
          <a:p>
            <a:pPr marL="9525">
              <a:spcBef>
                <a:spcPts val="889"/>
              </a:spcBef>
              <a:defRPr/>
            </a:pPr>
            <a:r>
              <a:rPr sz="2000" b="1" dirty="0">
                <a:solidFill>
                  <a:schemeClr val="accent2"/>
                </a:solidFill>
                <a:cs typeface="Arial" panose="020B0604020202020204" pitchFamily="34" charset="0"/>
              </a:rPr>
              <a:t>flex-direction</a:t>
            </a:r>
            <a:endParaRPr sz="2000" dirty="0">
              <a:solidFill>
                <a:schemeClr val="accent2"/>
              </a:solidFill>
              <a:cs typeface="Arial" panose="020B0604020202020204" pitchFamily="34" charset="0"/>
            </a:endParaRPr>
          </a:p>
          <a:p>
            <a:pPr marL="352425">
              <a:spcBef>
                <a:spcPts val="105"/>
              </a:spcBef>
              <a:defRPr/>
            </a:pPr>
            <a:r>
              <a:rPr sz="2000" b="1" spc="-4" dirty="0">
                <a:solidFill>
                  <a:srgbClr val="BB791C"/>
                </a:solidFill>
                <a:cs typeface="Arial" panose="020B0604020202020204" pitchFamily="34" charset="0"/>
              </a:rPr>
              <a:t>row</a:t>
            </a:r>
            <a:r>
              <a:rPr sz="2000" b="1" spc="8" dirty="0">
                <a:solidFill>
                  <a:srgbClr val="BB791C"/>
                </a:solidFill>
                <a:cs typeface="Arial" panose="020B0604020202020204" pitchFamily="34" charset="0"/>
              </a:rPr>
              <a:t> </a:t>
            </a:r>
            <a:r>
              <a:rPr sz="2000" b="1" spc="-4" dirty="0">
                <a:solidFill>
                  <a:srgbClr val="585858"/>
                </a:solidFill>
                <a:cs typeface="Arial" panose="020B0604020202020204" pitchFamily="34" charset="0"/>
              </a:rPr>
              <a:t>|</a:t>
            </a:r>
            <a:r>
              <a:rPr sz="2000" b="1" dirty="0">
                <a:solidFill>
                  <a:srgbClr val="585858"/>
                </a:solidFill>
                <a:cs typeface="Arial" panose="020B0604020202020204" pitchFamily="34" charset="0"/>
              </a:rPr>
              <a:t> </a:t>
            </a:r>
            <a:r>
              <a:rPr sz="2000" b="1" spc="-4" dirty="0">
                <a:solidFill>
                  <a:srgbClr val="585858"/>
                </a:solidFill>
                <a:cs typeface="Arial" panose="020B0604020202020204" pitchFamily="34" charset="0"/>
              </a:rPr>
              <a:t>column</a:t>
            </a:r>
            <a:r>
              <a:rPr sz="2000" b="1" spc="11" dirty="0">
                <a:solidFill>
                  <a:srgbClr val="585858"/>
                </a:solidFill>
                <a:cs typeface="Arial" panose="020B0604020202020204" pitchFamily="34" charset="0"/>
              </a:rPr>
              <a:t> </a:t>
            </a:r>
            <a:r>
              <a:rPr sz="2000" b="1" spc="-4" dirty="0">
                <a:solidFill>
                  <a:srgbClr val="585858"/>
                </a:solidFill>
                <a:cs typeface="Arial" panose="020B0604020202020204" pitchFamily="34" charset="0"/>
              </a:rPr>
              <a:t>|</a:t>
            </a:r>
            <a:r>
              <a:rPr sz="2000" b="1" dirty="0">
                <a:solidFill>
                  <a:srgbClr val="585858"/>
                </a:solidFill>
                <a:cs typeface="Arial" panose="020B0604020202020204" pitchFamily="34" charset="0"/>
              </a:rPr>
              <a:t> </a:t>
            </a:r>
            <a:r>
              <a:rPr sz="2000" b="1" spc="-4" dirty="0">
                <a:solidFill>
                  <a:srgbClr val="585858"/>
                </a:solidFill>
                <a:cs typeface="Arial" panose="020B0604020202020204" pitchFamily="34" charset="0"/>
              </a:rPr>
              <a:t>row-reverse</a:t>
            </a:r>
            <a:r>
              <a:rPr sz="2000" b="1" spc="11" dirty="0">
                <a:solidFill>
                  <a:srgbClr val="585858"/>
                </a:solidFill>
                <a:cs typeface="Arial" panose="020B0604020202020204" pitchFamily="34" charset="0"/>
              </a:rPr>
              <a:t> </a:t>
            </a:r>
            <a:r>
              <a:rPr sz="2000" b="1" spc="-4" dirty="0">
                <a:solidFill>
                  <a:srgbClr val="585858"/>
                </a:solidFill>
                <a:cs typeface="Arial" panose="020B0604020202020204" pitchFamily="34" charset="0"/>
              </a:rPr>
              <a:t>|</a:t>
            </a:r>
            <a:r>
              <a:rPr sz="2000" b="1" spc="4" dirty="0">
                <a:solidFill>
                  <a:srgbClr val="585858"/>
                </a:solidFill>
                <a:cs typeface="Arial" panose="020B0604020202020204" pitchFamily="34" charset="0"/>
              </a:rPr>
              <a:t> </a:t>
            </a:r>
            <a:r>
              <a:rPr sz="2000" b="1" spc="-4" dirty="0">
                <a:solidFill>
                  <a:srgbClr val="585858"/>
                </a:solidFill>
                <a:cs typeface="Arial" panose="020B0604020202020204" pitchFamily="34" charset="0"/>
              </a:rPr>
              <a:t>column-reverse</a:t>
            </a:r>
            <a:endParaRPr sz="2000" dirty="0">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object 2">
            <a:extLst>
              <a:ext uri="{FF2B5EF4-FFF2-40B4-BE49-F238E27FC236}">
                <a16:creationId xmlns:a16="http://schemas.microsoft.com/office/drawing/2014/main" id="{CAC7229A-BDE3-DF64-1379-38D1B0E641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2400300"/>
            <a:ext cx="542925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ject 3">
            <a:extLst>
              <a:ext uri="{FF2B5EF4-FFF2-40B4-BE49-F238E27FC236}">
                <a16:creationId xmlns:a16="http://schemas.microsoft.com/office/drawing/2014/main" id="{EFC32068-287F-4CFD-6F79-00CD4107DC72}"/>
              </a:ext>
            </a:extLst>
          </p:cNvPr>
          <p:cNvSpPr txBox="1">
            <a:spLocks noGrp="1"/>
          </p:cNvSpPr>
          <p:nvPr>
            <p:ph type="title"/>
          </p:nvPr>
        </p:nvSpPr>
        <p:spPr>
          <a:xfrm>
            <a:off x="103188" y="344025"/>
            <a:ext cx="8785225" cy="686726"/>
          </a:xfrm>
        </p:spPr>
        <p:txBody>
          <a:bodyPr lIns="0" tIns="9525" rIns="0" bIns="0" rtlCol="0">
            <a:spAutoFit/>
          </a:bodyPr>
          <a:lstStyle/>
          <a:p>
            <a:pPr marL="9525">
              <a:spcBef>
                <a:spcPts val="75"/>
              </a:spcBef>
              <a:defRPr/>
            </a:pPr>
            <a:r>
              <a:rPr dirty="0"/>
              <a:t>CSS</a:t>
            </a:r>
            <a:r>
              <a:rPr spc="-11" dirty="0"/>
              <a:t> </a:t>
            </a:r>
            <a:r>
              <a:rPr spc="-4" dirty="0"/>
              <a:t>Layout</a:t>
            </a:r>
            <a:r>
              <a:rPr spc="-15" dirty="0"/>
              <a:t> </a:t>
            </a:r>
            <a:r>
              <a:rPr dirty="0"/>
              <a:t>-</a:t>
            </a:r>
            <a:r>
              <a:rPr spc="-15" dirty="0"/>
              <a:t> </a:t>
            </a:r>
            <a:r>
              <a:rPr dirty="0"/>
              <a:t>Flexbox</a:t>
            </a:r>
          </a:p>
        </p:txBody>
      </p:sp>
      <p:sp>
        <p:nvSpPr>
          <p:cNvPr id="4" name="object 4">
            <a:extLst>
              <a:ext uri="{FF2B5EF4-FFF2-40B4-BE49-F238E27FC236}">
                <a16:creationId xmlns:a16="http://schemas.microsoft.com/office/drawing/2014/main" id="{05660B8D-1224-A57E-9D4D-6A92BFC685FD}"/>
              </a:ext>
            </a:extLst>
          </p:cNvPr>
          <p:cNvSpPr txBox="1"/>
          <p:nvPr/>
        </p:nvSpPr>
        <p:spPr>
          <a:xfrm>
            <a:off x="1387474" y="1733550"/>
            <a:ext cx="3184525" cy="612508"/>
          </a:xfrm>
          <a:prstGeom prst="rect">
            <a:avLst/>
          </a:prstGeom>
        </p:spPr>
        <p:txBody>
          <a:bodyPr wrap="square" lIns="0" tIns="30004" rIns="0" bIns="0">
            <a:spAutoFit/>
          </a:bodyPr>
          <a:lstStyle/>
          <a:p>
            <a:pPr marL="9525">
              <a:spcBef>
                <a:spcPts val="236"/>
              </a:spcBef>
              <a:defRPr/>
            </a:pPr>
            <a:r>
              <a:rPr sz="2100" b="1" spc="-4" dirty="0">
                <a:solidFill>
                  <a:schemeClr val="accent2"/>
                </a:solidFill>
                <a:cs typeface="Arial" panose="020B0604020202020204" pitchFamily="34" charset="0"/>
              </a:rPr>
              <a:t>flex-wrap</a:t>
            </a:r>
            <a:endParaRPr sz="2100" dirty="0">
              <a:solidFill>
                <a:schemeClr val="accent2"/>
              </a:solidFill>
              <a:cs typeface="Arial" panose="020B0604020202020204" pitchFamily="34" charset="0"/>
            </a:endParaRPr>
          </a:p>
          <a:p>
            <a:pPr marL="352425">
              <a:spcBef>
                <a:spcPts val="105"/>
              </a:spcBef>
              <a:defRPr/>
            </a:pPr>
            <a:r>
              <a:rPr sz="1600" b="1" dirty="0">
                <a:solidFill>
                  <a:srgbClr val="BB791C"/>
                </a:solidFill>
                <a:cs typeface="Arial" panose="020B0604020202020204" pitchFamily="34" charset="0"/>
              </a:rPr>
              <a:t>nowrap</a:t>
            </a:r>
            <a:r>
              <a:rPr sz="1600" b="1" spc="-23" dirty="0">
                <a:solidFill>
                  <a:srgbClr val="BB791C"/>
                </a:solidFill>
                <a:cs typeface="Arial" panose="020B0604020202020204" pitchFamily="34" charset="0"/>
              </a:rPr>
              <a:t> </a:t>
            </a:r>
            <a:r>
              <a:rPr sz="1600" b="1" spc="-4" dirty="0">
                <a:solidFill>
                  <a:srgbClr val="585858"/>
                </a:solidFill>
                <a:cs typeface="Arial" panose="020B0604020202020204" pitchFamily="34" charset="0"/>
              </a:rPr>
              <a:t>|</a:t>
            </a:r>
            <a:r>
              <a:rPr sz="1600" b="1" dirty="0">
                <a:solidFill>
                  <a:srgbClr val="585858"/>
                </a:solidFill>
                <a:cs typeface="Arial" panose="020B0604020202020204" pitchFamily="34" charset="0"/>
              </a:rPr>
              <a:t> </a:t>
            </a:r>
            <a:r>
              <a:rPr sz="1600" b="1" spc="4" dirty="0">
                <a:solidFill>
                  <a:srgbClr val="585858"/>
                </a:solidFill>
                <a:cs typeface="Arial" panose="020B0604020202020204" pitchFamily="34" charset="0"/>
              </a:rPr>
              <a:t>wrap</a:t>
            </a:r>
            <a:r>
              <a:rPr sz="1600" b="1" spc="-26" dirty="0">
                <a:solidFill>
                  <a:srgbClr val="585858"/>
                </a:solidFill>
                <a:cs typeface="Arial" panose="020B0604020202020204" pitchFamily="34" charset="0"/>
              </a:rPr>
              <a:t> </a:t>
            </a:r>
            <a:r>
              <a:rPr sz="1600" b="1" spc="-4" dirty="0">
                <a:solidFill>
                  <a:srgbClr val="585858"/>
                </a:solidFill>
                <a:cs typeface="Arial" panose="020B0604020202020204" pitchFamily="34" charset="0"/>
              </a:rPr>
              <a:t>|</a:t>
            </a:r>
            <a:r>
              <a:rPr sz="1600" b="1" dirty="0">
                <a:solidFill>
                  <a:srgbClr val="585858"/>
                </a:solidFill>
                <a:cs typeface="Arial" panose="020B0604020202020204" pitchFamily="34" charset="0"/>
              </a:rPr>
              <a:t> </a:t>
            </a:r>
            <a:r>
              <a:rPr sz="1600" b="1" spc="-4" dirty="0">
                <a:solidFill>
                  <a:srgbClr val="585858"/>
                </a:solidFill>
                <a:cs typeface="Arial" panose="020B0604020202020204" pitchFamily="34" charset="0"/>
              </a:rPr>
              <a:t>wrap-reverse</a:t>
            </a:r>
            <a:endParaRPr sz="1600" dirty="0">
              <a:cs typeface="Arial" panose="020B0604020202020204" pitchFamily="34" charset="0"/>
            </a:endParaRPr>
          </a:p>
        </p:txBody>
      </p:sp>
      <p:sp>
        <p:nvSpPr>
          <p:cNvPr id="5" name="object 5">
            <a:extLst>
              <a:ext uri="{FF2B5EF4-FFF2-40B4-BE49-F238E27FC236}">
                <a16:creationId xmlns:a16="http://schemas.microsoft.com/office/drawing/2014/main" id="{DC549CF0-5FD5-C247-0C37-5179B5EC8915}"/>
              </a:ext>
            </a:extLst>
          </p:cNvPr>
          <p:cNvSpPr txBox="1"/>
          <p:nvPr/>
        </p:nvSpPr>
        <p:spPr>
          <a:xfrm>
            <a:off x="1848656" y="4150833"/>
            <a:ext cx="4883583" cy="148117"/>
          </a:xfrm>
          <a:prstGeom prst="rect">
            <a:avLst/>
          </a:prstGeom>
        </p:spPr>
        <p:txBody>
          <a:bodyPr wrap="square" lIns="0" tIns="9525" rIns="0" bIns="0">
            <a:spAutoFit/>
          </a:bodyPr>
          <a:lstStyle/>
          <a:p>
            <a:pPr marL="9525">
              <a:spcBef>
                <a:spcPts val="75"/>
              </a:spcBef>
              <a:defRPr/>
            </a:pPr>
            <a:r>
              <a:rPr sz="900" spc="-4" dirty="0">
                <a:solidFill>
                  <a:srgbClr val="7E7E7E"/>
                </a:solidFill>
                <a:cs typeface="Arial" panose="020B0604020202020204" pitchFamily="34" charset="0"/>
              </a:rPr>
              <a:t>Figure</a:t>
            </a:r>
            <a:r>
              <a:rPr sz="900" spc="-8" dirty="0">
                <a:solidFill>
                  <a:srgbClr val="7E7E7E"/>
                </a:solidFill>
                <a:cs typeface="Arial" panose="020B0604020202020204" pitchFamily="34" charset="0"/>
              </a:rPr>
              <a:t> </a:t>
            </a:r>
            <a:r>
              <a:rPr sz="900" spc="-4" dirty="0">
                <a:solidFill>
                  <a:srgbClr val="7E7E7E"/>
                </a:solidFill>
                <a:cs typeface="Arial" panose="020B0604020202020204" pitchFamily="34" charset="0"/>
              </a:rPr>
              <a:t>16-5. Niederst,</a:t>
            </a:r>
            <a:r>
              <a:rPr sz="900" spc="-34" dirty="0">
                <a:solidFill>
                  <a:srgbClr val="7E7E7E"/>
                </a:solidFill>
                <a:cs typeface="Arial" panose="020B0604020202020204" pitchFamily="34" charset="0"/>
              </a:rPr>
              <a:t> </a:t>
            </a:r>
            <a:r>
              <a:rPr sz="900" spc="-4" dirty="0">
                <a:solidFill>
                  <a:srgbClr val="7E7E7E"/>
                </a:solidFill>
                <a:cs typeface="Arial" panose="020B0604020202020204" pitchFamily="34" charset="0"/>
              </a:rPr>
              <a:t>J.</a:t>
            </a:r>
            <a:r>
              <a:rPr sz="900" spc="4" dirty="0">
                <a:solidFill>
                  <a:srgbClr val="7E7E7E"/>
                </a:solidFill>
                <a:cs typeface="Arial" panose="020B0604020202020204" pitchFamily="34" charset="0"/>
              </a:rPr>
              <a:t> </a:t>
            </a:r>
            <a:r>
              <a:rPr sz="900" spc="-4" dirty="0">
                <a:solidFill>
                  <a:srgbClr val="7E7E7E"/>
                </a:solidFill>
                <a:cs typeface="Arial" panose="020B0604020202020204" pitchFamily="34" charset="0"/>
              </a:rPr>
              <a:t>(2018).</a:t>
            </a:r>
            <a:r>
              <a:rPr sz="900" dirty="0">
                <a:solidFill>
                  <a:srgbClr val="7E7E7E"/>
                </a:solidFill>
                <a:cs typeface="Arial" panose="020B0604020202020204" pitchFamily="34" charset="0"/>
              </a:rPr>
              <a:t> </a:t>
            </a:r>
            <a:r>
              <a:rPr sz="900" spc="-4" dirty="0">
                <a:solidFill>
                  <a:srgbClr val="7E7E7E"/>
                </a:solidFill>
                <a:cs typeface="Arial" panose="020B0604020202020204" pitchFamily="34" charset="0"/>
              </a:rPr>
              <a:t>Learning</a:t>
            </a:r>
            <a:r>
              <a:rPr sz="900" spc="-53" dirty="0">
                <a:solidFill>
                  <a:srgbClr val="7E7E7E"/>
                </a:solidFill>
                <a:cs typeface="Arial" panose="020B0604020202020204" pitchFamily="34" charset="0"/>
              </a:rPr>
              <a:t> </a:t>
            </a:r>
            <a:r>
              <a:rPr sz="900" spc="-15" dirty="0">
                <a:solidFill>
                  <a:srgbClr val="7E7E7E"/>
                </a:solidFill>
                <a:cs typeface="Arial" panose="020B0604020202020204" pitchFamily="34" charset="0"/>
              </a:rPr>
              <a:t>Web</a:t>
            </a:r>
            <a:r>
              <a:rPr sz="900" spc="8" dirty="0">
                <a:solidFill>
                  <a:srgbClr val="7E7E7E"/>
                </a:solidFill>
                <a:cs typeface="Arial" panose="020B0604020202020204" pitchFamily="34" charset="0"/>
              </a:rPr>
              <a:t> </a:t>
            </a:r>
            <a:r>
              <a:rPr sz="900" spc="-4" dirty="0">
                <a:solidFill>
                  <a:srgbClr val="7E7E7E"/>
                </a:solidFill>
                <a:cs typeface="Arial" panose="020B0604020202020204" pitchFamily="34" charset="0"/>
              </a:rPr>
              <a:t>Design.</a:t>
            </a:r>
            <a:r>
              <a:rPr sz="900" spc="-41" dirty="0">
                <a:solidFill>
                  <a:srgbClr val="7E7E7E"/>
                </a:solidFill>
                <a:cs typeface="Arial" panose="020B0604020202020204" pitchFamily="34" charset="0"/>
              </a:rPr>
              <a:t> </a:t>
            </a:r>
            <a:r>
              <a:rPr sz="900" spc="-4" dirty="0">
                <a:solidFill>
                  <a:srgbClr val="7E7E7E"/>
                </a:solidFill>
                <a:cs typeface="Arial" panose="020B0604020202020204" pitchFamily="34" charset="0"/>
              </a:rPr>
              <a:t>O'Reilly</a:t>
            </a:r>
            <a:r>
              <a:rPr sz="900" spc="4" dirty="0">
                <a:solidFill>
                  <a:srgbClr val="7E7E7E"/>
                </a:solidFill>
                <a:cs typeface="Arial" panose="020B0604020202020204" pitchFamily="34" charset="0"/>
              </a:rPr>
              <a:t> </a:t>
            </a:r>
            <a:r>
              <a:rPr sz="900" dirty="0">
                <a:solidFill>
                  <a:srgbClr val="7E7E7E"/>
                </a:solidFill>
                <a:cs typeface="Arial" panose="020B0604020202020204" pitchFamily="34" charset="0"/>
              </a:rPr>
              <a:t>Media,</a:t>
            </a:r>
            <a:r>
              <a:rPr sz="900" spc="-11" dirty="0">
                <a:solidFill>
                  <a:srgbClr val="7E7E7E"/>
                </a:solidFill>
                <a:cs typeface="Arial" panose="020B0604020202020204" pitchFamily="34" charset="0"/>
              </a:rPr>
              <a:t> </a:t>
            </a:r>
            <a:r>
              <a:rPr sz="900" spc="-4" dirty="0">
                <a:solidFill>
                  <a:srgbClr val="7E7E7E"/>
                </a:solidFill>
                <a:cs typeface="Arial" panose="020B0604020202020204" pitchFamily="34" charset="0"/>
              </a:rPr>
              <a:t>Inc.</a:t>
            </a:r>
            <a:endParaRPr sz="900" dirty="0">
              <a:cs typeface="Arial" panose="020B0604020202020204" pitchFamily="34" charset="0"/>
            </a:endParaRPr>
          </a:p>
        </p:txBody>
      </p:sp>
      <p:sp>
        <p:nvSpPr>
          <p:cNvPr id="6" name="object 6">
            <a:extLst>
              <a:ext uri="{FF2B5EF4-FFF2-40B4-BE49-F238E27FC236}">
                <a16:creationId xmlns:a16="http://schemas.microsoft.com/office/drawing/2014/main" id="{4E2964DA-4678-0DA4-4D0E-45851650A9BE}"/>
              </a:ext>
            </a:extLst>
          </p:cNvPr>
          <p:cNvSpPr txBox="1"/>
          <p:nvPr/>
        </p:nvSpPr>
        <p:spPr>
          <a:xfrm>
            <a:off x="4205288" y="4516438"/>
            <a:ext cx="1171575" cy="1158875"/>
          </a:xfrm>
          <a:prstGeom prst="rect">
            <a:avLst/>
          </a:prstGeom>
        </p:spPr>
        <p:txBody>
          <a:bodyPr lIns="0" tIns="52388" rIns="0" bIns="0">
            <a:spAutoFit/>
          </a:bodyPr>
          <a:lstStyle>
            <a:lvl1pPr marL="9525">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ts val="413"/>
              </a:spcBef>
            </a:pPr>
            <a:r>
              <a:rPr lang="en-US" altLang="en-US" sz="1000" dirty="0">
                <a:solidFill>
                  <a:srgbClr val="585858"/>
                </a:solidFill>
                <a:ea typeface="Arial MT"/>
                <a:cs typeface="Arial" panose="020B0604020202020204" pitchFamily="34" charset="0"/>
              </a:rPr>
              <a:t>THE STYLES</a:t>
            </a:r>
            <a:endParaRPr lang="en-US" altLang="en-US" sz="1000" dirty="0">
              <a:ea typeface="Arial MT"/>
              <a:cs typeface="Arial" panose="020B0604020202020204" pitchFamily="34" charset="0"/>
            </a:endParaRPr>
          </a:p>
          <a:p>
            <a:pPr>
              <a:spcBef>
                <a:spcPts val="338"/>
              </a:spcBef>
            </a:pPr>
            <a:r>
              <a:rPr lang="en-US" altLang="en-US" sz="1000" dirty="0">
                <a:solidFill>
                  <a:srgbClr val="585858"/>
                </a:solidFill>
                <a:ea typeface="Arial MT"/>
                <a:cs typeface="Arial" panose="020B0604020202020204" pitchFamily="34" charset="0"/>
              </a:rPr>
              <a:t>#container {</a:t>
            </a:r>
            <a:endParaRPr lang="en-US" altLang="en-US" sz="1000" dirty="0">
              <a:ea typeface="Arial MT"/>
              <a:cs typeface="Arial" panose="020B0604020202020204" pitchFamily="34" charset="0"/>
            </a:endParaRPr>
          </a:p>
          <a:p>
            <a:pPr>
              <a:spcBef>
                <a:spcPts val="350"/>
              </a:spcBef>
            </a:pPr>
            <a:r>
              <a:rPr lang="en-US" altLang="en-US" sz="1000" dirty="0">
                <a:solidFill>
                  <a:srgbClr val="585858"/>
                </a:solidFill>
                <a:ea typeface="Arial MT"/>
                <a:cs typeface="Arial" panose="020B0604020202020204" pitchFamily="34" charset="0"/>
              </a:rPr>
              <a:t>display: flex;</a:t>
            </a:r>
            <a:endParaRPr lang="en-US" altLang="en-US" sz="1000" dirty="0">
              <a:ea typeface="Arial MT"/>
              <a:cs typeface="Arial" panose="020B0604020202020204" pitchFamily="34" charset="0"/>
            </a:endParaRPr>
          </a:p>
          <a:p>
            <a:pPr>
              <a:lnSpc>
                <a:spcPct val="107000"/>
              </a:lnSpc>
            </a:pPr>
            <a:r>
              <a:rPr lang="en-US" altLang="en-US" sz="1000" dirty="0">
                <a:solidFill>
                  <a:srgbClr val="585858"/>
                </a:solidFill>
                <a:ea typeface="Arial MT"/>
                <a:cs typeface="Arial" panose="020B0604020202020204" pitchFamily="34" charset="0"/>
              </a:rPr>
              <a:t>flex-direction: row;  flex-wrap: </a:t>
            </a:r>
            <a:r>
              <a:rPr lang="en-US" altLang="en-US" sz="1000" dirty="0">
                <a:solidFill>
                  <a:srgbClr val="BB791C"/>
                </a:solidFill>
                <a:ea typeface="Arial MT"/>
                <a:cs typeface="Arial" panose="020B0604020202020204" pitchFamily="34" charset="0"/>
              </a:rPr>
              <a:t>wrap</a:t>
            </a:r>
            <a:r>
              <a:rPr lang="en-US" altLang="en-US" sz="1000" dirty="0">
                <a:solidFill>
                  <a:srgbClr val="585858"/>
                </a:solidFill>
                <a:ea typeface="Arial MT"/>
                <a:cs typeface="Arial" panose="020B0604020202020204" pitchFamily="34" charset="0"/>
              </a:rPr>
              <a:t>;</a:t>
            </a:r>
            <a:endParaRPr lang="en-US" altLang="en-US" sz="1000" dirty="0">
              <a:ea typeface="Arial MT"/>
              <a:cs typeface="Arial" panose="020B0604020202020204" pitchFamily="34" charset="0"/>
            </a:endParaRPr>
          </a:p>
          <a:p>
            <a:pPr>
              <a:spcBef>
                <a:spcPts val="338"/>
              </a:spcBef>
            </a:pPr>
            <a:r>
              <a:rPr lang="en-US" altLang="en-US" sz="1000" dirty="0">
                <a:solidFill>
                  <a:srgbClr val="585858"/>
                </a:solidFill>
                <a:ea typeface="Arial MT"/>
                <a:cs typeface="Arial" panose="020B0604020202020204" pitchFamily="34" charset="0"/>
              </a:rPr>
              <a:t>}</a:t>
            </a:r>
            <a:endParaRPr lang="en-US" altLang="en-US" sz="1000" dirty="0">
              <a:ea typeface="Arial MT"/>
              <a:cs typeface="Arial" panose="020B0604020202020204" pitchFamily="34" charset="0"/>
            </a:endParaRPr>
          </a:p>
        </p:txBody>
      </p:sp>
      <p:sp>
        <p:nvSpPr>
          <p:cNvPr id="7" name="object 7">
            <a:extLst>
              <a:ext uri="{FF2B5EF4-FFF2-40B4-BE49-F238E27FC236}">
                <a16:creationId xmlns:a16="http://schemas.microsoft.com/office/drawing/2014/main" id="{B494B156-290B-4C9C-CE54-DD31DF601B25}"/>
              </a:ext>
            </a:extLst>
          </p:cNvPr>
          <p:cNvSpPr txBox="1"/>
          <p:nvPr/>
        </p:nvSpPr>
        <p:spPr>
          <a:xfrm>
            <a:off x="5783263" y="4664075"/>
            <a:ext cx="782637" cy="615950"/>
          </a:xfrm>
          <a:prstGeom prst="rect">
            <a:avLst/>
          </a:prstGeom>
        </p:spPr>
        <p:txBody>
          <a:bodyPr lIns="0" tIns="53340" rIns="0" bIns="0">
            <a:spAutoFit/>
          </a:bodyPr>
          <a:lstStyle/>
          <a:p>
            <a:pPr marL="9525">
              <a:spcBef>
                <a:spcPts val="420"/>
              </a:spcBef>
              <a:defRPr/>
            </a:pPr>
            <a:r>
              <a:rPr sz="1050" dirty="0">
                <a:solidFill>
                  <a:srgbClr val="585858"/>
                </a:solidFill>
                <a:cs typeface="Arial" panose="020B0604020202020204" pitchFamily="34" charset="0"/>
              </a:rPr>
              <a:t>.box</a:t>
            </a:r>
            <a:r>
              <a:rPr sz="1050" spc="-53" dirty="0">
                <a:solidFill>
                  <a:srgbClr val="585858"/>
                </a:solidFill>
                <a:cs typeface="Arial" panose="020B0604020202020204" pitchFamily="34" charset="0"/>
              </a:rPr>
              <a:t> </a:t>
            </a:r>
            <a:r>
              <a:rPr sz="1050" dirty="0">
                <a:solidFill>
                  <a:srgbClr val="585858"/>
                </a:solidFill>
                <a:cs typeface="Arial" panose="020B0604020202020204" pitchFamily="34" charset="0"/>
              </a:rPr>
              <a:t>{</a:t>
            </a:r>
            <a:endParaRPr sz="1050" dirty="0">
              <a:cs typeface="Arial" panose="020B0604020202020204" pitchFamily="34" charset="0"/>
            </a:endParaRPr>
          </a:p>
          <a:p>
            <a:pPr marL="83820">
              <a:spcBef>
                <a:spcPts val="344"/>
              </a:spcBef>
              <a:defRPr/>
            </a:pPr>
            <a:r>
              <a:rPr sz="1050" spc="-4" dirty="0">
                <a:solidFill>
                  <a:srgbClr val="585858"/>
                </a:solidFill>
                <a:cs typeface="Arial" panose="020B0604020202020204" pitchFamily="34" charset="0"/>
              </a:rPr>
              <a:t>width:</a:t>
            </a:r>
            <a:r>
              <a:rPr sz="1050" spc="-53" dirty="0">
                <a:solidFill>
                  <a:srgbClr val="585858"/>
                </a:solidFill>
                <a:cs typeface="Arial" panose="020B0604020202020204" pitchFamily="34" charset="0"/>
              </a:rPr>
              <a:t> </a:t>
            </a:r>
            <a:r>
              <a:rPr sz="1050" spc="-4" dirty="0">
                <a:solidFill>
                  <a:srgbClr val="585858"/>
                </a:solidFill>
                <a:cs typeface="Arial" panose="020B0604020202020204" pitchFamily="34" charset="0"/>
              </a:rPr>
              <a:t>25%;</a:t>
            </a:r>
            <a:endParaRPr sz="1050" dirty="0">
              <a:cs typeface="Arial" panose="020B0604020202020204" pitchFamily="34" charset="0"/>
            </a:endParaRPr>
          </a:p>
          <a:p>
            <a:pPr marL="9525">
              <a:spcBef>
                <a:spcPts val="341"/>
              </a:spcBef>
              <a:defRPr/>
            </a:pPr>
            <a:r>
              <a:rPr sz="1050" dirty="0">
                <a:solidFill>
                  <a:srgbClr val="585858"/>
                </a:solidFill>
                <a:cs typeface="Arial" panose="020B0604020202020204" pitchFamily="34" charset="0"/>
              </a:rPr>
              <a:t>}</a:t>
            </a:r>
            <a:endParaRPr sz="1050" dirty="0">
              <a:cs typeface="Arial" panose="020B0604020202020204" pitchFamily="34" charset="0"/>
            </a:endParaRPr>
          </a:p>
        </p:txBody>
      </p:sp>
      <p:sp>
        <p:nvSpPr>
          <p:cNvPr id="8" name="object 8">
            <a:extLst>
              <a:ext uri="{FF2B5EF4-FFF2-40B4-BE49-F238E27FC236}">
                <a16:creationId xmlns:a16="http://schemas.microsoft.com/office/drawing/2014/main" id="{7780EEAF-6AB1-86F3-BB01-055DA9D28E8C}"/>
              </a:ext>
            </a:extLst>
          </p:cNvPr>
          <p:cNvSpPr txBox="1"/>
          <p:nvPr/>
        </p:nvSpPr>
        <p:spPr>
          <a:xfrm>
            <a:off x="1389063" y="4483100"/>
            <a:ext cx="2122487" cy="1190625"/>
          </a:xfrm>
          <a:prstGeom prst="rect">
            <a:avLst/>
          </a:prstGeom>
        </p:spPr>
        <p:txBody>
          <a:bodyPr lIns="0" tIns="52864" rIns="0" bIns="0">
            <a:spAutoFit/>
          </a:bodyPr>
          <a:lstStyle/>
          <a:p>
            <a:pPr marL="9525">
              <a:spcBef>
                <a:spcPts val="416"/>
              </a:spcBef>
              <a:defRPr/>
            </a:pPr>
            <a:r>
              <a:rPr sz="1050" spc="-4" dirty="0">
                <a:solidFill>
                  <a:srgbClr val="585858"/>
                </a:solidFill>
                <a:cs typeface="Arial" panose="020B0604020202020204" pitchFamily="34" charset="0"/>
              </a:rPr>
              <a:t>THE</a:t>
            </a:r>
            <a:r>
              <a:rPr sz="1050" spc="-26" dirty="0">
                <a:solidFill>
                  <a:srgbClr val="585858"/>
                </a:solidFill>
                <a:cs typeface="Arial" panose="020B0604020202020204" pitchFamily="34" charset="0"/>
              </a:rPr>
              <a:t> </a:t>
            </a:r>
            <a:r>
              <a:rPr sz="1050" spc="-4" dirty="0">
                <a:solidFill>
                  <a:srgbClr val="585858"/>
                </a:solidFill>
                <a:cs typeface="Arial" panose="020B0604020202020204" pitchFamily="34" charset="0"/>
              </a:rPr>
              <a:t>MARKUP</a:t>
            </a:r>
            <a:endParaRPr sz="1050" dirty="0">
              <a:cs typeface="Arial" panose="020B0604020202020204" pitchFamily="34" charset="0"/>
            </a:endParaRPr>
          </a:p>
          <a:p>
            <a:pPr marL="45720">
              <a:spcBef>
                <a:spcPts val="341"/>
              </a:spcBef>
              <a:defRPr/>
            </a:pPr>
            <a:r>
              <a:rPr sz="1050" dirty="0">
                <a:solidFill>
                  <a:srgbClr val="585858"/>
                </a:solidFill>
                <a:cs typeface="Arial" panose="020B0604020202020204" pitchFamily="34" charset="0"/>
              </a:rPr>
              <a:t>&lt;div</a:t>
            </a:r>
            <a:r>
              <a:rPr sz="1050" spc="-23" dirty="0">
                <a:solidFill>
                  <a:srgbClr val="585858"/>
                </a:solidFill>
                <a:cs typeface="Arial" panose="020B0604020202020204" pitchFamily="34" charset="0"/>
              </a:rPr>
              <a:t> </a:t>
            </a:r>
            <a:r>
              <a:rPr sz="1050" spc="-4" dirty="0">
                <a:solidFill>
                  <a:srgbClr val="585858"/>
                </a:solidFill>
                <a:cs typeface="Arial" panose="020B0604020202020204" pitchFamily="34" charset="0"/>
              </a:rPr>
              <a:t>id=“container”&gt;</a:t>
            </a:r>
            <a:endParaRPr sz="1050" dirty="0">
              <a:cs typeface="Arial" panose="020B0604020202020204" pitchFamily="34" charset="0"/>
            </a:endParaRPr>
          </a:p>
          <a:p>
            <a:pPr marL="120015">
              <a:spcBef>
                <a:spcPts val="341"/>
              </a:spcBef>
              <a:defRPr/>
            </a:pPr>
            <a:r>
              <a:rPr sz="1050" dirty="0">
                <a:solidFill>
                  <a:srgbClr val="585858"/>
                </a:solidFill>
                <a:cs typeface="Arial" panose="020B0604020202020204" pitchFamily="34" charset="0"/>
              </a:rPr>
              <a:t>&lt;div</a:t>
            </a:r>
            <a:r>
              <a:rPr sz="1050" spc="-23" dirty="0">
                <a:solidFill>
                  <a:srgbClr val="585858"/>
                </a:solidFill>
                <a:cs typeface="Arial" panose="020B0604020202020204" pitchFamily="34" charset="0"/>
              </a:rPr>
              <a:t> </a:t>
            </a:r>
            <a:r>
              <a:rPr sz="1050" dirty="0">
                <a:solidFill>
                  <a:srgbClr val="585858"/>
                </a:solidFill>
                <a:cs typeface="Arial" panose="020B0604020202020204" pitchFamily="34" charset="0"/>
              </a:rPr>
              <a:t>class=“box</a:t>
            </a:r>
            <a:r>
              <a:rPr sz="1050" spc="-49" dirty="0">
                <a:solidFill>
                  <a:srgbClr val="585858"/>
                </a:solidFill>
                <a:cs typeface="Arial" panose="020B0604020202020204" pitchFamily="34" charset="0"/>
              </a:rPr>
              <a:t> </a:t>
            </a:r>
            <a:r>
              <a:rPr sz="1050" spc="-4" dirty="0">
                <a:solidFill>
                  <a:srgbClr val="585858"/>
                </a:solidFill>
                <a:cs typeface="Arial" panose="020B0604020202020204" pitchFamily="34" charset="0"/>
              </a:rPr>
              <a:t>box1”&gt;</a:t>
            </a:r>
            <a:r>
              <a:rPr sz="1050" spc="-15" dirty="0">
                <a:solidFill>
                  <a:srgbClr val="585858"/>
                </a:solidFill>
                <a:cs typeface="Arial" panose="020B0604020202020204" pitchFamily="34" charset="0"/>
              </a:rPr>
              <a:t> </a:t>
            </a:r>
            <a:r>
              <a:rPr sz="1050" spc="-4" dirty="0">
                <a:solidFill>
                  <a:srgbClr val="585858"/>
                </a:solidFill>
                <a:cs typeface="Arial" panose="020B0604020202020204" pitchFamily="34" charset="0"/>
              </a:rPr>
              <a:t>1&lt;/div&gt;</a:t>
            </a:r>
            <a:endParaRPr sz="1050" dirty="0">
              <a:cs typeface="Arial" panose="020B0604020202020204" pitchFamily="34" charset="0"/>
            </a:endParaRPr>
          </a:p>
          <a:p>
            <a:pPr marL="120015">
              <a:spcBef>
                <a:spcPts val="341"/>
              </a:spcBef>
              <a:defRPr/>
            </a:pPr>
            <a:r>
              <a:rPr sz="1050" spc="-11" dirty="0">
                <a:solidFill>
                  <a:srgbClr val="585858"/>
                </a:solidFill>
                <a:cs typeface="Arial" panose="020B0604020202020204" pitchFamily="34" charset="0"/>
              </a:rPr>
              <a:t>&lt;!–</a:t>
            </a:r>
            <a:r>
              <a:rPr sz="1050" spc="4" dirty="0">
                <a:solidFill>
                  <a:srgbClr val="585858"/>
                </a:solidFill>
                <a:cs typeface="Arial" panose="020B0604020202020204" pitchFamily="34" charset="0"/>
              </a:rPr>
              <a:t> </a:t>
            </a:r>
            <a:r>
              <a:rPr sz="1050" spc="-4" dirty="0">
                <a:solidFill>
                  <a:srgbClr val="585858"/>
                </a:solidFill>
                <a:cs typeface="Arial" panose="020B0604020202020204" pitchFamily="34" charset="0"/>
              </a:rPr>
              <a:t>more</a:t>
            </a:r>
            <a:r>
              <a:rPr sz="1050" spc="-23" dirty="0">
                <a:solidFill>
                  <a:srgbClr val="585858"/>
                </a:solidFill>
                <a:cs typeface="Arial" panose="020B0604020202020204" pitchFamily="34" charset="0"/>
              </a:rPr>
              <a:t> </a:t>
            </a:r>
            <a:r>
              <a:rPr sz="1050" spc="-4" dirty="0">
                <a:solidFill>
                  <a:srgbClr val="585858"/>
                </a:solidFill>
                <a:cs typeface="Arial" panose="020B0604020202020204" pitchFamily="34" charset="0"/>
              </a:rPr>
              <a:t>boxes</a:t>
            </a:r>
            <a:r>
              <a:rPr sz="1050" spc="-19" dirty="0">
                <a:solidFill>
                  <a:srgbClr val="585858"/>
                </a:solidFill>
                <a:cs typeface="Arial" panose="020B0604020202020204" pitchFamily="34" charset="0"/>
              </a:rPr>
              <a:t> </a:t>
            </a:r>
            <a:r>
              <a:rPr sz="1050" dirty="0">
                <a:solidFill>
                  <a:srgbClr val="585858"/>
                </a:solidFill>
                <a:cs typeface="Arial" panose="020B0604020202020204" pitchFamily="34" charset="0"/>
              </a:rPr>
              <a:t>here</a:t>
            </a:r>
            <a:r>
              <a:rPr sz="1050" spc="-19" dirty="0">
                <a:solidFill>
                  <a:srgbClr val="585858"/>
                </a:solidFill>
                <a:cs typeface="Arial" panose="020B0604020202020204" pitchFamily="34" charset="0"/>
              </a:rPr>
              <a:t> </a:t>
            </a:r>
            <a:endParaRPr sz="1050" dirty="0">
              <a:cs typeface="Arial" panose="020B0604020202020204" pitchFamily="34" charset="0"/>
            </a:endParaRPr>
          </a:p>
          <a:p>
            <a:pPr marL="83344">
              <a:spcBef>
                <a:spcPts val="90"/>
              </a:spcBef>
              <a:defRPr/>
            </a:pPr>
            <a:r>
              <a:rPr sz="1050" dirty="0">
                <a:solidFill>
                  <a:srgbClr val="585858"/>
                </a:solidFill>
                <a:cs typeface="Arial" panose="020B0604020202020204" pitchFamily="34" charset="0"/>
              </a:rPr>
              <a:t>&lt;div</a:t>
            </a:r>
            <a:r>
              <a:rPr sz="1050" spc="-23" dirty="0">
                <a:solidFill>
                  <a:srgbClr val="585858"/>
                </a:solidFill>
                <a:cs typeface="Arial" panose="020B0604020202020204" pitchFamily="34" charset="0"/>
              </a:rPr>
              <a:t> </a:t>
            </a:r>
            <a:r>
              <a:rPr sz="1050" dirty="0">
                <a:solidFill>
                  <a:srgbClr val="585858"/>
                </a:solidFill>
                <a:cs typeface="Arial" panose="020B0604020202020204" pitchFamily="34" charset="0"/>
              </a:rPr>
              <a:t>class=“box</a:t>
            </a:r>
            <a:r>
              <a:rPr sz="1050" spc="-45" dirty="0">
                <a:solidFill>
                  <a:srgbClr val="585858"/>
                </a:solidFill>
                <a:cs typeface="Arial" panose="020B0604020202020204" pitchFamily="34" charset="0"/>
              </a:rPr>
              <a:t> </a:t>
            </a:r>
            <a:r>
              <a:rPr sz="1050" spc="-4" dirty="0">
                <a:solidFill>
                  <a:srgbClr val="585858"/>
                </a:solidFill>
                <a:cs typeface="Arial" panose="020B0604020202020204" pitchFamily="34" charset="0"/>
              </a:rPr>
              <a:t>box10”&gt;</a:t>
            </a:r>
            <a:r>
              <a:rPr sz="1050" spc="-26" dirty="0">
                <a:solidFill>
                  <a:srgbClr val="585858"/>
                </a:solidFill>
                <a:cs typeface="Arial" panose="020B0604020202020204" pitchFamily="34" charset="0"/>
              </a:rPr>
              <a:t> </a:t>
            </a:r>
            <a:r>
              <a:rPr sz="1050" spc="-4" dirty="0">
                <a:solidFill>
                  <a:srgbClr val="585858"/>
                </a:solidFill>
                <a:cs typeface="Arial" panose="020B0604020202020204" pitchFamily="34" charset="0"/>
              </a:rPr>
              <a:t>10</a:t>
            </a:r>
            <a:r>
              <a:rPr sz="1050" spc="-11" dirty="0">
                <a:solidFill>
                  <a:srgbClr val="585858"/>
                </a:solidFill>
                <a:cs typeface="Arial" panose="020B0604020202020204" pitchFamily="34" charset="0"/>
              </a:rPr>
              <a:t> </a:t>
            </a:r>
            <a:r>
              <a:rPr sz="1050" spc="-4" dirty="0">
                <a:solidFill>
                  <a:srgbClr val="585858"/>
                </a:solidFill>
                <a:cs typeface="Arial" panose="020B0604020202020204" pitchFamily="34" charset="0"/>
              </a:rPr>
              <a:t>&lt;/div&gt;</a:t>
            </a:r>
            <a:endParaRPr sz="1050" dirty="0">
              <a:cs typeface="Arial" panose="020B0604020202020204" pitchFamily="34" charset="0"/>
            </a:endParaRPr>
          </a:p>
          <a:p>
            <a:pPr marL="9525">
              <a:spcBef>
                <a:spcPts val="344"/>
              </a:spcBef>
              <a:defRPr/>
            </a:pPr>
            <a:r>
              <a:rPr sz="1050" spc="-4" dirty="0">
                <a:solidFill>
                  <a:srgbClr val="585858"/>
                </a:solidFill>
                <a:cs typeface="Arial" panose="020B0604020202020204" pitchFamily="34" charset="0"/>
              </a:rPr>
              <a:t>&lt;/div&gt;</a:t>
            </a:r>
            <a:endParaRPr sz="1050" dirty="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object 2">
            <a:extLst>
              <a:ext uri="{FF2B5EF4-FFF2-40B4-BE49-F238E27FC236}">
                <a16:creationId xmlns:a16="http://schemas.microsoft.com/office/drawing/2014/main" id="{E21F1E7E-FBC4-A6A8-8D3B-9080C80C34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6736" y="2495128"/>
            <a:ext cx="7015663" cy="2026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ject 3">
            <a:extLst>
              <a:ext uri="{FF2B5EF4-FFF2-40B4-BE49-F238E27FC236}">
                <a16:creationId xmlns:a16="http://schemas.microsoft.com/office/drawing/2014/main" id="{66F4E4BF-D237-04DA-6B05-2CBB5D170F01}"/>
              </a:ext>
            </a:extLst>
          </p:cNvPr>
          <p:cNvSpPr txBox="1">
            <a:spLocks noGrp="1"/>
          </p:cNvSpPr>
          <p:nvPr>
            <p:ph type="title"/>
          </p:nvPr>
        </p:nvSpPr>
        <p:spPr>
          <a:xfrm>
            <a:off x="103188" y="344025"/>
            <a:ext cx="8785225" cy="686726"/>
          </a:xfrm>
        </p:spPr>
        <p:txBody>
          <a:bodyPr lIns="0" tIns="9525" rIns="0" bIns="0" rtlCol="0">
            <a:spAutoFit/>
          </a:bodyPr>
          <a:lstStyle/>
          <a:p>
            <a:pPr marL="9525">
              <a:spcBef>
                <a:spcPts val="75"/>
              </a:spcBef>
              <a:defRPr/>
            </a:pPr>
            <a:r>
              <a:rPr dirty="0"/>
              <a:t>CSS</a:t>
            </a:r>
            <a:r>
              <a:rPr spc="-11" dirty="0"/>
              <a:t> </a:t>
            </a:r>
            <a:r>
              <a:rPr spc="-4" dirty="0"/>
              <a:t>Layout</a:t>
            </a:r>
            <a:r>
              <a:rPr spc="-15" dirty="0"/>
              <a:t> </a:t>
            </a:r>
            <a:r>
              <a:rPr dirty="0"/>
              <a:t>-</a:t>
            </a:r>
            <a:r>
              <a:rPr spc="-15" dirty="0"/>
              <a:t> </a:t>
            </a:r>
            <a:r>
              <a:rPr dirty="0"/>
              <a:t>Flexbox</a:t>
            </a:r>
          </a:p>
        </p:txBody>
      </p:sp>
      <p:sp>
        <p:nvSpPr>
          <p:cNvPr id="4" name="object 4">
            <a:extLst>
              <a:ext uri="{FF2B5EF4-FFF2-40B4-BE49-F238E27FC236}">
                <a16:creationId xmlns:a16="http://schemas.microsoft.com/office/drawing/2014/main" id="{8DF3BFBF-0A18-4F13-736E-A44A00D05D6C}"/>
              </a:ext>
            </a:extLst>
          </p:cNvPr>
          <p:cNvSpPr txBox="1"/>
          <p:nvPr/>
        </p:nvSpPr>
        <p:spPr>
          <a:xfrm>
            <a:off x="1387475" y="1733550"/>
            <a:ext cx="3672310" cy="597119"/>
          </a:xfrm>
          <a:prstGeom prst="rect">
            <a:avLst/>
          </a:prstGeom>
        </p:spPr>
        <p:txBody>
          <a:bodyPr wrap="square" lIns="0" tIns="30004" rIns="0" bIns="0">
            <a:spAutoFit/>
          </a:bodyPr>
          <a:lstStyle/>
          <a:p>
            <a:pPr marL="9525">
              <a:spcBef>
                <a:spcPts val="236"/>
              </a:spcBef>
              <a:defRPr/>
            </a:pPr>
            <a:r>
              <a:rPr sz="2000" b="1" spc="-4" dirty="0">
                <a:solidFill>
                  <a:schemeClr val="accent2"/>
                </a:solidFill>
                <a:latin typeface="Corbel"/>
                <a:cs typeface="Corbel"/>
              </a:rPr>
              <a:t>flex-wrap</a:t>
            </a:r>
            <a:endParaRPr sz="2000" dirty="0">
              <a:solidFill>
                <a:schemeClr val="accent2"/>
              </a:solidFill>
              <a:latin typeface="Corbel"/>
              <a:cs typeface="Corbel"/>
            </a:endParaRPr>
          </a:p>
          <a:p>
            <a:pPr marL="352425">
              <a:spcBef>
                <a:spcPts val="105"/>
              </a:spcBef>
              <a:defRPr/>
            </a:pPr>
            <a:r>
              <a:rPr sz="1600" b="1" dirty="0">
                <a:solidFill>
                  <a:schemeClr val="accent2"/>
                </a:solidFill>
                <a:latin typeface="Arial"/>
                <a:cs typeface="Arial"/>
              </a:rPr>
              <a:t>nowrap</a:t>
            </a:r>
            <a:r>
              <a:rPr sz="1600" b="1" spc="-23" dirty="0">
                <a:solidFill>
                  <a:schemeClr val="accent2"/>
                </a:solidFill>
                <a:latin typeface="Arial"/>
                <a:cs typeface="Arial"/>
              </a:rPr>
              <a:t> </a:t>
            </a:r>
            <a:r>
              <a:rPr sz="1600" b="1" spc="-4" dirty="0">
                <a:solidFill>
                  <a:schemeClr val="accent2"/>
                </a:solidFill>
                <a:latin typeface="Arial"/>
                <a:cs typeface="Arial"/>
              </a:rPr>
              <a:t>|</a:t>
            </a:r>
            <a:r>
              <a:rPr sz="1600" b="1" dirty="0">
                <a:solidFill>
                  <a:schemeClr val="accent2"/>
                </a:solidFill>
                <a:latin typeface="Arial"/>
                <a:cs typeface="Arial"/>
              </a:rPr>
              <a:t> </a:t>
            </a:r>
            <a:r>
              <a:rPr sz="1600" b="1" spc="4" dirty="0">
                <a:solidFill>
                  <a:schemeClr val="accent2"/>
                </a:solidFill>
                <a:latin typeface="Arial"/>
                <a:cs typeface="Arial"/>
              </a:rPr>
              <a:t>wrap</a:t>
            </a:r>
            <a:r>
              <a:rPr sz="1600" b="1" spc="-26" dirty="0">
                <a:solidFill>
                  <a:schemeClr val="accent2"/>
                </a:solidFill>
                <a:latin typeface="Arial"/>
                <a:cs typeface="Arial"/>
              </a:rPr>
              <a:t> </a:t>
            </a:r>
            <a:r>
              <a:rPr sz="1600" b="1" spc="-4" dirty="0">
                <a:solidFill>
                  <a:schemeClr val="accent2"/>
                </a:solidFill>
                <a:latin typeface="Arial"/>
                <a:cs typeface="Arial"/>
              </a:rPr>
              <a:t>|</a:t>
            </a:r>
            <a:r>
              <a:rPr sz="1600" b="1" dirty="0">
                <a:solidFill>
                  <a:schemeClr val="accent2"/>
                </a:solidFill>
                <a:latin typeface="Arial"/>
                <a:cs typeface="Arial"/>
              </a:rPr>
              <a:t> </a:t>
            </a:r>
            <a:r>
              <a:rPr sz="1600" b="1" spc="-4" dirty="0">
                <a:solidFill>
                  <a:schemeClr val="accent2"/>
                </a:solidFill>
                <a:latin typeface="Arial"/>
                <a:cs typeface="Arial"/>
              </a:rPr>
              <a:t>wrap-reverse</a:t>
            </a:r>
            <a:endParaRPr sz="1600" dirty="0">
              <a:solidFill>
                <a:schemeClr val="accent2"/>
              </a:solidFill>
              <a:latin typeface="Arial"/>
              <a:cs typeface="Arial"/>
            </a:endParaRPr>
          </a:p>
        </p:txBody>
      </p:sp>
      <p:sp>
        <p:nvSpPr>
          <p:cNvPr id="5" name="object 5">
            <a:extLst>
              <a:ext uri="{FF2B5EF4-FFF2-40B4-BE49-F238E27FC236}">
                <a16:creationId xmlns:a16="http://schemas.microsoft.com/office/drawing/2014/main" id="{3D5A2F44-8024-1521-2D8C-1C6AC2A52C66}"/>
              </a:ext>
            </a:extLst>
          </p:cNvPr>
          <p:cNvSpPr txBox="1"/>
          <p:nvPr/>
        </p:nvSpPr>
        <p:spPr>
          <a:xfrm>
            <a:off x="1619672" y="4778628"/>
            <a:ext cx="3440113" cy="147637"/>
          </a:xfrm>
          <a:prstGeom prst="rect">
            <a:avLst/>
          </a:prstGeom>
        </p:spPr>
        <p:txBody>
          <a:bodyPr lIns="0" tIns="9525" rIns="0" bIns="0">
            <a:spAutoFit/>
          </a:bodyPr>
          <a:lstStyle/>
          <a:p>
            <a:pPr marL="9525">
              <a:spcBef>
                <a:spcPts val="75"/>
              </a:spcBef>
              <a:defRPr/>
            </a:pPr>
            <a:r>
              <a:rPr sz="900" spc="-4" dirty="0">
                <a:solidFill>
                  <a:srgbClr val="7E7E7E"/>
                </a:solidFill>
                <a:latin typeface="Corbel"/>
                <a:cs typeface="Corbel"/>
              </a:rPr>
              <a:t>Figure</a:t>
            </a:r>
            <a:r>
              <a:rPr sz="900" spc="-8" dirty="0">
                <a:solidFill>
                  <a:srgbClr val="7E7E7E"/>
                </a:solidFill>
                <a:latin typeface="Corbel"/>
                <a:cs typeface="Corbel"/>
              </a:rPr>
              <a:t> </a:t>
            </a:r>
            <a:r>
              <a:rPr sz="900" spc="-4" dirty="0">
                <a:solidFill>
                  <a:srgbClr val="7E7E7E"/>
                </a:solidFill>
                <a:latin typeface="Corbel"/>
                <a:cs typeface="Corbel"/>
              </a:rPr>
              <a:t>16-5. Niederst,</a:t>
            </a:r>
            <a:r>
              <a:rPr sz="900" spc="-34" dirty="0">
                <a:solidFill>
                  <a:srgbClr val="7E7E7E"/>
                </a:solidFill>
                <a:latin typeface="Corbel"/>
                <a:cs typeface="Corbel"/>
              </a:rPr>
              <a:t> </a:t>
            </a:r>
            <a:r>
              <a:rPr sz="900" spc="-4" dirty="0">
                <a:solidFill>
                  <a:srgbClr val="7E7E7E"/>
                </a:solidFill>
                <a:latin typeface="Corbel"/>
                <a:cs typeface="Corbel"/>
              </a:rPr>
              <a:t>J.</a:t>
            </a:r>
            <a:r>
              <a:rPr sz="900" spc="4" dirty="0">
                <a:solidFill>
                  <a:srgbClr val="7E7E7E"/>
                </a:solidFill>
                <a:latin typeface="Corbel"/>
                <a:cs typeface="Corbel"/>
              </a:rPr>
              <a:t> </a:t>
            </a:r>
            <a:r>
              <a:rPr sz="900" spc="-4" dirty="0">
                <a:solidFill>
                  <a:srgbClr val="7E7E7E"/>
                </a:solidFill>
                <a:latin typeface="Corbel"/>
                <a:cs typeface="Corbel"/>
              </a:rPr>
              <a:t>(2018).</a:t>
            </a:r>
            <a:r>
              <a:rPr sz="900" dirty="0">
                <a:solidFill>
                  <a:srgbClr val="7E7E7E"/>
                </a:solidFill>
                <a:latin typeface="Corbel"/>
                <a:cs typeface="Corbel"/>
              </a:rPr>
              <a:t> </a:t>
            </a:r>
            <a:r>
              <a:rPr sz="900" spc="-4" dirty="0">
                <a:solidFill>
                  <a:srgbClr val="7E7E7E"/>
                </a:solidFill>
                <a:latin typeface="Corbel"/>
                <a:cs typeface="Corbel"/>
              </a:rPr>
              <a:t>Learning</a:t>
            </a:r>
            <a:r>
              <a:rPr sz="900" spc="-53" dirty="0">
                <a:solidFill>
                  <a:srgbClr val="7E7E7E"/>
                </a:solidFill>
                <a:latin typeface="Corbel"/>
                <a:cs typeface="Corbel"/>
              </a:rPr>
              <a:t> </a:t>
            </a:r>
            <a:r>
              <a:rPr sz="900" spc="-15" dirty="0">
                <a:solidFill>
                  <a:srgbClr val="7E7E7E"/>
                </a:solidFill>
                <a:latin typeface="Corbel"/>
                <a:cs typeface="Corbel"/>
              </a:rPr>
              <a:t>Web</a:t>
            </a:r>
            <a:r>
              <a:rPr sz="900" spc="8" dirty="0">
                <a:solidFill>
                  <a:srgbClr val="7E7E7E"/>
                </a:solidFill>
                <a:latin typeface="Corbel"/>
                <a:cs typeface="Corbel"/>
              </a:rPr>
              <a:t> </a:t>
            </a:r>
            <a:r>
              <a:rPr sz="900" spc="-4" dirty="0">
                <a:solidFill>
                  <a:srgbClr val="7E7E7E"/>
                </a:solidFill>
                <a:latin typeface="Corbel"/>
                <a:cs typeface="Corbel"/>
              </a:rPr>
              <a:t>Design.</a:t>
            </a:r>
            <a:r>
              <a:rPr sz="900" spc="-41" dirty="0">
                <a:solidFill>
                  <a:srgbClr val="7E7E7E"/>
                </a:solidFill>
                <a:latin typeface="Corbel"/>
                <a:cs typeface="Corbel"/>
              </a:rPr>
              <a:t> </a:t>
            </a:r>
            <a:r>
              <a:rPr sz="900" spc="-4" dirty="0">
                <a:solidFill>
                  <a:srgbClr val="7E7E7E"/>
                </a:solidFill>
                <a:latin typeface="Corbel"/>
                <a:cs typeface="Corbel"/>
              </a:rPr>
              <a:t>O'Reilly</a:t>
            </a:r>
            <a:r>
              <a:rPr sz="900" spc="4" dirty="0">
                <a:solidFill>
                  <a:srgbClr val="7E7E7E"/>
                </a:solidFill>
                <a:latin typeface="Corbel"/>
                <a:cs typeface="Corbel"/>
              </a:rPr>
              <a:t> </a:t>
            </a:r>
            <a:r>
              <a:rPr sz="900" dirty="0">
                <a:solidFill>
                  <a:srgbClr val="7E7E7E"/>
                </a:solidFill>
                <a:latin typeface="Corbel"/>
                <a:cs typeface="Corbel"/>
              </a:rPr>
              <a:t>Media,</a:t>
            </a:r>
            <a:r>
              <a:rPr sz="900" spc="-11" dirty="0">
                <a:solidFill>
                  <a:srgbClr val="7E7E7E"/>
                </a:solidFill>
                <a:latin typeface="Corbel"/>
                <a:cs typeface="Corbel"/>
              </a:rPr>
              <a:t> </a:t>
            </a:r>
            <a:r>
              <a:rPr sz="900" spc="-4" dirty="0">
                <a:solidFill>
                  <a:srgbClr val="7E7E7E"/>
                </a:solidFill>
                <a:latin typeface="Corbel"/>
                <a:cs typeface="Corbel"/>
              </a:rPr>
              <a:t>Inc.</a:t>
            </a:r>
            <a:endParaRPr sz="900" dirty="0">
              <a:latin typeface="Corbel"/>
              <a:cs typeface="Corbe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131F5BD-CDDF-DE41-E6A3-EA5C04BB8711}"/>
              </a:ext>
            </a:extLst>
          </p:cNvPr>
          <p:cNvSpPr txBox="1">
            <a:spLocks noGrp="1"/>
          </p:cNvSpPr>
          <p:nvPr>
            <p:ph type="title"/>
          </p:nvPr>
        </p:nvSpPr>
        <p:spPr>
          <a:xfrm>
            <a:off x="276888" y="444524"/>
            <a:ext cx="8456493" cy="686726"/>
          </a:xfrm>
        </p:spPr>
        <p:txBody>
          <a:bodyPr wrap="square" lIns="0" tIns="9525" rIns="0" bIns="0" rtlCol="0">
            <a:spAutoFit/>
          </a:bodyPr>
          <a:lstStyle/>
          <a:p>
            <a:pPr marL="9525">
              <a:spcBef>
                <a:spcPts val="75"/>
              </a:spcBef>
              <a:defRPr/>
            </a:pPr>
            <a:r>
              <a:rPr dirty="0"/>
              <a:t>CSS</a:t>
            </a:r>
            <a:r>
              <a:rPr spc="-11" dirty="0"/>
              <a:t> </a:t>
            </a:r>
            <a:r>
              <a:rPr spc="-4" dirty="0"/>
              <a:t>Layout</a:t>
            </a:r>
            <a:r>
              <a:rPr spc="-15" dirty="0"/>
              <a:t> </a:t>
            </a:r>
            <a:r>
              <a:rPr dirty="0"/>
              <a:t>-</a:t>
            </a:r>
            <a:r>
              <a:rPr spc="-15" dirty="0"/>
              <a:t> </a:t>
            </a:r>
            <a:r>
              <a:rPr dirty="0"/>
              <a:t>Flexbox</a:t>
            </a:r>
          </a:p>
        </p:txBody>
      </p:sp>
      <p:sp>
        <p:nvSpPr>
          <p:cNvPr id="3" name="object 3">
            <a:extLst>
              <a:ext uri="{FF2B5EF4-FFF2-40B4-BE49-F238E27FC236}">
                <a16:creationId xmlns:a16="http://schemas.microsoft.com/office/drawing/2014/main" id="{EF0AE923-C489-08AC-A077-03F44D439A24}"/>
              </a:ext>
            </a:extLst>
          </p:cNvPr>
          <p:cNvSpPr txBox="1"/>
          <p:nvPr/>
        </p:nvSpPr>
        <p:spPr>
          <a:xfrm>
            <a:off x="1887537" y="1718563"/>
            <a:ext cx="5532784" cy="751007"/>
          </a:xfrm>
          <a:prstGeom prst="rect">
            <a:avLst/>
          </a:prstGeom>
        </p:spPr>
        <p:txBody>
          <a:bodyPr wrap="square" lIns="0" tIns="30004" rIns="0" bIns="0">
            <a:spAutoFit/>
          </a:bodyPr>
          <a:lstStyle/>
          <a:p>
            <a:pPr marL="9525">
              <a:spcBef>
                <a:spcPts val="236"/>
              </a:spcBef>
              <a:defRPr/>
            </a:pPr>
            <a:r>
              <a:rPr sz="2800" b="1" spc="-4" dirty="0">
                <a:solidFill>
                  <a:schemeClr val="accent2"/>
                </a:solidFill>
                <a:cs typeface="Arial" panose="020B0604020202020204" pitchFamily="34" charset="0"/>
              </a:rPr>
              <a:t>flex-flow</a:t>
            </a:r>
            <a:r>
              <a:rPr sz="2800" b="1" spc="-53" dirty="0">
                <a:solidFill>
                  <a:schemeClr val="accent2"/>
                </a:solidFill>
                <a:cs typeface="Arial" panose="020B0604020202020204" pitchFamily="34" charset="0"/>
              </a:rPr>
              <a:t> </a:t>
            </a:r>
            <a:r>
              <a:rPr sz="2800" b="1" dirty="0">
                <a:solidFill>
                  <a:schemeClr val="accent2"/>
                </a:solidFill>
                <a:cs typeface="Arial" panose="020B0604020202020204" pitchFamily="34" charset="0"/>
              </a:rPr>
              <a:t>(shorthand)</a:t>
            </a:r>
            <a:endParaRPr sz="2800" dirty="0">
              <a:solidFill>
                <a:schemeClr val="accent2"/>
              </a:solidFill>
              <a:cs typeface="Arial" panose="020B0604020202020204" pitchFamily="34" charset="0"/>
            </a:endParaRPr>
          </a:p>
          <a:p>
            <a:pPr marL="352425">
              <a:spcBef>
                <a:spcPts val="105"/>
              </a:spcBef>
              <a:tabLst>
                <a:tab pos="1438751" algn="l"/>
              </a:tabLst>
              <a:defRPr/>
            </a:pPr>
            <a:r>
              <a:rPr sz="1800" b="1" i="1" spc="-4" dirty="0">
                <a:solidFill>
                  <a:srgbClr val="585858"/>
                </a:solidFill>
                <a:cs typeface="Arial" panose="020B0604020202020204" pitchFamily="34" charset="0"/>
              </a:rPr>
              <a:t>fle</a:t>
            </a:r>
            <a:r>
              <a:rPr sz="1800" b="1" i="1" spc="-8" dirty="0">
                <a:solidFill>
                  <a:srgbClr val="585858"/>
                </a:solidFill>
                <a:cs typeface="Arial" panose="020B0604020202020204" pitchFamily="34" charset="0"/>
              </a:rPr>
              <a:t>x-</a:t>
            </a:r>
            <a:r>
              <a:rPr sz="1800" b="1" i="1" spc="-4" dirty="0">
                <a:solidFill>
                  <a:srgbClr val="585858"/>
                </a:solidFill>
                <a:cs typeface="Arial" panose="020B0604020202020204" pitchFamily="34" charset="0"/>
              </a:rPr>
              <a:t>direction</a:t>
            </a:r>
            <a:r>
              <a:rPr sz="1800" b="1" i="1" dirty="0">
                <a:solidFill>
                  <a:srgbClr val="585858"/>
                </a:solidFill>
                <a:cs typeface="Arial" panose="020B0604020202020204" pitchFamily="34" charset="0"/>
              </a:rPr>
              <a:t>	</a:t>
            </a:r>
            <a:r>
              <a:rPr sz="1800" b="1" i="1" spc="-4" dirty="0">
                <a:solidFill>
                  <a:srgbClr val="585858"/>
                </a:solidFill>
                <a:cs typeface="Arial" panose="020B0604020202020204" pitchFamily="34" charset="0"/>
              </a:rPr>
              <a:t>flex</a:t>
            </a:r>
            <a:r>
              <a:rPr sz="1800" b="1" i="1" spc="-8" dirty="0">
                <a:solidFill>
                  <a:srgbClr val="585858"/>
                </a:solidFill>
                <a:cs typeface="Arial" panose="020B0604020202020204" pitchFamily="34" charset="0"/>
              </a:rPr>
              <a:t>-</a:t>
            </a:r>
            <a:r>
              <a:rPr sz="1800" b="1" i="1" spc="-11" dirty="0">
                <a:solidFill>
                  <a:srgbClr val="585858"/>
                </a:solidFill>
                <a:cs typeface="Arial" panose="020B0604020202020204" pitchFamily="34" charset="0"/>
              </a:rPr>
              <a:t>w</a:t>
            </a:r>
            <a:r>
              <a:rPr sz="1800" b="1" i="1" spc="-4" dirty="0">
                <a:solidFill>
                  <a:srgbClr val="585858"/>
                </a:solidFill>
                <a:cs typeface="Arial" panose="020B0604020202020204" pitchFamily="34" charset="0"/>
              </a:rPr>
              <a:t>rap</a:t>
            </a:r>
            <a:endParaRPr sz="1800" dirty="0">
              <a:cs typeface="Arial" panose="020B0604020202020204" pitchFamily="34" charset="0"/>
            </a:endParaRPr>
          </a:p>
        </p:txBody>
      </p:sp>
      <p:sp>
        <p:nvSpPr>
          <p:cNvPr id="4" name="object 4">
            <a:extLst>
              <a:ext uri="{FF2B5EF4-FFF2-40B4-BE49-F238E27FC236}">
                <a16:creationId xmlns:a16="http://schemas.microsoft.com/office/drawing/2014/main" id="{B0C53148-5DCC-B29D-2679-9E0FC143B43E}"/>
              </a:ext>
            </a:extLst>
          </p:cNvPr>
          <p:cNvSpPr txBox="1"/>
          <p:nvPr/>
        </p:nvSpPr>
        <p:spPr>
          <a:xfrm>
            <a:off x="1887537" y="2719388"/>
            <a:ext cx="2684463" cy="809068"/>
          </a:xfrm>
          <a:prstGeom prst="rect">
            <a:avLst/>
          </a:prstGeom>
        </p:spPr>
        <p:txBody>
          <a:bodyPr wrap="square" lIns="0" tIns="9525" rIns="0" bIns="0">
            <a:spAutoFit/>
          </a:bodyPr>
          <a:lstStyle>
            <a:lvl1pPr marL="9525">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127000"/>
              </a:lnSpc>
              <a:spcBef>
                <a:spcPts val="75"/>
              </a:spcBef>
            </a:pPr>
            <a:r>
              <a:rPr lang="en-US" altLang="en-US" sz="1400" dirty="0">
                <a:solidFill>
                  <a:schemeClr val="accent6"/>
                </a:solidFill>
                <a:ea typeface="Arial MT"/>
                <a:cs typeface="Arial" panose="020B0604020202020204" pitchFamily="34" charset="0"/>
              </a:rPr>
              <a:t>Using</a:t>
            </a:r>
            <a:r>
              <a:rPr lang="en-US" altLang="en-US" sz="1400" b="1" dirty="0">
                <a:solidFill>
                  <a:schemeClr val="accent6"/>
                </a:solidFill>
                <a:ea typeface="Arial MT"/>
                <a:cs typeface="Arial" panose="020B0604020202020204" pitchFamily="34" charset="0"/>
              </a:rPr>
              <a:t> flex-direction &amp; flex-wrap  </a:t>
            </a:r>
            <a:r>
              <a:rPr lang="en-US" altLang="en-US" sz="1400" dirty="0">
                <a:solidFill>
                  <a:srgbClr val="585858"/>
                </a:solidFill>
                <a:ea typeface="Arial MT"/>
                <a:cs typeface="Arial" panose="020B0604020202020204" pitchFamily="34" charset="0"/>
              </a:rPr>
              <a:t>#container {</a:t>
            </a:r>
            <a:endParaRPr lang="en-US" altLang="en-US" sz="1400" dirty="0">
              <a:ea typeface="Arial MT"/>
              <a:cs typeface="Arial" panose="020B0604020202020204" pitchFamily="34" charset="0"/>
            </a:endParaRPr>
          </a:p>
          <a:p>
            <a:pPr>
              <a:lnSpc>
                <a:spcPct val="107000"/>
              </a:lnSpc>
              <a:spcBef>
                <a:spcPts val="250"/>
              </a:spcBef>
            </a:pPr>
            <a:r>
              <a:rPr lang="en-US" altLang="en-US" sz="1400" dirty="0">
                <a:solidFill>
                  <a:srgbClr val="585858"/>
                </a:solidFill>
                <a:ea typeface="Arial MT"/>
                <a:cs typeface="Arial" panose="020B0604020202020204" pitchFamily="34" charset="0"/>
              </a:rPr>
              <a:t>display: flex;  height: 350px;</a:t>
            </a:r>
            <a:endParaRPr lang="en-US" altLang="en-US" sz="1400" dirty="0">
              <a:ea typeface="Arial MT"/>
              <a:cs typeface="Arial" panose="020B0604020202020204" pitchFamily="34" charset="0"/>
            </a:endParaRPr>
          </a:p>
        </p:txBody>
      </p:sp>
      <p:sp>
        <p:nvSpPr>
          <p:cNvPr id="5" name="object 5">
            <a:extLst>
              <a:ext uri="{FF2B5EF4-FFF2-40B4-BE49-F238E27FC236}">
                <a16:creationId xmlns:a16="http://schemas.microsoft.com/office/drawing/2014/main" id="{286E31FA-DC6D-F6EA-E8AE-B844A25EC0FF}"/>
              </a:ext>
            </a:extLst>
          </p:cNvPr>
          <p:cNvSpPr txBox="1"/>
          <p:nvPr/>
        </p:nvSpPr>
        <p:spPr>
          <a:xfrm>
            <a:off x="1962150" y="3533774"/>
            <a:ext cx="1710374" cy="772167"/>
          </a:xfrm>
          <a:prstGeom prst="rect">
            <a:avLst/>
          </a:prstGeom>
        </p:spPr>
        <p:txBody>
          <a:bodyPr wrap="square" lIns="0" tIns="20479" rIns="0" bIns="0">
            <a:spAutoFit/>
          </a:bodyPr>
          <a:lstStyle/>
          <a:p>
            <a:pPr marL="9525">
              <a:spcBef>
                <a:spcPts val="161"/>
              </a:spcBef>
              <a:defRPr/>
            </a:pPr>
            <a:r>
              <a:rPr sz="1600" spc="-4" dirty="0">
                <a:solidFill>
                  <a:srgbClr val="585858"/>
                </a:solidFill>
                <a:cs typeface="Arial" panose="020B0604020202020204" pitchFamily="34" charset="0"/>
              </a:rPr>
              <a:t>flex-direction:</a:t>
            </a:r>
            <a:r>
              <a:rPr sz="1600" spc="-49" dirty="0">
                <a:solidFill>
                  <a:srgbClr val="585858"/>
                </a:solidFill>
                <a:cs typeface="Arial" panose="020B0604020202020204" pitchFamily="34" charset="0"/>
              </a:rPr>
              <a:t> </a:t>
            </a:r>
            <a:r>
              <a:rPr sz="1600" dirty="0">
                <a:solidFill>
                  <a:srgbClr val="585858"/>
                </a:solidFill>
                <a:cs typeface="Arial" panose="020B0604020202020204" pitchFamily="34" charset="0"/>
              </a:rPr>
              <a:t>column;</a:t>
            </a:r>
            <a:endParaRPr sz="1600" dirty="0">
              <a:cs typeface="Arial" panose="020B0604020202020204" pitchFamily="34" charset="0"/>
            </a:endParaRPr>
          </a:p>
          <a:p>
            <a:pPr marL="9525">
              <a:spcBef>
                <a:spcPts val="90"/>
              </a:spcBef>
              <a:defRPr/>
            </a:pPr>
            <a:r>
              <a:rPr sz="1600" spc="-4" dirty="0">
                <a:solidFill>
                  <a:srgbClr val="585858"/>
                </a:solidFill>
                <a:cs typeface="Arial" panose="020B0604020202020204" pitchFamily="34" charset="0"/>
              </a:rPr>
              <a:t>flex-wrap:</a:t>
            </a:r>
            <a:r>
              <a:rPr sz="1600" spc="-34" dirty="0">
                <a:solidFill>
                  <a:srgbClr val="585858"/>
                </a:solidFill>
                <a:cs typeface="Arial" panose="020B0604020202020204" pitchFamily="34" charset="0"/>
              </a:rPr>
              <a:t> </a:t>
            </a:r>
            <a:r>
              <a:rPr sz="1600" spc="-4" dirty="0">
                <a:solidFill>
                  <a:srgbClr val="585858"/>
                </a:solidFill>
                <a:cs typeface="Arial" panose="020B0604020202020204" pitchFamily="34" charset="0"/>
              </a:rPr>
              <a:t>wrap;</a:t>
            </a:r>
            <a:endParaRPr sz="1600" dirty="0">
              <a:cs typeface="Arial" panose="020B0604020202020204" pitchFamily="34" charset="0"/>
            </a:endParaRPr>
          </a:p>
        </p:txBody>
      </p:sp>
      <p:sp>
        <p:nvSpPr>
          <p:cNvPr id="6" name="object 6">
            <a:extLst>
              <a:ext uri="{FF2B5EF4-FFF2-40B4-BE49-F238E27FC236}">
                <a16:creationId xmlns:a16="http://schemas.microsoft.com/office/drawing/2014/main" id="{E9C66001-CACC-1241-0E80-E0F6E3645914}"/>
              </a:ext>
            </a:extLst>
          </p:cNvPr>
          <p:cNvSpPr txBox="1"/>
          <p:nvPr/>
        </p:nvSpPr>
        <p:spPr>
          <a:xfrm>
            <a:off x="1887538" y="3919537"/>
            <a:ext cx="84692" cy="225062"/>
          </a:xfrm>
          <a:prstGeom prst="rect">
            <a:avLst/>
          </a:prstGeom>
        </p:spPr>
        <p:txBody>
          <a:bodyPr wrap="square" lIns="0" tIns="9525" rIns="0" bIns="0">
            <a:spAutoFit/>
          </a:bodyPr>
          <a:lstStyle/>
          <a:p>
            <a:pPr marL="9525">
              <a:spcBef>
                <a:spcPts val="75"/>
              </a:spcBef>
              <a:defRPr/>
            </a:pPr>
            <a:r>
              <a:rPr sz="1400" dirty="0">
                <a:solidFill>
                  <a:srgbClr val="585858"/>
                </a:solidFill>
                <a:cs typeface="Arial" panose="020B0604020202020204" pitchFamily="34" charset="0"/>
              </a:rPr>
              <a:t>}</a:t>
            </a:r>
            <a:endParaRPr sz="1400">
              <a:cs typeface="Arial" panose="020B0604020202020204" pitchFamily="34" charset="0"/>
            </a:endParaRPr>
          </a:p>
        </p:txBody>
      </p:sp>
      <p:sp>
        <p:nvSpPr>
          <p:cNvPr id="7" name="object 7">
            <a:extLst>
              <a:ext uri="{FF2B5EF4-FFF2-40B4-BE49-F238E27FC236}">
                <a16:creationId xmlns:a16="http://schemas.microsoft.com/office/drawing/2014/main" id="{FE05EC8E-CB01-EEF9-5960-94028B8D10FF}"/>
              </a:ext>
            </a:extLst>
          </p:cNvPr>
          <p:cNvSpPr txBox="1"/>
          <p:nvPr/>
        </p:nvSpPr>
        <p:spPr>
          <a:xfrm>
            <a:off x="5309888" y="2707150"/>
            <a:ext cx="3423493" cy="1476302"/>
          </a:xfrm>
          <a:prstGeom prst="rect">
            <a:avLst/>
          </a:prstGeom>
        </p:spPr>
        <p:txBody>
          <a:bodyPr wrap="square" lIns="0" tIns="9525" rIns="0" bIns="0">
            <a:spAutoFit/>
          </a:bodyPr>
          <a:lstStyle>
            <a:lvl1pPr marL="9525">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127000"/>
              </a:lnSpc>
              <a:spcBef>
                <a:spcPts val="75"/>
              </a:spcBef>
            </a:pPr>
            <a:r>
              <a:rPr lang="en-US" altLang="en-US" sz="1600" dirty="0">
                <a:solidFill>
                  <a:schemeClr val="accent6"/>
                </a:solidFill>
                <a:ea typeface="Arial MT"/>
                <a:cs typeface="Arial" panose="020B0604020202020204" pitchFamily="34" charset="0"/>
              </a:rPr>
              <a:t>Using </a:t>
            </a:r>
            <a:r>
              <a:rPr lang="en-US" altLang="en-US" sz="1600" b="1" dirty="0">
                <a:solidFill>
                  <a:schemeClr val="accent6"/>
                </a:solidFill>
                <a:cs typeface="Arial" panose="020B0604020202020204" pitchFamily="34" charset="0"/>
              </a:rPr>
              <a:t>flex-flow  </a:t>
            </a:r>
          </a:p>
          <a:p>
            <a:pPr>
              <a:lnSpc>
                <a:spcPct val="127000"/>
              </a:lnSpc>
              <a:spcBef>
                <a:spcPts val="75"/>
              </a:spcBef>
            </a:pPr>
            <a:r>
              <a:rPr lang="en-US" altLang="en-US" sz="1600" dirty="0">
                <a:solidFill>
                  <a:srgbClr val="585858"/>
                </a:solidFill>
                <a:ea typeface="Arial MT"/>
                <a:cs typeface="Arial" panose="020B0604020202020204" pitchFamily="34" charset="0"/>
              </a:rPr>
              <a:t>#container {  display: flex;</a:t>
            </a:r>
            <a:endParaRPr lang="en-US" altLang="en-US" sz="1600" dirty="0">
              <a:ea typeface="Arial MT"/>
              <a:cs typeface="Arial" panose="020B0604020202020204" pitchFamily="34" charset="0"/>
            </a:endParaRPr>
          </a:p>
          <a:p>
            <a:pPr>
              <a:spcBef>
                <a:spcPts val="88"/>
              </a:spcBef>
            </a:pPr>
            <a:r>
              <a:rPr lang="en-US" altLang="en-US" sz="1600" dirty="0">
                <a:solidFill>
                  <a:srgbClr val="585858"/>
                </a:solidFill>
                <a:ea typeface="Arial MT"/>
                <a:cs typeface="Arial" panose="020B0604020202020204" pitchFamily="34" charset="0"/>
              </a:rPr>
              <a:t>height: 350px;</a:t>
            </a:r>
            <a:endParaRPr lang="en-US" altLang="en-US" sz="1600" dirty="0">
              <a:ea typeface="Arial MT"/>
              <a:cs typeface="Arial" panose="020B0604020202020204" pitchFamily="34" charset="0"/>
            </a:endParaRPr>
          </a:p>
          <a:p>
            <a:pPr>
              <a:spcBef>
                <a:spcPts val="338"/>
              </a:spcBef>
            </a:pPr>
            <a:r>
              <a:rPr lang="en-US" altLang="en-US" sz="1600" b="1" dirty="0">
                <a:solidFill>
                  <a:srgbClr val="BB791C"/>
                </a:solidFill>
                <a:cs typeface="Arial" panose="020B0604020202020204" pitchFamily="34" charset="0"/>
              </a:rPr>
              <a:t>flex-flow: column wrap;</a:t>
            </a:r>
            <a:endParaRPr lang="en-US" altLang="en-US" sz="1600" dirty="0">
              <a:cs typeface="Arial" panose="020B0604020202020204" pitchFamily="34" charset="0"/>
            </a:endParaRPr>
          </a:p>
          <a:p>
            <a:pPr>
              <a:spcBef>
                <a:spcPts val="350"/>
              </a:spcBef>
            </a:pPr>
            <a:r>
              <a:rPr lang="en-US" altLang="en-US" sz="1600" dirty="0">
                <a:solidFill>
                  <a:srgbClr val="585858"/>
                </a:solidFill>
                <a:ea typeface="Arial MT"/>
                <a:cs typeface="Arial" panose="020B0604020202020204" pitchFamily="34" charset="0"/>
              </a:rPr>
              <a:t>}</a:t>
            </a:r>
            <a:endParaRPr lang="en-US" altLang="en-US" sz="1600" dirty="0">
              <a:ea typeface="Arial MT"/>
              <a:cs typeface="Arial" panose="020B0604020202020204" pitchFamily="34" charset="0"/>
            </a:endParaRPr>
          </a:p>
        </p:txBody>
      </p:sp>
      <p:sp>
        <p:nvSpPr>
          <p:cNvPr id="44040" name="object 8">
            <a:extLst>
              <a:ext uri="{FF2B5EF4-FFF2-40B4-BE49-F238E27FC236}">
                <a16:creationId xmlns:a16="http://schemas.microsoft.com/office/drawing/2014/main" id="{FBCF32A7-6F6D-CE63-EC59-BC69211A3022}"/>
              </a:ext>
            </a:extLst>
          </p:cNvPr>
          <p:cNvSpPr>
            <a:spLocks/>
          </p:cNvSpPr>
          <p:nvPr/>
        </p:nvSpPr>
        <p:spPr bwMode="auto">
          <a:xfrm>
            <a:off x="3450786" y="3564669"/>
            <a:ext cx="1859102" cy="234337"/>
          </a:xfrm>
          <a:custGeom>
            <a:avLst/>
            <a:gdLst>
              <a:gd name="T0" fmla="*/ 493775 w 1905000"/>
              <a:gd name="T1" fmla="*/ 0 h 240029"/>
              <a:gd name="T2" fmla="*/ 1828800 w 1905000"/>
              <a:gd name="T3" fmla="*/ 0 h 240029"/>
              <a:gd name="T4" fmla="*/ 0 w 1905000"/>
              <a:gd name="T5" fmla="*/ 239903 h 240029"/>
              <a:gd name="T6" fmla="*/ 1905000 w 1905000"/>
              <a:gd name="T7" fmla="*/ 33528 h 240029"/>
            </a:gdLst>
            <a:ahLst/>
            <a:cxnLst>
              <a:cxn ang="0">
                <a:pos x="T0" y="T1"/>
              </a:cxn>
              <a:cxn ang="0">
                <a:pos x="T2" y="T3"/>
              </a:cxn>
              <a:cxn ang="0">
                <a:pos x="T4" y="T5"/>
              </a:cxn>
              <a:cxn ang="0">
                <a:pos x="T6" y="T7"/>
              </a:cxn>
            </a:cxnLst>
            <a:rect l="0" t="0" r="r" b="b"/>
            <a:pathLst>
              <a:path w="1905000" h="240029">
                <a:moveTo>
                  <a:pt x="493775" y="0"/>
                </a:moveTo>
                <a:lnTo>
                  <a:pt x="1828800" y="0"/>
                </a:lnTo>
              </a:path>
              <a:path w="1905000" h="240029">
                <a:moveTo>
                  <a:pt x="0" y="239903"/>
                </a:moveTo>
                <a:lnTo>
                  <a:pt x="1905000" y="33528"/>
                </a:lnTo>
              </a:path>
            </a:pathLst>
          </a:custGeom>
          <a:noFill/>
          <a:ln w="9144">
            <a:solidFill>
              <a:srgbClr val="ACD2F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GB" sz="3600">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1529711-7FBD-01DA-C4FE-4209608753D3}"/>
              </a:ext>
            </a:extLst>
          </p:cNvPr>
          <p:cNvSpPr txBox="1">
            <a:spLocks noGrp="1"/>
          </p:cNvSpPr>
          <p:nvPr>
            <p:ph type="title"/>
          </p:nvPr>
        </p:nvSpPr>
        <p:spPr>
          <a:xfrm>
            <a:off x="103188" y="428625"/>
            <a:ext cx="8785225" cy="517525"/>
          </a:xfrm>
        </p:spPr>
        <p:txBody>
          <a:bodyPr lIns="0" tIns="9525" rIns="0" bIns="0" rtlCol="0">
            <a:spAutoFit/>
          </a:bodyPr>
          <a:lstStyle/>
          <a:p>
            <a:pPr marL="9525">
              <a:spcBef>
                <a:spcPts val="75"/>
              </a:spcBef>
              <a:defRPr/>
            </a:pPr>
            <a:r>
              <a:rPr sz="3300" dirty="0"/>
              <a:t>CSS</a:t>
            </a:r>
            <a:r>
              <a:rPr sz="3300" spc="-11" dirty="0"/>
              <a:t> </a:t>
            </a:r>
            <a:r>
              <a:rPr sz="3300" spc="-4" dirty="0"/>
              <a:t>Layout</a:t>
            </a:r>
            <a:r>
              <a:rPr sz="3300" spc="-15" dirty="0"/>
              <a:t> </a:t>
            </a:r>
            <a:r>
              <a:rPr sz="3300" dirty="0"/>
              <a:t>-</a:t>
            </a:r>
            <a:r>
              <a:rPr sz="3300" spc="-15" dirty="0"/>
              <a:t> </a:t>
            </a:r>
            <a:r>
              <a:rPr sz="3300" dirty="0"/>
              <a:t>Flexbox</a:t>
            </a:r>
          </a:p>
        </p:txBody>
      </p:sp>
      <p:sp>
        <p:nvSpPr>
          <p:cNvPr id="4" name="object 4">
            <a:extLst>
              <a:ext uri="{FF2B5EF4-FFF2-40B4-BE49-F238E27FC236}">
                <a16:creationId xmlns:a16="http://schemas.microsoft.com/office/drawing/2014/main" id="{D6924625-EDC2-1DDF-DB41-E374AD2959DF}"/>
              </a:ext>
            </a:extLst>
          </p:cNvPr>
          <p:cNvSpPr txBox="1"/>
          <p:nvPr/>
        </p:nvSpPr>
        <p:spPr>
          <a:xfrm>
            <a:off x="254296" y="2060848"/>
            <a:ext cx="4173688" cy="3359638"/>
          </a:xfrm>
          <a:prstGeom prst="rect">
            <a:avLst/>
          </a:prstGeom>
        </p:spPr>
        <p:txBody>
          <a:bodyPr wrap="square" lIns="0" tIns="106680" rIns="0" bIns="0">
            <a:spAutoFit/>
          </a:bodyPr>
          <a:lstStyle>
            <a:lvl1pPr marL="9525">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ts val="838"/>
              </a:spcBef>
            </a:pPr>
            <a:r>
              <a:rPr lang="en-US" altLang="en-US" sz="2100" b="1" dirty="0">
                <a:solidFill>
                  <a:schemeClr val="accent6"/>
                </a:solidFill>
                <a:cs typeface="Arial" panose="020B0604020202020204" pitchFamily="34" charset="0"/>
              </a:rPr>
              <a:t>Flexbox Alignment Properties</a:t>
            </a:r>
          </a:p>
          <a:p>
            <a:pPr>
              <a:spcBef>
                <a:spcPts val="650"/>
              </a:spcBef>
            </a:pPr>
            <a:r>
              <a:rPr lang="en-US" altLang="en-US" sz="1800" b="1" dirty="0">
                <a:solidFill>
                  <a:schemeClr val="accent6"/>
                </a:solidFill>
                <a:cs typeface="Arial" panose="020B0604020202020204" pitchFamily="34" charset="0"/>
              </a:rPr>
              <a:t>justify-content</a:t>
            </a:r>
          </a:p>
          <a:p>
            <a:pPr>
              <a:spcBef>
                <a:spcPts val="100"/>
              </a:spcBef>
            </a:pPr>
            <a:r>
              <a:rPr lang="en-US" altLang="en-US" sz="1600" b="1" dirty="0">
                <a:solidFill>
                  <a:srgbClr val="585858"/>
                </a:solidFill>
                <a:cs typeface="Arial" panose="020B0604020202020204" pitchFamily="34" charset="0"/>
              </a:rPr>
              <a:t>flex-start | flex-end | center | space-between | space-around</a:t>
            </a:r>
            <a:endParaRPr lang="en-US" altLang="en-US" sz="1600" dirty="0">
              <a:cs typeface="Arial" panose="020B0604020202020204" pitchFamily="34" charset="0"/>
            </a:endParaRPr>
          </a:p>
          <a:p>
            <a:endParaRPr lang="en-US" altLang="en-US" sz="1300" dirty="0">
              <a:cs typeface="Arial" panose="020B0604020202020204" pitchFamily="34" charset="0"/>
            </a:endParaRPr>
          </a:p>
          <a:p>
            <a:pPr marL="295275" indent="-285750">
              <a:spcBef>
                <a:spcPts val="25"/>
              </a:spcBef>
              <a:buFont typeface="Arial" panose="020B0604020202020204" pitchFamily="34" charset="0"/>
              <a:buChar char="•"/>
            </a:pPr>
            <a:endParaRPr lang="en-US" altLang="en-US" sz="1300" dirty="0">
              <a:cs typeface="Arial" panose="020B0604020202020204" pitchFamily="34" charset="0"/>
            </a:endParaRPr>
          </a:p>
          <a:p>
            <a:pPr marL="295275" indent="-285750">
              <a:lnSpc>
                <a:spcPct val="83000"/>
              </a:lnSpc>
              <a:buFont typeface="Arial" panose="020B0604020202020204" pitchFamily="34" charset="0"/>
              <a:buChar char="•"/>
            </a:pPr>
            <a:r>
              <a:rPr lang="en-US" altLang="en-US" sz="1800" dirty="0">
                <a:solidFill>
                  <a:srgbClr val="585858"/>
                </a:solidFill>
                <a:ea typeface="Arial MT"/>
                <a:cs typeface="Arial" panose="020B0604020202020204" pitchFamily="34" charset="0"/>
              </a:rPr>
              <a:t>Flex items are, by default, as wide as  they need to be to contain the  element’s content.</a:t>
            </a:r>
            <a:endParaRPr lang="en-US" altLang="en-US" sz="1800" dirty="0">
              <a:ea typeface="Arial MT"/>
              <a:cs typeface="Arial" panose="020B0604020202020204" pitchFamily="34" charset="0"/>
            </a:endParaRPr>
          </a:p>
          <a:p>
            <a:pPr marL="295275" indent="-285750">
              <a:spcBef>
                <a:spcPts val="13"/>
              </a:spcBef>
              <a:buFont typeface="Arial" panose="020B0604020202020204" pitchFamily="34" charset="0"/>
              <a:buChar char="•"/>
            </a:pPr>
            <a:endParaRPr lang="en-US" altLang="en-US" sz="1800" dirty="0">
              <a:ea typeface="Arial MT"/>
              <a:cs typeface="Arial" panose="020B0604020202020204" pitchFamily="34" charset="0"/>
            </a:endParaRPr>
          </a:p>
          <a:p>
            <a:pPr marL="295275" indent="-285750">
              <a:lnSpc>
                <a:spcPct val="83000"/>
              </a:lnSpc>
              <a:buFont typeface="Arial" panose="020B0604020202020204" pitchFamily="34" charset="0"/>
              <a:buChar char="•"/>
            </a:pPr>
            <a:r>
              <a:rPr lang="en-US" altLang="en-US" sz="1800" dirty="0">
                <a:solidFill>
                  <a:srgbClr val="585858"/>
                </a:solidFill>
                <a:ea typeface="Arial MT"/>
                <a:cs typeface="Arial" panose="020B0604020202020204" pitchFamily="34" charset="0"/>
              </a:rPr>
              <a:t>The </a:t>
            </a:r>
            <a:r>
              <a:rPr lang="en-US" altLang="en-US" sz="1800" b="1" dirty="0">
                <a:solidFill>
                  <a:srgbClr val="585858"/>
                </a:solidFill>
                <a:cs typeface="Arial" panose="020B0604020202020204" pitchFamily="34" charset="0"/>
              </a:rPr>
              <a:t>justify-  content </a:t>
            </a:r>
            <a:r>
              <a:rPr lang="en-US" altLang="en-US" sz="1800" dirty="0">
                <a:solidFill>
                  <a:srgbClr val="585858"/>
                </a:solidFill>
                <a:ea typeface="Arial MT"/>
                <a:cs typeface="Arial" panose="020B0604020202020204" pitchFamily="34" charset="0"/>
              </a:rPr>
              <a:t>property  defines how extra space is distributed  around or between items.</a:t>
            </a:r>
            <a:endParaRPr lang="en-US" altLang="en-US" sz="1800" dirty="0">
              <a:ea typeface="Arial MT"/>
              <a:cs typeface="Arial" panose="020B0604020202020204" pitchFamily="34" charset="0"/>
            </a:endParaRPr>
          </a:p>
        </p:txBody>
      </p:sp>
      <p:pic>
        <p:nvPicPr>
          <p:cNvPr id="45061" name="object 5">
            <a:extLst>
              <a:ext uri="{FF2B5EF4-FFF2-40B4-BE49-F238E27FC236}">
                <a16:creationId xmlns:a16="http://schemas.microsoft.com/office/drawing/2014/main" id="{D82AEEC1-EDB7-7785-E600-40EEC24215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984" y="1916832"/>
            <a:ext cx="4608511" cy="3503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object 2">
            <a:extLst>
              <a:ext uri="{FF2B5EF4-FFF2-40B4-BE49-F238E27FC236}">
                <a16:creationId xmlns:a16="http://schemas.microsoft.com/office/drawing/2014/main" id="{D8EEBC33-53EC-A846-3283-968DDDA663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564904"/>
            <a:ext cx="4862264" cy="3487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ject 3">
            <a:extLst>
              <a:ext uri="{FF2B5EF4-FFF2-40B4-BE49-F238E27FC236}">
                <a16:creationId xmlns:a16="http://schemas.microsoft.com/office/drawing/2014/main" id="{FEC78240-0796-768E-6D8D-A239CA631840}"/>
              </a:ext>
            </a:extLst>
          </p:cNvPr>
          <p:cNvSpPr txBox="1">
            <a:spLocks noGrp="1"/>
          </p:cNvSpPr>
          <p:nvPr>
            <p:ph type="title"/>
          </p:nvPr>
        </p:nvSpPr>
        <p:spPr>
          <a:xfrm>
            <a:off x="103188" y="428625"/>
            <a:ext cx="8785225" cy="517525"/>
          </a:xfrm>
        </p:spPr>
        <p:txBody>
          <a:bodyPr lIns="0" tIns="9525" rIns="0" bIns="0" rtlCol="0">
            <a:spAutoFit/>
          </a:bodyPr>
          <a:lstStyle/>
          <a:p>
            <a:pPr marL="9525">
              <a:spcBef>
                <a:spcPts val="75"/>
              </a:spcBef>
              <a:defRPr/>
            </a:pPr>
            <a:r>
              <a:rPr sz="3300" dirty="0"/>
              <a:t>CSS</a:t>
            </a:r>
            <a:r>
              <a:rPr sz="3300" spc="-11" dirty="0"/>
              <a:t> </a:t>
            </a:r>
            <a:r>
              <a:rPr sz="3300" spc="-4" dirty="0"/>
              <a:t>Layout</a:t>
            </a:r>
            <a:r>
              <a:rPr sz="3300" spc="-15" dirty="0"/>
              <a:t> </a:t>
            </a:r>
            <a:r>
              <a:rPr sz="3300" dirty="0"/>
              <a:t>-</a:t>
            </a:r>
            <a:r>
              <a:rPr sz="3300" spc="-15" dirty="0"/>
              <a:t> </a:t>
            </a:r>
            <a:r>
              <a:rPr sz="3300" dirty="0"/>
              <a:t>Flexbox</a:t>
            </a:r>
          </a:p>
        </p:txBody>
      </p:sp>
      <p:sp>
        <p:nvSpPr>
          <p:cNvPr id="5" name="object 5">
            <a:extLst>
              <a:ext uri="{FF2B5EF4-FFF2-40B4-BE49-F238E27FC236}">
                <a16:creationId xmlns:a16="http://schemas.microsoft.com/office/drawing/2014/main" id="{775BBE76-A47F-F7A5-7EA8-F001C6878313}"/>
              </a:ext>
            </a:extLst>
          </p:cNvPr>
          <p:cNvSpPr txBox="1"/>
          <p:nvPr/>
        </p:nvSpPr>
        <p:spPr>
          <a:xfrm>
            <a:off x="1475656" y="1196752"/>
            <a:ext cx="5616624" cy="1256754"/>
          </a:xfrm>
          <a:prstGeom prst="rect">
            <a:avLst/>
          </a:prstGeom>
        </p:spPr>
        <p:txBody>
          <a:bodyPr wrap="square" lIns="0" tIns="106680" rIns="0" bIns="0">
            <a:spAutoFit/>
          </a:bodyPr>
          <a:lstStyle/>
          <a:p>
            <a:pPr marL="9525">
              <a:spcBef>
                <a:spcPts val="840"/>
              </a:spcBef>
              <a:defRPr/>
            </a:pPr>
            <a:r>
              <a:rPr sz="2800" b="1" spc="-8" dirty="0">
                <a:solidFill>
                  <a:schemeClr val="accent2"/>
                </a:solidFill>
                <a:cs typeface="Arial" panose="020B0604020202020204" pitchFamily="34" charset="0"/>
              </a:rPr>
              <a:t>Flexbox</a:t>
            </a:r>
            <a:r>
              <a:rPr sz="2800" b="1" spc="-83" dirty="0">
                <a:solidFill>
                  <a:schemeClr val="accent2"/>
                </a:solidFill>
                <a:cs typeface="Arial" panose="020B0604020202020204" pitchFamily="34" charset="0"/>
              </a:rPr>
              <a:t> </a:t>
            </a:r>
            <a:r>
              <a:rPr sz="2800" b="1" spc="-8" dirty="0">
                <a:solidFill>
                  <a:schemeClr val="accent2"/>
                </a:solidFill>
                <a:cs typeface="Arial" panose="020B0604020202020204" pitchFamily="34" charset="0"/>
              </a:rPr>
              <a:t>Alignment</a:t>
            </a:r>
            <a:r>
              <a:rPr sz="2800" b="1" spc="11" dirty="0">
                <a:solidFill>
                  <a:schemeClr val="accent2"/>
                </a:solidFill>
                <a:cs typeface="Arial" panose="020B0604020202020204" pitchFamily="34" charset="0"/>
              </a:rPr>
              <a:t> </a:t>
            </a:r>
            <a:r>
              <a:rPr sz="2800" b="1" spc="-8" dirty="0">
                <a:solidFill>
                  <a:schemeClr val="accent2"/>
                </a:solidFill>
                <a:cs typeface="Arial" panose="020B0604020202020204" pitchFamily="34" charset="0"/>
              </a:rPr>
              <a:t>Properties</a:t>
            </a:r>
            <a:endParaRPr sz="2800" dirty="0">
              <a:solidFill>
                <a:schemeClr val="accent2"/>
              </a:solidFill>
              <a:cs typeface="Arial" panose="020B0604020202020204" pitchFamily="34" charset="0"/>
            </a:endParaRPr>
          </a:p>
          <a:p>
            <a:pPr marL="9525">
              <a:spcBef>
                <a:spcPts val="656"/>
              </a:spcBef>
              <a:defRPr/>
            </a:pPr>
            <a:r>
              <a:rPr b="1" spc="-4" dirty="0">
                <a:solidFill>
                  <a:schemeClr val="accent6"/>
                </a:solidFill>
                <a:cs typeface="Arial" panose="020B0604020202020204" pitchFamily="34" charset="0"/>
              </a:rPr>
              <a:t>align-items</a:t>
            </a:r>
            <a:endParaRPr b="1" dirty="0">
              <a:solidFill>
                <a:schemeClr val="accent6"/>
              </a:solidFill>
              <a:cs typeface="Arial" panose="020B0604020202020204" pitchFamily="34" charset="0"/>
            </a:endParaRPr>
          </a:p>
          <a:p>
            <a:pPr marL="352425">
              <a:spcBef>
                <a:spcPts val="105"/>
              </a:spcBef>
              <a:defRPr/>
            </a:pPr>
            <a:r>
              <a:rPr sz="1600" b="1" spc="-4" dirty="0">
                <a:solidFill>
                  <a:srgbClr val="585858"/>
                </a:solidFill>
                <a:cs typeface="Arial" panose="020B0604020202020204" pitchFamily="34" charset="0"/>
              </a:rPr>
              <a:t>flex-start</a:t>
            </a:r>
            <a:r>
              <a:rPr sz="1600" b="1" spc="30" dirty="0">
                <a:solidFill>
                  <a:srgbClr val="585858"/>
                </a:solidFill>
                <a:cs typeface="Arial" panose="020B0604020202020204" pitchFamily="34" charset="0"/>
              </a:rPr>
              <a:t> </a:t>
            </a:r>
            <a:r>
              <a:rPr sz="1600" b="1" spc="-4" dirty="0">
                <a:solidFill>
                  <a:srgbClr val="585858"/>
                </a:solidFill>
                <a:cs typeface="Arial" panose="020B0604020202020204" pitchFamily="34" charset="0"/>
              </a:rPr>
              <a:t>|</a:t>
            </a:r>
            <a:r>
              <a:rPr sz="1600" b="1" spc="4" dirty="0">
                <a:solidFill>
                  <a:srgbClr val="585858"/>
                </a:solidFill>
                <a:cs typeface="Arial" panose="020B0604020202020204" pitchFamily="34" charset="0"/>
              </a:rPr>
              <a:t> </a:t>
            </a:r>
            <a:r>
              <a:rPr sz="1600" b="1" spc="-4" dirty="0">
                <a:solidFill>
                  <a:srgbClr val="585858"/>
                </a:solidFill>
                <a:cs typeface="Arial" panose="020B0604020202020204" pitchFamily="34" charset="0"/>
              </a:rPr>
              <a:t>flex-end</a:t>
            </a:r>
            <a:r>
              <a:rPr sz="1600" b="1" spc="23" dirty="0">
                <a:solidFill>
                  <a:srgbClr val="585858"/>
                </a:solidFill>
                <a:cs typeface="Arial" panose="020B0604020202020204" pitchFamily="34" charset="0"/>
              </a:rPr>
              <a:t> </a:t>
            </a:r>
            <a:r>
              <a:rPr sz="1600" b="1" spc="-4" dirty="0">
                <a:solidFill>
                  <a:srgbClr val="585858"/>
                </a:solidFill>
                <a:cs typeface="Arial" panose="020B0604020202020204" pitchFamily="34" charset="0"/>
              </a:rPr>
              <a:t>|</a:t>
            </a:r>
            <a:r>
              <a:rPr sz="1600" b="1" spc="4" dirty="0">
                <a:solidFill>
                  <a:srgbClr val="585858"/>
                </a:solidFill>
                <a:cs typeface="Arial" panose="020B0604020202020204" pitchFamily="34" charset="0"/>
              </a:rPr>
              <a:t> </a:t>
            </a:r>
            <a:r>
              <a:rPr sz="1600" b="1" spc="-4" dirty="0">
                <a:solidFill>
                  <a:srgbClr val="585858"/>
                </a:solidFill>
                <a:cs typeface="Arial" panose="020B0604020202020204" pitchFamily="34" charset="0"/>
              </a:rPr>
              <a:t>center</a:t>
            </a:r>
            <a:r>
              <a:rPr sz="1600" b="1" spc="19" dirty="0">
                <a:solidFill>
                  <a:srgbClr val="585858"/>
                </a:solidFill>
                <a:cs typeface="Arial" panose="020B0604020202020204" pitchFamily="34" charset="0"/>
              </a:rPr>
              <a:t> </a:t>
            </a:r>
            <a:r>
              <a:rPr sz="1600" b="1" spc="-4" dirty="0">
                <a:solidFill>
                  <a:srgbClr val="585858"/>
                </a:solidFill>
                <a:cs typeface="Arial" panose="020B0604020202020204" pitchFamily="34" charset="0"/>
              </a:rPr>
              <a:t>|</a:t>
            </a:r>
            <a:r>
              <a:rPr sz="1600" b="1" spc="4" dirty="0">
                <a:solidFill>
                  <a:srgbClr val="585858"/>
                </a:solidFill>
                <a:cs typeface="Arial" panose="020B0604020202020204" pitchFamily="34" charset="0"/>
              </a:rPr>
              <a:t> </a:t>
            </a:r>
            <a:r>
              <a:rPr sz="1600" b="1" spc="-4" dirty="0">
                <a:solidFill>
                  <a:srgbClr val="585858"/>
                </a:solidFill>
                <a:cs typeface="Arial" panose="020B0604020202020204" pitchFamily="34" charset="0"/>
              </a:rPr>
              <a:t>baseline</a:t>
            </a:r>
            <a:r>
              <a:rPr sz="1600" b="1" spc="4" dirty="0">
                <a:solidFill>
                  <a:srgbClr val="585858"/>
                </a:solidFill>
                <a:cs typeface="Arial" panose="020B0604020202020204" pitchFamily="34" charset="0"/>
              </a:rPr>
              <a:t> </a:t>
            </a:r>
            <a:r>
              <a:rPr sz="1600" b="1" spc="-4" dirty="0">
                <a:solidFill>
                  <a:srgbClr val="585858"/>
                </a:solidFill>
                <a:cs typeface="Arial" panose="020B0604020202020204" pitchFamily="34" charset="0"/>
              </a:rPr>
              <a:t>|</a:t>
            </a:r>
            <a:r>
              <a:rPr sz="1600" b="1" spc="15" dirty="0">
                <a:solidFill>
                  <a:srgbClr val="585858"/>
                </a:solidFill>
                <a:cs typeface="Arial" panose="020B0604020202020204" pitchFamily="34" charset="0"/>
              </a:rPr>
              <a:t> </a:t>
            </a:r>
            <a:r>
              <a:rPr sz="1600" b="1" spc="-4" dirty="0">
                <a:solidFill>
                  <a:srgbClr val="BB791C"/>
                </a:solidFill>
                <a:cs typeface="Arial" panose="020B0604020202020204" pitchFamily="34" charset="0"/>
              </a:rPr>
              <a:t>stretch</a:t>
            </a:r>
            <a:endParaRPr sz="1600" dirty="0">
              <a:cs typeface="Arial" panose="020B0604020202020204" pitchFamily="34" charset="0"/>
            </a:endParaRPr>
          </a:p>
        </p:txBody>
      </p:sp>
      <p:sp>
        <p:nvSpPr>
          <p:cNvPr id="6" name="object 6">
            <a:extLst>
              <a:ext uri="{FF2B5EF4-FFF2-40B4-BE49-F238E27FC236}">
                <a16:creationId xmlns:a16="http://schemas.microsoft.com/office/drawing/2014/main" id="{77EDA5F6-679E-B984-7F16-435D30BC776E}"/>
              </a:ext>
            </a:extLst>
          </p:cNvPr>
          <p:cNvSpPr txBox="1"/>
          <p:nvPr/>
        </p:nvSpPr>
        <p:spPr>
          <a:xfrm>
            <a:off x="5436095" y="2852936"/>
            <a:ext cx="3452317" cy="2024912"/>
          </a:xfrm>
          <a:prstGeom prst="rect">
            <a:avLst/>
          </a:prstGeom>
        </p:spPr>
        <p:txBody>
          <a:bodyPr wrap="square" lIns="0" tIns="43814" rIns="0" bIns="0">
            <a:spAutoFit/>
          </a:bodyPr>
          <a:lstStyle>
            <a:lvl1pPr marL="9525">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95275" indent="-285750">
              <a:lnSpc>
                <a:spcPct val="83000"/>
              </a:lnSpc>
              <a:spcBef>
                <a:spcPts val="350"/>
              </a:spcBef>
              <a:buFont typeface="Arial" panose="020B0604020202020204" pitchFamily="34" charset="0"/>
              <a:buChar char="•"/>
            </a:pPr>
            <a:r>
              <a:rPr lang="en-US" altLang="en-US" sz="1800" dirty="0">
                <a:ea typeface="Arial MT"/>
                <a:cs typeface="Arial" panose="020B0604020202020204" pitchFamily="34" charset="0"/>
              </a:rPr>
              <a:t>The </a:t>
            </a:r>
            <a:r>
              <a:rPr lang="en-US" altLang="en-US" sz="1800" dirty="0">
                <a:cs typeface="Arial" panose="020B0604020202020204" pitchFamily="34" charset="0"/>
              </a:rPr>
              <a:t>align-items </a:t>
            </a:r>
            <a:r>
              <a:rPr lang="en-US" altLang="en-US" sz="1800" dirty="0">
                <a:ea typeface="Arial MT"/>
                <a:cs typeface="Arial" panose="020B0604020202020204" pitchFamily="34" charset="0"/>
              </a:rPr>
              <a:t>property  allows to arrange  items on the cross axis  (up and down when the  direction is </a:t>
            </a:r>
            <a:r>
              <a:rPr lang="en-US" altLang="en-US" sz="1800" dirty="0">
                <a:cs typeface="Arial" panose="020B0604020202020204" pitchFamily="34" charset="0"/>
              </a:rPr>
              <a:t>row</a:t>
            </a:r>
            <a:r>
              <a:rPr lang="en-US" altLang="en-US" sz="1800" dirty="0">
                <a:ea typeface="Arial MT"/>
                <a:cs typeface="Arial" panose="020B0604020202020204" pitchFamily="34" charset="0"/>
              </a:rPr>
              <a:t>, left and  right if the direction is  </a:t>
            </a:r>
            <a:r>
              <a:rPr lang="en-US" altLang="en-US" sz="1800" dirty="0">
                <a:cs typeface="Arial" panose="020B0604020202020204" pitchFamily="34" charset="0"/>
              </a:rPr>
              <a:t>column</a:t>
            </a:r>
            <a:r>
              <a:rPr lang="en-US" altLang="en-US" sz="1800" dirty="0">
                <a:ea typeface="Arial MT"/>
                <a:cs typeface="Arial" panose="020B0604020202020204" pitchFamily="34" charset="0"/>
              </a:rPr>
              <a:t>)</a:t>
            </a:r>
          </a:p>
          <a:p>
            <a:pPr marL="295275" indent="-285750">
              <a:buFont typeface="Arial" panose="020B0604020202020204" pitchFamily="34" charset="0"/>
              <a:buChar char="•"/>
            </a:pPr>
            <a:endParaRPr lang="en-US" altLang="en-US" sz="1800" dirty="0">
              <a:ea typeface="Arial MT"/>
              <a:cs typeface="Arial" panose="020B0604020202020204" pitchFamily="34" charset="0"/>
            </a:endParaRPr>
          </a:p>
          <a:p>
            <a:pPr marL="295275" indent="-285750">
              <a:buFont typeface="Arial" panose="020B0604020202020204" pitchFamily="34" charset="0"/>
              <a:buChar char="•"/>
            </a:pPr>
            <a:r>
              <a:rPr lang="en-US" altLang="en-US" sz="1800" dirty="0">
                <a:ea typeface="Arial MT"/>
                <a:cs typeface="Arial" panose="020B0604020202020204" pitchFamily="34" charset="0"/>
              </a:rPr>
              <a:t>Container height must be specified.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4375A8D-4B56-9DD5-06E5-873B731A3B32}"/>
              </a:ext>
            </a:extLst>
          </p:cNvPr>
          <p:cNvSpPr txBox="1">
            <a:spLocks noGrp="1"/>
          </p:cNvSpPr>
          <p:nvPr>
            <p:ph type="title"/>
          </p:nvPr>
        </p:nvSpPr>
        <p:spPr>
          <a:xfrm>
            <a:off x="103188" y="344025"/>
            <a:ext cx="8785225" cy="686726"/>
          </a:xfrm>
        </p:spPr>
        <p:txBody>
          <a:bodyPr lIns="0" tIns="9525" rIns="0" bIns="0" rtlCol="0">
            <a:spAutoFit/>
          </a:bodyPr>
          <a:lstStyle/>
          <a:p>
            <a:pPr marL="9525">
              <a:spcBef>
                <a:spcPts val="75"/>
              </a:spcBef>
              <a:defRPr/>
            </a:pPr>
            <a:r>
              <a:rPr dirty="0"/>
              <a:t>CSS</a:t>
            </a:r>
            <a:r>
              <a:rPr spc="-11" dirty="0"/>
              <a:t> </a:t>
            </a:r>
            <a:r>
              <a:rPr spc="-4" dirty="0"/>
              <a:t>Layout</a:t>
            </a:r>
            <a:r>
              <a:rPr spc="-15" dirty="0"/>
              <a:t> </a:t>
            </a:r>
            <a:r>
              <a:rPr dirty="0"/>
              <a:t>-</a:t>
            </a:r>
            <a:r>
              <a:rPr spc="-15" dirty="0"/>
              <a:t> </a:t>
            </a:r>
            <a:r>
              <a:rPr dirty="0"/>
              <a:t>Flexbox</a:t>
            </a:r>
          </a:p>
        </p:txBody>
      </p:sp>
      <p:sp>
        <p:nvSpPr>
          <p:cNvPr id="3" name="object 3">
            <a:extLst>
              <a:ext uri="{FF2B5EF4-FFF2-40B4-BE49-F238E27FC236}">
                <a16:creationId xmlns:a16="http://schemas.microsoft.com/office/drawing/2014/main" id="{AEEAB2B4-D046-8AB9-C4E3-8870E7E93C14}"/>
              </a:ext>
            </a:extLst>
          </p:cNvPr>
          <p:cNvSpPr txBox="1"/>
          <p:nvPr/>
        </p:nvSpPr>
        <p:spPr>
          <a:xfrm>
            <a:off x="1373188" y="1627188"/>
            <a:ext cx="7231260" cy="491321"/>
          </a:xfrm>
          <a:prstGeom prst="rect">
            <a:avLst/>
          </a:prstGeom>
        </p:spPr>
        <p:txBody>
          <a:bodyPr wrap="square" lIns="0" tIns="9049" rIns="0" bIns="0">
            <a:spAutoFit/>
          </a:bodyPr>
          <a:lstStyle/>
          <a:p>
            <a:pPr marL="9525">
              <a:lnSpc>
                <a:spcPts val="2325"/>
              </a:lnSpc>
              <a:spcBef>
                <a:spcPts val="71"/>
              </a:spcBef>
              <a:defRPr/>
            </a:pPr>
            <a:r>
              <a:rPr b="1" spc="-4" dirty="0">
                <a:solidFill>
                  <a:schemeClr val="accent6"/>
                </a:solidFill>
                <a:latin typeface="Corbel"/>
                <a:cs typeface="Corbel"/>
              </a:rPr>
              <a:t>Flex</a:t>
            </a:r>
            <a:r>
              <a:rPr b="1" dirty="0">
                <a:solidFill>
                  <a:schemeClr val="accent6"/>
                </a:solidFill>
                <a:latin typeface="Corbel"/>
                <a:cs typeface="Corbel"/>
              </a:rPr>
              <a:t> </a:t>
            </a:r>
            <a:r>
              <a:rPr b="1" spc="-4" dirty="0">
                <a:solidFill>
                  <a:schemeClr val="accent6"/>
                </a:solidFill>
                <a:latin typeface="Corbel"/>
                <a:cs typeface="Corbel"/>
              </a:rPr>
              <a:t>item -</a:t>
            </a:r>
            <a:r>
              <a:rPr b="1" spc="-19" dirty="0">
                <a:solidFill>
                  <a:schemeClr val="accent6"/>
                </a:solidFill>
                <a:latin typeface="Corbel"/>
                <a:cs typeface="Corbel"/>
              </a:rPr>
              <a:t> </a:t>
            </a:r>
            <a:r>
              <a:rPr b="1" spc="-4" dirty="0">
                <a:solidFill>
                  <a:schemeClr val="accent6"/>
                </a:solidFill>
                <a:latin typeface="Corbel"/>
                <a:cs typeface="Corbel"/>
              </a:rPr>
              <a:t>Properties</a:t>
            </a:r>
            <a:endParaRPr b="1" dirty="0">
              <a:solidFill>
                <a:schemeClr val="accent6"/>
              </a:solidFill>
              <a:latin typeface="Corbel"/>
              <a:cs typeface="Corbel"/>
            </a:endParaRPr>
          </a:p>
          <a:p>
            <a:pPr marL="9525">
              <a:lnSpc>
                <a:spcPts val="1425"/>
              </a:lnSpc>
              <a:defRPr/>
            </a:pPr>
            <a:r>
              <a:rPr sz="1800" spc="-4" dirty="0">
                <a:solidFill>
                  <a:srgbClr val="585858"/>
                </a:solidFill>
                <a:latin typeface="Arial MT"/>
                <a:cs typeface="Arial MT"/>
              </a:rPr>
              <a:t>flex</a:t>
            </a:r>
            <a:r>
              <a:rPr sz="1800" dirty="0">
                <a:solidFill>
                  <a:srgbClr val="585858"/>
                </a:solidFill>
                <a:latin typeface="Arial MT"/>
                <a:cs typeface="Arial MT"/>
              </a:rPr>
              <a:t> </a:t>
            </a:r>
            <a:r>
              <a:rPr sz="1800" spc="-4" dirty="0">
                <a:solidFill>
                  <a:srgbClr val="585858"/>
                </a:solidFill>
                <a:latin typeface="Arial MT"/>
                <a:cs typeface="Arial MT"/>
              </a:rPr>
              <a:t>item</a:t>
            </a:r>
            <a:r>
              <a:rPr sz="1800" spc="4" dirty="0">
                <a:solidFill>
                  <a:srgbClr val="585858"/>
                </a:solidFill>
                <a:latin typeface="Arial MT"/>
                <a:cs typeface="Arial MT"/>
              </a:rPr>
              <a:t> </a:t>
            </a:r>
            <a:r>
              <a:rPr sz="1800" spc="-4" dirty="0">
                <a:solidFill>
                  <a:srgbClr val="585858"/>
                </a:solidFill>
                <a:latin typeface="Arial MT"/>
                <a:cs typeface="Arial MT"/>
              </a:rPr>
              <a:t>properties</a:t>
            </a:r>
            <a:r>
              <a:rPr sz="1800" spc="11" dirty="0">
                <a:solidFill>
                  <a:srgbClr val="585858"/>
                </a:solidFill>
                <a:latin typeface="Arial MT"/>
                <a:cs typeface="Arial MT"/>
              </a:rPr>
              <a:t> </a:t>
            </a:r>
            <a:r>
              <a:rPr sz="1800" spc="-4" dirty="0">
                <a:solidFill>
                  <a:srgbClr val="585858"/>
                </a:solidFill>
                <a:latin typeface="Arial MT"/>
                <a:cs typeface="Arial MT"/>
              </a:rPr>
              <a:t>determines</a:t>
            </a:r>
            <a:r>
              <a:rPr sz="1800" spc="19" dirty="0">
                <a:solidFill>
                  <a:srgbClr val="585858"/>
                </a:solidFill>
                <a:latin typeface="Arial MT"/>
                <a:cs typeface="Arial MT"/>
              </a:rPr>
              <a:t> </a:t>
            </a:r>
            <a:r>
              <a:rPr sz="1800" spc="-8" dirty="0">
                <a:solidFill>
                  <a:srgbClr val="585858"/>
                </a:solidFill>
                <a:latin typeface="Arial MT"/>
                <a:cs typeface="Arial MT"/>
              </a:rPr>
              <a:t>how</a:t>
            </a:r>
            <a:r>
              <a:rPr sz="1800" spc="-4" dirty="0">
                <a:solidFill>
                  <a:srgbClr val="585858"/>
                </a:solidFill>
                <a:latin typeface="Arial MT"/>
                <a:cs typeface="Arial MT"/>
              </a:rPr>
              <a:t> space</a:t>
            </a:r>
            <a:r>
              <a:rPr sz="1800" spc="8" dirty="0">
                <a:solidFill>
                  <a:srgbClr val="585858"/>
                </a:solidFill>
                <a:latin typeface="Arial MT"/>
                <a:cs typeface="Arial MT"/>
              </a:rPr>
              <a:t> </a:t>
            </a:r>
            <a:r>
              <a:rPr sz="1800" dirty="0">
                <a:solidFill>
                  <a:srgbClr val="585858"/>
                </a:solidFill>
                <a:latin typeface="Arial MT"/>
                <a:cs typeface="Arial MT"/>
              </a:rPr>
              <a:t>is</a:t>
            </a:r>
            <a:r>
              <a:rPr sz="1800" spc="4" dirty="0">
                <a:solidFill>
                  <a:srgbClr val="585858"/>
                </a:solidFill>
                <a:latin typeface="Arial MT"/>
                <a:cs typeface="Arial MT"/>
              </a:rPr>
              <a:t> </a:t>
            </a:r>
            <a:r>
              <a:rPr sz="1800" spc="-4" dirty="0">
                <a:solidFill>
                  <a:srgbClr val="585858"/>
                </a:solidFill>
                <a:latin typeface="Arial MT"/>
                <a:cs typeface="Arial MT"/>
              </a:rPr>
              <a:t>distributed</a:t>
            </a:r>
            <a:r>
              <a:rPr sz="1800" spc="11" dirty="0">
                <a:solidFill>
                  <a:srgbClr val="585858"/>
                </a:solidFill>
                <a:latin typeface="Arial MT"/>
                <a:cs typeface="Arial MT"/>
              </a:rPr>
              <a:t> </a:t>
            </a:r>
            <a:r>
              <a:rPr sz="1800" b="1" i="1" dirty="0">
                <a:solidFill>
                  <a:srgbClr val="585858"/>
                </a:solidFill>
                <a:latin typeface="Arial"/>
                <a:cs typeface="Arial"/>
              </a:rPr>
              <a:t>within</a:t>
            </a:r>
            <a:r>
              <a:rPr sz="1800" b="1" i="1" spc="-8" dirty="0">
                <a:solidFill>
                  <a:srgbClr val="585858"/>
                </a:solidFill>
                <a:latin typeface="Arial"/>
                <a:cs typeface="Arial"/>
              </a:rPr>
              <a:t> </a:t>
            </a:r>
            <a:r>
              <a:rPr sz="1800" spc="-4" dirty="0">
                <a:solidFill>
                  <a:srgbClr val="585858"/>
                </a:solidFill>
                <a:latin typeface="Arial MT"/>
                <a:cs typeface="Arial MT"/>
              </a:rPr>
              <a:t>items</a:t>
            </a:r>
            <a:r>
              <a:rPr lang="en-GB" sz="1800" spc="-4" dirty="0">
                <a:solidFill>
                  <a:srgbClr val="585858"/>
                </a:solidFill>
                <a:latin typeface="Arial MT"/>
                <a:cs typeface="Arial MT"/>
              </a:rPr>
              <a:t>.</a:t>
            </a:r>
            <a:endParaRPr sz="1800" dirty="0">
              <a:latin typeface="Arial MT"/>
              <a:cs typeface="Arial MT"/>
            </a:endParaRPr>
          </a:p>
        </p:txBody>
      </p:sp>
      <p:sp>
        <p:nvSpPr>
          <p:cNvPr id="4" name="object 4">
            <a:extLst>
              <a:ext uri="{FF2B5EF4-FFF2-40B4-BE49-F238E27FC236}">
                <a16:creationId xmlns:a16="http://schemas.microsoft.com/office/drawing/2014/main" id="{40CA6F90-E4B3-E5FD-E04D-20C2DF872318}"/>
              </a:ext>
            </a:extLst>
          </p:cNvPr>
          <p:cNvSpPr txBox="1"/>
          <p:nvPr/>
        </p:nvSpPr>
        <p:spPr>
          <a:xfrm>
            <a:off x="1373188" y="2193925"/>
            <a:ext cx="1587500" cy="504825"/>
          </a:xfrm>
          <a:prstGeom prst="rect">
            <a:avLst/>
          </a:prstGeom>
        </p:spPr>
        <p:txBody>
          <a:bodyPr lIns="0" tIns="30004" rIns="0" bIns="0">
            <a:spAutoFit/>
          </a:bodyPr>
          <a:lstStyle/>
          <a:p>
            <a:pPr marL="9525">
              <a:spcBef>
                <a:spcPts val="236"/>
              </a:spcBef>
              <a:defRPr/>
            </a:pPr>
            <a:r>
              <a:rPr sz="1800" b="1" spc="-4" dirty="0">
                <a:solidFill>
                  <a:schemeClr val="accent2"/>
                </a:solidFill>
                <a:latin typeface="Corbel"/>
                <a:cs typeface="Corbel"/>
              </a:rPr>
              <a:t>flex</a:t>
            </a:r>
            <a:endParaRPr sz="1800" dirty="0">
              <a:solidFill>
                <a:schemeClr val="accent2"/>
              </a:solidFill>
              <a:latin typeface="Corbel"/>
              <a:cs typeface="Corbel"/>
            </a:endParaRPr>
          </a:p>
          <a:p>
            <a:pPr marL="352425">
              <a:spcBef>
                <a:spcPts val="105"/>
              </a:spcBef>
              <a:defRPr/>
            </a:pPr>
            <a:r>
              <a:rPr sz="1200" b="1" spc="-4" dirty="0">
                <a:solidFill>
                  <a:srgbClr val="585858"/>
                </a:solidFill>
                <a:latin typeface="Arial"/>
                <a:cs typeface="Arial"/>
              </a:rPr>
              <a:t>None</a:t>
            </a:r>
            <a:r>
              <a:rPr sz="1200" b="1" spc="-26" dirty="0">
                <a:solidFill>
                  <a:srgbClr val="585858"/>
                </a:solidFill>
                <a:latin typeface="Arial"/>
                <a:cs typeface="Arial"/>
              </a:rPr>
              <a:t> </a:t>
            </a:r>
            <a:r>
              <a:rPr sz="1200" b="1" spc="-4" dirty="0">
                <a:solidFill>
                  <a:srgbClr val="585858"/>
                </a:solidFill>
                <a:latin typeface="Arial"/>
                <a:cs typeface="Arial"/>
              </a:rPr>
              <a:t>|</a:t>
            </a:r>
            <a:r>
              <a:rPr sz="1200" b="1" spc="-23" dirty="0">
                <a:solidFill>
                  <a:srgbClr val="585858"/>
                </a:solidFill>
                <a:latin typeface="Arial"/>
                <a:cs typeface="Arial"/>
              </a:rPr>
              <a:t> </a:t>
            </a:r>
            <a:r>
              <a:rPr sz="1200" b="1" i="1" spc="-4" dirty="0">
                <a:solidFill>
                  <a:srgbClr val="585858"/>
                </a:solidFill>
                <a:latin typeface="Arial"/>
                <a:cs typeface="Arial"/>
              </a:rPr>
              <a:t>‘flex-grow</a:t>
            </a:r>
            <a:endParaRPr sz="1200" dirty="0">
              <a:latin typeface="Arial"/>
              <a:cs typeface="Arial"/>
            </a:endParaRPr>
          </a:p>
        </p:txBody>
      </p:sp>
      <p:sp>
        <p:nvSpPr>
          <p:cNvPr id="5" name="object 5">
            <a:extLst>
              <a:ext uri="{FF2B5EF4-FFF2-40B4-BE49-F238E27FC236}">
                <a16:creationId xmlns:a16="http://schemas.microsoft.com/office/drawing/2014/main" id="{F6035992-9A83-CF73-889F-50BFE4656B03}"/>
              </a:ext>
            </a:extLst>
          </p:cNvPr>
          <p:cNvSpPr txBox="1"/>
          <p:nvPr/>
        </p:nvSpPr>
        <p:spPr>
          <a:xfrm>
            <a:off x="3117850" y="2503488"/>
            <a:ext cx="787400" cy="193675"/>
          </a:xfrm>
          <a:prstGeom prst="rect">
            <a:avLst/>
          </a:prstGeom>
        </p:spPr>
        <p:txBody>
          <a:bodyPr lIns="0" tIns="9049" rIns="0" bIns="0">
            <a:spAutoFit/>
          </a:bodyPr>
          <a:lstStyle/>
          <a:p>
            <a:pPr marL="9525">
              <a:spcBef>
                <a:spcPts val="71"/>
              </a:spcBef>
              <a:defRPr/>
            </a:pPr>
            <a:r>
              <a:rPr sz="1200" b="1" i="1" spc="-4" dirty="0">
                <a:solidFill>
                  <a:srgbClr val="585858"/>
                </a:solidFill>
                <a:latin typeface="Arial"/>
                <a:cs typeface="Arial"/>
              </a:rPr>
              <a:t>fle</a:t>
            </a:r>
            <a:r>
              <a:rPr sz="1200" b="1" i="1" spc="-8" dirty="0">
                <a:solidFill>
                  <a:srgbClr val="585858"/>
                </a:solidFill>
                <a:latin typeface="Arial"/>
                <a:cs typeface="Arial"/>
              </a:rPr>
              <a:t>x-</a:t>
            </a:r>
            <a:r>
              <a:rPr sz="1200" b="1" i="1" spc="-4" dirty="0">
                <a:solidFill>
                  <a:srgbClr val="585858"/>
                </a:solidFill>
                <a:latin typeface="Arial"/>
                <a:cs typeface="Arial"/>
              </a:rPr>
              <a:t>shrink</a:t>
            </a:r>
            <a:endParaRPr sz="1200" dirty="0">
              <a:latin typeface="Arial"/>
              <a:cs typeface="Arial"/>
            </a:endParaRPr>
          </a:p>
        </p:txBody>
      </p:sp>
      <p:sp>
        <p:nvSpPr>
          <p:cNvPr id="6" name="object 6">
            <a:extLst>
              <a:ext uri="{FF2B5EF4-FFF2-40B4-BE49-F238E27FC236}">
                <a16:creationId xmlns:a16="http://schemas.microsoft.com/office/drawing/2014/main" id="{1515333D-ED90-6D0E-96BD-AE669A00A754}"/>
              </a:ext>
            </a:extLst>
          </p:cNvPr>
          <p:cNvSpPr txBox="1"/>
          <p:nvPr/>
        </p:nvSpPr>
        <p:spPr>
          <a:xfrm>
            <a:off x="4060825" y="2503488"/>
            <a:ext cx="763588" cy="193675"/>
          </a:xfrm>
          <a:prstGeom prst="rect">
            <a:avLst/>
          </a:prstGeom>
        </p:spPr>
        <p:txBody>
          <a:bodyPr lIns="0" tIns="9049" rIns="0" bIns="0">
            <a:spAutoFit/>
          </a:bodyPr>
          <a:lstStyle/>
          <a:p>
            <a:pPr marL="9525">
              <a:spcBef>
                <a:spcPts val="71"/>
              </a:spcBef>
              <a:defRPr/>
            </a:pPr>
            <a:r>
              <a:rPr sz="1200" b="1" i="1" spc="-4" dirty="0">
                <a:solidFill>
                  <a:srgbClr val="585858"/>
                </a:solidFill>
                <a:latin typeface="Arial"/>
                <a:cs typeface="Arial"/>
              </a:rPr>
              <a:t>flex-basis’</a:t>
            </a:r>
            <a:endParaRPr sz="1200" dirty="0">
              <a:latin typeface="Arial"/>
              <a:cs typeface="Arial"/>
            </a:endParaRPr>
          </a:p>
        </p:txBody>
      </p:sp>
      <p:sp>
        <p:nvSpPr>
          <p:cNvPr id="7" name="object 7">
            <a:extLst>
              <a:ext uri="{FF2B5EF4-FFF2-40B4-BE49-F238E27FC236}">
                <a16:creationId xmlns:a16="http://schemas.microsoft.com/office/drawing/2014/main" id="{9B65D0F1-F961-C71A-D772-FFD0B3A7F301}"/>
              </a:ext>
            </a:extLst>
          </p:cNvPr>
          <p:cNvSpPr txBox="1"/>
          <p:nvPr/>
        </p:nvSpPr>
        <p:spPr>
          <a:xfrm>
            <a:off x="1487488" y="3127375"/>
            <a:ext cx="2733675" cy="217488"/>
          </a:xfrm>
          <a:prstGeom prst="rect">
            <a:avLst/>
          </a:prstGeom>
        </p:spPr>
        <p:txBody>
          <a:bodyPr lIns="0" tIns="9525" rIns="0" bIns="0">
            <a:spAutoFit/>
          </a:bodyPr>
          <a:lstStyle/>
          <a:p>
            <a:pPr marL="9525">
              <a:spcBef>
                <a:spcPts val="75"/>
              </a:spcBef>
              <a:defRPr/>
            </a:pPr>
            <a:r>
              <a:rPr sz="1350" spc="-4" dirty="0">
                <a:latin typeface="Arial MT"/>
                <a:cs typeface="Arial MT"/>
              </a:rPr>
              <a:t>Flex:</a:t>
            </a:r>
            <a:r>
              <a:rPr sz="1350" spc="11" dirty="0">
                <a:latin typeface="Arial MT"/>
                <a:cs typeface="Arial MT"/>
              </a:rPr>
              <a:t> </a:t>
            </a:r>
            <a:r>
              <a:rPr sz="1350" i="1" spc="-4" dirty="0">
                <a:latin typeface="Arial"/>
                <a:cs typeface="Arial"/>
              </a:rPr>
              <a:t>flex-grow</a:t>
            </a:r>
            <a:r>
              <a:rPr sz="1350" i="1" spc="8" dirty="0">
                <a:latin typeface="Arial"/>
                <a:cs typeface="Arial"/>
              </a:rPr>
              <a:t> </a:t>
            </a:r>
            <a:r>
              <a:rPr sz="1350" i="1" spc="-4" dirty="0">
                <a:latin typeface="Arial"/>
                <a:cs typeface="Arial"/>
              </a:rPr>
              <a:t>flex-shrink</a:t>
            </a:r>
            <a:r>
              <a:rPr sz="1350" i="1" spc="8" dirty="0">
                <a:latin typeface="Arial"/>
                <a:cs typeface="Arial"/>
              </a:rPr>
              <a:t> </a:t>
            </a:r>
            <a:r>
              <a:rPr sz="1350" i="1" spc="-4" dirty="0">
                <a:latin typeface="Arial"/>
                <a:cs typeface="Arial"/>
              </a:rPr>
              <a:t>flex-basis</a:t>
            </a:r>
            <a:endParaRPr sz="1350" dirty="0">
              <a:latin typeface="Arial"/>
              <a:cs typeface="Arial"/>
            </a:endParaRPr>
          </a:p>
        </p:txBody>
      </p:sp>
      <p:sp>
        <p:nvSpPr>
          <p:cNvPr id="8" name="object 8">
            <a:extLst>
              <a:ext uri="{FF2B5EF4-FFF2-40B4-BE49-F238E27FC236}">
                <a16:creationId xmlns:a16="http://schemas.microsoft.com/office/drawing/2014/main" id="{345B5704-FADA-92E5-25DB-CC41C3904B33}"/>
              </a:ext>
            </a:extLst>
          </p:cNvPr>
          <p:cNvSpPr txBox="1"/>
          <p:nvPr/>
        </p:nvSpPr>
        <p:spPr>
          <a:xfrm>
            <a:off x="1487488" y="3543300"/>
            <a:ext cx="1276350" cy="634244"/>
          </a:xfrm>
          <a:prstGeom prst="rect">
            <a:avLst/>
          </a:prstGeom>
        </p:spPr>
        <p:txBody>
          <a:bodyPr lIns="0" tIns="2381" rIns="0" bIns="0">
            <a:spAutoFit/>
          </a:bodyPr>
          <a:lstStyle>
            <a:lvl1pPr marL="9525">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103000"/>
              </a:lnSpc>
              <a:spcBef>
                <a:spcPts val="25"/>
              </a:spcBef>
            </a:pPr>
            <a:r>
              <a:rPr lang="en-US" altLang="en-US" sz="1300" dirty="0">
                <a:latin typeface="Arial MT"/>
                <a:ea typeface="Arial MT"/>
                <a:cs typeface="Arial MT"/>
              </a:rPr>
              <a:t>Example  li {</a:t>
            </a:r>
          </a:p>
          <a:p>
            <a:pPr>
              <a:spcBef>
                <a:spcPts val="50"/>
              </a:spcBef>
            </a:pPr>
            <a:r>
              <a:rPr lang="en-US" altLang="en-US" sz="1300" dirty="0">
                <a:latin typeface="Arial MT"/>
                <a:ea typeface="Arial MT"/>
                <a:cs typeface="Arial MT"/>
              </a:rPr>
              <a:t>flex: 1 0 200px</a:t>
            </a:r>
          </a:p>
          <a:p>
            <a:pPr>
              <a:spcBef>
                <a:spcPts val="50"/>
              </a:spcBef>
            </a:pPr>
            <a:r>
              <a:rPr lang="en-US" altLang="en-US" sz="1300" dirty="0">
                <a:latin typeface="Arial MT"/>
                <a:ea typeface="Arial MT"/>
                <a:cs typeface="Arial MT"/>
              </a:rPr>
              <a:t>}</a:t>
            </a:r>
          </a:p>
        </p:txBody>
      </p:sp>
      <p:sp>
        <p:nvSpPr>
          <p:cNvPr id="9" name="object 9">
            <a:extLst>
              <a:ext uri="{FF2B5EF4-FFF2-40B4-BE49-F238E27FC236}">
                <a16:creationId xmlns:a16="http://schemas.microsoft.com/office/drawing/2014/main" id="{D2A84086-B456-B3F0-ED88-841E262614A1}"/>
              </a:ext>
            </a:extLst>
          </p:cNvPr>
          <p:cNvSpPr txBox="1"/>
          <p:nvPr/>
        </p:nvSpPr>
        <p:spPr>
          <a:xfrm>
            <a:off x="2164531" y="4997064"/>
            <a:ext cx="5935861" cy="773930"/>
          </a:xfrm>
          <a:prstGeom prst="rect">
            <a:avLst/>
          </a:prstGeom>
        </p:spPr>
        <p:txBody>
          <a:bodyPr wrap="square" lIns="0" tIns="9525" rIns="0" bIns="0">
            <a:spAutoFit/>
          </a:bodyPr>
          <a:lstStyle/>
          <a:p>
            <a:pPr marL="295275" indent="-285750">
              <a:spcBef>
                <a:spcPts val="75"/>
              </a:spcBef>
              <a:buFont typeface="Arial" panose="020B0604020202020204" pitchFamily="34" charset="0"/>
              <a:buChar char="•"/>
              <a:defRPr/>
            </a:pPr>
            <a:r>
              <a:rPr sz="1600" spc="-23" dirty="0">
                <a:solidFill>
                  <a:schemeClr val="accent1"/>
                </a:solidFill>
                <a:latin typeface="Arial MT"/>
                <a:cs typeface="Arial MT"/>
              </a:rPr>
              <a:t>Values</a:t>
            </a:r>
            <a:r>
              <a:rPr sz="1600" spc="8" dirty="0">
                <a:solidFill>
                  <a:schemeClr val="accent1"/>
                </a:solidFill>
                <a:latin typeface="Arial MT"/>
                <a:cs typeface="Arial MT"/>
              </a:rPr>
              <a:t> </a:t>
            </a:r>
            <a:r>
              <a:rPr sz="1600" dirty="0">
                <a:solidFill>
                  <a:schemeClr val="accent1"/>
                </a:solidFill>
                <a:latin typeface="Arial MT"/>
                <a:cs typeface="Arial MT"/>
              </a:rPr>
              <a:t>of </a:t>
            </a:r>
            <a:r>
              <a:rPr sz="1600" spc="-4" dirty="0">
                <a:solidFill>
                  <a:schemeClr val="accent1"/>
                </a:solidFill>
                <a:latin typeface="Arial MT"/>
                <a:cs typeface="Arial MT"/>
              </a:rPr>
              <a:t>1</a:t>
            </a:r>
            <a:r>
              <a:rPr sz="1600" dirty="0">
                <a:solidFill>
                  <a:schemeClr val="accent1"/>
                </a:solidFill>
                <a:latin typeface="Arial MT"/>
                <a:cs typeface="Arial MT"/>
              </a:rPr>
              <a:t> </a:t>
            </a:r>
            <a:r>
              <a:rPr sz="1600" spc="-4" dirty="0">
                <a:solidFill>
                  <a:schemeClr val="accent1"/>
                </a:solidFill>
                <a:latin typeface="Arial MT"/>
                <a:cs typeface="Arial MT"/>
              </a:rPr>
              <a:t>and 0 </a:t>
            </a:r>
            <a:r>
              <a:rPr sz="1600" spc="-11" dirty="0">
                <a:solidFill>
                  <a:schemeClr val="accent1"/>
                </a:solidFill>
                <a:latin typeface="Arial MT"/>
                <a:cs typeface="Arial MT"/>
              </a:rPr>
              <a:t>work</a:t>
            </a:r>
            <a:r>
              <a:rPr sz="1600" spc="41" dirty="0">
                <a:solidFill>
                  <a:schemeClr val="accent1"/>
                </a:solidFill>
                <a:latin typeface="Arial MT"/>
                <a:cs typeface="Arial MT"/>
              </a:rPr>
              <a:t> </a:t>
            </a:r>
            <a:r>
              <a:rPr sz="1600" spc="-4" dirty="0">
                <a:solidFill>
                  <a:schemeClr val="accent1"/>
                </a:solidFill>
                <a:latin typeface="Arial MT"/>
                <a:cs typeface="Arial MT"/>
              </a:rPr>
              <a:t>as</a:t>
            </a:r>
            <a:r>
              <a:rPr sz="1600" dirty="0">
                <a:solidFill>
                  <a:schemeClr val="accent1"/>
                </a:solidFill>
                <a:latin typeface="Arial MT"/>
                <a:cs typeface="Arial MT"/>
              </a:rPr>
              <a:t> </a:t>
            </a:r>
            <a:r>
              <a:rPr sz="1600" spc="-8" dirty="0">
                <a:solidFill>
                  <a:schemeClr val="accent1"/>
                </a:solidFill>
                <a:latin typeface="Arial MT"/>
                <a:cs typeface="Arial MT"/>
              </a:rPr>
              <a:t>on/off</a:t>
            </a:r>
            <a:r>
              <a:rPr sz="1600" spc="4" dirty="0">
                <a:solidFill>
                  <a:schemeClr val="accent1"/>
                </a:solidFill>
                <a:latin typeface="Arial MT"/>
                <a:cs typeface="Arial MT"/>
              </a:rPr>
              <a:t> </a:t>
            </a:r>
            <a:r>
              <a:rPr sz="1600" spc="-8" dirty="0">
                <a:solidFill>
                  <a:schemeClr val="accent1"/>
                </a:solidFill>
                <a:latin typeface="Arial MT"/>
                <a:cs typeface="Arial MT"/>
              </a:rPr>
              <a:t>switch</a:t>
            </a:r>
            <a:endParaRPr sz="1600" dirty="0">
              <a:solidFill>
                <a:schemeClr val="accent1"/>
              </a:solidFill>
              <a:latin typeface="Arial MT"/>
              <a:cs typeface="Arial MT"/>
            </a:endParaRPr>
          </a:p>
          <a:p>
            <a:pPr marL="295275" indent="-285750">
              <a:spcBef>
                <a:spcPts val="53"/>
              </a:spcBef>
              <a:buFont typeface="Arial" panose="020B0604020202020204" pitchFamily="34" charset="0"/>
              <a:buChar char="•"/>
              <a:defRPr/>
            </a:pPr>
            <a:r>
              <a:rPr sz="1600" spc="-4" dirty="0">
                <a:solidFill>
                  <a:schemeClr val="accent1"/>
                </a:solidFill>
                <a:latin typeface="Arial MT"/>
                <a:cs typeface="Arial MT"/>
              </a:rPr>
              <a:t>1 “turns</a:t>
            </a:r>
            <a:r>
              <a:rPr sz="1600" dirty="0">
                <a:solidFill>
                  <a:schemeClr val="accent1"/>
                </a:solidFill>
                <a:latin typeface="Arial MT"/>
                <a:cs typeface="Arial MT"/>
              </a:rPr>
              <a:t> </a:t>
            </a:r>
            <a:r>
              <a:rPr sz="1600" spc="-4" dirty="0">
                <a:solidFill>
                  <a:schemeClr val="accent1"/>
                </a:solidFill>
                <a:latin typeface="Arial MT"/>
                <a:cs typeface="Arial MT"/>
              </a:rPr>
              <a:t>on”</a:t>
            </a:r>
            <a:r>
              <a:rPr sz="1600" dirty="0">
                <a:solidFill>
                  <a:schemeClr val="accent1"/>
                </a:solidFill>
                <a:latin typeface="Arial MT"/>
                <a:cs typeface="Arial MT"/>
              </a:rPr>
              <a:t> </a:t>
            </a:r>
            <a:r>
              <a:rPr sz="1600" spc="-4" dirty="0">
                <a:solidFill>
                  <a:schemeClr val="accent1"/>
                </a:solidFill>
                <a:latin typeface="Arial MT"/>
                <a:cs typeface="Arial MT"/>
              </a:rPr>
              <a:t>or</a:t>
            </a:r>
            <a:r>
              <a:rPr sz="1600" dirty="0">
                <a:solidFill>
                  <a:schemeClr val="accent1"/>
                </a:solidFill>
                <a:latin typeface="Arial MT"/>
                <a:cs typeface="Arial MT"/>
              </a:rPr>
              <a:t> </a:t>
            </a:r>
            <a:r>
              <a:rPr sz="1600" spc="-11" dirty="0">
                <a:solidFill>
                  <a:schemeClr val="accent1"/>
                </a:solidFill>
                <a:latin typeface="Arial MT"/>
                <a:cs typeface="Arial MT"/>
              </a:rPr>
              <a:t>allows</a:t>
            </a:r>
            <a:r>
              <a:rPr sz="1600" spc="45" dirty="0">
                <a:solidFill>
                  <a:schemeClr val="accent1"/>
                </a:solidFill>
                <a:latin typeface="Arial MT"/>
                <a:cs typeface="Arial MT"/>
              </a:rPr>
              <a:t> </a:t>
            </a:r>
            <a:r>
              <a:rPr sz="1600" spc="-4" dirty="0">
                <a:solidFill>
                  <a:schemeClr val="accent1"/>
                </a:solidFill>
                <a:latin typeface="Arial MT"/>
                <a:cs typeface="Arial MT"/>
              </a:rPr>
              <a:t>an</a:t>
            </a:r>
            <a:r>
              <a:rPr sz="1600" spc="-8" dirty="0">
                <a:solidFill>
                  <a:schemeClr val="accent1"/>
                </a:solidFill>
                <a:latin typeface="Arial MT"/>
                <a:cs typeface="Arial MT"/>
              </a:rPr>
              <a:t> </a:t>
            </a:r>
            <a:r>
              <a:rPr sz="1600" dirty="0">
                <a:solidFill>
                  <a:schemeClr val="accent1"/>
                </a:solidFill>
                <a:latin typeface="Arial MT"/>
                <a:cs typeface="Arial MT"/>
              </a:rPr>
              <a:t>item to </a:t>
            </a:r>
            <a:r>
              <a:rPr sz="1600" spc="-4" dirty="0">
                <a:solidFill>
                  <a:schemeClr val="accent1"/>
                </a:solidFill>
                <a:latin typeface="Arial MT"/>
                <a:cs typeface="Arial MT"/>
              </a:rPr>
              <a:t>grow</a:t>
            </a:r>
            <a:r>
              <a:rPr sz="1600" spc="-8" dirty="0">
                <a:solidFill>
                  <a:schemeClr val="accent1"/>
                </a:solidFill>
                <a:latin typeface="Arial MT"/>
                <a:cs typeface="Arial MT"/>
              </a:rPr>
              <a:t> </a:t>
            </a:r>
            <a:r>
              <a:rPr sz="1600" spc="-4" dirty="0">
                <a:solidFill>
                  <a:schemeClr val="accent1"/>
                </a:solidFill>
                <a:latin typeface="Arial MT"/>
                <a:cs typeface="Arial MT"/>
              </a:rPr>
              <a:t>or</a:t>
            </a:r>
            <a:r>
              <a:rPr sz="1600" dirty="0">
                <a:solidFill>
                  <a:schemeClr val="accent1"/>
                </a:solidFill>
                <a:latin typeface="Arial MT"/>
                <a:cs typeface="Arial MT"/>
              </a:rPr>
              <a:t> </a:t>
            </a:r>
            <a:r>
              <a:rPr sz="1600" spc="-4" dirty="0">
                <a:solidFill>
                  <a:schemeClr val="accent1"/>
                </a:solidFill>
                <a:latin typeface="Arial MT"/>
                <a:cs typeface="Arial MT"/>
              </a:rPr>
              <a:t>shrink</a:t>
            </a:r>
            <a:endParaRPr sz="1600" dirty="0">
              <a:solidFill>
                <a:schemeClr val="accent1"/>
              </a:solidFill>
              <a:latin typeface="Arial MT"/>
              <a:cs typeface="Arial MT"/>
            </a:endParaRPr>
          </a:p>
          <a:p>
            <a:pPr marL="295275" indent="-285750">
              <a:spcBef>
                <a:spcPts val="53"/>
              </a:spcBef>
              <a:buFont typeface="Arial" panose="020B0604020202020204" pitchFamily="34" charset="0"/>
              <a:buChar char="•"/>
              <a:defRPr/>
            </a:pPr>
            <a:r>
              <a:rPr sz="1600" spc="-4" dirty="0">
                <a:solidFill>
                  <a:schemeClr val="accent1"/>
                </a:solidFill>
                <a:latin typeface="Arial MT"/>
                <a:cs typeface="Arial MT"/>
              </a:rPr>
              <a:t>0</a:t>
            </a:r>
            <a:r>
              <a:rPr sz="1600" spc="-8" dirty="0">
                <a:solidFill>
                  <a:schemeClr val="accent1"/>
                </a:solidFill>
                <a:latin typeface="Arial MT"/>
                <a:cs typeface="Arial MT"/>
              </a:rPr>
              <a:t> </a:t>
            </a:r>
            <a:r>
              <a:rPr sz="1600" spc="-4" dirty="0">
                <a:solidFill>
                  <a:schemeClr val="accent1"/>
                </a:solidFill>
                <a:latin typeface="Arial MT"/>
                <a:cs typeface="Arial MT"/>
              </a:rPr>
              <a:t>“turns</a:t>
            </a:r>
            <a:r>
              <a:rPr sz="1600" dirty="0">
                <a:solidFill>
                  <a:schemeClr val="accent1"/>
                </a:solidFill>
                <a:latin typeface="Arial MT"/>
                <a:cs typeface="Arial MT"/>
              </a:rPr>
              <a:t> </a:t>
            </a:r>
            <a:r>
              <a:rPr sz="1600" spc="-8" dirty="0">
                <a:solidFill>
                  <a:schemeClr val="accent1"/>
                </a:solidFill>
                <a:latin typeface="Arial MT"/>
                <a:cs typeface="Arial MT"/>
              </a:rPr>
              <a:t>off”</a:t>
            </a:r>
            <a:r>
              <a:rPr sz="1600" spc="-4" dirty="0">
                <a:solidFill>
                  <a:schemeClr val="accent1"/>
                </a:solidFill>
                <a:latin typeface="Arial MT"/>
                <a:cs typeface="Arial MT"/>
              </a:rPr>
              <a:t> prevents</a:t>
            </a:r>
            <a:r>
              <a:rPr sz="1600" spc="4" dirty="0">
                <a:solidFill>
                  <a:schemeClr val="accent1"/>
                </a:solidFill>
                <a:latin typeface="Arial MT"/>
                <a:cs typeface="Arial MT"/>
              </a:rPr>
              <a:t> </a:t>
            </a:r>
            <a:r>
              <a:rPr sz="1600" dirty="0">
                <a:solidFill>
                  <a:schemeClr val="accent1"/>
                </a:solidFill>
                <a:latin typeface="Arial MT"/>
                <a:cs typeface="Arial MT"/>
              </a:rPr>
              <a:t>item</a:t>
            </a:r>
            <a:r>
              <a:rPr sz="1600" spc="-4" dirty="0">
                <a:solidFill>
                  <a:schemeClr val="accent1"/>
                </a:solidFill>
                <a:latin typeface="Arial MT"/>
                <a:cs typeface="Arial MT"/>
              </a:rPr>
              <a:t> </a:t>
            </a:r>
            <a:r>
              <a:rPr sz="1600" dirty="0">
                <a:solidFill>
                  <a:schemeClr val="accent1"/>
                </a:solidFill>
                <a:latin typeface="Arial MT"/>
                <a:cs typeface="Arial MT"/>
              </a:rPr>
              <a:t>from </a:t>
            </a:r>
            <a:r>
              <a:rPr sz="1600" spc="-8" dirty="0">
                <a:solidFill>
                  <a:schemeClr val="accent1"/>
                </a:solidFill>
                <a:latin typeface="Arial MT"/>
                <a:cs typeface="Arial MT"/>
              </a:rPr>
              <a:t>growing</a:t>
            </a:r>
            <a:r>
              <a:rPr sz="1600" spc="38" dirty="0">
                <a:solidFill>
                  <a:schemeClr val="accent1"/>
                </a:solidFill>
                <a:latin typeface="Arial MT"/>
                <a:cs typeface="Arial MT"/>
              </a:rPr>
              <a:t> </a:t>
            </a:r>
            <a:r>
              <a:rPr sz="1600" spc="-4" dirty="0">
                <a:solidFill>
                  <a:schemeClr val="accent1"/>
                </a:solidFill>
                <a:latin typeface="Arial MT"/>
                <a:cs typeface="Arial MT"/>
              </a:rPr>
              <a:t>or</a:t>
            </a:r>
            <a:r>
              <a:rPr sz="1600" dirty="0">
                <a:solidFill>
                  <a:schemeClr val="accent1"/>
                </a:solidFill>
                <a:latin typeface="Arial MT"/>
                <a:cs typeface="Arial MT"/>
              </a:rPr>
              <a:t> </a:t>
            </a:r>
            <a:r>
              <a:rPr sz="1600" spc="-4" dirty="0">
                <a:solidFill>
                  <a:schemeClr val="accent1"/>
                </a:solidFill>
                <a:latin typeface="Arial MT"/>
                <a:cs typeface="Arial MT"/>
              </a:rPr>
              <a:t>shrinking</a:t>
            </a:r>
            <a:endParaRPr sz="1600" dirty="0">
              <a:solidFill>
                <a:schemeClr val="accent1"/>
              </a:solidFill>
              <a:latin typeface="Arial MT"/>
              <a:cs typeface="Arial MT"/>
            </a:endParaRPr>
          </a:p>
        </p:txBody>
      </p:sp>
      <p:sp>
        <p:nvSpPr>
          <p:cNvPr id="10" name="object 10">
            <a:extLst>
              <a:ext uri="{FF2B5EF4-FFF2-40B4-BE49-F238E27FC236}">
                <a16:creationId xmlns:a16="http://schemas.microsoft.com/office/drawing/2014/main" id="{191DE805-32A9-D45D-9DAD-610B6DA758E8}"/>
              </a:ext>
            </a:extLst>
          </p:cNvPr>
          <p:cNvSpPr txBox="1"/>
          <p:nvPr/>
        </p:nvSpPr>
        <p:spPr>
          <a:xfrm>
            <a:off x="1487488" y="4339905"/>
            <a:ext cx="6612904" cy="394339"/>
          </a:xfrm>
          <a:prstGeom prst="rect">
            <a:avLst/>
          </a:prstGeom>
        </p:spPr>
        <p:txBody>
          <a:bodyPr wrap="square" lIns="0" tIns="9525" rIns="0" bIns="0">
            <a:spAutoFit/>
          </a:bodyPr>
          <a:lstStyle/>
          <a:p>
            <a:pPr marL="9525">
              <a:lnSpc>
                <a:spcPts val="1485"/>
              </a:lnSpc>
              <a:spcBef>
                <a:spcPts val="53"/>
              </a:spcBef>
              <a:defRPr/>
            </a:pPr>
            <a:r>
              <a:rPr sz="1350" spc="-4" dirty="0">
                <a:latin typeface="Arial MT"/>
                <a:cs typeface="Arial MT"/>
              </a:rPr>
              <a:t>This</a:t>
            </a:r>
            <a:r>
              <a:rPr sz="1350" spc="-15" dirty="0">
                <a:latin typeface="Arial MT"/>
                <a:cs typeface="Arial MT"/>
              </a:rPr>
              <a:t> </a:t>
            </a:r>
            <a:r>
              <a:rPr sz="1350" spc="-4" dirty="0">
                <a:latin typeface="Arial MT"/>
                <a:cs typeface="Arial MT"/>
              </a:rPr>
              <a:t>list </a:t>
            </a:r>
            <a:r>
              <a:rPr sz="1350" dirty="0">
                <a:latin typeface="Arial MT"/>
                <a:cs typeface="Arial MT"/>
              </a:rPr>
              <a:t>item</a:t>
            </a:r>
            <a:r>
              <a:rPr sz="1350" spc="-4" dirty="0">
                <a:latin typeface="Arial MT"/>
                <a:cs typeface="Arial MT"/>
              </a:rPr>
              <a:t> </a:t>
            </a:r>
            <a:r>
              <a:rPr sz="1350" dirty="0">
                <a:latin typeface="Arial MT"/>
                <a:cs typeface="Arial MT"/>
              </a:rPr>
              <a:t>starts</a:t>
            </a:r>
            <a:r>
              <a:rPr sz="1350" spc="-15" dirty="0">
                <a:latin typeface="Arial MT"/>
                <a:cs typeface="Arial MT"/>
              </a:rPr>
              <a:t> </a:t>
            </a:r>
            <a:r>
              <a:rPr sz="1350" dirty="0">
                <a:latin typeface="Arial MT"/>
                <a:cs typeface="Arial MT"/>
              </a:rPr>
              <a:t>at </a:t>
            </a:r>
            <a:r>
              <a:rPr sz="1350" spc="-4" dirty="0">
                <a:latin typeface="Arial MT"/>
                <a:cs typeface="Arial MT"/>
              </a:rPr>
              <a:t>200px</a:t>
            </a:r>
            <a:r>
              <a:rPr sz="1350" spc="4" dirty="0">
                <a:latin typeface="Arial MT"/>
                <a:cs typeface="Arial MT"/>
              </a:rPr>
              <a:t> </a:t>
            </a:r>
            <a:r>
              <a:rPr sz="1350" spc="-11" dirty="0">
                <a:latin typeface="Arial MT"/>
                <a:cs typeface="Arial MT"/>
              </a:rPr>
              <a:t>wide</a:t>
            </a:r>
            <a:r>
              <a:rPr lang="en-US" sz="1350" spc="-11" dirty="0">
                <a:latin typeface="Arial MT"/>
                <a:cs typeface="Arial MT"/>
              </a:rPr>
              <a:t> and </a:t>
            </a:r>
            <a:r>
              <a:rPr sz="1350" spc="-4" dirty="0">
                <a:latin typeface="Arial MT"/>
                <a:cs typeface="Arial MT"/>
              </a:rPr>
              <a:t>is</a:t>
            </a:r>
            <a:r>
              <a:rPr sz="1350" spc="-8" dirty="0">
                <a:latin typeface="Arial MT"/>
                <a:cs typeface="Arial MT"/>
              </a:rPr>
              <a:t> allowed</a:t>
            </a:r>
            <a:r>
              <a:rPr sz="1350" spc="34" dirty="0">
                <a:latin typeface="Arial MT"/>
                <a:cs typeface="Arial MT"/>
              </a:rPr>
              <a:t> </a:t>
            </a:r>
            <a:r>
              <a:rPr sz="1350" dirty="0">
                <a:latin typeface="Arial MT"/>
                <a:cs typeface="Arial MT"/>
              </a:rPr>
              <a:t>to</a:t>
            </a:r>
            <a:r>
              <a:rPr sz="1350" spc="-4" dirty="0">
                <a:latin typeface="Arial MT"/>
                <a:cs typeface="Arial MT"/>
              </a:rPr>
              <a:t> grow</a:t>
            </a:r>
            <a:r>
              <a:rPr sz="1350" dirty="0">
                <a:latin typeface="Arial MT"/>
                <a:cs typeface="Arial MT"/>
              </a:rPr>
              <a:t> to</a:t>
            </a:r>
            <a:r>
              <a:rPr sz="1350" spc="-4" dirty="0">
                <a:latin typeface="Arial MT"/>
                <a:cs typeface="Arial MT"/>
              </a:rPr>
              <a:t> fill extra</a:t>
            </a:r>
            <a:r>
              <a:rPr sz="1350" spc="4" dirty="0">
                <a:latin typeface="Arial MT"/>
                <a:cs typeface="Arial MT"/>
              </a:rPr>
              <a:t> </a:t>
            </a:r>
            <a:r>
              <a:rPr sz="1350" spc="-4" dirty="0">
                <a:latin typeface="Arial MT"/>
                <a:cs typeface="Arial MT"/>
              </a:rPr>
              <a:t>space</a:t>
            </a:r>
            <a:r>
              <a:rPr lang="en-US" sz="1350" spc="-4" dirty="0">
                <a:latin typeface="Arial MT"/>
                <a:cs typeface="Arial MT"/>
              </a:rPr>
              <a:t> and </a:t>
            </a:r>
            <a:r>
              <a:rPr sz="1350" dirty="0">
                <a:latin typeface="Arial MT"/>
                <a:cs typeface="Arial MT"/>
              </a:rPr>
              <a:t>is</a:t>
            </a:r>
            <a:r>
              <a:rPr sz="1350" spc="-8" dirty="0">
                <a:latin typeface="Arial MT"/>
                <a:cs typeface="Arial MT"/>
              </a:rPr>
              <a:t> </a:t>
            </a:r>
            <a:r>
              <a:rPr sz="1350" dirty="0">
                <a:latin typeface="Arial MT"/>
                <a:cs typeface="Arial MT"/>
              </a:rPr>
              <a:t>NOT</a:t>
            </a:r>
            <a:r>
              <a:rPr sz="1350" spc="-30" dirty="0">
                <a:latin typeface="Arial MT"/>
                <a:cs typeface="Arial MT"/>
              </a:rPr>
              <a:t> </a:t>
            </a:r>
            <a:r>
              <a:rPr sz="1350" spc="-11" dirty="0">
                <a:latin typeface="Arial MT"/>
                <a:cs typeface="Arial MT"/>
              </a:rPr>
              <a:t>allowed</a:t>
            </a:r>
            <a:r>
              <a:rPr sz="1350" spc="41" dirty="0">
                <a:latin typeface="Arial MT"/>
                <a:cs typeface="Arial MT"/>
              </a:rPr>
              <a:t> </a:t>
            </a:r>
            <a:r>
              <a:rPr sz="1350" dirty="0">
                <a:latin typeface="Arial MT"/>
                <a:cs typeface="Arial MT"/>
              </a:rPr>
              <a:t>to</a:t>
            </a:r>
            <a:r>
              <a:rPr sz="1350" spc="-15" dirty="0">
                <a:latin typeface="Arial MT"/>
                <a:cs typeface="Arial MT"/>
              </a:rPr>
              <a:t> </a:t>
            </a:r>
            <a:r>
              <a:rPr sz="1350" spc="-4" dirty="0">
                <a:latin typeface="Arial MT"/>
                <a:cs typeface="Arial MT"/>
              </a:rPr>
              <a:t>shrink</a:t>
            </a:r>
            <a:r>
              <a:rPr sz="1350" spc="8" dirty="0">
                <a:latin typeface="Arial MT"/>
                <a:cs typeface="Arial MT"/>
              </a:rPr>
              <a:t> </a:t>
            </a:r>
            <a:r>
              <a:rPr sz="1350" spc="-8" dirty="0">
                <a:latin typeface="Arial MT"/>
                <a:cs typeface="Arial MT"/>
              </a:rPr>
              <a:t>below</a:t>
            </a:r>
            <a:r>
              <a:rPr sz="1350" spc="4" dirty="0">
                <a:latin typeface="Arial MT"/>
                <a:cs typeface="Arial MT"/>
              </a:rPr>
              <a:t> </a:t>
            </a:r>
            <a:r>
              <a:rPr sz="1350" spc="-8" dirty="0">
                <a:latin typeface="Arial MT"/>
                <a:cs typeface="Arial MT"/>
              </a:rPr>
              <a:t>200px</a:t>
            </a:r>
            <a:endParaRPr sz="1350" dirty="0">
              <a:latin typeface="Arial MT"/>
              <a:cs typeface="Arial M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159B080-F203-6EB7-4290-D52C82539183}"/>
              </a:ext>
            </a:extLst>
          </p:cNvPr>
          <p:cNvSpPr txBox="1">
            <a:spLocks noGrp="1"/>
          </p:cNvSpPr>
          <p:nvPr>
            <p:ph type="title"/>
          </p:nvPr>
        </p:nvSpPr>
        <p:spPr>
          <a:xfrm>
            <a:off x="107504" y="404664"/>
            <a:ext cx="5435327" cy="517449"/>
          </a:xfrm>
        </p:spPr>
        <p:txBody>
          <a:bodyPr wrap="square" tIns="9525" rtlCol="0">
            <a:spAutoFit/>
          </a:bodyPr>
          <a:lstStyle/>
          <a:p>
            <a:pPr marL="9525">
              <a:spcBef>
                <a:spcPts val="75"/>
              </a:spcBef>
              <a:defRPr/>
            </a:pPr>
            <a:r>
              <a:rPr sz="3300" b="0" dirty="0">
                <a:solidFill>
                  <a:schemeClr val="bg1"/>
                </a:solidFill>
              </a:rPr>
              <a:t>CSS</a:t>
            </a:r>
            <a:r>
              <a:rPr sz="3300" b="0" spc="-11" dirty="0">
                <a:solidFill>
                  <a:schemeClr val="bg1"/>
                </a:solidFill>
              </a:rPr>
              <a:t> </a:t>
            </a:r>
            <a:r>
              <a:rPr sz="3300" b="0" spc="-4" dirty="0">
                <a:solidFill>
                  <a:schemeClr val="bg1"/>
                </a:solidFill>
              </a:rPr>
              <a:t>Layout</a:t>
            </a:r>
            <a:r>
              <a:rPr sz="3300" b="0" spc="-15" dirty="0">
                <a:solidFill>
                  <a:schemeClr val="bg1"/>
                </a:solidFill>
              </a:rPr>
              <a:t> </a:t>
            </a:r>
            <a:r>
              <a:rPr sz="3300" b="0" dirty="0">
                <a:solidFill>
                  <a:schemeClr val="bg1"/>
                </a:solidFill>
              </a:rPr>
              <a:t>-</a:t>
            </a:r>
            <a:r>
              <a:rPr sz="3300" b="0" spc="-15" dirty="0">
                <a:solidFill>
                  <a:schemeClr val="bg1"/>
                </a:solidFill>
              </a:rPr>
              <a:t> </a:t>
            </a:r>
            <a:r>
              <a:rPr sz="3300" b="0" dirty="0">
                <a:solidFill>
                  <a:schemeClr val="bg1"/>
                </a:solidFill>
              </a:rPr>
              <a:t>Flexbox</a:t>
            </a:r>
          </a:p>
        </p:txBody>
      </p:sp>
      <p:sp>
        <p:nvSpPr>
          <p:cNvPr id="3" name="object 3">
            <a:extLst>
              <a:ext uri="{FF2B5EF4-FFF2-40B4-BE49-F238E27FC236}">
                <a16:creationId xmlns:a16="http://schemas.microsoft.com/office/drawing/2014/main" id="{6BF7D9FD-6205-21F4-4092-DF6272897A32}"/>
              </a:ext>
            </a:extLst>
          </p:cNvPr>
          <p:cNvSpPr txBox="1"/>
          <p:nvPr/>
        </p:nvSpPr>
        <p:spPr>
          <a:xfrm>
            <a:off x="1430338" y="1619250"/>
            <a:ext cx="3357686" cy="995144"/>
          </a:xfrm>
          <a:prstGeom prst="rect">
            <a:avLst/>
          </a:prstGeom>
        </p:spPr>
        <p:txBody>
          <a:bodyPr wrap="square" lIns="0" tIns="106680" rIns="0" bIns="0">
            <a:spAutoFit/>
          </a:bodyPr>
          <a:lstStyle/>
          <a:p>
            <a:pPr marL="9525">
              <a:spcBef>
                <a:spcPts val="840"/>
              </a:spcBef>
              <a:defRPr/>
            </a:pPr>
            <a:r>
              <a:rPr sz="2100" b="1" spc="-4" dirty="0">
                <a:solidFill>
                  <a:srgbClr val="531B88"/>
                </a:solidFill>
                <a:cs typeface="Arial" panose="020B0604020202020204" pitchFamily="34" charset="0"/>
              </a:rPr>
              <a:t>Flex item</a:t>
            </a:r>
            <a:r>
              <a:rPr sz="2100" b="1" dirty="0">
                <a:solidFill>
                  <a:srgbClr val="531B88"/>
                </a:solidFill>
                <a:cs typeface="Arial" panose="020B0604020202020204" pitchFamily="34" charset="0"/>
              </a:rPr>
              <a:t> </a:t>
            </a:r>
            <a:r>
              <a:rPr sz="2100" b="1" spc="-4" dirty="0">
                <a:solidFill>
                  <a:srgbClr val="531B88"/>
                </a:solidFill>
                <a:cs typeface="Arial" panose="020B0604020202020204" pitchFamily="34" charset="0"/>
              </a:rPr>
              <a:t>-</a:t>
            </a:r>
            <a:r>
              <a:rPr sz="2100" b="1" spc="-15" dirty="0">
                <a:solidFill>
                  <a:srgbClr val="531B88"/>
                </a:solidFill>
                <a:cs typeface="Arial" panose="020B0604020202020204" pitchFamily="34" charset="0"/>
              </a:rPr>
              <a:t> </a:t>
            </a:r>
            <a:r>
              <a:rPr sz="2100" b="1" spc="-8" dirty="0">
                <a:solidFill>
                  <a:srgbClr val="531B88"/>
                </a:solidFill>
                <a:cs typeface="Arial" panose="020B0604020202020204" pitchFamily="34" charset="0"/>
              </a:rPr>
              <a:t>Properties</a:t>
            </a:r>
            <a:endParaRPr sz="2100" dirty="0">
              <a:cs typeface="Arial" panose="020B0604020202020204" pitchFamily="34" charset="0"/>
            </a:endParaRPr>
          </a:p>
          <a:p>
            <a:pPr marL="9525">
              <a:spcBef>
                <a:spcPts val="656"/>
              </a:spcBef>
              <a:defRPr/>
            </a:pPr>
            <a:r>
              <a:rPr sz="1800" b="1" spc="-4" dirty="0">
                <a:solidFill>
                  <a:srgbClr val="531B88"/>
                </a:solidFill>
                <a:cs typeface="Arial" panose="020B0604020202020204" pitchFamily="34" charset="0"/>
              </a:rPr>
              <a:t>flex-grow</a:t>
            </a:r>
            <a:endParaRPr sz="1800" dirty="0">
              <a:cs typeface="Arial" panose="020B0604020202020204" pitchFamily="34" charset="0"/>
            </a:endParaRPr>
          </a:p>
          <a:p>
            <a:pPr marL="352425">
              <a:spcBef>
                <a:spcPts val="105"/>
              </a:spcBef>
              <a:defRPr/>
            </a:pPr>
            <a:r>
              <a:rPr sz="1200" b="1" spc="-15" dirty="0">
                <a:solidFill>
                  <a:srgbClr val="585858"/>
                </a:solidFill>
                <a:latin typeface="Arial"/>
                <a:cs typeface="Arial"/>
              </a:rPr>
              <a:t>Value:</a:t>
            </a:r>
            <a:r>
              <a:rPr sz="1200" b="1" spc="-8" dirty="0">
                <a:solidFill>
                  <a:srgbClr val="585858"/>
                </a:solidFill>
                <a:latin typeface="Arial"/>
                <a:cs typeface="Arial"/>
              </a:rPr>
              <a:t> </a:t>
            </a:r>
            <a:r>
              <a:rPr sz="1200" i="1" spc="-4" dirty="0">
                <a:solidFill>
                  <a:srgbClr val="585858"/>
                </a:solidFill>
                <a:latin typeface="Arial"/>
                <a:cs typeface="Arial"/>
              </a:rPr>
              <a:t>number</a:t>
            </a:r>
            <a:r>
              <a:rPr sz="1200" i="1" spc="15" dirty="0">
                <a:solidFill>
                  <a:srgbClr val="585858"/>
                </a:solidFill>
                <a:latin typeface="Arial"/>
                <a:cs typeface="Arial"/>
              </a:rPr>
              <a:t> </a:t>
            </a:r>
            <a:r>
              <a:rPr sz="1200" b="1" spc="-4" dirty="0">
                <a:solidFill>
                  <a:srgbClr val="585858"/>
                </a:solidFill>
                <a:latin typeface="Arial"/>
                <a:cs typeface="Arial"/>
              </a:rPr>
              <a:t>Default:</a:t>
            </a:r>
            <a:r>
              <a:rPr sz="1200" b="1" spc="11" dirty="0">
                <a:solidFill>
                  <a:srgbClr val="585858"/>
                </a:solidFill>
                <a:latin typeface="Arial"/>
                <a:cs typeface="Arial"/>
              </a:rPr>
              <a:t> </a:t>
            </a:r>
            <a:r>
              <a:rPr sz="1200" i="1" spc="-4" dirty="0">
                <a:solidFill>
                  <a:srgbClr val="585858"/>
                </a:solidFill>
                <a:latin typeface="Arial"/>
                <a:cs typeface="Arial"/>
              </a:rPr>
              <a:t>0</a:t>
            </a:r>
            <a:endParaRPr sz="1200" dirty="0">
              <a:latin typeface="Arial"/>
              <a:cs typeface="Arial"/>
            </a:endParaRPr>
          </a:p>
        </p:txBody>
      </p:sp>
      <p:pic>
        <p:nvPicPr>
          <p:cNvPr id="50180" name="object 5">
            <a:extLst>
              <a:ext uri="{FF2B5EF4-FFF2-40B4-BE49-F238E27FC236}">
                <a16:creationId xmlns:a16="http://schemas.microsoft.com/office/drawing/2014/main" id="{53A7872C-9B49-204D-85CF-CA4510CFAB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771775"/>
            <a:ext cx="4976316" cy="2745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bject 6">
            <a:extLst>
              <a:ext uri="{FF2B5EF4-FFF2-40B4-BE49-F238E27FC236}">
                <a16:creationId xmlns:a16="http://schemas.microsoft.com/office/drawing/2014/main" id="{6C417A72-5545-99C0-9B7A-4A22F4A7FFB4}"/>
              </a:ext>
            </a:extLst>
          </p:cNvPr>
          <p:cNvSpPr txBox="1">
            <a:spLocks noGrp="1"/>
          </p:cNvSpPr>
          <p:nvPr>
            <p:ph sz="half" idx="3"/>
          </p:nvPr>
        </p:nvSpPr>
        <p:spPr>
          <a:xfrm>
            <a:off x="6376988" y="1693863"/>
            <a:ext cx="1508125" cy="4115999"/>
          </a:xfrm>
        </p:spPr>
        <p:txBody>
          <a:bodyPr tIns="53340" rtlCol="0"/>
          <a:lstStyle/>
          <a:p>
            <a:pPr marL="9525">
              <a:spcBef>
                <a:spcPts val="420"/>
              </a:spcBef>
              <a:defRPr/>
            </a:pPr>
            <a:r>
              <a:rPr sz="1200" spc="-4" dirty="0">
                <a:solidFill>
                  <a:schemeClr val="tx1"/>
                </a:solidFill>
              </a:rPr>
              <a:t>THE</a:t>
            </a:r>
            <a:r>
              <a:rPr sz="1200" spc="-34" dirty="0">
                <a:solidFill>
                  <a:schemeClr val="tx1"/>
                </a:solidFill>
              </a:rPr>
              <a:t> </a:t>
            </a:r>
            <a:r>
              <a:rPr sz="1200" dirty="0">
                <a:solidFill>
                  <a:schemeClr val="tx1"/>
                </a:solidFill>
              </a:rPr>
              <a:t>MARKUP</a:t>
            </a:r>
          </a:p>
          <a:p>
            <a:pPr marL="45720">
              <a:spcBef>
                <a:spcPts val="344"/>
              </a:spcBef>
              <a:defRPr/>
            </a:pPr>
            <a:r>
              <a:rPr sz="1200" dirty="0"/>
              <a:t>&lt;div</a:t>
            </a:r>
            <a:r>
              <a:rPr sz="1200" spc="-23" dirty="0"/>
              <a:t> </a:t>
            </a:r>
            <a:r>
              <a:rPr sz="1200" spc="-4" dirty="0"/>
              <a:t>id=“container”&gt;</a:t>
            </a:r>
          </a:p>
          <a:p>
            <a:pPr marL="120015">
              <a:spcBef>
                <a:spcPts val="341"/>
              </a:spcBef>
              <a:defRPr/>
            </a:pPr>
            <a:r>
              <a:rPr sz="1200" dirty="0"/>
              <a:t>&lt;div</a:t>
            </a:r>
            <a:r>
              <a:rPr sz="1200" spc="-26" dirty="0"/>
              <a:t> </a:t>
            </a:r>
            <a:r>
              <a:rPr sz="1200" dirty="0"/>
              <a:t>class=“box</a:t>
            </a:r>
            <a:r>
              <a:rPr sz="1200" spc="-53" dirty="0"/>
              <a:t> </a:t>
            </a:r>
            <a:r>
              <a:rPr sz="1200" spc="-4" dirty="0"/>
              <a:t>box1”&gt;</a:t>
            </a:r>
            <a:r>
              <a:rPr sz="1200" spc="-23" dirty="0"/>
              <a:t> </a:t>
            </a:r>
            <a:r>
              <a:rPr sz="1200" spc="-4" dirty="0"/>
              <a:t>1&lt;/div&gt;</a:t>
            </a:r>
          </a:p>
          <a:p>
            <a:pPr marL="120015">
              <a:spcBef>
                <a:spcPts val="90"/>
              </a:spcBef>
              <a:defRPr/>
            </a:pPr>
            <a:r>
              <a:rPr sz="1200" dirty="0"/>
              <a:t>&lt;div</a:t>
            </a:r>
            <a:r>
              <a:rPr sz="1200" spc="-26" dirty="0"/>
              <a:t> </a:t>
            </a:r>
            <a:r>
              <a:rPr sz="1200" dirty="0"/>
              <a:t>class=“box</a:t>
            </a:r>
            <a:r>
              <a:rPr sz="1200" spc="-53" dirty="0"/>
              <a:t> </a:t>
            </a:r>
            <a:r>
              <a:rPr sz="1200" spc="-4" dirty="0"/>
              <a:t>box2”&gt;</a:t>
            </a:r>
            <a:r>
              <a:rPr sz="1200" spc="-23" dirty="0"/>
              <a:t> </a:t>
            </a:r>
            <a:r>
              <a:rPr sz="1200" spc="-4" dirty="0"/>
              <a:t>2&lt;/div&gt;</a:t>
            </a:r>
          </a:p>
          <a:p>
            <a:pPr marL="120015">
              <a:spcBef>
                <a:spcPts val="90"/>
              </a:spcBef>
              <a:defRPr/>
            </a:pPr>
            <a:r>
              <a:rPr sz="1200" dirty="0"/>
              <a:t>&lt;div</a:t>
            </a:r>
            <a:r>
              <a:rPr sz="1200" spc="-26" dirty="0"/>
              <a:t> </a:t>
            </a:r>
            <a:r>
              <a:rPr sz="1200" dirty="0"/>
              <a:t>class=“box</a:t>
            </a:r>
            <a:r>
              <a:rPr sz="1200" spc="-53" dirty="0"/>
              <a:t> </a:t>
            </a:r>
            <a:r>
              <a:rPr sz="1200" spc="-4" dirty="0"/>
              <a:t>box3”&gt;</a:t>
            </a:r>
            <a:r>
              <a:rPr sz="1200" spc="-23" dirty="0"/>
              <a:t> </a:t>
            </a:r>
            <a:r>
              <a:rPr sz="1200" spc="-4" dirty="0"/>
              <a:t>3&lt;/div&gt;</a:t>
            </a:r>
          </a:p>
          <a:p>
            <a:pPr marL="120015">
              <a:spcBef>
                <a:spcPts val="90"/>
              </a:spcBef>
              <a:defRPr/>
            </a:pPr>
            <a:r>
              <a:rPr sz="1200" dirty="0"/>
              <a:t>&lt;div</a:t>
            </a:r>
            <a:r>
              <a:rPr sz="1200" spc="-26" dirty="0"/>
              <a:t> </a:t>
            </a:r>
            <a:r>
              <a:rPr sz="1200" dirty="0"/>
              <a:t>class=“box</a:t>
            </a:r>
            <a:r>
              <a:rPr sz="1200" spc="-53" dirty="0"/>
              <a:t> </a:t>
            </a:r>
            <a:r>
              <a:rPr sz="1200" spc="-4" dirty="0"/>
              <a:t>box4”&gt;</a:t>
            </a:r>
            <a:r>
              <a:rPr sz="1200" spc="-23" dirty="0"/>
              <a:t> </a:t>
            </a:r>
            <a:r>
              <a:rPr sz="1200" spc="-4" dirty="0"/>
              <a:t>4&lt;/div&gt;</a:t>
            </a:r>
          </a:p>
          <a:p>
            <a:pPr marL="120015">
              <a:spcBef>
                <a:spcPts val="90"/>
              </a:spcBef>
              <a:defRPr/>
            </a:pPr>
            <a:r>
              <a:rPr sz="1200" dirty="0"/>
              <a:t>&lt;div</a:t>
            </a:r>
            <a:r>
              <a:rPr sz="1200" spc="-23" dirty="0"/>
              <a:t> </a:t>
            </a:r>
            <a:r>
              <a:rPr sz="1200" dirty="0"/>
              <a:t>class=“box</a:t>
            </a:r>
            <a:r>
              <a:rPr sz="1200" spc="-49" dirty="0"/>
              <a:t> </a:t>
            </a:r>
            <a:r>
              <a:rPr sz="1200" spc="-4" dirty="0"/>
              <a:t>box5”&gt;</a:t>
            </a:r>
            <a:r>
              <a:rPr sz="1200" spc="-19" dirty="0"/>
              <a:t> </a:t>
            </a:r>
            <a:r>
              <a:rPr sz="1200" dirty="0"/>
              <a:t>5</a:t>
            </a:r>
            <a:r>
              <a:rPr sz="1200" spc="-19" dirty="0"/>
              <a:t> </a:t>
            </a:r>
            <a:r>
              <a:rPr sz="1200" spc="-4" dirty="0"/>
              <a:t>&lt;/div&gt;</a:t>
            </a:r>
          </a:p>
          <a:p>
            <a:pPr marL="9525">
              <a:spcBef>
                <a:spcPts val="341"/>
              </a:spcBef>
              <a:defRPr/>
            </a:pPr>
            <a:r>
              <a:rPr sz="1200" spc="-4" dirty="0"/>
              <a:t>&lt;/div&gt;</a:t>
            </a:r>
          </a:p>
          <a:p>
            <a:pPr>
              <a:defRPr/>
            </a:pPr>
            <a:endParaRPr sz="1200" dirty="0"/>
          </a:p>
          <a:p>
            <a:pPr>
              <a:spcBef>
                <a:spcPts val="15"/>
              </a:spcBef>
              <a:defRPr/>
            </a:pPr>
            <a:endParaRPr sz="1200" dirty="0"/>
          </a:p>
          <a:p>
            <a:pPr marL="59531">
              <a:defRPr/>
            </a:pPr>
            <a:r>
              <a:rPr sz="1200" spc="-4" dirty="0"/>
              <a:t>THE</a:t>
            </a:r>
            <a:r>
              <a:rPr sz="1200" spc="-34" dirty="0"/>
              <a:t> </a:t>
            </a:r>
            <a:r>
              <a:rPr sz="1200" dirty="0"/>
              <a:t>STYLES</a:t>
            </a:r>
          </a:p>
          <a:p>
            <a:pPr marL="59531">
              <a:spcBef>
                <a:spcPts val="344"/>
              </a:spcBef>
              <a:defRPr/>
            </a:pPr>
            <a:r>
              <a:rPr sz="1200" dirty="0"/>
              <a:t>.box</a:t>
            </a:r>
            <a:r>
              <a:rPr sz="1200" spc="-49" dirty="0"/>
              <a:t> </a:t>
            </a:r>
            <a:r>
              <a:rPr sz="1200" dirty="0"/>
              <a:t>{</a:t>
            </a:r>
          </a:p>
          <a:p>
            <a:pPr marL="133826">
              <a:spcBef>
                <a:spcPts val="90"/>
              </a:spcBef>
              <a:defRPr/>
            </a:pPr>
            <a:r>
              <a:rPr sz="1200" dirty="0"/>
              <a:t>…</a:t>
            </a:r>
          </a:p>
          <a:p>
            <a:pPr marL="133826">
              <a:spcBef>
                <a:spcPts val="341"/>
              </a:spcBef>
              <a:defRPr/>
            </a:pPr>
            <a:r>
              <a:rPr sz="1200" spc="-4" dirty="0"/>
              <a:t>flex:</a:t>
            </a:r>
            <a:r>
              <a:rPr sz="1200" spc="-23" dirty="0"/>
              <a:t> </a:t>
            </a:r>
            <a:r>
              <a:rPr sz="1200" dirty="0"/>
              <a:t>1</a:t>
            </a:r>
            <a:r>
              <a:rPr sz="1200" spc="-23" dirty="0"/>
              <a:t> </a:t>
            </a:r>
            <a:r>
              <a:rPr sz="1200" dirty="0"/>
              <a:t>1</a:t>
            </a:r>
            <a:r>
              <a:rPr sz="1200" spc="-19" dirty="0"/>
              <a:t> </a:t>
            </a:r>
            <a:r>
              <a:rPr sz="1200" dirty="0"/>
              <a:t>auto;</a:t>
            </a:r>
          </a:p>
          <a:p>
            <a:pPr marL="59531">
              <a:spcBef>
                <a:spcPts val="341"/>
              </a:spcBef>
              <a:defRPr/>
            </a:pPr>
            <a:r>
              <a:rPr sz="1200" dirty="0"/>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object 2">
            <a:extLst>
              <a:ext uri="{FF2B5EF4-FFF2-40B4-BE49-F238E27FC236}">
                <a16:creationId xmlns:a16="http://schemas.microsoft.com/office/drawing/2014/main" id="{FB40F961-33E3-8E25-11D3-D3F29F92C3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156639"/>
            <a:ext cx="6235650" cy="297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ject 3">
            <a:extLst>
              <a:ext uri="{FF2B5EF4-FFF2-40B4-BE49-F238E27FC236}">
                <a16:creationId xmlns:a16="http://schemas.microsoft.com/office/drawing/2014/main" id="{0A4FBC1A-E700-5308-1583-D3A1E421A58B}"/>
              </a:ext>
            </a:extLst>
          </p:cNvPr>
          <p:cNvSpPr txBox="1">
            <a:spLocks noGrp="1"/>
          </p:cNvSpPr>
          <p:nvPr>
            <p:ph type="title"/>
          </p:nvPr>
        </p:nvSpPr>
        <p:spPr>
          <a:xfrm>
            <a:off x="103188" y="428625"/>
            <a:ext cx="8785225" cy="517525"/>
          </a:xfrm>
        </p:spPr>
        <p:txBody>
          <a:bodyPr lIns="0" tIns="9525" rIns="0" bIns="0" rtlCol="0">
            <a:spAutoFit/>
          </a:bodyPr>
          <a:lstStyle/>
          <a:p>
            <a:pPr marL="9525">
              <a:spcBef>
                <a:spcPts val="75"/>
              </a:spcBef>
              <a:defRPr/>
            </a:pPr>
            <a:r>
              <a:rPr sz="3300" dirty="0"/>
              <a:t>CSS</a:t>
            </a:r>
            <a:r>
              <a:rPr sz="3300" spc="-11" dirty="0"/>
              <a:t> </a:t>
            </a:r>
            <a:r>
              <a:rPr sz="3300" spc="-4" dirty="0"/>
              <a:t>Layout</a:t>
            </a:r>
            <a:r>
              <a:rPr sz="3300" spc="-15" dirty="0"/>
              <a:t> </a:t>
            </a:r>
            <a:r>
              <a:rPr sz="3300" dirty="0"/>
              <a:t>-</a:t>
            </a:r>
            <a:r>
              <a:rPr sz="3300" spc="-15" dirty="0"/>
              <a:t> </a:t>
            </a:r>
            <a:r>
              <a:rPr sz="3300" dirty="0"/>
              <a:t>Flexbox</a:t>
            </a:r>
          </a:p>
        </p:txBody>
      </p:sp>
      <p:sp>
        <p:nvSpPr>
          <p:cNvPr id="5" name="object 5">
            <a:extLst>
              <a:ext uri="{FF2B5EF4-FFF2-40B4-BE49-F238E27FC236}">
                <a16:creationId xmlns:a16="http://schemas.microsoft.com/office/drawing/2014/main" id="{3B67A534-A386-2EF9-A480-1AB3D94770D7}"/>
              </a:ext>
            </a:extLst>
          </p:cNvPr>
          <p:cNvSpPr txBox="1"/>
          <p:nvPr/>
        </p:nvSpPr>
        <p:spPr>
          <a:xfrm>
            <a:off x="390774" y="1278561"/>
            <a:ext cx="8753226" cy="1878078"/>
          </a:xfrm>
          <a:prstGeom prst="rect">
            <a:avLst/>
          </a:prstGeom>
        </p:spPr>
        <p:txBody>
          <a:bodyPr wrap="square" lIns="0" tIns="106680" rIns="0" bIns="0">
            <a:spAutoFit/>
          </a:bodyPr>
          <a:lstStyle>
            <a:lvl1pPr marL="9525">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ts val="838"/>
              </a:spcBef>
            </a:pPr>
            <a:r>
              <a:rPr lang="en-US" altLang="en-US" b="1" dirty="0">
                <a:solidFill>
                  <a:schemeClr val="accent2"/>
                </a:solidFill>
                <a:cs typeface="Arial" panose="020B0604020202020204" pitchFamily="34" charset="0"/>
              </a:rPr>
              <a:t>Flex item - Properties</a:t>
            </a:r>
            <a:endParaRPr lang="en-US" altLang="en-US" dirty="0">
              <a:solidFill>
                <a:schemeClr val="accent2"/>
              </a:solidFill>
              <a:cs typeface="Arial" panose="020B0604020202020204" pitchFamily="34" charset="0"/>
            </a:endParaRPr>
          </a:p>
          <a:p>
            <a:pPr>
              <a:spcBef>
                <a:spcPts val="650"/>
              </a:spcBef>
            </a:pPr>
            <a:r>
              <a:rPr lang="en-US" altLang="en-US" sz="2000" b="1" dirty="0">
                <a:solidFill>
                  <a:schemeClr val="accent2"/>
                </a:solidFill>
                <a:cs typeface="Arial" panose="020B0604020202020204" pitchFamily="34" charset="0"/>
              </a:rPr>
              <a:t>flex-shrink</a:t>
            </a:r>
            <a:endParaRPr lang="en-US" altLang="en-US" sz="2000" dirty="0">
              <a:solidFill>
                <a:schemeClr val="accent2"/>
              </a:solidFill>
              <a:cs typeface="Arial" panose="020B0604020202020204" pitchFamily="34" charset="0"/>
            </a:endParaRPr>
          </a:p>
          <a:p>
            <a:pPr>
              <a:spcBef>
                <a:spcPts val="100"/>
              </a:spcBef>
            </a:pPr>
            <a:r>
              <a:rPr lang="en-US" altLang="en-US" sz="1400" b="1" dirty="0">
                <a:solidFill>
                  <a:srgbClr val="585858"/>
                </a:solidFill>
                <a:cs typeface="Arial" panose="020B0604020202020204" pitchFamily="34" charset="0"/>
              </a:rPr>
              <a:t>Value: </a:t>
            </a:r>
            <a:r>
              <a:rPr lang="en-US" altLang="en-US" sz="1400" i="1" dirty="0">
                <a:solidFill>
                  <a:srgbClr val="585858"/>
                </a:solidFill>
                <a:cs typeface="Arial" panose="020B0604020202020204" pitchFamily="34" charset="0"/>
              </a:rPr>
              <a:t>number </a:t>
            </a:r>
            <a:r>
              <a:rPr lang="en-US" altLang="en-US" sz="1400" b="1" dirty="0">
                <a:solidFill>
                  <a:srgbClr val="585858"/>
                </a:solidFill>
                <a:cs typeface="Arial" panose="020B0604020202020204" pitchFamily="34" charset="0"/>
              </a:rPr>
              <a:t>Default: </a:t>
            </a:r>
            <a:r>
              <a:rPr lang="en-US" altLang="en-US" sz="1400" i="1" dirty="0">
                <a:solidFill>
                  <a:srgbClr val="585858"/>
                </a:solidFill>
                <a:cs typeface="Arial" panose="020B0604020202020204" pitchFamily="34" charset="0"/>
              </a:rPr>
              <a:t>1</a:t>
            </a:r>
            <a:endParaRPr lang="en-US" altLang="en-US" sz="1400" dirty="0">
              <a:cs typeface="Arial" panose="020B0604020202020204" pitchFamily="34" charset="0"/>
            </a:endParaRPr>
          </a:p>
          <a:p>
            <a:pPr>
              <a:spcBef>
                <a:spcPts val="25"/>
              </a:spcBef>
            </a:pPr>
            <a:r>
              <a:rPr lang="en-US" altLang="en-US" sz="1600" dirty="0">
                <a:solidFill>
                  <a:srgbClr val="585858"/>
                </a:solidFill>
                <a:ea typeface="Arial MT"/>
                <a:cs typeface="Arial" panose="020B0604020202020204" pitchFamily="34" charset="0"/>
              </a:rPr>
              <a:t>When flex-shrink is 0, items are not permitted to shrink and may hang out of their containing element.</a:t>
            </a:r>
            <a:endParaRPr lang="en-US" altLang="en-US" sz="1600" dirty="0">
              <a:ea typeface="Arial MT"/>
              <a:cs typeface="Arial" panose="020B0604020202020204" pitchFamily="34" charset="0"/>
            </a:endParaRPr>
          </a:p>
          <a:p>
            <a:pPr>
              <a:lnSpc>
                <a:spcPct val="107000"/>
              </a:lnSpc>
              <a:spcBef>
                <a:spcPts val="250"/>
              </a:spcBef>
            </a:pPr>
            <a:r>
              <a:rPr lang="en-US" altLang="en-US" sz="1600" dirty="0">
                <a:solidFill>
                  <a:srgbClr val="585858"/>
                </a:solidFill>
                <a:ea typeface="Arial MT"/>
                <a:cs typeface="Arial" panose="020B0604020202020204" pitchFamily="34" charset="0"/>
              </a:rPr>
              <a:t>Flex items stop shrinking when they reach their minimum size (defined by min-width/min-height).</a:t>
            </a:r>
            <a:endParaRPr lang="en-US" altLang="en-US" sz="1600" dirty="0">
              <a:ea typeface="Arial MT"/>
              <a:cs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object 2">
            <a:extLst>
              <a:ext uri="{FF2B5EF4-FFF2-40B4-BE49-F238E27FC236}">
                <a16:creationId xmlns:a16="http://schemas.microsoft.com/office/drawing/2014/main" id="{25F77A34-8923-EA9B-FC8C-F6DC3B8CF7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035" y="3106453"/>
            <a:ext cx="5270500" cy="297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ject 3">
            <a:extLst>
              <a:ext uri="{FF2B5EF4-FFF2-40B4-BE49-F238E27FC236}">
                <a16:creationId xmlns:a16="http://schemas.microsoft.com/office/drawing/2014/main" id="{DCCB0273-9169-0FA2-A89C-63E98BED6BAC}"/>
              </a:ext>
            </a:extLst>
          </p:cNvPr>
          <p:cNvSpPr txBox="1">
            <a:spLocks noGrp="1"/>
          </p:cNvSpPr>
          <p:nvPr>
            <p:ph type="title"/>
          </p:nvPr>
        </p:nvSpPr>
        <p:spPr>
          <a:xfrm>
            <a:off x="103188" y="344025"/>
            <a:ext cx="8785225" cy="686726"/>
          </a:xfrm>
        </p:spPr>
        <p:txBody>
          <a:bodyPr lIns="0" tIns="9525" rIns="0" bIns="0" rtlCol="0">
            <a:spAutoFit/>
          </a:bodyPr>
          <a:lstStyle/>
          <a:p>
            <a:pPr marL="9525">
              <a:spcBef>
                <a:spcPts val="75"/>
              </a:spcBef>
              <a:defRPr/>
            </a:pPr>
            <a:r>
              <a:rPr dirty="0"/>
              <a:t>CSS</a:t>
            </a:r>
            <a:r>
              <a:rPr spc="-11" dirty="0"/>
              <a:t> </a:t>
            </a:r>
            <a:r>
              <a:rPr spc="-4" dirty="0"/>
              <a:t>Layout</a:t>
            </a:r>
            <a:r>
              <a:rPr spc="-15" dirty="0"/>
              <a:t> </a:t>
            </a:r>
            <a:r>
              <a:rPr dirty="0"/>
              <a:t>-</a:t>
            </a:r>
            <a:r>
              <a:rPr spc="-15" dirty="0"/>
              <a:t> </a:t>
            </a:r>
            <a:r>
              <a:rPr dirty="0"/>
              <a:t>Flexbox</a:t>
            </a:r>
          </a:p>
        </p:txBody>
      </p:sp>
      <p:sp>
        <p:nvSpPr>
          <p:cNvPr id="5" name="object 5">
            <a:extLst>
              <a:ext uri="{FF2B5EF4-FFF2-40B4-BE49-F238E27FC236}">
                <a16:creationId xmlns:a16="http://schemas.microsoft.com/office/drawing/2014/main" id="{C1FCF6B5-A22C-0966-08AD-BAC55F49DBCB}"/>
              </a:ext>
            </a:extLst>
          </p:cNvPr>
          <p:cNvSpPr txBox="1"/>
          <p:nvPr/>
        </p:nvSpPr>
        <p:spPr>
          <a:xfrm>
            <a:off x="280239" y="1295765"/>
            <a:ext cx="8784975" cy="1810688"/>
          </a:xfrm>
          <a:prstGeom prst="rect">
            <a:avLst/>
          </a:prstGeom>
        </p:spPr>
        <p:txBody>
          <a:bodyPr wrap="square" lIns="0" tIns="106680" rIns="0" bIns="0">
            <a:spAutoFit/>
          </a:bodyPr>
          <a:lstStyle>
            <a:lvl1pPr marL="9525">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ts val="838"/>
              </a:spcBef>
            </a:pPr>
            <a:r>
              <a:rPr lang="en-US" altLang="en-US" sz="2100" b="1" dirty="0">
                <a:solidFill>
                  <a:schemeClr val="accent6">
                    <a:lumMod val="75000"/>
                  </a:schemeClr>
                </a:solidFill>
                <a:cs typeface="Arial" panose="020B0604020202020204" pitchFamily="34" charset="0"/>
              </a:rPr>
              <a:t>Flex item - Properties</a:t>
            </a:r>
            <a:endParaRPr lang="en-US" altLang="en-US" sz="2100" dirty="0">
              <a:solidFill>
                <a:schemeClr val="accent6">
                  <a:lumMod val="75000"/>
                </a:schemeClr>
              </a:solidFill>
              <a:cs typeface="Arial" panose="020B0604020202020204" pitchFamily="34" charset="0"/>
            </a:endParaRPr>
          </a:p>
          <a:p>
            <a:pPr>
              <a:spcBef>
                <a:spcPts val="650"/>
              </a:spcBef>
            </a:pPr>
            <a:r>
              <a:rPr lang="en-US" altLang="en-US" sz="1800" b="1" dirty="0">
                <a:solidFill>
                  <a:schemeClr val="accent6">
                    <a:lumMod val="75000"/>
                  </a:schemeClr>
                </a:solidFill>
                <a:cs typeface="Arial" panose="020B0604020202020204" pitchFamily="34" charset="0"/>
              </a:rPr>
              <a:t>flex-basis</a:t>
            </a:r>
            <a:endParaRPr lang="en-US" altLang="en-US" sz="1800" dirty="0">
              <a:solidFill>
                <a:schemeClr val="accent6">
                  <a:lumMod val="75000"/>
                </a:schemeClr>
              </a:solidFill>
              <a:cs typeface="Arial" panose="020B0604020202020204" pitchFamily="34" charset="0"/>
            </a:endParaRPr>
          </a:p>
          <a:p>
            <a:pPr>
              <a:spcBef>
                <a:spcPts val="100"/>
              </a:spcBef>
            </a:pPr>
            <a:r>
              <a:rPr lang="en-US" altLang="en-US" sz="1600" b="1" dirty="0">
                <a:solidFill>
                  <a:srgbClr val="585858"/>
                </a:solidFill>
                <a:cs typeface="Arial" panose="020B0604020202020204" pitchFamily="34" charset="0"/>
              </a:rPr>
              <a:t>Value: </a:t>
            </a:r>
            <a:r>
              <a:rPr lang="en-US" altLang="en-US" sz="1600" i="1" dirty="0">
                <a:solidFill>
                  <a:srgbClr val="585858"/>
                </a:solidFill>
                <a:cs typeface="Arial" panose="020B0604020202020204" pitchFamily="34" charset="0"/>
              </a:rPr>
              <a:t>length | percentage | content | </a:t>
            </a:r>
            <a:r>
              <a:rPr lang="en-US" altLang="en-US" sz="1600" i="1" dirty="0">
                <a:solidFill>
                  <a:srgbClr val="BB791C"/>
                </a:solidFill>
                <a:cs typeface="Arial" panose="020B0604020202020204" pitchFamily="34" charset="0"/>
              </a:rPr>
              <a:t>auto</a:t>
            </a:r>
            <a:endParaRPr lang="en-US" altLang="en-US" sz="1600" dirty="0">
              <a:cs typeface="Arial" panose="020B0604020202020204" pitchFamily="34" charset="0"/>
            </a:endParaRPr>
          </a:p>
          <a:p>
            <a:endParaRPr lang="en-US" altLang="en-US" sz="1600" dirty="0">
              <a:cs typeface="Arial" panose="020B0604020202020204" pitchFamily="34" charset="0"/>
            </a:endParaRPr>
          </a:p>
          <a:p>
            <a:pPr>
              <a:lnSpc>
                <a:spcPct val="107000"/>
              </a:lnSpc>
            </a:pPr>
            <a:r>
              <a:rPr lang="en-US" altLang="en-US" sz="1600" dirty="0">
                <a:solidFill>
                  <a:srgbClr val="585858"/>
                </a:solidFill>
                <a:ea typeface="Arial MT"/>
                <a:cs typeface="Arial" panose="020B0604020202020204" pitchFamily="34" charset="0"/>
              </a:rPr>
              <a:t>Flex-basis defines the starting size of an item before any wrapping,  growing or shrinking occurs. It may be used instead of the width property (or height for columns) for flex items.</a:t>
            </a:r>
            <a:endParaRPr lang="en-US" altLang="en-US" sz="1600" dirty="0">
              <a:ea typeface="Arial MT"/>
              <a:cs typeface="Arial" panose="020B0604020202020204" pitchFamily="34" charset="0"/>
            </a:endParaRPr>
          </a:p>
        </p:txBody>
      </p:sp>
      <p:sp>
        <p:nvSpPr>
          <p:cNvPr id="6" name="object 6">
            <a:extLst>
              <a:ext uri="{FF2B5EF4-FFF2-40B4-BE49-F238E27FC236}">
                <a16:creationId xmlns:a16="http://schemas.microsoft.com/office/drawing/2014/main" id="{DB947AFB-4624-3776-298E-9AE673191621}"/>
              </a:ext>
            </a:extLst>
          </p:cNvPr>
          <p:cNvSpPr txBox="1"/>
          <p:nvPr/>
        </p:nvSpPr>
        <p:spPr>
          <a:xfrm>
            <a:off x="5868144" y="3933056"/>
            <a:ext cx="3168352" cy="1569052"/>
          </a:xfrm>
          <a:prstGeom prst="rect">
            <a:avLst/>
          </a:prstGeom>
        </p:spPr>
        <p:txBody>
          <a:bodyPr wrap="square" lIns="0" tIns="20479" rIns="0" bIns="0">
            <a:spAutoFit/>
          </a:bodyPr>
          <a:lstStyle>
            <a:lvl1pPr marL="9525">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180975" indent="-171450">
              <a:spcBef>
                <a:spcPts val="163"/>
              </a:spcBef>
              <a:buFont typeface="Arial" panose="020B0604020202020204" pitchFamily="34" charset="0"/>
              <a:buChar char="•"/>
            </a:pPr>
            <a:r>
              <a:rPr lang="en-US" altLang="en-US" sz="1600" dirty="0">
                <a:solidFill>
                  <a:srgbClr val="585858"/>
                </a:solidFill>
                <a:ea typeface="Arial MT"/>
                <a:cs typeface="Arial" panose="020B0604020202020204" pitchFamily="34" charset="0"/>
              </a:rPr>
              <a:t>By default, flex-basis is set to auto (width/height value of item size)</a:t>
            </a:r>
            <a:endParaRPr lang="en-US" altLang="en-US" sz="1600" dirty="0">
              <a:ea typeface="Arial MT"/>
              <a:cs typeface="Arial" panose="020B0604020202020204" pitchFamily="34" charset="0"/>
            </a:endParaRPr>
          </a:p>
          <a:p>
            <a:pPr marL="180975" indent="-171450">
              <a:lnSpc>
                <a:spcPct val="107000"/>
              </a:lnSpc>
              <a:spcBef>
                <a:spcPts val="250"/>
              </a:spcBef>
              <a:buFont typeface="Arial" panose="020B0604020202020204" pitchFamily="34" charset="0"/>
              <a:buChar char="•"/>
            </a:pPr>
            <a:r>
              <a:rPr lang="en-US" altLang="en-US" sz="1600" dirty="0">
                <a:solidFill>
                  <a:srgbClr val="585858"/>
                </a:solidFill>
                <a:ea typeface="Arial MT"/>
                <a:cs typeface="Arial" panose="020B0604020202020204" pitchFamily="34" charset="0"/>
              </a:rPr>
              <a:t>If item’s size is not defined or set to auto – flex-  basis uses the content width.</a:t>
            </a:r>
            <a:endParaRPr lang="en-US" altLang="en-US" sz="1600" dirty="0">
              <a:ea typeface="Arial MT"/>
              <a:cs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88A6D7A-A9B7-60E8-0160-E96F026B0C86}"/>
              </a:ext>
            </a:extLst>
          </p:cNvPr>
          <p:cNvSpPr txBox="1">
            <a:spLocks noGrp="1"/>
          </p:cNvSpPr>
          <p:nvPr>
            <p:ph type="title"/>
          </p:nvPr>
        </p:nvSpPr>
        <p:spPr>
          <a:xfrm>
            <a:off x="103188" y="344025"/>
            <a:ext cx="8785225" cy="686726"/>
          </a:xfrm>
        </p:spPr>
        <p:txBody>
          <a:bodyPr lIns="0" tIns="9525" rIns="0" bIns="0" rtlCol="0">
            <a:spAutoFit/>
          </a:bodyPr>
          <a:lstStyle/>
          <a:p>
            <a:pPr marL="9525">
              <a:spcBef>
                <a:spcPts val="75"/>
              </a:spcBef>
              <a:defRPr/>
            </a:pPr>
            <a:r>
              <a:rPr dirty="0"/>
              <a:t>CSS</a:t>
            </a:r>
            <a:r>
              <a:rPr spc="-11" dirty="0"/>
              <a:t> </a:t>
            </a:r>
            <a:r>
              <a:rPr spc="-4" dirty="0"/>
              <a:t>Layout</a:t>
            </a:r>
            <a:r>
              <a:rPr spc="-15" dirty="0"/>
              <a:t> </a:t>
            </a:r>
            <a:r>
              <a:rPr dirty="0"/>
              <a:t>-</a:t>
            </a:r>
            <a:r>
              <a:rPr spc="-15" dirty="0"/>
              <a:t> </a:t>
            </a:r>
            <a:r>
              <a:rPr dirty="0"/>
              <a:t>Flexbox</a:t>
            </a:r>
          </a:p>
        </p:txBody>
      </p:sp>
      <p:sp>
        <p:nvSpPr>
          <p:cNvPr id="3" name="object 3">
            <a:extLst>
              <a:ext uri="{FF2B5EF4-FFF2-40B4-BE49-F238E27FC236}">
                <a16:creationId xmlns:a16="http://schemas.microsoft.com/office/drawing/2014/main" id="{D80BCE70-624B-DB45-BEE7-8010578D3CCD}"/>
              </a:ext>
            </a:extLst>
          </p:cNvPr>
          <p:cNvSpPr txBox="1"/>
          <p:nvPr/>
        </p:nvSpPr>
        <p:spPr>
          <a:xfrm>
            <a:off x="395536" y="1464886"/>
            <a:ext cx="6598046" cy="1087477"/>
          </a:xfrm>
          <a:prstGeom prst="rect">
            <a:avLst/>
          </a:prstGeom>
        </p:spPr>
        <p:txBody>
          <a:bodyPr wrap="square" lIns="0" tIns="106680" rIns="0" bIns="0">
            <a:spAutoFit/>
          </a:bodyPr>
          <a:lstStyle/>
          <a:p>
            <a:pPr marL="9525">
              <a:spcBef>
                <a:spcPts val="840"/>
              </a:spcBef>
              <a:defRPr/>
            </a:pPr>
            <a:r>
              <a:rPr sz="2100" b="1" spc="-4" dirty="0">
                <a:solidFill>
                  <a:schemeClr val="accent2"/>
                </a:solidFill>
                <a:cs typeface="Arial" panose="020B0604020202020204" pitchFamily="34" charset="0"/>
              </a:rPr>
              <a:t>Flex item</a:t>
            </a:r>
            <a:r>
              <a:rPr sz="2100" b="1" dirty="0">
                <a:solidFill>
                  <a:schemeClr val="accent2"/>
                </a:solidFill>
                <a:cs typeface="Arial" panose="020B0604020202020204" pitchFamily="34" charset="0"/>
              </a:rPr>
              <a:t> </a:t>
            </a:r>
            <a:r>
              <a:rPr sz="2100" b="1" spc="-4" dirty="0">
                <a:solidFill>
                  <a:schemeClr val="accent2"/>
                </a:solidFill>
                <a:cs typeface="Arial" panose="020B0604020202020204" pitchFamily="34" charset="0"/>
              </a:rPr>
              <a:t>-</a:t>
            </a:r>
            <a:r>
              <a:rPr sz="2100" b="1" spc="-15" dirty="0">
                <a:solidFill>
                  <a:schemeClr val="accent2"/>
                </a:solidFill>
                <a:cs typeface="Arial" panose="020B0604020202020204" pitchFamily="34" charset="0"/>
              </a:rPr>
              <a:t> </a:t>
            </a:r>
            <a:r>
              <a:rPr sz="2100" b="1" spc="-8" dirty="0">
                <a:solidFill>
                  <a:schemeClr val="accent2"/>
                </a:solidFill>
                <a:cs typeface="Arial" panose="020B0604020202020204" pitchFamily="34" charset="0"/>
              </a:rPr>
              <a:t>Properties</a:t>
            </a:r>
            <a:endParaRPr sz="2100" dirty="0">
              <a:solidFill>
                <a:schemeClr val="accent2"/>
              </a:solidFill>
              <a:cs typeface="Arial" panose="020B0604020202020204" pitchFamily="34" charset="0"/>
            </a:endParaRPr>
          </a:p>
          <a:p>
            <a:pPr marL="9525">
              <a:spcBef>
                <a:spcPts val="656"/>
              </a:spcBef>
              <a:defRPr/>
            </a:pPr>
            <a:r>
              <a:rPr sz="1800" b="1" dirty="0">
                <a:solidFill>
                  <a:schemeClr val="accent2"/>
                </a:solidFill>
                <a:cs typeface="Arial" panose="020B0604020202020204" pitchFamily="34" charset="0"/>
              </a:rPr>
              <a:t>order</a:t>
            </a:r>
            <a:endParaRPr sz="1800" dirty="0">
              <a:solidFill>
                <a:schemeClr val="accent2"/>
              </a:solidFill>
              <a:cs typeface="Arial" panose="020B0604020202020204" pitchFamily="34" charset="0"/>
            </a:endParaRPr>
          </a:p>
          <a:p>
            <a:pPr marL="352425">
              <a:spcBef>
                <a:spcPts val="105"/>
              </a:spcBef>
              <a:defRPr/>
            </a:pPr>
            <a:r>
              <a:rPr sz="1800" b="1" spc="-15" dirty="0">
                <a:solidFill>
                  <a:srgbClr val="585858"/>
                </a:solidFill>
                <a:cs typeface="Arial" panose="020B0604020202020204" pitchFamily="34" charset="0"/>
              </a:rPr>
              <a:t>Value: </a:t>
            </a:r>
            <a:r>
              <a:rPr sz="1800" i="1" spc="-4" dirty="0">
                <a:solidFill>
                  <a:srgbClr val="585858"/>
                </a:solidFill>
                <a:cs typeface="Arial" panose="020B0604020202020204" pitchFamily="34" charset="0"/>
              </a:rPr>
              <a:t>integer</a:t>
            </a:r>
            <a:endParaRPr sz="1800" dirty="0">
              <a:cs typeface="Arial" panose="020B0604020202020204" pitchFamily="34" charset="0"/>
            </a:endParaRPr>
          </a:p>
        </p:txBody>
      </p:sp>
      <p:sp>
        <p:nvSpPr>
          <p:cNvPr id="5" name="object 5">
            <a:extLst>
              <a:ext uri="{FF2B5EF4-FFF2-40B4-BE49-F238E27FC236}">
                <a16:creationId xmlns:a16="http://schemas.microsoft.com/office/drawing/2014/main" id="{EC9A7A6C-013F-DA0A-C4AB-189B65E842D7}"/>
              </a:ext>
            </a:extLst>
          </p:cNvPr>
          <p:cNvSpPr txBox="1"/>
          <p:nvPr/>
        </p:nvSpPr>
        <p:spPr>
          <a:xfrm>
            <a:off x="304811" y="2676999"/>
            <a:ext cx="8381977" cy="1504001"/>
          </a:xfrm>
          <a:prstGeom prst="rect">
            <a:avLst/>
          </a:prstGeom>
        </p:spPr>
        <p:txBody>
          <a:bodyPr wrap="square" lIns="0" tIns="9525" rIns="0" bIns="0">
            <a:spAutoFit/>
          </a:bodyPr>
          <a:lstStyle>
            <a:lvl1pPr marL="9525">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180975" indent="-171450">
              <a:lnSpc>
                <a:spcPct val="107000"/>
              </a:lnSpc>
              <a:spcBef>
                <a:spcPts val="75"/>
              </a:spcBef>
              <a:buFont typeface="Arial" panose="020B0604020202020204" pitchFamily="34" charset="0"/>
              <a:buChar char="•"/>
            </a:pPr>
            <a:r>
              <a:rPr lang="en-US" altLang="en-US" sz="1800" dirty="0">
                <a:solidFill>
                  <a:srgbClr val="585858"/>
                </a:solidFill>
                <a:ea typeface="Arial MT"/>
                <a:cs typeface="Arial" panose="020B0604020202020204" pitchFamily="34" charset="0"/>
              </a:rPr>
              <a:t>The order property give the ability to display items in an order that is different from the order in the HTML source code.</a:t>
            </a:r>
          </a:p>
          <a:p>
            <a:pPr marL="180975" indent="-171450">
              <a:lnSpc>
                <a:spcPct val="107000"/>
              </a:lnSpc>
              <a:spcBef>
                <a:spcPts val="75"/>
              </a:spcBef>
              <a:buFont typeface="Arial" panose="020B0604020202020204" pitchFamily="34" charset="0"/>
              <a:buChar char="•"/>
            </a:pPr>
            <a:r>
              <a:rPr lang="en-US" altLang="en-US" sz="1800" dirty="0">
                <a:solidFill>
                  <a:srgbClr val="585858"/>
                </a:solidFill>
                <a:ea typeface="Arial MT"/>
                <a:cs typeface="Arial" panose="020B0604020202020204" pitchFamily="34" charset="0"/>
              </a:rPr>
              <a:t>If items have the same order value = laid out in order they appear in code</a:t>
            </a:r>
            <a:endParaRPr lang="en-US" altLang="en-US" sz="1800" dirty="0">
              <a:ea typeface="Arial MT"/>
              <a:cs typeface="Arial" panose="020B0604020202020204" pitchFamily="34" charset="0"/>
            </a:endParaRPr>
          </a:p>
          <a:p>
            <a:pPr marL="180975" indent="-171450">
              <a:spcBef>
                <a:spcPts val="338"/>
              </a:spcBef>
              <a:buFont typeface="Arial" panose="020B0604020202020204" pitchFamily="34" charset="0"/>
              <a:buChar char="•"/>
            </a:pPr>
            <a:r>
              <a:rPr lang="en-US" altLang="en-US" sz="1800" dirty="0">
                <a:solidFill>
                  <a:srgbClr val="585858"/>
                </a:solidFill>
                <a:ea typeface="Arial MT"/>
                <a:cs typeface="Arial" panose="020B0604020202020204" pitchFamily="34" charset="0"/>
              </a:rPr>
              <a:t>If items have different order values = arranged from the lowest order value to highest</a:t>
            </a:r>
            <a:r>
              <a:rPr lang="en-US" altLang="en-US" sz="1400" dirty="0">
                <a:solidFill>
                  <a:srgbClr val="585858"/>
                </a:solidFill>
                <a:ea typeface="Arial MT"/>
                <a:cs typeface="Arial" panose="020B0604020202020204" pitchFamily="34" charset="0"/>
              </a:rPr>
              <a:t>.</a:t>
            </a:r>
            <a:endParaRPr lang="en-US" altLang="en-US" sz="1400" dirty="0">
              <a:ea typeface="Arial MT"/>
              <a:cs typeface="Arial" panose="020B0604020202020204" pitchFamily="34" charset="0"/>
            </a:endParaRPr>
          </a:p>
        </p:txBody>
      </p:sp>
      <p:pic>
        <p:nvPicPr>
          <p:cNvPr id="54277" name="object 6">
            <a:extLst>
              <a:ext uri="{FF2B5EF4-FFF2-40B4-BE49-F238E27FC236}">
                <a16:creationId xmlns:a16="http://schemas.microsoft.com/office/drawing/2014/main" id="{D527EEAD-E429-B4EE-973C-6453B80A37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4198612"/>
            <a:ext cx="5404098" cy="1749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AE2D8-E052-1EBD-9267-81A23115E517}"/>
              </a:ext>
            </a:extLst>
          </p:cNvPr>
          <p:cNvSpPr>
            <a:spLocks noGrp="1"/>
          </p:cNvSpPr>
          <p:nvPr>
            <p:ph type="title"/>
          </p:nvPr>
        </p:nvSpPr>
        <p:spPr/>
        <p:txBody>
          <a:bodyPr/>
          <a:lstStyle/>
          <a:p>
            <a:r>
              <a:rPr lang="en-US" dirty="0"/>
              <a:t>Quiz - 2</a:t>
            </a:r>
            <a:endParaRPr lang="en-GB" dirty="0"/>
          </a:p>
        </p:txBody>
      </p:sp>
      <p:sp>
        <p:nvSpPr>
          <p:cNvPr id="4" name="Rectangle 1">
            <a:extLst>
              <a:ext uri="{FF2B5EF4-FFF2-40B4-BE49-F238E27FC236}">
                <a16:creationId xmlns:a16="http://schemas.microsoft.com/office/drawing/2014/main" id="{231F2998-49A2-5252-63C4-9D597822299D}"/>
              </a:ext>
            </a:extLst>
          </p:cNvPr>
          <p:cNvSpPr>
            <a:spLocks noGrp="1" noChangeArrowheads="1"/>
          </p:cNvSpPr>
          <p:nvPr>
            <p:ph idx="1"/>
          </p:nvPr>
        </p:nvSpPr>
        <p:spPr bwMode="auto">
          <a:xfrm>
            <a:off x="103188" y="1628800"/>
            <a:ext cx="8933680" cy="42473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D0D0D"/>
                </a:solidFill>
                <a:effectLst/>
                <a:cs typeface="Arial" panose="020B0604020202020204" pitchFamily="34" charset="0"/>
              </a:rPr>
              <a:t>1. What is the main idea behind the Flexbox layout?</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A) To provide a method for arranging items in a grid</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B) To offer a one-dimensional layout model for laying out items in rows or columns</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C) To control the background properties of a container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D0D0D"/>
                </a:solidFill>
                <a:effectLst/>
                <a:cs typeface="Arial" panose="020B0604020202020204" pitchFamily="34" charset="0"/>
              </a:rPr>
              <a:t>2. Which CSS property defines a flex container?</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A) </a:t>
            </a:r>
            <a:r>
              <a:rPr kumimoji="0" lang="en-US" altLang="en-US" sz="1800" b="1" i="0" u="none" strike="noStrike" cap="none" normalizeH="0" baseline="0" dirty="0">
                <a:ln>
                  <a:noFill/>
                </a:ln>
                <a:solidFill>
                  <a:srgbClr val="0D0D0D"/>
                </a:solidFill>
                <a:effectLst/>
                <a:cs typeface="Arial" panose="020B0604020202020204" pitchFamily="34" charset="0"/>
              </a:rPr>
              <a:t>display: flex;</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B) </a:t>
            </a:r>
            <a:r>
              <a:rPr kumimoji="0" lang="en-US" altLang="en-US" sz="1800" b="1" i="0" u="none" strike="noStrike" cap="none" normalizeH="0" baseline="0" dirty="0">
                <a:ln>
                  <a:noFill/>
                </a:ln>
                <a:solidFill>
                  <a:srgbClr val="0D0D0D"/>
                </a:solidFill>
                <a:effectLst/>
                <a:cs typeface="Arial" panose="020B0604020202020204" pitchFamily="34" charset="0"/>
              </a:rPr>
              <a:t>flex-direction: row;</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C) </a:t>
            </a:r>
            <a:r>
              <a:rPr kumimoji="0" lang="en-US" altLang="en-US" sz="1800" b="1" i="0" u="none" strike="noStrike" cap="none" normalizeH="0" baseline="0" dirty="0">
                <a:ln>
                  <a:noFill/>
                </a:ln>
                <a:solidFill>
                  <a:srgbClr val="0D0D0D"/>
                </a:solidFill>
                <a:effectLst/>
                <a:cs typeface="Arial" panose="020B0604020202020204" pitchFamily="34" charset="0"/>
              </a:rPr>
              <a:t>flex-wrap: wrap;</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rgbClr val="0D0D0D"/>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D0D0D"/>
                </a:solidFill>
                <a:effectLst/>
                <a:cs typeface="Arial" panose="020B0604020202020204" pitchFamily="34" charset="0"/>
              </a:rPr>
              <a:t>3. How can you align items in the center of a flex container along the cross axis?</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A) </a:t>
            </a:r>
            <a:r>
              <a:rPr kumimoji="0" lang="en-US" altLang="en-US" sz="1800" b="1" i="0" u="none" strike="noStrike" cap="none" normalizeH="0" baseline="0" dirty="0">
                <a:ln>
                  <a:noFill/>
                </a:ln>
                <a:solidFill>
                  <a:srgbClr val="0D0D0D"/>
                </a:solidFill>
                <a:effectLst/>
                <a:cs typeface="Arial" panose="020B0604020202020204" pitchFamily="34" charset="0"/>
              </a:rPr>
              <a:t>justify-content: center;</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B) </a:t>
            </a:r>
            <a:r>
              <a:rPr kumimoji="0" lang="en-US" altLang="en-US" sz="1800" b="1" i="0" u="none" strike="noStrike" cap="none" normalizeH="0" baseline="0" dirty="0">
                <a:ln>
                  <a:noFill/>
                </a:ln>
                <a:solidFill>
                  <a:srgbClr val="0D0D0D"/>
                </a:solidFill>
                <a:effectLst/>
                <a:cs typeface="Arial" panose="020B0604020202020204" pitchFamily="34" charset="0"/>
              </a:rPr>
              <a:t>align-items: center;</a:t>
            </a:r>
            <a:endParaRPr kumimoji="0" lang="en-US" altLang="en-US" sz="18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D0D0D"/>
                </a:solidFill>
                <a:effectLst/>
                <a:cs typeface="Arial" panose="020B0604020202020204" pitchFamily="34" charset="0"/>
              </a:rPr>
              <a:t>C) </a:t>
            </a:r>
            <a:r>
              <a:rPr kumimoji="0" lang="en-US" altLang="en-US" sz="1800" b="1" i="0" u="none" strike="noStrike" cap="none" normalizeH="0" baseline="0" dirty="0">
                <a:ln>
                  <a:noFill/>
                </a:ln>
                <a:solidFill>
                  <a:srgbClr val="0D0D0D"/>
                </a:solidFill>
                <a:effectLst/>
                <a:cs typeface="Arial" panose="020B0604020202020204" pitchFamily="34" charset="0"/>
              </a:rPr>
              <a:t>flex-align: center;</a:t>
            </a:r>
            <a:endParaRPr kumimoji="0" lang="en-US" altLang="en-US" sz="1800" b="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10280144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a:extLst>
              <a:ext uri="{FF2B5EF4-FFF2-40B4-BE49-F238E27FC236}">
                <a16:creationId xmlns:a16="http://schemas.microsoft.com/office/drawing/2014/main" id="{F2114199-0D4E-FD85-5DEB-A37DEEEF71C2}"/>
              </a:ext>
            </a:extLst>
          </p:cNvPr>
          <p:cNvSpPr>
            <a:spLocks noGrp="1" noChangeArrowheads="1"/>
          </p:cNvSpPr>
          <p:nvPr>
            <p:ph type="title"/>
          </p:nvPr>
        </p:nvSpPr>
        <p:spPr/>
        <p:txBody>
          <a:bodyPr/>
          <a:lstStyle/>
          <a:p>
            <a:pPr eaLnBrk="1" hangingPunct="1"/>
            <a:r>
              <a:rPr lang="en-US" altLang="en-US"/>
              <a:t>References</a:t>
            </a:r>
          </a:p>
        </p:txBody>
      </p:sp>
      <p:sp>
        <p:nvSpPr>
          <p:cNvPr id="58371" name="Rectangle 5">
            <a:extLst>
              <a:ext uri="{FF2B5EF4-FFF2-40B4-BE49-F238E27FC236}">
                <a16:creationId xmlns:a16="http://schemas.microsoft.com/office/drawing/2014/main" id="{FF70DCDB-FEE5-25BA-3259-C519134F39B7}"/>
              </a:ext>
            </a:extLst>
          </p:cNvPr>
          <p:cNvSpPr>
            <a:spLocks noGrp="1" noChangeArrowheads="1"/>
          </p:cNvSpPr>
          <p:nvPr>
            <p:ph idx="1"/>
          </p:nvPr>
        </p:nvSpPr>
        <p:spPr>
          <a:xfrm>
            <a:off x="90033" y="1628800"/>
            <a:ext cx="8856663" cy="4319587"/>
          </a:xfrm>
        </p:spPr>
        <p:txBody>
          <a:bodyPr/>
          <a:lstStyle/>
          <a:p>
            <a:pPr marL="636588" indent="-457200">
              <a:lnSpc>
                <a:spcPct val="150000"/>
              </a:lnSpc>
              <a:spcBef>
                <a:spcPts val="75"/>
              </a:spcBef>
              <a:buFont typeface="Arial" panose="020B0604020202020204" pitchFamily="34" charset="0"/>
              <a:buChar char="•"/>
            </a:pPr>
            <a:r>
              <a:rPr lang="en-US" altLang="en-US" sz="1800" i="0" dirty="0">
                <a:latin typeface="Arial" panose="020B0604020202020204" pitchFamily="34" charset="0"/>
                <a:cs typeface="Arial" panose="020B0604020202020204" pitchFamily="34" charset="0"/>
                <a:hlinkClick r:id="rId2"/>
              </a:rPr>
              <a:t>CSSGrid.io </a:t>
            </a:r>
            <a:r>
              <a:rPr lang="en-US" altLang="en-US" sz="1800" i="0" dirty="0">
                <a:solidFill>
                  <a:srgbClr val="111111"/>
                </a:solidFill>
                <a:latin typeface="Arial" panose="020B0604020202020204" pitchFamily="34" charset="0"/>
                <a:cs typeface="Arial" panose="020B0604020202020204" pitchFamily="34" charset="0"/>
              </a:rPr>
              <a:t>- Wes Bos</a:t>
            </a:r>
            <a:endParaRPr lang="en-US" altLang="en-US" sz="1800" i="0" dirty="0">
              <a:latin typeface="Arial" panose="020B0604020202020204" pitchFamily="34" charset="0"/>
              <a:cs typeface="Arial" panose="020B0604020202020204" pitchFamily="34" charset="0"/>
            </a:endParaRPr>
          </a:p>
          <a:p>
            <a:pPr marL="636588" indent="-457200">
              <a:lnSpc>
                <a:spcPct val="150000"/>
              </a:lnSpc>
              <a:buFont typeface="Arial" panose="020B0604020202020204" pitchFamily="34" charset="0"/>
              <a:buChar char="•"/>
            </a:pPr>
            <a:r>
              <a:rPr lang="en-US" altLang="en-US" sz="1800" i="0" dirty="0">
                <a:latin typeface="Arial" panose="020B0604020202020204" pitchFamily="34" charset="0"/>
                <a:cs typeface="Arial" panose="020B0604020202020204" pitchFamily="34" charset="0"/>
                <a:hlinkClick r:id="rId3"/>
              </a:rPr>
              <a:t>A Complete Guide to Grid </a:t>
            </a:r>
            <a:r>
              <a:rPr lang="en-US" altLang="en-US" sz="1800" i="0" dirty="0">
                <a:solidFill>
                  <a:srgbClr val="111111"/>
                </a:solidFill>
                <a:latin typeface="Arial" panose="020B0604020202020204" pitchFamily="34" charset="0"/>
                <a:cs typeface="Arial" panose="020B0604020202020204" pitchFamily="34" charset="0"/>
              </a:rPr>
              <a:t>- CSS Tricks</a:t>
            </a:r>
            <a:endParaRPr lang="en-US" altLang="en-US" sz="1800" i="0" dirty="0">
              <a:latin typeface="Arial" panose="020B0604020202020204" pitchFamily="34" charset="0"/>
              <a:cs typeface="Arial" panose="020B0604020202020204" pitchFamily="34" charset="0"/>
            </a:endParaRPr>
          </a:p>
          <a:p>
            <a:pPr marL="636588" indent="-457200">
              <a:lnSpc>
                <a:spcPct val="150000"/>
              </a:lnSpc>
              <a:buFont typeface="Arial" panose="020B0604020202020204" pitchFamily="34" charset="0"/>
              <a:buChar char="•"/>
            </a:pPr>
            <a:r>
              <a:rPr lang="en-US" altLang="en-US" sz="1800" i="0" dirty="0">
                <a:latin typeface="Arial" panose="020B0604020202020204" pitchFamily="34" charset="0"/>
                <a:cs typeface="Arial" panose="020B0604020202020204" pitchFamily="34" charset="0"/>
                <a:hlinkClick r:id="rId4"/>
              </a:rPr>
              <a:t>Get Ready for CSS Grid Layout </a:t>
            </a:r>
            <a:r>
              <a:rPr lang="en-US" altLang="en-US" sz="1800" i="0" dirty="0">
                <a:solidFill>
                  <a:srgbClr val="111111"/>
                </a:solidFill>
                <a:latin typeface="Arial" panose="020B0604020202020204" pitchFamily="34" charset="0"/>
                <a:cs typeface="Arial" panose="020B0604020202020204" pitchFamily="34" charset="0"/>
              </a:rPr>
              <a:t>- A Book Apart</a:t>
            </a:r>
          </a:p>
          <a:p>
            <a:pPr marL="636588" indent="-457200">
              <a:lnSpc>
                <a:spcPct val="150000"/>
              </a:lnSpc>
              <a:spcBef>
                <a:spcPts val="13"/>
              </a:spcBef>
              <a:buFont typeface="Arial" panose="020B0604020202020204" pitchFamily="34" charset="0"/>
              <a:buChar char="•"/>
            </a:pPr>
            <a:r>
              <a:rPr lang="en-US" altLang="en-US" sz="1800" i="0" dirty="0">
                <a:latin typeface="Arial" panose="020B0604020202020204" pitchFamily="34" charset="0"/>
                <a:cs typeface="Arial" panose="020B0604020202020204" pitchFamily="34" charset="0"/>
                <a:hlinkClick r:id="rId5"/>
              </a:rPr>
              <a:t>11 Things I Learned Reading The CSS Grid	Specification </a:t>
            </a:r>
            <a:r>
              <a:rPr lang="en-US" altLang="en-US" sz="1800" i="0" dirty="0">
                <a:solidFill>
                  <a:srgbClr val="111111"/>
                </a:solidFill>
                <a:latin typeface="Arial" panose="020B0604020202020204" pitchFamily="34" charset="0"/>
                <a:cs typeface="Arial" panose="020B0604020202020204" pitchFamily="34" charset="0"/>
              </a:rPr>
              <a:t>- </a:t>
            </a:r>
            <a:r>
              <a:rPr lang="en-US" altLang="en-US" sz="1800" i="0" dirty="0" err="1">
                <a:solidFill>
                  <a:srgbClr val="111111"/>
                </a:solidFill>
                <a:latin typeface="Arial" panose="020B0604020202020204" pitchFamily="34" charset="0"/>
                <a:cs typeface="Arial" panose="020B0604020202020204" pitchFamily="34" charset="0"/>
              </a:rPr>
              <a:t>Ohans</a:t>
            </a:r>
            <a:r>
              <a:rPr lang="en-US" altLang="en-US" sz="1800" i="0" dirty="0">
                <a:solidFill>
                  <a:srgbClr val="111111"/>
                </a:solidFill>
                <a:latin typeface="Arial" panose="020B0604020202020204" pitchFamily="34" charset="0"/>
                <a:cs typeface="Arial" panose="020B0604020202020204" pitchFamily="34" charset="0"/>
              </a:rPr>
              <a:t> Emmanuel </a:t>
            </a:r>
          </a:p>
          <a:p>
            <a:pPr marL="636588" indent="-457200">
              <a:lnSpc>
                <a:spcPct val="150000"/>
              </a:lnSpc>
              <a:spcBef>
                <a:spcPts val="13"/>
              </a:spcBef>
              <a:buFont typeface="Arial" panose="020B0604020202020204" pitchFamily="34" charset="0"/>
              <a:buChar char="•"/>
            </a:pPr>
            <a:r>
              <a:rPr lang="en-US" altLang="en-US" sz="1800" i="0" dirty="0">
                <a:latin typeface="Arial" panose="020B0604020202020204" pitchFamily="34" charset="0"/>
                <a:cs typeface="Arial" panose="020B0604020202020204" pitchFamily="34" charset="0"/>
              </a:rPr>
              <a:t> </a:t>
            </a:r>
            <a:r>
              <a:rPr lang="en-US" altLang="en-US" sz="1800" i="0" dirty="0">
                <a:latin typeface="Arial" panose="020B0604020202020204" pitchFamily="34" charset="0"/>
                <a:cs typeface="Arial" panose="020B0604020202020204" pitchFamily="34" charset="0"/>
                <a:hlinkClick r:id="rId6"/>
              </a:rPr>
              <a:t>How to recreate Medium’s article layout with CSS Grid </a:t>
            </a:r>
            <a:r>
              <a:rPr lang="en-US" altLang="en-US" sz="1800" i="0" dirty="0">
                <a:solidFill>
                  <a:srgbClr val="111111"/>
                </a:solidFill>
                <a:latin typeface="Arial" panose="020B0604020202020204" pitchFamily="34" charset="0"/>
                <a:cs typeface="Arial" panose="020B0604020202020204" pitchFamily="34" charset="0"/>
              </a:rPr>
              <a:t>- Per Harald </a:t>
            </a:r>
            <a:r>
              <a:rPr lang="en-US" altLang="en-US" sz="1800" i="0" dirty="0" err="1">
                <a:solidFill>
                  <a:srgbClr val="111111"/>
                </a:solidFill>
                <a:latin typeface="Arial" panose="020B0604020202020204" pitchFamily="34" charset="0"/>
                <a:cs typeface="Arial" panose="020B0604020202020204" pitchFamily="34" charset="0"/>
              </a:rPr>
              <a:t>Borgen</a:t>
            </a:r>
            <a:endParaRPr lang="en-US" altLang="en-US" sz="1800" i="0" dirty="0">
              <a:solidFill>
                <a:srgbClr val="111111"/>
              </a:solidFill>
              <a:latin typeface="Arial" panose="020B0604020202020204" pitchFamily="34" charset="0"/>
              <a:cs typeface="Arial" panose="020B0604020202020204" pitchFamily="34" charset="0"/>
            </a:endParaRPr>
          </a:p>
          <a:p>
            <a:pPr marL="636588" indent="-457200">
              <a:lnSpc>
                <a:spcPct val="150000"/>
              </a:lnSpc>
              <a:spcBef>
                <a:spcPts val="13"/>
              </a:spcBef>
              <a:buFont typeface="Arial" panose="020B0604020202020204" pitchFamily="34" charset="0"/>
              <a:buChar char="•"/>
            </a:pPr>
            <a:r>
              <a:rPr lang="en-US" altLang="en-US" sz="1800" i="0" dirty="0">
                <a:latin typeface="Arial" panose="020B0604020202020204" pitchFamily="34" charset="0"/>
                <a:cs typeface="Arial" panose="020B0604020202020204" pitchFamily="34" charset="0"/>
                <a:hlinkClick r:id="rId7"/>
              </a:rPr>
              <a:t>CSS Grid Spec </a:t>
            </a:r>
            <a:r>
              <a:rPr lang="en-US" altLang="en-US" sz="1800" i="0" dirty="0">
                <a:solidFill>
                  <a:srgbClr val="111111"/>
                </a:solidFill>
                <a:latin typeface="Arial" panose="020B0604020202020204" pitchFamily="34" charset="0"/>
                <a:cs typeface="Arial" panose="020B0604020202020204" pitchFamily="34" charset="0"/>
              </a:rPr>
              <a:t>- W3C</a:t>
            </a:r>
            <a:endParaRPr lang="en-US" altLang="en-US" sz="1800" i="0" dirty="0">
              <a:latin typeface="Arial" panose="020B0604020202020204" pitchFamily="34" charset="0"/>
              <a:cs typeface="Arial" panose="020B0604020202020204" pitchFamily="34" charset="0"/>
            </a:endParaRPr>
          </a:p>
          <a:p>
            <a:pPr marL="636588" indent="-457200">
              <a:lnSpc>
                <a:spcPct val="150000"/>
              </a:lnSpc>
              <a:buFont typeface="Arial" panose="020B0604020202020204" pitchFamily="34" charset="0"/>
              <a:buChar char="•"/>
            </a:pPr>
            <a:r>
              <a:rPr lang="en-US" altLang="en-US" sz="1800" i="0" dirty="0">
                <a:latin typeface="Arial" panose="020B0604020202020204" pitchFamily="34" charset="0"/>
                <a:cs typeface="Arial" panose="020B0604020202020204" pitchFamily="34" charset="0"/>
                <a:hlinkClick r:id="rId8"/>
              </a:rPr>
              <a:t>Firefox Developer Edition</a:t>
            </a:r>
          </a:p>
          <a:p>
            <a:pPr marL="636588" indent="-457200">
              <a:lnSpc>
                <a:spcPct val="150000"/>
              </a:lnSpc>
              <a:buFont typeface="Arial" panose="020B0604020202020204" pitchFamily="34" charset="0"/>
              <a:buChar char="•"/>
            </a:pPr>
            <a:r>
              <a:rPr lang="en-US" altLang="en-US" sz="1800" i="0" dirty="0">
                <a:latin typeface="Arial" panose="020B0604020202020204" pitchFamily="34" charset="0"/>
                <a:cs typeface="Arial" panose="020B0604020202020204" pitchFamily="34" charset="0"/>
                <a:hlinkClick r:id="rId8"/>
              </a:rPr>
              <a:t>https://css-tricks.com/snippets/css/a-guide-to-flexbox/  </a:t>
            </a:r>
          </a:p>
          <a:p>
            <a:pPr marL="636588" indent="-457200">
              <a:lnSpc>
                <a:spcPct val="150000"/>
              </a:lnSpc>
              <a:buFont typeface="Arial" panose="020B0604020202020204" pitchFamily="34" charset="0"/>
              <a:buChar char="•"/>
            </a:pPr>
            <a:r>
              <a:rPr lang="en-US" altLang="en-US" sz="1800" i="0" dirty="0">
                <a:latin typeface="Arial" panose="020B0604020202020204" pitchFamily="34" charset="0"/>
                <a:cs typeface="Arial" panose="020B0604020202020204" pitchFamily="34" charset="0"/>
                <a:hlinkClick r:id="rId8"/>
              </a:rPr>
              <a:t>https://css-tricks.com/things-ive-learned-css-grid-layout/</a:t>
            </a:r>
          </a:p>
          <a:p>
            <a:pPr marL="636588" indent="-457200">
              <a:lnSpc>
                <a:spcPct val="150000"/>
              </a:lnSpc>
              <a:buFont typeface="Arial" panose="020B0604020202020204" pitchFamily="34" charset="0"/>
              <a:buChar char="•"/>
            </a:pPr>
            <a:endParaRPr lang="en-US" altLang="en-US" sz="1800" dirty="0">
              <a:hlinkClick r:id="rId8"/>
            </a:endParaRPr>
          </a:p>
          <a:p>
            <a:pPr lvl="1" eaLnBrk="1" hangingPunct="1">
              <a:lnSpc>
                <a:spcPct val="150000"/>
              </a:lnSpc>
            </a:pPr>
            <a:endParaRPr lang="en-US" altLang="en-US" sz="1800" dirty="0">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36F5535D-372A-974C-9AE0-CA0EE6099822}"/>
              </a:ext>
            </a:extLst>
          </p:cNvPr>
          <p:cNvSpPr>
            <a:spLocks noGrp="1" noChangeArrowheads="1"/>
          </p:cNvSpPr>
          <p:nvPr>
            <p:ph type="ctrTitle"/>
          </p:nvPr>
        </p:nvSpPr>
        <p:spPr>
          <a:xfrm>
            <a:off x="685800" y="2286000"/>
            <a:ext cx="7772400" cy="1143000"/>
          </a:xfrm>
        </p:spPr>
        <p:txBody>
          <a:bodyPr/>
          <a:lstStyle/>
          <a:p>
            <a:pPr eaLnBrk="1" hangingPunct="1"/>
            <a:r>
              <a:rPr lang="en-GB" altLang="en-US" dirty="0"/>
              <a:t>Topic 5 – CSS Flexbox and Grid Layout</a:t>
            </a:r>
          </a:p>
        </p:txBody>
      </p:sp>
      <p:sp>
        <p:nvSpPr>
          <p:cNvPr id="59395" name="Rectangle 3">
            <a:extLst>
              <a:ext uri="{FF2B5EF4-FFF2-40B4-BE49-F238E27FC236}">
                <a16:creationId xmlns:a16="http://schemas.microsoft.com/office/drawing/2014/main" id="{6DDF6B08-E643-CE49-4891-43FDDAC1E163}"/>
              </a:ext>
            </a:extLst>
          </p:cNvPr>
          <p:cNvSpPr>
            <a:spLocks noGrp="1" noChangeArrowheads="1"/>
          </p:cNvSpPr>
          <p:nvPr>
            <p:ph type="subTitle" idx="1"/>
          </p:nvPr>
        </p:nvSpPr>
        <p:spPr/>
        <p:txBody>
          <a:bodyPr/>
          <a:lstStyle/>
          <a:p>
            <a:pPr eaLnBrk="1" hangingPunct="1"/>
            <a:r>
              <a:rPr lang="en-GB" altLang="en-US"/>
              <a:t>Any Questions?</a:t>
            </a:r>
          </a:p>
          <a:p>
            <a:pPr eaLnBrk="1" hangingPunct="1"/>
            <a:endParaRPr lang="en-GB" altLang="en-US"/>
          </a:p>
        </p:txBody>
      </p:sp>
    </p:spTree>
  </p:cSld>
  <p:clrMapOvr>
    <a:masterClrMapping/>
  </p:clrMapOvr>
</p:sld>
</file>

<file path=ppt/theme/theme1.xml><?xml version="1.0" encoding="utf-8"?>
<a:theme xmlns:a="http://schemas.openxmlformats.org/drawingml/2006/main" name="Blank Presentation">
  <a:themeElements>
    <a:clrScheme name="Custom 11">
      <a:dk1>
        <a:srgbClr val="000000"/>
      </a:dk1>
      <a:lt1>
        <a:srgbClr val="FFFFFF"/>
      </a:lt1>
      <a:dk2>
        <a:srgbClr val="000000"/>
      </a:dk2>
      <a:lt2>
        <a:srgbClr val="3F3F3F"/>
      </a:lt2>
      <a:accent1>
        <a:srgbClr val="212167"/>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ill Sans"/>
        <a:ea typeface="ＭＳ Ｐゴシック"/>
        <a:cs typeface=""/>
      </a:majorFont>
      <a:minorFont>
        <a:latin typeface="Gill San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32"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32"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st 2">
  <a:themeElements>
    <a:clrScheme name="test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est 2">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32"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32" charset="-128"/>
          </a:defRPr>
        </a:defPPr>
      </a:lstStyle>
    </a:lnDef>
  </a:objectDefaults>
  <a:extraClrSchemeLst>
    <a:extraClrScheme>
      <a:clrScheme name="test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test 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test 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test 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test 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test 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test 2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test 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test 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test 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test 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test 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04219901A04064790C94E9A9AE89D33" ma:contentTypeVersion="0" ma:contentTypeDescription="Create a new document." ma:contentTypeScope="" ma:versionID="eacdb1d6c144f2184e6157b4238170fc">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F7D15A-AA55-4C13-8168-F3171D50F6E9}">
  <ds:schemaRefs>
    <ds:schemaRef ds:uri="http://schemas.microsoft.com/office/2006/metadata/properties"/>
    <ds:schemaRef ds:uri="http://purl.org/dc/elements/1.1/"/>
    <ds:schemaRef ds:uri="bdeceafc-5c0f-406d-b95f-35e6593d664b"/>
    <ds:schemaRef ds:uri="http://purl.org/dc/terms/"/>
    <ds:schemaRef ds:uri="http://schemas.openxmlformats.org/package/2006/metadata/core-properties"/>
    <ds:schemaRef ds:uri="http://schemas.microsoft.com/office/2006/documentManagement/types"/>
    <ds:schemaRef ds:uri="http://www.w3.org/XML/1998/namespace"/>
    <ds:schemaRef ds:uri="http://schemas.microsoft.com/office/infopath/2007/PartnerControls"/>
    <ds:schemaRef ds:uri="dbeaa6b5-7a21-43b8-ab59-31e7cbf2c187"/>
    <ds:schemaRef ds:uri="http://purl.org/dc/dcmitype/"/>
  </ds:schemaRefs>
</ds:datastoreItem>
</file>

<file path=customXml/itemProps2.xml><?xml version="1.0" encoding="utf-8"?>
<ds:datastoreItem xmlns:ds="http://schemas.openxmlformats.org/officeDocument/2006/customXml" ds:itemID="{ECE04B11-C029-4A4B-AA6A-73246B1B825D}">
  <ds:schemaRefs>
    <ds:schemaRef ds:uri="http://schemas.microsoft.com/sharepoint/v3/contenttype/forms"/>
  </ds:schemaRefs>
</ds:datastoreItem>
</file>

<file path=customXml/itemProps3.xml><?xml version="1.0" encoding="utf-8"?>
<ds:datastoreItem xmlns:ds="http://schemas.openxmlformats.org/officeDocument/2006/customXml" ds:itemID="{EE291D43-AB4A-4969-A877-EEC1E6C7D3B8}"/>
</file>

<file path=docProps/app.xml><?xml version="1.0" encoding="utf-8"?>
<Properties xmlns="http://schemas.openxmlformats.org/officeDocument/2006/extended-properties" xmlns:vt="http://schemas.openxmlformats.org/officeDocument/2006/docPropsVTypes">
  <Template>Eric:Users:Eric:Desktop:test 2.ppt</Template>
  <TotalTime>571</TotalTime>
  <Words>2086</Words>
  <Application>Microsoft Office PowerPoint</Application>
  <PresentationFormat>On-screen Show (4:3)</PresentationFormat>
  <Paragraphs>327</Paragraphs>
  <Slides>44</Slides>
  <Notes>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44</vt:i4>
      </vt:variant>
    </vt:vector>
  </HeadingPairs>
  <TitlesOfParts>
    <vt:vector size="51" baseType="lpstr">
      <vt:lpstr>Arial MT</vt:lpstr>
      <vt:lpstr>Gill Sans</vt:lpstr>
      <vt:lpstr>Arial</vt:lpstr>
      <vt:lpstr>Corbel</vt:lpstr>
      <vt:lpstr>Times New Roman</vt:lpstr>
      <vt:lpstr>Blank Presentation</vt:lpstr>
      <vt:lpstr>test 2</vt:lpstr>
      <vt:lpstr>PowerPoint Presentation</vt:lpstr>
      <vt:lpstr>Scope and Coverage</vt:lpstr>
      <vt:lpstr>Learning Outcomes</vt:lpstr>
      <vt:lpstr>Unit Roadmap</vt:lpstr>
      <vt:lpstr>Css grid layout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GRID Template Columns</vt:lpstr>
      <vt:lpstr>GRID Template Rows</vt:lpstr>
      <vt:lpstr>GRID Row-Column Gap</vt:lpstr>
      <vt:lpstr>GRID Gap</vt:lpstr>
      <vt:lpstr>GRID Template Area</vt:lpstr>
      <vt:lpstr>FRACTIONAL (FR) Units</vt:lpstr>
      <vt:lpstr>REPEAT() Notation</vt:lpstr>
      <vt:lpstr>GRID Column Start and Column End</vt:lpstr>
      <vt:lpstr>GRID Row Start and End</vt:lpstr>
      <vt:lpstr>Quiz - 1</vt:lpstr>
      <vt:lpstr>Placing Grid Items</vt:lpstr>
      <vt:lpstr>Building A Layout</vt:lpstr>
      <vt:lpstr>PowerPoint Presentation</vt:lpstr>
      <vt:lpstr>PowerPoint Presentation</vt:lpstr>
      <vt:lpstr>CSS flexbox layout</vt:lpstr>
      <vt:lpstr>Flexbox Layout</vt:lpstr>
      <vt:lpstr>CSS Layout - Flexbox</vt:lpstr>
      <vt:lpstr>CSS Layout - Flexbox</vt:lpstr>
      <vt:lpstr>CSS Layout - Flexbox</vt:lpstr>
      <vt:lpstr>CSS Layout - Flexbox</vt:lpstr>
      <vt:lpstr>CSS Layout - Flexbox</vt:lpstr>
      <vt:lpstr>CSS Layout - Flexbox</vt:lpstr>
      <vt:lpstr>CSS Layout - Flexbox</vt:lpstr>
      <vt:lpstr>CSS Layout - Flexbox</vt:lpstr>
      <vt:lpstr>CSS Layout - Flexbox</vt:lpstr>
      <vt:lpstr>CSS Layout - Flexbox</vt:lpstr>
      <vt:lpstr>CSS Layout - Flexbox</vt:lpstr>
      <vt:lpstr>CSS Layout - Flexbox</vt:lpstr>
      <vt:lpstr>CSS Layout - Flexbox</vt:lpstr>
      <vt:lpstr>Quiz - 2</vt:lpstr>
      <vt:lpstr>References</vt:lpstr>
      <vt:lpstr>Topic 5 – CSS Flexbox and Grid Layout</vt:lpstr>
    </vt:vector>
  </TitlesOfParts>
  <Company>True Creative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Eric Riley</dc:creator>
  <cp:lastModifiedBy>Liew Pei Ling</cp:lastModifiedBy>
  <cp:revision>92</cp:revision>
  <dcterms:created xsi:type="dcterms:W3CDTF">2008-01-18T13:21:43Z</dcterms:created>
  <dcterms:modified xsi:type="dcterms:W3CDTF">2024-03-07T06:57:17Z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0x010100104219901A04064790C94E9A9AE89D33</vt:lpwstr>
  </property>
</Properties>
</file>