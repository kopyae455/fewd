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56"/>
  </p:notesMasterIdLst>
  <p:handoutMasterIdLst>
    <p:handoutMasterId r:id="rId57"/>
  </p:handoutMasterIdLst>
  <p:sldIdLst>
    <p:sldId id="261" r:id="rId6"/>
    <p:sldId id="263" r:id="rId7"/>
    <p:sldId id="264" r:id="rId8"/>
    <p:sldId id="343" r:id="rId9"/>
    <p:sldId id="344" r:id="rId10"/>
    <p:sldId id="266" r:id="rId11"/>
    <p:sldId id="275" r:id="rId12"/>
    <p:sldId id="277" r:id="rId13"/>
    <p:sldId id="278" r:id="rId14"/>
    <p:sldId id="280" r:id="rId15"/>
    <p:sldId id="281" r:id="rId16"/>
    <p:sldId id="282" r:id="rId17"/>
    <p:sldId id="284" r:id="rId18"/>
    <p:sldId id="283" r:id="rId19"/>
    <p:sldId id="285" r:id="rId20"/>
    <p:sldId id="346" r:id="rId21"/>
    <p:sldId id="286" r:id="rId22"/>
    <p:sldId id="287" r:id="rId23"/>
    <p:sldId id="345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347" r:id="rId34"/>
    <p:sldId id="298" r:id="rId35"/>
    <p:sldId id="299" r:id="rId36"/>
    <p:sldId id="300" r:id="rId37"/>
    <p:sldId id="301" r:id="rId38"/>
    <p:sldId id="348" r:id="rId39"/>
    <p:sldId id="302" r:id="rId40"/>
    <p:sldId id="304" r:id="rId41"/>
    <p:sldId id="303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49" r:id="rId50"/>
    <p:sldId id="350" r:id="rId51"/>
    <p:sldId id="351" r:id="rId52"/>
    <p:sldId id="352" r:id="rId53"/>
    <p:sldId id="353" r:id="rId54"/>
    <p:sldId id="262" r:id="rId5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12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08BE47-4677-4BDD-9F78-0B49376BFAA7}" v="14" dt="2024-03-07T05:36:26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1" autoAdjust="0"/>
    <p:restoredTop sz="93792" autoAdjust="0"/>
  </p:normalViewPr>
  <p:slideViewPr>
    <p:cSldViewPr>
      <p:cViewPr varScale="1">
        <p:scale>
          <a:sx n="62" d="100"/>
          <a:sy n="62" d="100"/>
        </p:scale>
        <p:origin x="852" y="56"/>
      </p:cViewPr>
      <p:guideLst>
        <p:guide orient="horz" pos="2160"/>
        <p:guide pos="3840"/>
        <p:guide pos="1280"/>
      </p:guideLst>
    </p:cSldViewPr>
  </p:slideViewPr>
  <p:outlineViewPr>
    <p:cViewPr>
      <p:scale>
        <a:sx n="33" d="100"/>
        <a:sy n="33" d="100"/>
      </p:scale>
      <p:origin x="0" y="-23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A208BE47-4677-4BDD-9F78-0B49376BFAA7}"/>
    <pc:docChg chg="custSel addSld modSld">
      <pc:chgData name="Liew Pei Ling" userId="c3090c8e-0726-43ba-95b9-123e980a216d" providerId="ADAL" clId="{A208BE47-4677-4BDD-9F78-0B49376BFAA7}" dt="2024-03-07T05:36:51.909" v="47" actId="20577"/>
      <pc:docMkLst>
        <pc:docMk/>
      </pc:docMkLst>
      <pc:sldChg chg="addSp delSp modSp mod">
        <pc:chgData name="Liew Pei Ling" userId="c3090c8e-0726-43ba-95b9-123e980a216d" providerId="ADAL" clId="{A208BE47-4677-4BDD-9F78-0B49376BFAA7}" dt="2024-03-04T09:50:54.995" v="8" actId="14100"/>
        <pc:sldMkLst>
          <pc:docMk/>
          <pc:sldMk cId="0" sldId="287"/>
        </pc:sldMkLst>
        <pc:spChg chg="add del mod">
          <ac:chgData name="Liew Pei Ling" userId="c3090c8e-0726-43ba-95b9-123e980a216d" providerId="ADAL" clId="{A208BE47-4677-4BDD-9F78-0B49376BFAA7}" dt="2024-03-04T09:50:50.352" v="7" actId="478"/>
          <ac:spMkLst>
            <pc:docMk/>
            <pc:sldMk cId="0" sldId="287"/>
            <ac:spMk id="2" creationId="{92B21ACF-149A-AAE9-1B5D-0D5CBF8D4B80}"/>
          </ac:spMkLst>
        </pc:spChg>
        <pc:spChg chg="mod">
          <ac:chgData name="Liew Pei Ling" userId="c3090c8e-0726-43ba-95b9-123e980a216d" providerId="ADAL" clId="{A208BE47-4677-4BDD-9F78-0B49376BFAA7}" dt="2024-03-04T09:50:54.995" v="8" actId="14100"/>
          <ac:spMkLst>
            <pc:docMk/>
            <pc:sldMk cId="0" sldId="287"/>
            <ac:spMk id="3" creationId="{0E9C472F-340F-A52F-7F16-721164138057}"/>
          </ac:spMkLst>
        </pc:spChg>
      </pc:sldChg>
      <pc:sldChg chg="modSp mod">
        <pc:chgData name="Liew Pei Ling" userId="c3090c8e-0726-43ba-95b9-123e980a216d" providerId="ADAL" clId="{A208BE47-4677-4BDD-9F78-0B49376BFAA7}" dt="2024-03-07T05:36:51.909" v="47" actId="20577"/>
        <pc:sldMkLst>
          <pc:docMk/>
          <pc:sldMk cId="0" sldId="343"/>
        </pc:sldMkLst>
        <pc:graphicFrameChg chg="mod modGraphic">
          <ac:chgData name="Liew Pei Ling" userId="c3090c8e-0726-43ba-95b9-123e980a216d" providerId="ADAL" clId="{A208BE47-4677-4BDD-9F78-0B49376BFAA7}" dt="2024-03-07T05:36:51.909" v="47" actId="20577"/>
          <ac:graphicFrameMkLst>
            <pc:docMk/>
            <pc:sldMk cId="0" sldId="343"/>
            <ac:graphicFrameMk id="4" creationId="{1414E44E-D60E-B0AA-BD17-48602F22E20B}"/>
          </ac:graphicFrameMkLst>
        </pc:graphicFrameChg>
      </pc:sldChg>
      <pc:sldChg chg="modSp add mod">
        <pc:chgData name="Liew Pei Ling" userId="c3090c8e-0726-43ba-95b9-123e980a216d" providerId="ADAL" clId="{A208BE47-4677-4BDD-9F78-0B49376BFAA7}" dt="2024-03-04T09:55:20.550" v="13" actId="1076"/>
        <pc:sldMkLst>
          <pc:docMk/>
          <pc:sldMk cId="3227620165" sldId="350"/>
        </pc:sldMkLst>
        <pc:spChg chg="mod">
          <ac:chgData name="Liew Pei Ling" userId="c3090c8e-0726-43ba-95b9-123e980a216d" providerId="ADAL" clId="{A208BE47-4677-4BDD-9F78-0B49376BFAA7}" dt="2024-03-04T09:55:20.550" v="13" actId="1076"/>
          <ac:spMkLst>
            <pc:docMk/>
            <pc:sldMk cId="3227620165" sldId="350"/>
            <ac:spMk id="4" creationId="{5C44A190-2A76-0463-A060-FE5E45A20BB6}"/>
          </ac:spMkLst>
        </pc:spChg>
      </pc:sldChg>
      <pc:sldChg chg="modSp add mod">
        <pc:chgData name="Liew Pei Ling" userId="c3090c8e-0726-43ba-95b9-123e980a216d" providerId="ADAL" clId="{A208BE47-4677-4BDD-9F78-0B49376BFAA7}" dt="2024-03-04T09:56:02.011" v="24" actId="6549"/>
        <pc:sldMkLst>
          <pc:docMk/>
          <pc:sldMk cId="153038911" sldId="351"/>
        </pc:sldMkLst>
        <pc:spChg chg="mod">
          <ac:chgData name="Liew Pei Ling" userId="c3090c8e-0726-43ba-95b9-123e980a216d" providerId="ADAL" clId="{A208BE47-4677-4BDD-9F78-0B49376BFAA7}" dt="2024-03-04T09:56:02.011" v="24" actId="6549"/>
          <ac:spMkLst>
            <pc:docMk/>
            <pc:sldMk cId="153038911" sldId="351"/>
            <ac:spMk id="4" creationId="{C7113298-AE9F-6D85-EC52-B7ACCA751E4F}"/>
          </ac:spMkLst>
        </pc:spChg>
      </pc:sldChg>
      <pc:sldChg chg="modSp add mod">
        <pc:chgData name="Liew Pei Ling" userId="c3090c8e-0726-43ba-95b9-123e980a216d" providerId="ADAL" clId="{A208BE47-4677-4BDD-9F78-0B49376BFAA7}" dt="2024-03-04T09:56:19.353" v="27" actId="1076"/>
        <pc:sldMkLst>
          <pc:docMk/>
          <pc:sldMk cId="602343833" sldId="352"/>
        </pc:sldMkLst>
        <pc:spChg chg="mod">
          <ac:chgData name="Liew Pei Ling" userId="c3090c8e-0726-43ba-95b9-123e980a216d" providerId="ADAL" clId="{A208BE47-4677-4BDD-9F78-0B49376BFAA7}" dt="2024-03-04T09:56:19.353" v="27" actId="1076"/>
          <ac:spMkLst>
            <pc:docMk/>
            <pc:sldMk cId="602343833" sldId="352"/>
            <ac:spMk id="4" creationId="{DB0432CB-3C5E-79EF-49B9-921A8729B870}"/>
          </ac:spMkLst>
        </pc:spChg>
      </pc:sldChg>
      <pc:sldChg chg="modSp add mod">
        <pc:chgData name="Liew Pei Ling" userId="c3090c8e-0726-43ba-95b9-123e980a216d" providerId="ADAL" clId="{A208BE47-4677-4BDD-9F78-0B49376BFAA7}" dt="2024-03-04T09:56:49.633" v="30" actId="20577"/>
        <pc:sldMkLst>
          <pc:docMk/>
          <pc:sldMk cId="3845751433" sldId="353"/>
        </pc:sldMkLst>
        <pc:spChg chg="mod">
          <ac:chgData name="Liew Pei Ling" userId="c3090c8e-0726-43ba-95b9-123e980a216d" providerId="ADAL" clId="{A208BE47-4677-4BDD-9F78-0B49376BFAA7}" dt="2024-03-04T09:56:49.633" v="30" actId="20577"/>
          <ac:spMkLst>
            <pc:docMk/>
            <pc:sldMk cId="3845751433" sldId="353"/>
            <ac:spMk id="3" creationId="{B406AE4B-7524-755F-9AEB-63F88B7887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C1FD794-3CC8-4AED-2583-B9CE13A003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BE0FC52-BF8E-2980-944E-D4312E3939D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FE212753-8992-0884-CF2E-040F8EDC5C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A304680-D975-6C2E-0DEF-9AD2208D1A7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CEBF9A2A-77FC-4176-90BB-B8EC443471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C80EEDA-2D4E-870B-C267-D1F2C2CE76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C287BD6-7359-FAAD-0E34-F0AE0E91F03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24390E9-914D-A3C7-5F54-D79E0A153F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66B4B24-066F-9722-BDF7-286168CC6B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30221CA-A2B1-541F-20D2-F1A52A21D4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7CFAE36-6F99-B2BC-FF20-911AB9FE3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47207C-CCEE-4E0A-A862-E1B22B974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FBE5253-8E56-877C-E77B-37115EE76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346786-174B-4E79-83B5-4D58D001E6D6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38A4443-AEFD-19BC-C206-31328F6D2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4F186B3-0473-ECA2-1F6E-6C438226C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97D8445B-C2FD-420F-766E-9E3853C33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81A512-C31A-45C9-99D7-DA0235E81B24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A2CD0DF9-7F6E-1784-5B14-7A67F94643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EB5A1C3-D844-73B7-0CFF-A3F803814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7207C-CCEE-4E0A-A862-E1B22B9747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45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&lt;html&gt;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D)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It declares the document type and version of HTML.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9EA63E-9209-48B4-9182-7DF0416E5DAD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481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B) &lt;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em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To add a line break within a text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&lt;q&gt;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9EA63E-9209-48B4-9182-7DF0416E5DAD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67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C) To collect user inputs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method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&lt;input type="submit"&gt;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9EA63E-9209-48B4-9182-7DF0416E5DAD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784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97B507F-8BF8-C6BA-32DA-25A006EF9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5C72FC4-CE8A-420A-AF31-A889E9C0C83B}" type="slidenum">
              <a:rPr lang="en-US" altLang="en-US" sz="1200" smtClean="0"/>
              <a:pPr/>
              <a:t>50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AAE688E-5861-AC79-3B84-168C395EA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45A6DC8-A788-A18F-C50A-8D38B8A95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8A8CA630-D42B-EC9B-E7AD-D1384FE6A7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918700" y="6616700"/>
            <a:ext cx="1741488" cy="242888"/>
            <a:chOff x="4513" y="4156"/>
            <a:chExt cx="823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2CF4E7FF-44B3-9AED-81EE-A2C65E9EDA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3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EC406A9F-0825-B9AB-1675-EAD70D06380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713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13F9881A-C6E1-6CF1-B068-5AC2E3BBCF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96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926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16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933" y="1845718"/>
            <a:ext cx="5801784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18" y="1845718"/>
            <a:ext cx="5803900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74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071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52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16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844824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844825"/>
            <a:ext cx="6815667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3019277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79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261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22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00067" y="404813"/>
            <a:ext cx="2952751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584" y="404813"/>
            <a:ext cx="8659283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916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7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E8D4964C-DFA5-D234-2FF7-320D9713C39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EEF9E4EE-B1B1-7184-030F-4E0463D29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8113" y="115888"/>
            <a:ext cx="117125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A68A725D-817E-954A-F3A6-273B4427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13738" y="0"/>
            <a:ext cx="3878262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Introduction to HTML 5 Topic 2 - 2.</a:t>
            </a:r>
            <a:fld id="{D39A62EA-F492-4281-86B8-C9A7FF1749C3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7FB04FED-B12E-9695-9F1C-179C65A73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1846263"/>
            <a:ext cx="11807825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3E0EE2F1-7BF2-5219-115C-3DBAC6EE30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5E0A98C1-82DB-5E7D-D864-356B729C0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798763"/>
            <a:ext cx="7315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ED7D8716-5110-E52D-48CE-4E2A3C5FB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46338" y="3794125"/>
            <a:ext cx="7315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Learn/HTML/Introduction_to_HTML/Getting_started" TargetMode="External"/><Relationship Id="rId2" Type="http://schemas.openxmlformats.org/officeDocument/2006/relationships/hyperlink" Target="https://developer.mozilla.org/en-US/docs/Learn/HTML/Introduction_to_HTM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681DEF48-EFA0-55F8-0D14-2C3D8B16A78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4367213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3200" b="1" i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3200" b="1" i="0">
                <a:solidFill>
                  <a:schemeClr val="bg1"/>
                </a:solidFill>
                <a:latin typeface="Arial" panose="020B0604020202020204" pitchFamily="34" charset="0"/>
              </a:rPr>
              <a:t>Topic 2: </a:t>
            </a:r>
          </a:p>
          <a:p>
            <a:pPr algn="ctr" eaLnBrk="1" hangingPunct="1"/>
            <a:r>
              <a:rPr lang="en-GB" altLang="en-US" sz="3200" b="1" i="0">
                <a:solidFill>
                  <a:schemeClr val="bg1"/>
                </a:solidFill>
                <a:latin typeface="Arial" panose="020B0604020202020204" pitchFamily="34" charset="0"/>
              </a:rPr>
              <a:t>Introduction to HTML5</a:t>
            </a:r>
            <a:endParaRPr lang="en-US" altLang="en-US" sz="3200" b="1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FEAC5BC-6618-0956-00AD-43B859BD4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EEF60730-47AF-0D51-4150-C55342198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400" y="1412776"/>
            <a:ext cx="9865096" cy="4319588"/>
          </a:xfrm>
        </p:spPr>
        <p:txBody>
          <a:bodyPr/>
          <a:lstStyle/>
          <a:p>
            <a:pPr eaLnBrk="1" hangingPunct="1"/>
            <a:r>
              <a:rPr lang="en-GB" altLang="en-US" b="1" i="0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HTML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Role of HTML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HTML Document Structure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Text-level Elements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HTML Lists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HTML Forms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HTML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025E4C65-FD2F-8B3F-7923-4F8227D31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89C55C89-61F2-5D96-70C8-6DCF4BB77A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By the end of this topic students will be able to: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Describe the use of HTML for website development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Understand the basics of HTML5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Explain the HTML structure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Demonstrate understanding of HTML basics 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CC24592-5706-7BF9-027E-FF10D64A4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Unit Roadmap</a:t>
            </a:r>
            <a:endParaRPr lang="en-GB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14E44E-D60E-B0AA-BD17-48602F22E2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431037"/>
              </p:ext>
            </p:extLst>
          </p:nvPr>
        </p:nvGraphicFramePr>
        <p:xfrm>
          <a:off x="369819" y="1412776"/>
          <a:ext cx="11449271" cy="460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0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067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18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4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GB" sz="2400" b="1" kern="12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4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-I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51430" marR="5143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-II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6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51430" marR="5143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Review, Testing and Collaboration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30" marR="5143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9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4" marR="68574" marT="34292" marB="3429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DEBC2E-7CDA-D937-48AC-DCA2E0A9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4124804" cy="1362075"/>
          </a:xfrm>
        </p:spPr>
        <p:txBody>
          <a:bodyPr/>
          <a:lstStyle/>
          <a:p>
            <a:pPr algn="ctr"/>
            <a:r>
              <a:rPr lang="en-GB" dirty="0"/>
              <a:t>HTML </a:t>
            </a:r>
          </a:p>
        </p:txBody>
      </p:sp>
      <p:pic>
        <p:nvPicPr>
          <p:cNvPr id="4098" name="Picture 2" descr="Free photo programming background collage">
            <a:extLst>
              <a:ext uri="{FF2B5EF4-FFF2-40B4-BE49-F238E27FC236}">
                <a16:creationId xmlns:a16="http://schemas.microsoft.com/office/drawing/2014/main" id="{D4E76D1D-5FCC-6089-1209-94DC3722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268760"/>
            <a:ext cx="6312024" cy="4896544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79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>
            <a:extLst>
              <a:ext uri="{FF2B5EF4-FFF2-40B4-BE49-F238E27FC236}">
                <a16:creationId xmlns:a16="http://schemas.microsoft.com/office/drawing/2014/main" id="{3CF59BE7-2C31-7414-08CC-0B8009530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HTML</a:t>
            </a:r>
          </a:p>
        </p:txBody>
      </p:sp>
      <p:sp>
        <p:nvSpPr>
          <p:cNvPr id="12291" name="Rectangle 7">
            <a:extLst>
              <a:ext uri="{FF2B5EF4-FFF2-40B4-BE49-F238E27FC236}">
                <a16:creationId xmlns:a16="http://schemas.microsoft.com/office/drawing/2014/main" id="{A1849FCB-DFFD-2050-1A39-3F70E4ACB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347" y="1485231"/>
            <a:ext cx="11712575" cy="2303810"/>
          </a:xfrm>
        </p:spPr>
        <p:txBody>
          <a:bodyPr/>
          <a:lstStyle/>
          <a:p>
            <a:pPr lvl="1" eaLnBrk="1" hangingPunct="1"/>
            <a:r>
              <a:rPr lang="en-US" altLang="en-US" sz="2400" dirty="0">
                <a:latin typeface="Arial" panose="020B0604020202020204" pitchFamily="34" charset="0"/>
              </a:rPr>
              <a:t>HTML stands for </a:t>
            </a:r>
            <a:r>
              <a:rPr lang="en-US" altLang="en-US" sz="2400" dirty="0" err="1">
                <a:latin typeface="Arial" panose="020B0604020202020204" pitchFamily="34" charset="0"/>
              </a:rPr>
              <a:t>HyperText</a:t>
            </a:r>
            <a:r>
              <a:rPr lang="en-US" altLang="en-US" sz="2400" dirty="0">
                <a:latin typeface="Arial" panose="020B0604020202020204" pitchFamily="34" charset="0"/>
              </a:rPr>
              <a:t> Markup Language.</a:t>
            </a:r>
          </a:p>
          <a:p>
            <a:pPr lvl="1" eaLnBrk="1" hangingPunct="1"/>
            <a:r>
              <a:rPr lang="en-US" altLang="en-US" sz="2400" dirty="0">
                <a:latin typeface="Arial" panose="020B0604020202020204" pitchFamily="34" charset="0"/>
              </a:rPr>
              <a:t>It is the standard markup language used for creating and structuring web pages and web applications.</a:t>
            </a:r>
          </a:p>
          <a:p>
            <a:pPr lvl="1" eaLnBrk="1" hangingPunct="1"/>
            <a:r>
              <a:rPr lang="en-US" altLang="en-US" sz="2400" dirty="0">
                <a:latin typeface="Arial" panose="020B0604020202020204" pitchFamily="34" charset="0"/>
              </a:rPr>
              <a:t>HTML uses various elements and tags to define the content and layout of a webpage.</a:t>
            </a:r>
          </a:p>
        </p:txBody>
      </p:sp>
      <p:pic>
        <p:nvPicPr>
          <p:cNvPr id="12292" name="Picture 5" descr="What is HTML?">
            <a:extLst>
              <a:ext uri="{FF2B5EF4-FFF2-40B4-BE49-F238E27FC236}">
                <a16:creationId xmlns:a16="http://schemas.microsoft.com/office/drawing/2014/main" id="{3B769497-7B89-0AA3-4C5B-106F63C32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3463280"/>
            <a:ext cx="3327397" cy="2637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48328DED-ACE6-E892-138D-FCD2B7B07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720" y="4437112"/>
            <a:ext cx="4608512" cy="1413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marL="268287" lvl="1" indent="0" eaLnBrk="1" hangingPunct="1">
              <a:buNone/>
            </a:pPr>
            <a:r>
              <a:rPr lang="en-US" altLang="en-US" sz="2400" b="1" kern="0" dirty="0">
                <a:solidFill>
                  <a:srgbClr val="C00000"/>
                </a:solidFill>
                <a:latin typeface="Arial" panose="020B0604020202020204" pitchFamily="34" charset="0"/>
              </a:rPr>
              <a:t>What is hypertext?  </a:t>
            </a:r>
          </a:p>
          <a:p>
            <a:pPr marL="268287" lvl="1" indent="0" eaLnBrk="1" hangingPunct="1">
              <a:buNone/>
            </a:pPr>
            <a:r>
              <a:rPr lang="en-US" altLang="en-US" sz="2400" b="1" kern="0" dirty="0">
                <a:solidFill>
                  <a:srgbClr val="C00000"/>
                </a:solidFill>
                <a:latin typeface="Arial" panose="020B0604020202020204" pitchFamily="34" charset="0"/>
              </a:rPr>
              <a:t>What is markup language? </a:t>
            </a:r>
          </a:p>
          <a:p>
            <a:pPr marL="268287" lvl="1" indent="0" eaLnBrk="1" hangingPunct="1">
              <a:buNone/>
            </a:pPr>
            <a:endParaRPr lang="en-US" altLang="en-US" sz="2400" kern="0" dirty="0">
              <a:latin typeface="Arial" panose="020B0604020202020204" pitchFamily="34" charset="0"/>
            </a:endParaRPr>
          </a:p>
        </p:txBody>
      </p:sp>
      <p:pic>
        <p:nvPicPr>
          <p:cNvPr id="12296" name="Picture 8" descr="Free vector modern question mark for help and support page">
            <a:extLst>
              <a:ext uri="{FF2B5EF4-FFF2-40B4-BE49-F238E27FC236}">
                <a16:creationId xmlns:a16="http://schemas.microsoft.com/office/drawing/2014/main" id="{86BAB191-C62D-220A-F1AD-9660AFAAE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3463280"/>
            <a:ext cx="2664296" cy="260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E3E92AB-D618-51B8-872B-24AD04500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FFFF"/>
                </a:solidFill>
              </a:rPr>
              <a:t>HTML Code Example </a:t>
            </a:r>
            <a:endParaRPr lang="en-GB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EA90634-9D08-4C8F-E938-5787DF9781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7" y="1484784"/>
            <a:ext cx="11807825" cy="4464496"/>
          </a:xfrm>
          <a:ln w="28575">
            <a:solidFill>
              <a:srgbClr val="00B0F0"/>
            </a:solidFill>
          </a:ln>
        </p:spPr>
        <p:txBody>
          <a:bodyPr/>
          <a:lstStyle/>
          <a:p>
            <a:r>
              <a:rPr lang="en-US" altLang="en-US" sz="2000" i="0" dirty="0"/>
              <a:t>&lt;!DOCTYPE html&gt;</a:t>
            </a:r>
          </a:p>
          <a:p>
            <a:r>
              <a:rPr lang="en-US" altLang="en-US" sz="2000" i="0" dirty="0"/>
              <a:t>&lt;html&gt;</a:t>
            </a:r>
          </a:p>
          <a:p>
            <a:r>
              <a:rPr lang="en-US" altLang="en-US" sz="2000" i="0" dirty="0"/>
              <a:t>  &lt;head&gt;</a:t>
            </a:r>
          </a:p>
          <a:p>
            <a:r>
              <a:rPr lang="en-US" altLang="en-US" sz="2000" i="0" dirty="0"/>
              <a:t>    &lt;title&gt;My First Web Page&lt;/title&gt;</a:t>
            </a:r>
          </a:p>
          <a:p>
            <a:r>
              <a:rPr lang="en-US" altLang="en-US" sz="2000" i="0" dirty="0"/>
              <a:t>  &lt;/head&gt;</a:t>
            </a:r>
          </a:p>
          <a:p>
            <a:r>
              <a:rPr lang="en-US" altLang="en-US" sz="2000" i="0" dirty="0"/>
              <a:t>  &lt;body&gt;</a:t>
            </a:r>
          </a:p>
          <a:p>
            <a:r>
              <a:rPr lang="en-US" altLang="en-US" sz="2000" i="0" dirty="0"/>
              <a:t>    &lt;h1&gt;Welcome to My Website&lt;/h1&gt;</a:t>
            </a:r>
          </a:p>
          <a:p>
            <a:r>
              <a:rPr lang="en-US" altLang="en-US" sz="2000" i="0" dirty="0"/>
              <a:t>    &lt;p&gt;This is the first paragraph of my webpage.&lt;/p&gt;</a:t>
            </a:r>
          </a:p>
          <a:p>
            <a:r>
              <a:rPr lang="en-US" altLang="en-US" sz="2000" i="0" dirty="0"/>
              <a:t>    &lt;</a:t>
            </a:r>
            <a:r>
              <a:rPr lang="en-US" altLang="en-US" sz="2000" i="0" dirty="0" err="1"/>
              <a:t>img</a:t>
            </a:r>
            <a:r>
              <a:rPr lang="en-US" altLang="en-US" sz="2000" i="0" dirty="0"/>
              <a:t> </a:t>
            </a:r>
            <a:r>
              <a:rPr lang="en-US" altLang="en-US" sz="2000" i="0" dirty="0" err="1"/>
              <a:t>src</a:t>
            </a:r>
            <a:r>
              <a:rPr lang="en-US" altLang="en-US" sz="2000" i="0" dirty="0"/>
              <a:t>="example.jpg" alt="Example Image"&gt;</a:t>
            </a:r>
          </a:p>
          <a:p>
            <a:r>
              <a:rPr lang="en-US" altLang="en-US" sz="2000" i="0" dirty="0"/>
              <a:t>    &lt;a </a:t>
            </a:r>
            <a:r>
              <a:rPr lang="en-US" altLang="en-US" sz="2000" i="0" dirty="0" err="1"/>
              <a:t>href</a:t>
            </a:r>
            <a:r>
              <a:rPr lang="en-US" altLang="en-US" sz="2000" i="0" dirty="0"/>
              <a:t>="https://www.example.com"&gt;Visit Example Website&lt;/a&gt;</a:t>
            </a:r>
          </a:p>
          <a:p>
            <a:r>
              <a:rPr lang="en-US" altLang="en-US" sz="2000" i="0" dirty="0"/>
              <a:t>  &lt;/body&gt;</a:t>
            </a:r>
          </a:p>
          <a:p>
            <a:r>
              <a:rPr lang="en-US" altLang="en-US" sz="2000" i="0" dirty="0"/>
              <a:t>&lt;/html&gt;</a:t>
            </a:r>
          </a:p>
          <a:p>
            <a:endParaRPr lang="en-US" altLang="en-US" sz="2000" i="0" dirty="0"/>
          </a:p>
          <a:p>
            <a:endParaRPr lang="en-GB" altLang="en-US" sz="1600" i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E81D03A-A0E5-454D-BB9C-30C1E6CD0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Roles of HTML (1)</a:t>
            </a:r>
            <a:endParaRPr lang="en-GB" alt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9843B25F-F7E2-5BD4-BA4C-E68E087A8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5360" y="1340768"/>
            <a:ext cx="11665296" cy="46809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Foundation of Web Development: 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block of web development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and content for web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Universal Language: 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supported by all web browsers and cross-platform compatibility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user experience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to people with disabilities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Structure: </a:t>
            </a:r>
          </a:p>
          <a:p>
            <a:pPr marL="787400" lvl="1" indent="-342900"/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structure of a webpage</a:t>
            </a:r>
          </a:p>
          <a:p>
            <a:pPr marL="787400" lvl="1" indent="-3429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headings, paragraphs, lists, and other content blocks</a:t>
            </a:r>
          </a:p>
          <a:p>
            <a:pPr marL="901700" lvl="1" indent="-457200"/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675AB3A-DDE4-3DF1-B428-E7A4ECBD0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Roles of HTML (2)</a:t>
            </a:r>
            <a:endParaRPr lang="en-GB" altLang="en-US" dirty="0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92AB7CE-0045-11A2-645A-731C9C97F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5360" y="1412874"/>
            <a:ext cx="11515327" cy="47524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Formatting: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the appearance of text, such as font styles, colors, and 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Hyperlinks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hyperlinks to navigate between pages and resources on the web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 and Media: 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embedding of images, videos, and audio on web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to enable user interaction, such as receiving user input and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Markup: 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elements that add meaning to the content, aiding search engines and accessibility</a:t>
            </a:r>
          </a:p>
          <a:p>
            <a:endParaRPr lang="en-GB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4FAC7C5-F8C6-02B2-EA69-11782DE02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0C7AA8B-9BAC-05BD-EFFD-F69537763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3352" y="1628799"/>
            <a:ext cx="5995619" cy="4319587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follow a specific structure.</a:t>
            </a:r>
          </a:p>
          <a:p>
            <a:pPr marL="457200" indent="-457200">
              <a:buFontTx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defines how the content of a webpage is </a:t>
            </a:r>
            <a:r>
              <a:rPr lang="en-US" alt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organised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displayed.</a:t>
            </a:r>
          </a:p>
          <a:p>
            <a:pPr marL="457200" indent="-457200">
              <a:buFontTx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Necessary to create well-formed and valid web pages.</a:t>
            </a:r>
          </a:p>
          <a:p>
            <a:pPr marL="457200" indent="-457200">
              <a:buFontTx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structure of an HTML document consists of several elements, each serving a specific purpose. </a:t>
            </a: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6BC948-CB7B-6B36-BE88-464D3B4CD1F9}"/>
              </a:ext>
            </a:extLst>
          </p:cNvPr>
          <p:cNvSpPr txBox="1">
            <a:spLocks/>
          </p:cNvSpPr>
          <p:nvPr/>
        </p:nvSpPr>
        <p:spPr bwMode="auto">
          <a:xfrm>
            <a:off x="6096000" y="1484784"/>
            <a:ext cx="5832648" cy="468052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&lt;!DOCTYPE html&gt;</a:t>
            </a:r>
          </a:p>
          <a:p>
            <a:pPr>
              <a:defRPr/>
            </a:pPr>
            <a:r>
              <a:rPr lang="en-GB" sz="2000" i="0" kern="0" dirty="0"/>
              <a:t>&lt;html&gt;</a:t>
            </a:r>
          </a:p>
          <a:p>
            <a:pPr>
              <a:defRPr/>
            </a:pPr>
            <a:r>
              <a:rPr lang="en-GB" sz="2000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i="0" kern="0" dirty="0"/>
              <a:t>  &lt;/head&gt;</a:t>
            </a:r>
          </a:p>
          <a:p>
            <a:pPr>
              <a:defRPr/>
            </a:pPr>
            <a:r>
              <a:rPr lang="en-GB" sz="2000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&lt;h1&gt;Welcome to My Website&lt;/h1&gt;</a:t>
            </a:r>
          </a:p>
          <a:p>
            <a:pPr>
              <a:defRPr/>
            </a:pPr>
            <a:r>
              <a:rPr lang="en-GB" sz="2000" i="0" kern="0" dirty="0"/>
              <a:t>    &lt;p&gt;This is the first paragraph of my webpage.&lt;/p&gt;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="example.jpg" alt="Example Image"&gt;</a:t>
            </a:r>
          </a:p>
          <a:p>
            <a:pPr>
              <a:defRPr/>
            </a:pPr>
            <a:r>
              <a:rPr lang="en-GB" sz="2000" i="0" kern="0" dirty="0"/>
              <a:t>    &lt;a </a:t>
            </a:r>
            <a:r>
              <a:rPr lang="en-GB" sz="2000" i="0" kern="0" dirty="0" err="1"/>
              <a:t>href</a:t>
            </a:r>
            <a:r>
              <a:rPr lang="en-GB" sz="2000" i="0" kern="0" dirty="0"/>
              <a:t>="https://www.example.com"&gt;Visit Example Website&lt;/a&gt;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</a:p>
          <a:p>
            <a:pPr>
              <a:defRPr/>
            </a:pPr>
            <a:r>
              <a:rPr lang="en-GB" sz="2000" i="0" kern="0" dirty="0"/>
              <a:t>&lt;/html&gt;</a:t>
            </a:r>
            <a:endParaRPr lang="en-GB" sz="1600" i="0" kern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C316583-B56C-9456-F12F-011ED8139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7037F-0AD7-2900-5C9A-CAEB867D7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3" y="1484313"/>
            <a:ext cx="5544615" cy="4319587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Type 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Declaration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(&lt;!DOCTYPE html&gt;)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document type declaration (DTD) specifies the version of HTML to the browser.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HTML5 -  </a:t>
            </a:r>
            <a:r>
              <a:rPr lang="en-US" sz="2400" i="0" dirty="0">
                <a:solidFill>
                  <a:srgbClr val="C00000"/>
                </a:solidFill>
              </a:rPr>
              <a:t>&lt;!DOCTYPE html&gt; 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that the document is written in HTML5.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400" i="0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32509D-B0E2-D382-9700-AF300472CE6A}"/>
              </a:ext>
            </a:extLst>
          </p:cNvPr>
          <p:cNvSpPr txBox="1">
            <a:spLocks/>
          </p:cNvSpPr>
          <p:nvPr/>
        </p:nvSpPr>
        <p:spPr bwMode="auto">
          <a:xfrm>
            <a:off x="5447928" y="1412777"/>
            <a:ext cx="6544503" cy="47525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b="1" i="0" kern="0" dirty="0"/>
              <a:t>&lt;!DOCTYPE html&gt;</a:t>
            </a:r>
          </a:p>
          <a:p>
            <a:pPr>
              <a:defRPr/>
            </a:pPr>
            <a:r>
              <a:rPr lang="en-GB" sz="2000" i="0" kern="0" dirty="0"/>
              <a:t>&lt;html&gt;</a:t>
            </a:r>
          </a:p>
          <a:p>
            <a:pPr>
              <a:defRPr/>
            </a:pPr>
            <a:r>
              <a:rPr lang="en-GB" sz="2000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i="0" kern="0" dirty="0"/>
              <a:t>  &lt;/head&gt;</a:t>
            </a:r>
          </a:p>
          <a:p>
            <a:pPr>
              <a:defRPr/>
            </a:pPr>
            <a:r>
              <a:rPr lang="en-GB" sz="2000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&lt;h1&gt;Welcome to My Website&lt;/h1&gt;</a:t>
            </a:r>
          </a:p>
          <a:p>
            <a:pPr>
              <a:defRPr/>
            </a:pPr>
            <a:r>
              <a:rPr lang="en-GB" sz="2000" i="0" kern="0" dirty="0"/>
              <a:t>    &lt;p&gt;This is the first paragraph of my webpage.&lt;/p&gt;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="example.jpg" alt="Example Image"&gt;</a:t>
            </a:r>
          </a:p>
          <a:p>
            <a:pPr>
              <a:defRPr/>
            </a:pPr>
            <a:r>
              <a:rPr lang="en-GB" sz="2000" i="0" kern="0" dirty="0"/>
              <a:t>    &lt;a </a:t>
            </a:r>
            <a:r>
              <a:rPr lang="en-GB" sz="2000" i="0" kern="0" dirty="0" err="1"/>
              <a:t>href</a:t>
            </a:r>
            <a:r>
              <a:rPr lang="en-GB" sz="2000" i="0" kern="0" dirty="0"/>
              <a:t>="https://www.example.com"&gt;Visit Example Website&lt;/a&gt;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</a:p>
          <a:p>
            <a:pPr>
              <a:defRPr/>
            </a:pPr>
            <a:r>
              <a:rPr lang="en-GB" sz="2000" i="0" kern="0" dirty="0"/>
              <a:t>&lt;/html&gt;</a:t>
            </a:r>
            <a:endParaRPr lang="en-GB" sz="1600" i="0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495FA8A-9385-97CD-8348-2FBF56DBE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51" y="50800"/>
            <a:ext cx="10188750" cy="1143000"/>
          </a:xfrm>
        </p:spPr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6C11F-B4B3-54D2-6FBD-672AB94A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1" y="1484313"/>
            <a:ext cx="5472609" cy="4319587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&lt;html&gt; 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fr-FR" sz="2400" b="1" i="0" dirty="0">
                <a:solidFill>
                  <a:schemeClr val="accent2"/>
                </a:solidFill>
              </a:rPr>
              <a:t> 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i="0" dirty="0">
                <a:solidFill>
                  <a:schemeClr val="tx1"/>
                </a:solidFill>
              </a:rPr>
              <a:t>&lt;html&gt; 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 is the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element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HTML.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encapsulates all other elements of the webpage.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HTML document starts and ends with this element.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400" i="0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B4E2C3E-4621-9BC1-6015-9CE0585D0F99}"/>
              </a:ext>
            </a:extLst>
          </p:cNvPr>
          <p:cNvSpPr txBox="1">
            <a:spLocks/>
          </p:cNvSpPr>
          <p:nvPr/>
        </p:nvSpPr>
        <p:spPr bwMode="auto">
          <a:xfrm>
            <a:off x="5519936" y="1412777"/>
            <a:ext cx="6472495" cy="47525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&lt;!DOCTYPE html&gt;</a:t>
            </a:r>
          </a:p>
          <a:p>
            <a:pPr>
              <a:defRPr/>
            </a:pPr>
            <a:r>
              <a:rPr lang="en-GB" sz="2000" b="1" i="0" kern="0" dirty="0"/>
              <a:t>&lt;html&gt;</a:t>
            </a:r>
          </a:p>
          <a:p>
            <a:pPr>
              <a:defRPr/>
            </a:pPr>
            <a:r>
              <a:rPr lang="en-GB" sz="2000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i="0" kern="0" dirty="0"/>
              <a:t>  &lt;/head&gt;</a:t>
            </a:r>
          </a:p>
          <a:p>
            <a:pPr>
              <a:defRPr/>
            </a:pPr>
            <a:r>
              <a:rPr lang="en-GB" sz="2000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&lt;h1&gt;Welcome to My Website&lt;/h1&gt;</a:t>
            </a:r>
          </a:p>
          <a:p>
            <a:pPr>
              <a:defRPr/>
            </a:pPr>
            <a:r>
              <a:rPr lang="en-GB" sz="2000" i="0" kern="0" dirty="0"/>
              <a:t>    &lt;p&gt;This is the first paragraph of my webpage.&lt;/p&gt;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="example.jpg" alt="Example Image"&gt;</a:t>
            </a:r>
          </a:p>
          <a:p>
            <a:pPr>
              <a:defRPr/>
            </a:pPr>
            <a:r>
              <a:rPr lang="en-GB" sz="2000" i="0" kern="0" dirty="0"/>
              <a:t>    &lt;a </a:t>
            </a:r>
            <a:r>
              <a:rPr lang="en-GB" sz="2000" i="0" kern="0" dirty="0" err="1"/>
              <a:t>href</a:t>
            </a:r>
            <a:r>
              <a:rPr lang="en-GB" sz="2000" i="0" kern="0" dirty="0"/>
              <a:t>="https://www.example.com"&gt;Visit Example Website&lt;/a&gt;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</a:p>
          <a:p>
            <a:pPr>
              <a:defRPr/>
            </a:pPr>
            <a:r>
              <a:rPr lang="en-GB" sz="2000" b="1" i="0" kern="0" dirty="0"/>
              <a:t>&lt;/html&gt;</a:t>
            </a:r>
            <a:endParaRPr lang="en-GB" sz="1600" b="1" i="0" kern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0F2B38D-D148-89FF-8CF4-D25E21B7B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11503-1253-AE6E-A058-6E967F5E3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3" y="1412776"/>
            <a:ext cx="5957887" cy="4680520"/>
          </a:xfrm>
        </p:spPr>
        <p:txBody>
          <a:bodyPr/>
          <a:lstStyle/>
          <a:p>
            <a:pPr marL="0" indent="0">
              <a:defRPr/>
            </a:pPr>
            <a:r>
              <a:rPr lang="fr-FR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0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lang="fr-FR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0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meta-information about the webpage.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Produces no visible content, provides important details to browsers and search engines.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elements found inside the </a:t>
            </a:r>
            <a:r>
              <a:rPr lang="en-US" sz="2000" i="0" dirty="0">
                <a:solidFill>
                  <a:schemeClr val="tx1"/>
                </a:solidFill>
              </a:rPr>
              <a:t>&lt;head&gt; element include: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&lt;title&gt;: </a:t>
            </a:r>
            <a:r>
              <a:rPr lang="en-US" sz="2000" dirty="0">
                <a:solidFill>
                  <a:schemeClr val="tx1"/>
                </a:solidFill>
              </a:rPr>
              <a:t>Sets the title of the webpage, which appears in the browser's title bar or tab.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&lt;meta&gt;: </a:t>
            </a:r>
            <a:r>
              <a:rPr lang="en-US" sz="2000" dirty="0">
                <a:solidFill>
                  <a:schemeClr val="tx1"/>
                </a:solidFill>
              </a:rPr>
              <a:t>Defines meta-information, such as character encoding and viewport settings.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&lt;link&gt;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Imports external resources like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stylesheets and favicons.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</a:rPr>
              <a:t>&lt;script&gt;: </a:t>
            </a:r>
            <a:r>
              <a:rPr lang="en-US" sz="2000" dirty="0">
                <a:solidFill>
                  <a:schemeClr val="tx1"/>
                </a:solidFill>
              </a:rPr>
              <a:t>Includes JavaScript files or code.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D85F4-D82D-0DCE-8700-2C4187D61496}"/>
              </a:ext>
            </a:extLst>
          </p:cNvPr>
          <p:cNvSpPr txBox="1">
            <a:spLocks/>
          </p:cNvSpPr>
          <p:nvPr/>
        </p:nvSpPr>
        <p:spPr bwMode="auto">
          <a:xfrm>
            <a:off x="6096000" y="1412776"/>
            <a:ext cx="5968562" cy="47525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&lt;!DOCTYPE html&gt;</a:t>
            </a:r>
          </a:p>
          <a:p>
            <a:pPr>
              <a:defRPr/>
            </a:pPr>
            <a:r>
              <a:rPr lang="en-GB" sz="2000" i="0" kern="0" dirty="0"/>
              <a:t>&lt;html&gt;</a:t>
            </a:r>
          </a:p>
          <a:p>
            <a:pPr>
              <a:defRPr/>
            </a:pPr>
            <a:r>
              <a:rPr lang="en-GB" sz="2000" b="1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b="1" i="0" kern="0" dirty="0"/>
              <a:t>  &lt;/head&gt;</a:t>
            </a:r>
          </a:p>
          <a:p>
            <a:pPr>
              <a:defRPr/>
            </a:pPr>
            <a:r>
              <a:rPr lang="en-GB" sz="2000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&lt;h1&gt;Welcome to My Website&lt;/h1&gt;</a:t>
            </a:r>
          </a:p>
          <a:p>
            <a:pPr>
              <a:defRPr/>
            </a:pPr>
            <a:r>
              <a:rPr lang="en-GB" sz="2000" i="0" kern="0" dirty="0"/>
              <a:t>    &lt;p&gt;This is the first paragraph of my webpage.&lt;/p&gt;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="example.jpg" alt="Example Image"&gt;</a:t>
            </a:r>
          </a:p>
          <a:p>
            <a:pPr>
              <a:defRPr/>
            </a:pPr>
            <a:r>
              <a:rPr lang="en-GB" sz="2000" i="0" kern="0" dirty="0"/>
              <a:t>    &lt;a </a:t>
            </a:r>
            <a:r>
              <a:rPr lang="en-GB" sz="2000" i="0" kern="0" dirty="0" err="1"/>
              <a:t>href</a:t>
            </a:r>
            <a:r>
              <a:rPr lang="en-GB" sz="2000" i="0" kern="0" dirty="0"/>
              <a:t>="https://www.example.com"&gt;Visit Example Website&lt;/a&gt;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</a:p>
          <a:p>
            <a:pPr>
              <a:defRPr/>
            </a:pPr>
            <a:r>
              <a:rPr lang="en-GB" sz="2000" i="0" kern="0" dirty="0"/>
              <a:t>&lt;/html&gt;</a:t>
            </a:r>
            <a:endParaRPr lang="en-GB" sz="1600" i="0" kern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289712A-8BE2-9B46-D14D-21099D55B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5626-E51A-ED54-A4FC-97BDDEF46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69" y="1484784"/>
            <a:ext cx="5032335" cy="4680521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&lt;body&gt; 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Consists the visible content of the webpage that is to be displayed on the webpage on browser.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such as text, images, multimedia, and interactive elements are declared within the &lt;body&gt; element.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content that users see on the webpage should be placed inside this element.</a:t>
            </a:r>
            <a:endParaRPr lang="en-GB" sz="24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A689C5-A54B-B7B9-273D-BC1A4FD67D3E}"/>
              </a:ext>
            </a:extLst>
          </p:cNvPr>
          <p:cNvSpPr txBox="1">
            <a:spLocks/>
          </p:cNvSpPr>
          <p:nvPr/>
        </p:nvSpPr>
        <p:spPr bwMode="auto">
          <a:xfrm>
            <a:off x="5375920" y="1412777"/>
            <a:ext cx="6616511" cy="475252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&lt;!DOCTYPE html&gt;</a:t>
            </a:r>
          </a:p>
          <a:p>
            <a:pPr>
              <a:defRPr/>
            </a:pPr>
            <a:r>
              <a:rPr lang="en-GB" sz="2000" i="0" kern="0" dirty="0"/>
              <a:t>&lt;html&gt;</a:t>
            </a:r>
          </a:p>
          <a:p>
            <a:pPr>
              <a:defRPr/>
            </a:pPr>
            <a:r>
              <a:rPr lang="en-GB" sz="2000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i="0" kern="0" dirty="0"/>
              <a:t>  &lt;/head&gt;</a:t>
            </a:r>
          </a:p>
          <a:p>
            <a:pPr>
              <a:defRPr/>
            </a:pPr>
            <a:r>
              <a:rPr lang="en-GB" sz="2000" b="1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&lt;h1&gt;Welcome to My Website&lt;/h1&gt;</a:t>
            </a:r>
          </a:p>
          <a:p>
            <a:pPr>
              <a:defRPr/>
            </a:pPr>
            <a:r>
              <a:rPr lang="en-GB" sz="2000" i="0" kern="0" dirty="0"/>
              <a:t>    &lt;p&gt;This is the first paragraph of my webpage.&lt;/p&gt;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="example.jpg" alt="Example Image"&gt;</a:t>
            </a:r>
          </a:p>
          <a:p>
            <a:pPr>
              <a:defRPr/>
            </a:pPr>
            <a:r>
              <a:rPr lang="en-GB" sz="2000" i="0" kern="0" dirty="0"/>
              <a:t>    &lt;a </a:t>
            </a:r>
            <a:r>
              <a:rPr lang="en-GB" sz="2000" i="0" kern="0" dirty="0" err="1"/>
              <a:t>href</a:t>
            </a:r>
            <a:r>
              <a:rPr lang="en-GB" sz="2000" i="0" kern="0" dirty="0"/>
              <a:t>="https://www.example.com"&gt;Visit Example Website&lt;/a&gt;</a:t>
            </a:r>
          </a:p>
          <a:p>
            <a:pPr>
              <a:defRPr/>
            </a:pPr>
            <a:r>
              <a:rPr lang="en-GB" sz="2000" i="0" kern="0" dirty="0"/>
              <a:t>  </a:t>
            </a:r>
            <a:r>
              <a:rPr lang="en-GB" sz="2000" b="1" i="0" kern="0" dirty="0"/>
              <a:t>&lt;/body&gt;</a:t>
            </a:r>
          </a:p>
          <a:p>
            <a:pPr>
              <a:defRPr/>
            </a:pPr>
            <a:r>
              <a:rPr lang="en-GB" sz="2000" i="0" kern="0" dirty="0"/>
              <a:t>&lt;/html&gt;</a:t>
            </a:r>
            <a:endParaRPr lang="en-GB" sz="1600" i="0" kern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3A555F22-829F-A35F-61F6-08F7342F6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Document Structure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58CB-6AF7-5022-EF60-403A36A6C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40" y="1412776"/>
            <a:ext cx="11817660" cy="4537075"/>
          </a:xfrm>
        </p:spPr>
        <p:txBody>
          <a:bodyPr/>
          <a:lstStyle/>
          <a:p>
            <a:pPr marL="0" indent="0">
              <a:defRPr/>
            </a:pPr>
            <a:r>
              <a:rPr lang="fr-FR" sz="22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</a:t>
            </a:r>
            <a:r>
              <a:rPr lang="fr-FR" sz="22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fr-FR" sz="22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2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the layout and </a:t>
            </a:r>
            <a:r>
              <a:rPr lang="en-US" sz="22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22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content within the &lt;body&gt; element.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2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&lt;header&gt;: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introductory content at the top of a webpage, often containing logos and navigation menus.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&lt;nav&gt;: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a section containing navigation links.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&lt;main&gt;: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Encloses the main content of the webpage.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&lt;article&gt;: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a self-contained piece of content, like a blog post or article.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&lt;section&gt;: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a thematic grouping of content within an article or webpage.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&lt;aside&gt;: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content that is tangentially related to the main content, such as sidebars or widgets.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&lt;footer&gt;: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footer information, typically found at the bottom of the webpage.</a:t>
            </a:r>
          </a:p>
          <a:p>
            <a:pPr marL="444500" lvl="1" indent="0">
              <a:buNone/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6AFF42-CEB1-AA69-A41D-DDC37553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39" y="4406901"/>
            <a:ext cx="5375021" cy="1362075"/>
          </a:xfrm>
        </p:spPr>
        <p:txBody>
          <a:bodyPr/>
          <a:lstStyle/>
          <a:p>
            <a:pPr algn="ctr"/>
            <a:r>
              <a:rPr lang="en-GB" dirty="0"/>
              <a:t>HTML Text Level Elements </a:t>
            </a:r>
          </a:p>
        </p:txBody>
      </p:sp>
      <p:pic>
        <p:nvPicPr>
          <p:cNvPr id="1026" name="Picture 2" descr="Free photo html system for website concept">
            <a:extLst>
              <a:ext uri="{FF2B5EF4-FFF2-40B4-BE49-F238E27FC236}">
                <a16:creationId xmlns:a16="http://schemas.microsoft.com/office/drawing/2014/main" id="{E58B3C77-C173-ED5C-DA74-AC230B73F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60" y="1340768"/>
            <a:ext cx="640871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69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>
            <a:extLst>
              <a:ext uri="{FF2B5EF4-FFF2-40B4-BE49-F238E27FC236}">
                <a16:creationId xmlns:a16="http://schemas.microsoft.com/office/drawing/2014/main" id="{BA4A7DA7-A6B8-E333-51B3-169D78061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Text-level Elements</a:t>
            </a:r>
            <a:endParaRPr lang="en-GB" altLang="en-US" sz="4800" dirty="0"/>
          </a:p>
        </p:txBody>
      </p:sp>
      <p:sp>
        <p:nvSpPr>
          <p:cNvPr id="22531" name="Content Placeholder 6">
            <a:extLst>
              <a:ext uri="{FF2B5EF4-FFF2-40B4-BE49-F238E27FC236}">
                <a16:creationId xmlns:a16="http://schemas.microsoft.com/office/drawing/2014/main" id="{AFCAF75C-3941-A59C-4637-F65413F96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376" y="1484313"/>
            <a:ext cx="11161240" cy="4680991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Text-level elements in HTML are used to structure and format the text content within a web page.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application of specific meanings and styles to different parts of the text.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 use of these elements: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Improves the accessibility of webpage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with search engine optimization (SEO) 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 more meaningful user experience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Commonly used text-level elements are described in following slides.</a:t>
            </a:r>
            <a:endParaRPr lang="en-GB" alt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A567FF11-6278-E1B1-8201-9CB8B86A4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472F-340F-A52F-7F16-721164138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78" y="1484784"/>
            <a:ext cx="11712575" cy="4311179"/>
          </a:xfrm>
        </p:spPr>
        <p:txBody>
          <a:bodyPr/>
          <a:lstStyle/>
          <a:p>
            <a:pPr marL="0" indent="0">
              <a:defRPr/>
            </a:pPr>
            <a:endParaRPr lang="fr-FR" sz="1800" b="1" i="0" dirty="0">
              <a:solidFill>
                <a:schemeClr val="accent2"/>
              </a:solidFill>
            </a:endParaRPr>
          </a:p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&lt;h1&gt; to &lt;h6&gt; (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Headings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elements represent hierarchical headings, ranging from the most important &lt;h1&gt; to the least important &lt;h6&gt;.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Headings define the sections and sub-sections of a webpage.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content 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improves readability.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4B8D-358D-1078-E12C-6A7C2E6E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21196"/>
            <a:ext cx="11712575" cy="1143000"/>
          </a:xfrm>
        </p:spPr>
        <p:txBody>
          <a:bodyPr/>
          <a:lstStyle/>
          <a:p>
            <a:r>
              <a:rPr lang="en-US" altLang="en-US" dirty="0"/>
              <a:t>Text-level Elements: h1 – h6 example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9A87E-C001-99F3-6EBC-CE4F7517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1700808"/>
            <a:ext cx="5558358" cy="377575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F0E205-26C0-0C50-5AA7-A3AE763BFC4A}"/>
              </a:ext>
            </a:extLst>
          </p:cNvPr>
          <p:cNvSpPr txBox="1">
            <a:spLocks/>
          </p:cNvSpPr>
          <p:nvPr/>
        </p:nvSpPr>
        <p:spPr bwMode="auto">
          <a:xfrm>
            <a:off x="551384" y="1305425"/>
            <a:ext cx="5754687" cy="485987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1900" i="0" kern="0" dirty="0"/>
              <a:t>&lt;!DOCTYPE html&gt;</a:t>
            </a:r>
          </a:p>
          <a:p>
            <a:pPr>
              <a:defRPr/>
            </a:pPr>
            <a:r>
              <a:rPr lang="en-GB" sz="1900" i="0" kern="0" dirty="0"/>
              <a:t>&lt;html&gt;</a:t>
            </a:r>
          </a:p>
          <a:p>
            <a:pPr>
              <a:defRPr/>
            </a:pPr>
            <a:r>
              <a:rPr lang="en-GB" sz="1900" i="0" kern="0" dirty="0"/>
              <a:t>  &lt;head&gt;</a:t>
            </a:r>
          </a:p>
          <a:p>
            <a:pPr>
              <a:defRPr/>
            </a:pPr>
            <a:r>
              <a:rPr lang="en-GB" sz="19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1900" i="0" kern="0" dirty="0"/>
              <a:t>  &lt;/head&gt;</a:t>
            </a:r>
          </a:p>
          <a:p>
            <a:pPr>
              <a:defRPr/>
            </a:pPr>
            <a:r>
              <a:rPr lang="en-GB" sz="1900" i="0" kern="0" dirty="0"/>
              <a:t>  &lt;body&gt;</a:t>
            </a:r>
          </a:p>
          <a:p>
            <a:pPr>
              <a:defRPr/>
            </a:pPr>
            <a:r>
              <a:rPr lang="en-GB" sz="1900" i="0" kern="0" dirty="0"/>
              <a:t>    &lt;h1&gt;This is a Level 1 Heading&lt;/h1&gt;</a:t>
            </a:r>
          </a:p>
          <a:p>
            <a:pPr>
              <a:defRPr/>
            </a:pPr>
            <a:r>
              <a:rPr lang="en-GB" sz="1900" i="0" kern="0" dirty="0"/>
              <a:t>    &lt;h2&gt;This is a Level 2 Heading&lt;/h2&gt;</a:t>
            </a:r>
          </a:p>
          <a:p>
            <a:pPr>
              <a:defRPr/>
            </a:pPr>
            <a:r>
              <a:rPr lang="en-GB" sz="1900" i="0" kern="0" dirty="0"/>
              <a:t>    &lt;h3&gt;This is a Level 3 Heading&lt;/h3&gt;</a:t>
            </a:r>
          </a:p>
          <a:p>
            <a:pPr>
              <a:defRPr/>
            </a:pPr>
            <a:r>
              <a:rPr lang="en-GB" sz="1900" i="0" kern="0" dirty="0"/>
              <a:t>    &lt;h4&gt;This is a Level 4 Heading&lt;/h4&gt;</a:t>
            </a:r>
          </a:p>
          <a:p>
            <a:pPr>
              <a:defRPr/>
            </a:pPr>
            <a:r>
              <a:rPr lang="en-GB" sz="1900" i="0" kern="0" dirty="0"/>
              <a:t>    &lt;h5&gt;This is a Level 5 Heading&lt;/h5&gt;</a:t>
            </a:r>
          </a:p>
          <a:p>
            <a:pPr>
              <a:defRPr/>
            </a:pPr>
            <a:r>
              <a:rPr lang="en-GB" sz="1900" i="0" kern="0" dirty="0"/>
              <a:t>    &lt;h6&gt;This is a Level 6 Heading&lt;/h6&gt;</a:t>
            </a:r>
          </a:p>
          <a:p>
            <a:pPr>
              <a:defRPr/>
            </a:pPr>
            <a:r>
              <a:rPr lang="en-GB" sz="1900" i="0" kern="0" dirty="0"/>
              <a:t>  &lt;/body&gt;</a:t>
            </a:r>
          </a:p>
          <a:p>
            <a:pPr>
              <a:defRPr/>
            </a:pPr>
            <a:r>
              <a:rPr lang="en-GB" sz="1900" i="0" kern="0" dirty="0"/>
              <a:t>&lt;/html&gt;</a:t>
            </a:r>
          </a:p>
        </p:txBody>
      </p:sp>
      <p:sp>
        <p:nvSpPr>
          <p:cNvPr id="7" name="Arrow: Circular 6">
            <a:extLst>
              <a:ext uri="{FF2B5EF4-FFF2-40B4-BE49-F238E27FC236}">
                <a16:creationId xmlns:a16="http://schemas.microsoft.com/office/drawing/2014/main" id="{F54EC8BE-62B0-C617-C2CE-7B5F02BF1635}"/>
              </a:ext>
            </a:extLst>
          </p:cNvPr>
          <p:cNvSpPr/>
          <p:nvPr/>
        </p:nvSpPr>
        <p:spPr bwMode="auto">
          <a:xfrm flipV="1">
            <a:off x="6121129" y="4905295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7635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2A617DB-AC42-E56C-4A5E-7F5124B5C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6DF08-3BA1-E7EB-3E04-A5868ECEE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71" y="1418615"/>
            <a:ext cx="5837287" cy="4319587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&lt;p&gt; (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Paragraphs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&lt;p&gt; element defines a paragraph.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allows grouping together blocks of text.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Browsers add space before and after paragraphs to visually separate them.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A86CE-5256-3FEA-86A5-073EC76AF06F}"/>
              </a:ext>
            </a:extLst>
          </p:cNvPr>
          <p:cNvSpPr txBox="1">
            <a:spLocks/>
          </p:cNvSpPr>
          <p:nvPr/>
        </p:nvSpPr>
        <p:spPr bwMode="auto">
          <a:xfrm>
            <a:off x="6456039" y="1418616"/>
            <a:ext cx="5445489" cy="431958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</a:t>
            </a:r>
            <a:r>
              <a:rPr lang="en-GB" sz="2000" i="0" kern="0" dirty="0"/>
              <a:t>!DOCTYPE html&gt;</a:t>
            </a:r>
          </a:p>
          <a:p>
            <a:pPr>
              <a:defRPr/>
            </a:pPr>
            <a:r>
              <a:rPr lang="en-GB" sz="2000" i="0" kern="0" dirty="0"/>
              <a:t>&lt;html&gt;</a:t>
            </a:r>
          </a:p>
          <a:p>
            <a:pPr>
              <a:defRPr/>
            </a:pPr>
            <a:r>
              <a:rPr lang="en-GB" sz="2000" i="0" kern="0" dirty="0"/>
              <a:t>  &lt;head&gt;</a:t>
            </a:r>
          </a:p>
          <a:p>
            <a:pPr>
              <a:defRPr/>
            </a:pPr>
            <a:r>
              <a:rPr lang="en-GB" sz="2000" i="0" kern="0" dirty="0"/>
              <a:t>    &lt;title&gt;My First Web Page&lt;/title&gt;</a:t>
            </a:r>
          </a:p>
          <a:p>
            <a:pPr>
              <a:defRPr/>
            </a:pPr>
            <a:r>
              <a:rPr lang="en-GB" sz="2000" i="0" kern="0" dirty="0"/>
              <a:t>  &lt;/head&gt;</a:t>
            </a:r>
          </a:p>
          <a:p>
            <a:pPr>
              <a:defRPr/>
            </a:pPr>
            <a:r>
              <a:rPr lang="en-GB" sz="2000" i="0" kern="0" dirty="0"/>
              <a:t>  &lt;body&gt;</a:t>
            </a:r>
          </a:p>
          <a:p>
            <a:pPr>
              <a:defRPr/>
            </a:pPr>
            <a:r>
              <a:rPr lang="en-GB" sz="2000" i="0" kern="0" dirty="0"/>
              <a:t>    &lt;p&gt;This is a paragraph. It contains multiple sentences and forms a coherent block of text.&lt;/p&gt;</a:t>
            </a:r>
          </a:p>
          <a:p>
            <a:pPr>
              <a:defRPr/>
            </a:pPr>
            <a:r>
              <a:rPr lang="en-GB" sz="2000" i="0" kern="0" dirty="0"/>
              <a:t>	&lt;p&gt; This is second paragraph.&lt;/p&gt;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</a:p>
          <a:p>
            <a:pPr>
              <a:defRPr/>
            </a:pPr>
            <a:r>
              <a:rPr lang="en-GB" sz="2000" i="0" kern="0" dirty="0"/>
              <a:t>&lt;/html&gt;</a:t>
            </a:r>
          </a:p>
          <a:p>
            <a:pPr>
              <a:defRPr/>
            </a:pPr>
            <a:endParaRPr lang="en-US" sz="16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6DDE4-52EA-20DF-0478-5E51093F5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11" y="4725144"/>
            <a:ext cx="5837287" cy="124479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7" name="Arrow: Circular 6">
            <a:extLst>
              <a:ext uri="{FF2B5EF4-FFF2-40B4-BE49-F238E27FC236}">
                <a16:creationId xmlns:a16="http://schemas.microsoft.com/office/drawing/2014/main" id="{6C915F78-D129-3D72-6816-91BE14F705D6}"/>
              </a:ext>
            </a:extLst>
          </p:cNvPr>
          <p:cNvSpPr/>
          <p:nvPr/>
        </p:nvSpPr>
        <p:spPr bwMode="auto">
          <a:xfrm rot="10003092" flipV="1">
            <a:off x="5212220" y="3865128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3B4ED06-1000-AAB0-44A6-9A92ADD92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E81DE-80F6-E6CA-7A3A-6AF57D0A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484313"/>
            <a:ext cx="8784976" cy="2520752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&lt;a&gt; (Links):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&lt;a&gt; element creates hyperlinks.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users to navigate to other web pages or resources.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attribute specifies the destination URL of the link.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CB93B-6904-EA7E-7777-7A5EBD8348DE}"/>
              </a:ext>
            </a:extLst>
          </p:cNvPr>
          <p:cNvSpPr txBox="1"/>
          <p:nvPr/>
        </p:nvSpPr>
        <p:spPr>
          <a:xfrm>
            <a:off x="701812" y="3497233"/>
            <a:ext cx="10585176" cy="101566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i="0" kern="0" dirty="0">
                <a:latin typeface="+mn-lt"/>
              </a:rPr>
              <a:t> &lt;body&gt;</a:t>
            </a:r>
          </a:p>
          <a:p>
            <a:pPr>
              <a:defRPr/>
            </a:pPr>
            <a:r>
              <a:rPr lang="en-GB" sz="2000" i="0" kern="0" dirty="0">
                <a:latin typeface="+mn-lt"/>
              </a:rPr>
              <a:t>    &lt;p&gt;Check out my &lt;a </a:t>
            </a:r>
            <a:r>
              <a:rPr lang="en-GB" sz="2000" i="0" kern="0" dirty="0" err="1">
                <a:latin typeface="+mn-lt"/>
              </a:rPr>
              <a:t>href</a:t>
            </a:r>
            <a:r>
              <a:rPr lang="en-GB" sz="2000" i="0" kern="0" dirty="0">
                <a:latin typeface="+mn-lt"/>
              </a:rPr>
              <a:t>="https://www.example.com"&gt;website&lt;/a&gt; for more information.&lt;/p&gt;</a:t>
            </a:r>
          </a:p>
          <a:p>
            <a:pPr>
              <a:defRPr/>
            </a:pPr>
            <a:r>
              <a:rPr lang="en-GB" sz="2000" i="0" kern="0" dirty="0">
                <a:latin typeface="+mn-lt"/>
              </a:rPr>
              <a:t>  &lt;/body&gt;</a:t>
            </a:r>
            <a:endParaRPr lang="en-GB" sz="20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BC628-7EA6-3145-39BA-ED2C3317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4977643"/>
            <a:ext cx="4634908" cy="792087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</p:pic>
      <p:sp>
        <p:nvSpPr>
          <p:cNvPr id="8" name="Arrow: Circular 7">
            <a:extLst>
              <a:ext uri="{FF2B5EF4-FFF2-40B4-BE49-F238E27FC236}">
                <a16:creationId xmlns:a16="http://schemas.microsoft.com/office/drawing/2014/main" id="{B494C0FA-63D9-BFB9-B080-276C31A0B036}"/>
              </a:ext>
            </a:extLst>
          </p:cNvPr>
          <p:cNvSpPr/>
          <p:nvPr/>
        </p:nvSpPr>
        <p:spPr bwMode="auto">
          <a:xfrm rot="2305906" flipV="1">
            <a:off x="1860989" y="4077450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5FE19DF-44BE-14BB-0D4D-23190DBBB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BFCAD-8E4E-8438-E156-80EC15669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258888"/>
            <a:ext cx="11587336" cy="2881312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and 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Emphasis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&lt;strong&gt; represents strong emphasis, often displayed as </a:t>
            </a:r>
            <a:r>
              <a:rPr lang="en-US" sz="2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text by browsers.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represents 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emphasised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text, typically displayed in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italics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browsers.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elements add semantic meaning to the text, helping search engines and assistive technologies.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308EA1-C971-0105-239E-0DE35444C024}"/>
              </a:ext>
            </a:extLst>
          </p:cNvPr>
          <p:cNvSpPr txBox="1">
            <a:spLocks/>
          </p:cNvSpPr>
          <p:nvPr/>
        </p:nvSpPr>
        <p:spPr bwMode="auto">
          <a:xfrm>
            <a:off x="2135560" y="3457521"/>
            <a:ext cx="8641333" cy="182567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&lt;body&gt;</a:t>
            </a:r>
          </a:p>
          <a:p>
            <a:pPr>
              <a:defRPr/>
            </a:pPr>
            <a:r>
              <a:rPr lang="en-GB" sz="2000" i="0" kern="0" dirty="0"/>
              <a:t>    &lt;p&gt;&lt;strong&gt;Important:&lt;/strong&gt; Please read the instructions carefully.&lt;/p&gt;</a:t>
            </a:r>
          </a:p>
          <a:p>
            <a:pPr>
              <a:defRPr/>
            </a:pPr>
            <a:r>
              <a:rPr lang="en-GB" sz="2000" i="0" kern="0" dirty="0"/>
              <a:t>    &lt;p&gt;This quote is &lt;</a:t>
            </a:r>
            <a:r>
              <a:rPr lang="en-GB" sz="2000" i="0" kern="0" dirty="0" err="1"/>
              <a:t>em</a:t>
            </a:r>
            <a:r>
              <a:rPr lang="en-GB" sz="2000" i="0" kern="0" dirty="0"/>
              <a:t>&gt;very&lt;/</a:t>
            </a:r>
            <a:r>
              <a:rPr lang="en-GB" sz="2000" i="0" kern="0" dirty="0" err="1"/>
              <a:t>em</a:t>
            </a:r>
            <a:r>
              <a:rPr lang="en-GB" sz="2000" i="0" kern="0" dirty="0"/>
              <a:t>&gt; inspiring.&lt;/p&gt;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FB227-93DE-86E0-168E-15955E9D3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5229200"/>
            <a:ext cx="4464496" cy="882094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78A32DFF-90AE-4D81-CFF2-6C553B47D423}"/>
              </a:ext>
            </a:extLst>
          </p:cNvPr>
          <p:cNvSpPr/>
          <p:nvPr/>
        </p:nvSpPr>
        <p:spPr bwMode="auto">
          <a:xfrm rot="2305906" flipV="1">
            <a:off x="2365045" y="4581921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FFD737E-C6DD-F3E4-9DAE-70D4D7755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Text-level Elements</a:t>
            </a:r>
            <a:endParaRPr lang="en-GB" alt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3AB3F-B490-2E5E-E933-2BC26B2E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18" y="1484784"/>
            <a:ext cx="11554870" cy="2655416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span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Inline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&lt;span&gt; element is an inline container.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to apply styles or add semantics to a specific section of text.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Unlike block-level elements, &lt;span&gt; does not add line breaks before and after its content.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CAA2FB-C31F-022F-67C2-AB7F6815C5ED}"/>
              </a:ext>
            </a:extLst>
          </p:cNvPr>
          <p:cNvSpPr txBox="1">
            <a:spLocks/>
          </p:cNvSpPr>
          <p:nvPr/>
        </p:nvSpPr>
        <p:spPr bwMode="auto">
          <a:xfrm>
            <a:off x="1919536" y="3705234"/>
            <a:ext cx="7921625" cy="123593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 &lt;body&gt;</a:t>
            </a:r>
          </a:p>
          <a:p>
            <a:pPr>
              <a:defRPr/>
            </a:pPr>
            <a:r>
              <a:rPr lang="en-GB" sz="2000" i="0" kern="0" dirty="0"/>
              <a:t>    &lt;p&gt;My bag is &lt;span style="</a:t>
            </a:r>
            <a:r>
              <a:rPr lang="en-GB" sz="2000" i="0" kern="0" dirty="0" err="1"/>
              <a:t>color:red</a:t>
            </a:r>
            <a:r>
              <a:rPr lang="en-GB" sz="2000" i="0" kern="0" dirty="0"/>
              <a:t>"&gt;red&lt;/span&gt; colour.&lt;/p&gt;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30C52-90F9-7FF0-55FC-8AC876CE6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0" y="5085184"/>
            <a:ext cx="1860674" cy="823287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4D4A0E56-C412-5681-ACC1-3AAF027B545F}"/>
              </a:ext>
            </a:extLst>
          </p:cNvPr>
          <p:cNvSpPr/>
          <p:nvPr/>
        </p:nvSpPr>
        <p:spPr bwMode="auto">
          <a:xfrm rot="2305906" flipV="1">
            <a:off x="2841647" y="4495891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FAE6DE7-D480-3870-0F2E-1776EAC9A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8FF0-B5E0-BD32-6932-87B14A961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644"/>
            <a:ext cx="9829849" cy="1512292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Abbreviation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element represents an abbreviation or acronym.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an additional information through a title attribute.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6FFE1B-11C7-FA9C-026D-9C4BB8658C24}"/>
              </a:ext>
            </a:extLst>
          </p:cNvPr>
          <p:cNvSpPr txBox="1">
            <a:spLocks/>
          </p:cNvSpPr>
          <p:nvPr/>
        </p:nvSpPr>
        <p:spPr bwMode="auto">
          <a:xfrm>
            <a:off x="839416" y="2996952"/>
            <a:ext cx="11089232" cy="151216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 &lt;body&gt;</a:t>
            </a:r>
          </a:p>
          <a:p>
            <a:pPr>
              <a:defRPr/>
            </a:pPr>
            <a:r>
              <a:rPr lang="en-GB" sz="2000" i="0" kern="0" dirty="0"/>
              <a:t>    &lt;p&gt;&lt;</a:t>
            </a:r>
            <a:r>
              <a:rPr lang="en-GB" sz="2000" i="0" kern="0" dirty="0" err="1"/>
              <a:t>abbr</a:t>
            </a:r>
            <a:r>
              <a:rPr lang="en-GB" sz="2000" i="0" kern="0" dirty="0"/>
              <a:t> title="World Health Organization"&gt;WHO&lt;/</a:t>
            </a:r>
            <a:r>
              <a:rPr lang="en-GB" sz="2000" i="0" kern="0" dirty="0" err="1"/>
              <a:t>abbr</a:t>
            </a:r>
            <a:r>
              <a:rPr lang="en-GB" sz="2000" i="0" kern="0" dirty="0"/>
              <a:t>&gt; provides health-related information.&lt;/p&gt;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A1A03-F8B5-2F21-2906-33884DEDC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4653136"/>
            <a:ext cx="5400600" cy="123401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913C8D40-68BB-CD2D-DE53-CE5333578752}"/>
              </a:ext>
            </a:extLst>
          </p:cNvPr>
          <p:cNvSpPr/>
          <p:nvPr/>
        </p:nvSpPr>
        <p:spPr bwMode="auto">
          <a:xfrm rot="2305906" flipV="1">
            <a:off x="1500948" y="3886951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E0653AE-5A21-FD85-44C6-D053155CD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Text-level Elements</a:t>
            </a:r>
            <a:endParaRPr lang="en-GB" alt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474CA-AF28-74AE-D3B5-9D468798B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484313"/>
            <a:ext cx="11161240" cy="2881312"/>
          </a:xfrm>
        </p:spPr>
        <p:txBody>
          <a:bodyPr/>
          <a:lstStyle/>
          <a:p>
            <a:pPr marL="0" indent="0"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&lt;sub&gt; and &lt;sup&gt; (Subscript and Superscript):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&lt;sub&gt; is used for subscript text.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chemical formulas or mathematical expressions.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&lt;sup&gt; is used for superscript text.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footnotes or exponentiation.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C29FBE-FAEF-16A4-D8CB-219D020DB711}"/>
              </a:ext>
            </a:extLst>
          </p:cNvPr>
          <p:cNvSpPr txBox="1">
            <a:spLocks/>
          </p:cNvSpPr>
          <p:nvPr/>
        </p:nvSpPr>
        <p:spPr bwMode="auto">
          <a:xfrm>
            <a:off x="335360" y="4105091"/>
            <a:ext cx="7200800" cy="165576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&lt;body&gt;</a:t>
            </a:r>
          </a:p>
          <a:p>
            <a:pPr>
              <a:defRPr/>
            </a:pPr>
            <a:r>
              <a:rPr lang="en-GB" sz="2000" i="0" kern="0" dirty="0"/>
              <a:t>    &lt;p&gt;H&lt;sub&gt;2&lt;/sub&gt;O is the chemical formula for water.&lt;/p&gt;</a:t>
            </a:r>
          </a:p>
          <a:p>
            <a:pPr>
              <a:defRPr/>
            </a:pPr>
            <a:r>
              <a:rPr lang="en-GB" sz="2000" i="0" kern="0" dirty="0"/>
              <a:t>    &lt;p&gt;2&lt;sup&gt;3&lt;/sup&gt; = 8&lt;/p&gt;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5D349-1DA9-BBDE-2735-91058021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40" y="4365625"/>
            <a:ext cx="2988332" cy="1008062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3FD1EF4B-03B8-7527-286E-4988978C77CE}"/>
              </a:ext>
            </a:extLst>
          </p:cNvPr>
          <p:cNvSpPr/>
          <p:nvPr/>
        </p:nvSpPr>
        <p:spPr bwMode="auto">
          <a:xfrm rot="1311647" flipV="1">
            <a:off x="7458397" y="4647346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F64E900B-9334-6390-7E44-65CD840EA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999BF-C117-5E55-859F-25EAE4BE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80" y="1387661"/>
            <a:ext cx="11161240" cy="2881312"/>
          </a:xfrm>
        </p:spPr>
        <p:txBody>
          <a:bodyPr/>
          <a:lstStyle/>
          <a:p>
            <a:pPr marL="0" indent="0"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(Horizontal Rule):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element inserts a horizontal line to separate content visually.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gives spacing between blocks.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 self-closing element and does not have a closing tag.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D9BA5B-A691-328C-1FB0-FE090E4D9364}"/>
              </a:ext>
            </a:extLst>
          </p:cNvPr>
          <p:cNvSpPr txBox="1">
            <a:spLocks/>
          </p:cNvSpPr>
          <p:nvPr/>
        </p:nvSpPr>
        <p:spPr bwMode="auto">
          <a:xfrm>
            <a:off x="263353" y="3415890"/>
            <a:ext cx="6552728" cy="224535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 &lt;body&gt;</a:t>
            </a:r>
          </a:p>
          <a:p>
            <a:pPr>
              <a:defRPr/>
            </a:pPr>
            <a:r>
              <a:rPr lang="en-GB" sz="2000" i="0" kern="0" dirty="0"/>
              <a:t>   &lt;p&gt;This paragraph is separated by a horizontal rule.&lt;/p&gt;</a:t>
            </a:r>
          </a:p>
          <a:p>
            <a:pPr>
              <a:defRPr/>
            </a:pPr>
            <a:r>
              <a:rPr lang="en-GB" sz="2000" i="0" kern="0" dirty="0"/>
              <a:t>   &lt;hr&gt;</a:t>
            </a:r>
          </a:p>
          <a:p>
            <a:pPr>
              <a:defRPr/>
            </a:pPr>
            <a:r>
              <a:rPr lang="en-GB" sz="2000" i="0" kern="0" dirty="0"/>
              <a:t>   &lt;p&gt;Continuing with the next paragraph.&lt;/p&gt;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30AE3-71A2-D95D-5788-11BE87E63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76" y="3667150"/>
            <a:ext cx="4505325" cy="144169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7C425EBF-721E-BA20-0A10-E9987A5623F0}"/>
              </a:ext>
            </a:extLst>
          </p:cNvPr>
          <p:cNvSpPr/>
          <p:nvPr/>
        </p:nvSpPr>
        <p:spPr bwMode="auto">
          <a:xfrm rot="1311647" flipV="1">
            <a:off x="6399725" y="4752108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65C2DAF-D5DC-7C3A-2D16-06AE5627C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1D51-5FAF-087F-C3F3-CB821FC89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484784"/>
            <a:ext cx="11665296" cy="2232248"/>
          </a:xfrm>
        </p:spPr>
        <p:txBody>
          <a:bodyPr/>
          <a:lstStyle/>
          <a:p>
            <a:pPr marL="0" indent="0"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&lt;blockquote&gt; (Block Quote):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&lt;blockquote&gt; element represents a block of quoted content from another source.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Browsers typically indent and style blockquotes to distinguish them from regular text.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678EE4-B23A-A58D-C3AB-5D2486BFF6CF}"/>
              </a:ext>
            </a:extLst>
          </p:cNvPr>
          <p:cNvSpPr txBox="1">
            <a:spLocks/>
          </p:cNvSpPr>
          <p:nvPr/>
        </p:nvSpPr>
        <p:spPr bwMode="auto">
          <a:xfrm>
            <a:off x="290792" y="3602536"/>
            <a:ext cx="7317376" cy="213072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 &lt;body&gt;</a:t>
            </a:r>
          </a:p>
          <a:p>
            <a:pPr>
              <a:defRPr/>
            </a:pPr>
            <a:r>
              <a:rPr lang="en-GB" sz="2000" i="0" kern="0" dirty="0"/>
              <a:t>  &lt;blockquote&gt;</a:t>
            </a:r>
          </a:p>
          <a:p>
            <a:pPr>
              <a:defRPr/>
            </a:pPr>
            <a:r>
              <a:rPr lang="en-GB" sz="2000" i="0" kern="0" dirty="0"/>
              <a:t>  &lt;p&gt;"Be yourself; everyone else is already taken." - Oscar Wilde&lt;/p&gt;</a:t>
            </a:r>
          </a:p>
          <a:p>
            <a:pPr>
              <a:defRPr/>
            </a:pPr>
            <a:r>
              <a:rPr lang="en-GB" sz="2000" i="0" kern="0" dirty="0"/>
              <a:t>  &lt;/blockquote&gt;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CE2A03-7CCB-D091-D902-BC194293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184" y="5301208"/>
            <a:ext cx="4257675" cy="69857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8" name="Arrow: Circular 7">
            <a:extLst>
              <a:ext uri="{FF2B5EF4-FFF2-40B4-BE49-F238E27FC236}">
                <a16:creationId xmlns:a16="http://schemas.microsoft.com/office/drawing/2014/main" id="{82229601-3851-22BA-786E-4B98AFFAC8AD}"/>
              </a:ext>
            </a:extLst>
          </p:cNvPr>
          <p:cNvSpPr/>
          <p:nvPr/>
        </p:nvSpPr>
        <p:spPr bwMode="auto">
          <a:xfrm rot="1904355" flipV="1">
            <a:off x="6240539" y="4857541"/>
            <a:ext cx="1595687" cy="12945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8A3FE98-188C-668D-A12E-D8E3F72CA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Text-level Elements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5A136-FD6E-A671-1830-44D1647E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103" y="1366080"/>
            <a:ext cx="11928648" cy="2881312"/>
          </a:xfrm>
        </p:spPr>
        <p:txBody>
          <a:bodyPr/>
          <a:lstStyle/>
          <a:p>
            <a:pPr marL="0" indent="0"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&lt;figure&gt; and &lt;</a:t>
            </a:r>
            <a:r>
              <a:rPr lang="en-US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figcaption</a:t>
            </a: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(Figure with Caption):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&lt;figure&gt; element: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content referenced from main content, such as images or videos.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figcaption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element: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a caption or description to the content inside &lt;figure&gt;.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A23042-2E70-1D51-51A1-49EA753AED61}"/>
              </a:ext>
            </a:extLst>
          </p:cNvPr>
          <p:cNvSpPr txBox="1">
            <a:spLocks/>
          </p:cNvSpPr>
          <p:nvPr/>
        </p:nvSpPr>
        <p:spPr bwMode="auto">
          <a:xfrm>
            <a:off x="440483" y="3573016"/>
            <a:ext cx="6879653" cy="259228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GB" sz="2000" i="0" kern="0" dirty="0"/>
              <a:t> &lt;body&gt;</a:t>
            </a:r>
          </a:p>
          <a:p>
            <a:pPr>
              <a:defRPr/>
            </a:pPr>
            <a:r>
              <a:rPr lang="en-GB" sz="2000" i="0" kern="0" dirty="0"/>
              <a:t>  &lt;figure&gt;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img</a:t>
            </a:r>
            <a:r>
              <a:rPr lang="en-GB" sz="2000" i="0" kern="0" dirty="0"/>
              <a:t> </a:t>
            </a:r>
            <a:r>
              <a:rPr lang="en-GB" sz="2000" i="0" kern="0" dirty="0" err="1"/>
              <a:t>src</a:t>
            </a:r>
            <a:r>
              <a:rPr lang="en-GB" sz="2000" i="0" kern="0" dirty="0"/>
              <a:t>="image.jpg" alt="A beautiful landscape"&gt;</a:t>
            </a:r>
          </a:p>
          <a:p>
            <a:pPr>
              <a:defRPr/>
            </a:pPr>
            <a:r>
              <a:rPr lang="en-GB" sz="2000" i="0" kern="0" dirty="0"/>
              <a:t>    &lt;</a:t>
            </a:r>
            <a:r>
              <a:rPr lang="en-GB" sz="2000" i="0" kern="0" dirty="0" err="1"/>
              <a:t>figcaption</a:t>
            </a:r>
            <a:r>
              <a:rPr lang="en-GB" sz="2000" i="0" kern="0" dirty="0"/>
              <a:t>&gt;A breathtaking landscape.&lt;/</a:t>
            </a:r>
            <a:r>
              <a:rPr lang="en-GB" sz="2000" i="0" kern="0" dirty="0" err="1"/>
              <a:t>figcaption</a:t>
            </a:r>
            <a:r>
              <a:rPr lang="en-GB" sz="2000" i="0" kern="0" dirty="0"/>
              <a:t>&gt;</a:t>
            </a:r>
          </a:p>
          <a:p>
            <a:pPr>
              <a:defRPr/>
            </a:pPr>
            <a:r>
              <a:rPr lang="en-GB" sz="2000" i="0" kern="0" dirty="0"/>
              <a:t>  &lt;/figure&gt;</a:t>
            </a:r>
          </a:p>
          <a:p>
            <a:pPr>
              <a:defRPr/>
            </a:pPr>
            <a:r>
              <a:rPr lang="en-GB" sz="2000" i="0" kern="0" dirty="0"/>
              <a:t>  &lt;/body&gt;</a:t>
            </a:r>
            <a:endParaRPr lang="en-US" sz="20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E8063-7DE3-7C51-3A17-39D10A39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63" y="3831593"/>
            <a:ext cx="3514725" cy="211404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2" name="Right Arrow 1"/>
          <p:cNvSpPr/>
          <p:nvPr/>
        </p:nvSpPr>
        <p:spPr bwMode="auto">
          <a:xfrm>
            <a:off x="7104112" y="4507337"/>
            <a:ext cx="1114642" cy="317487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99AED-E89F-8711-8B12-3F121C28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Lists</a:t>
            </a:r>
          </a:p>
        </p:txBody>
      </p:sp>
      <p:pic>
        <p:nvPicPr>
          <p:cNvPr id="2050" name="Picture 2" descr="Free photo html system for websites concept">
            <a:extLst>
              <a:ext uri="{FF2B5EF4-FFF2-40B4-BE49-F238E27FC236}">
                <a16:creationId xmlns:a16="http://schemas.microsoft.com/office/drawing/2014/main" id="{B7D197ED-875A-B564-04D3-D4AACC5BB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84" y="1340768"/>
            <a:ext cx="6168008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34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>
            <a:extLst>
              <a:ext uri="{FF2B5EF4-FFF2-40B4-BE49-F238E27FC236}">
                <a16:creationId xmlns:a16="http://schemas.microsoft.com/office/drawing/2014/main" id="{D29E9F97-3FB6-DADB-311B-317FD97DF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HTML Lists</a:t>
            </a:r>
            <a:endParaRPr lang="en-GB" altLang="en-US" sz="4800" dirty="0"/>
          </a:p>
        </p:txBody>
      </p:sp>
      <p:sp>
        <p:nvSpPr>
          <p:cNvPr id="34819" name="Content Placeholder 4">
            <a:extLst>
              <a:ext uri="{FF2B5EF4-FFF2-40B4-BE49-F238E27FC236}">
                <a16:creationId xmlns:a16="http://schemas.microsoft.com/office/drawing/2014/main" id="{11167B5B-A8A4-0B4E-E5CB-74131E899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2087" y="1484784"/>
            <a:ext cx="11807825" cy="4319587"/>
          </a:xfrm>
        </p:spPr>
        <p:txBody>
          <a:bodyPr/>
          <a:lstStyle/>
          <a:p>
            <a:pPr marL="0" indent="0"/>
            <a:r>
              <a:rPr lang="en-US" altLang="en-US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types of lists:</a:t>
            </a:r>
          </a:p>
          <a:p>
            <a:pPr marL="901700" lvl="1" indent="-457200"/>
            <a:r>
              <a:rPr lang="en-US" altLang="en-US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Unordered lists (bulleted lists) </a:t>
            </a:r>
          </a:p>
          <a:p>
            <a:pPr marL="1436688" lvl="2" indent="-457200"/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using the &lt;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(unordered list) tag.</a:t>
            </a:r>
          </a:p>
          <a:p>
            <a:pPr marL="901700" lvl="1" indent="-457200"/>
            <a:r>
              <a:rPr lang="en-US" altLang="en-US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 lists (numbered lists)</a:t>
            </a:r>
          </a:p>
          <a:p>
            <a:pPr marL="1436688" lvl="2" indent="-457200"/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using the &lt;</a:t>
            </a:r>
            <a:r>
              <a:rPr lang="en-US" alt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(ordered list) tag</a:t>
            </a:r>
          </a:p>
          <a:p>
            <a:pPr marL="901700" lvl="1" indent="-457200"/>
            <a:r>
              <a:rPr lang="en-US" altLang="en-US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items are represented by the &lt;li&gt; (list item) tag.</a:t>
            </a:r>
            <a:endParaRPr lang="en-GB" altLang="en-US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4644DDBF-5A4D-F470-DE75-785366750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HTML Lists</a:t>
            </a:r>
            <a:endParaRPr lang="en-GB" alt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58FE-3B75-0DC3-566E-B46C09308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3" y="1412776"/>
            <a:ext cx="6178550" cy="4537075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Unordered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 (&lt;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list of items without any specific order or sequence.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displayed as bullet points by default.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tag to create an unordered list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list items inside the &lt;li&gt; tags.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04D417-FA2C-4CA9-E2AF-77DAEB40D43C}"/>
              </a:ext>
            </a:extLst>
          </p:cNvPr>
          <p:cNvSpPr txBox="1">
            <a:spLocks/>
          </p:cNvSpPr>
          <p:nvPr/>
        </p:nvSpPr>
        <p:spPr bwMode="auto">
          <a:xfrm>
            <a:off x="6816080" y="1700808"/>
            <a:ext cx="4545012" cy="266429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it-IT" sz="2000" i="0" kern="0" dirty="0"/>
              <a:t>&lt;body&gt;</a:t>
            </a:r>
          </a:p>
          <a:p>
            <a:pPr>
              <a:defRPr/>
            </a:pPr>
            <a:r>
              <a:rPr lang="it-IT" sz="2000" i="0" kern="0" dirty="0"/>
              <a:t>  &lt;ul&gt;</a:t>
            </a:r>
          </a:p>
          <a:p>
            <a:pPr>
              <a:defRPr/>
            </a:pPr>
            <a:r>
              <a:rPr lang="it-IT" sz="2000" i="0" kern="0" dirty="0"/>
              <a:t>     &lt;li&gt;Item 1&lt;/li&gt;</a:t>
            </a:r>
          </a:p>
          <a:p>
            <a:pPr>
              <a:defRPr/>
            </a:pPr>
            <a:r>
              <a:rPr lang="it-IT" sz="2000" i="0" kern="0" dirty="0"/>
              <a:t>     &lt;li&gt;Item 2&lt;/li&gt;</a:t>
            </a:r>
          </a:p>
          <a:p>
            <a:pPr>
              <a:defRPr/>
            </a:pPr>
            <a:r>
              <a:rPr lang="it-IT" sz="2000" i="0" kern="0" dirty="0"/>
              <a:t>     &lt;li&gt;Item 3&lt;/li&gt;</a:t>
            </a:r>
          </a:p>
          <a:p>
            <a:pPr>
              <a:defRPr/>
            </a:pPr>
            <a:r>
              <a:rPr lang="it-IT" sz="2000" i="0" kern="0" dirty="0"/>
              <a:t>  &lt;/ul&gt;</a:t>
            </a:r>
          </a:p>
          <a:p>
            <a:pPr>
              <a:defRPr/>
            </a:pPr>
            <a:r>
              <a:rPr lang="it-IT" sz="2000" i="0" kern="0" dirty="0"/>
              <a:t>  &lt;/body&gt;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55A32-1B69-AB07-DC28-20D865BFC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72" y="4785685"/>
            <a:ext cx="1626075" cy="1190519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30790AA1-38FD-F35C-C409-10878FF3A9C1}"/>
              </a:ext>
            </a:extLst>
          </p:cNvPr>
          <p:cNvSpPr/>
          <p:nvPr/>
        </p:nvSpPr>
        <p:spPr bwMode="auto">
          <a:xfrm rot="13163838" flipH="1">
            <a:off x="7159637" y="4080059"/>
            <a:ext cx="1292418" cy="1434026"/>
          </a:xfrm>
          <a:prstGeom prst="circularArrow">
            <a:avLst>
              <a:gd name="adj1" fmla="val 11764"/>
              <a:gd name="adj2" fmla="val 1142319"/>
              <a:gd name="adj3" fmla="val 20157983"/>
              <a:gd name="adj4" fmla="val 13411000"/>
              <a:gd name="adj5" fmla="val 12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32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B7417C3-CF48-B781-9C13-1FB5AE863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Lists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E0553-3DF7-63BB-E032-5DFD15F53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484313"/>
            <a:ext cx="6053311" cy="4537075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 (&lt;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&gt;):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Conversely, a list of items with a specific order or sequence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displayed as bullet points by default.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tag to create an ordered list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list items inside the &lt;li&gt; tags.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8228C-E087-84CE-256C-4BBF9E3FDDBE}"/>
              </a:ext>
            </a:extLst>
          </p:cNvPr>
          <p:cNvSpPr txBox="1">
            <a:spLocks/>
          </p:cNvSpPr>
          <p:nvPr/>
        </p:nvSpPr>
        <p:spPr bwMode="auto">
          <a:xfrm>
            <a:off x="6456040" y="1701800"/>
            <a:ext cx="4545012" cy="28793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it-IT" sz="2000" i="0" kern="0" dirty="0"/>
              <a:t> &lt;body&gt;</a:t>
            </a:r>
          </a:p>
          <a:p>
            <a:pPr>
              <a:defRPr/>
            </a:pPr>
            <a:r>
              <a:rPr lang="it-IT" sz="2000" i="0" kern="0" dirty="0"/>
              <a:t>  &lt;ol&gt;</a:t>
            </a:r>
          </a:p>
          <a:p>
            <a:pPr>
              <a:defRPr/>
            </a:pPr>
            <a:r>
              <a:rPr lang="it-IT" sz="2000" i="0" kern="0" dirty="0"/>
              <a:t>    &lt;li&gt;Item 1&lt;/li&gt;</a:t>
            </a:r>
          </a:p>
          <a:p>
            <a:pPr>
              <a:defRPr/>
            </a:pPr>
            <a:r>
              <a:rPr lang="it-IT" sz="2000" i="0" kern="0" dirty="0"/>
              <a:t>    &lt;li&gt;Item 2&lt;/li&gt;</a:t>
            </a:r>
          </a:p>
          <a:p>
            <a:pPr>
              <a:defRPr/>
            </a:pPr>
            <a:r>
              <a:rPr lang="it-IT" sz="2000" i="0" kern="0" dirty="0"/>
              <a:t>    &lt;li&gt;Item 3&lt;/li&gt;</a:t>
            </a:r>
          </a:p>
          <a:p>
            <a:pPr>
              <a:defRPr/>
            </a:pPr>
            <a:r>
              <a:rPr lang="it-IT" sz="2000" i="0" kern="0" dirty="0"/>
              <a:t>  &lt;/ol&gt;</a:t>
            </a:r>
          </a:p>
          <a:p>
            <a:pPr>
              <a:defRPr/>
            </a:pPr>
            <a:r>
              <a:rPr lang="it-IT" sz="2000" i="0" kern="0" dirty="0"/>
              <a:t>  &lt;/body&gt;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ED118-E33B-97D0-C2CC-9385090A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72" y="4978303"/>
            <a:ext cx="1368152" cy="1022514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3478E6-56D9-BA4D-CE8F-FF0F99463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4881265"/>
            <a:ext cx="957155" cy="58526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A7F9149-5842-4DE9-F85F-FC52BFEF6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HTML Lists</a:t>
            </a:r>
            <a:endParaRPr lang="en-GB" alt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F8E27-7E53-2CD1-6B52-2F8CD6B5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340768"/>
            <a:ext cx="4752528" cy="1656183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 can be nested inside each other to create hierarchical structures.</a:t>
            </a:r>
          </a:p>
          <a:p>
            <a:pPr marL="444500" lvl="1" indent="0">
              <a:buFontTx/>
              <a:buNone/>
              <a:defRPr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0D6BE3-F717-5DC5-11B1-0DEAEA469C90}"/>
              </a:ext>
            </a:extLst>
          </p:cNvPr>
          <p:cNvSpPr txBox="1">
            <a:spLocks/>
          </p:cNvSpPr>
          <p:nvPr/>
        </p:nvSpPr>
        <p:spPr bwMode="auto">
          <a:xfrm>
            <a:off x="6312024" y="1484784"/>
            <a:ext cx="4545013" cy="453650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it-IT" sz="2000" i="0" kern="0" dirty="0"/>
              <a:t> &lt;body&gt;</a:t>
            </a:r>
          </a:p>
          <a:p>
            <a:pPr>
              <a:defRPr/>
            </a:pPr>
            <a:r>
              <a:rPr lang="it-IT" sz="2000" i="0" kern="0" dirty="0"/>
              <a:t>  &lt;ul&gt;</a:t>
            </a:r>
          </a:p>
          <a:p>
            <a:pPr>
              <a:defRPr/>
            </a:pPr>
            <a:r>
              <a:rPr lang="it-IT" sz="2000" i="0" kern="0" dirty="0"/>
              <a:t>  &lt;li&gt;Item 1&lt;/li&gt;</a:t>
            </a:r>
          </a:p>
          <a:p>
            <a:pPr>
              <a:defRPr/>
            </a:pPr>
            <a:r>
              <a:rPr lang="it-IT" sz="2000" i="0" kern="0" dirty="0"/>
              <a:t>  &lt;li&gt;Item 2</a:t>
            </a:r>
          </a:p>
          <a:p>
            <a:pPr>
              <a:defRPr/>
            </a:pPr>
            <a:r>
              <a:rPr lang="it-IT" sz="2000" i="0" kern="0" dirty="0"/>
              <a:t>    &lt;ul&gt;</a:t>
            </a:r>
          </a:p>
          <a:p>
            <a:pPr>
              <a:defRPr/>
            </a:pPr>
            <a:r>
              <a:rPr lang="it-IT" sz="2000" i="0" kern="0" dirty="0"/>
              <a:t>      &lt;li&gt;Subitem 2.1&lt;/li&gt;</a:t>
            </a:r>
          </a:p>
          <a:p>
            <a:pPr>
              <a:defRPr/>
            </a:pPr>
            <a:r>
              <a:rPr lang="it-IT" sz="2000" i="0" kern="0" dirty="0"/>
              <a:t>      &lt;li&gt;Subitem 2.2&lt;/li&gt;</a:t>
            </a:r>
          </a:p>
          <a:p>
            <a:pPr>
              <a:defRPr/>
            </a:pPr>
            <a:r>
              <a:rPr lang="it-IT" sz="2000" i="0" kern="0" dirty="0"/>
              <a:t>    &lt;/ul&gt;</a:t>
            </a:r>
          </a:p>
          <a:p>
            <a:pPr>
              <a:defRPr/>
            </a:pPr>
            <a:r>
              <a:rPr lang="it-IT" sz="2000" i="0" kern="0" dirty="0"/>
              <a:t>  &lt;/li&gt;</a:t>
            </a:r>
          </a:p>
          <a:p>
            <a:pPr>
              <a:defRPr/>
            </a:pPr>
            <a:r>
              <a:rPr lang="it-IT" sz="2000" i="0" kern="0" dirty="0"/>
              <a:t>  &lt;li&gt;Item 3&lt;/li&gt;</a:t>
            </a:r>
          </a:p>
          <a:p>
            <a:pPr>
              <a:defRPr/>
            </a:pPr>
            <a:r>
              <a:rPr lang="it-IT" sz="2000" i="0" kern="0" dirty="0"/>
              <a:t>  &lt;/ul&gt;</a:t>
            </a:r>
          </a:p>
          <a:p>
            <a:pPr>
              <a:defRPr/>
            </a:pPr>
            <a:r>
              <a:rPr lang="it-IT" sz="2000" i="0" kern="0" dirty="0"/>
              <a:t>  &lt;/body&gt;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E4FEA-93BC-8812-43F3-4411C36D9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3573016"/>
            <a:ext cx="2713115" cy="187220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6D03F-7E2B-972C-365E-B6A1028F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727121" y="5301208"/>
            <a:ext cx="1203085" cy="5852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2C32-E9B1-C852-31AE-E4325A5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Forms</a:t>
            </a:r>
          </a:p>
        </p:txBody>
      </p:sp>
      <p:pic>
        <p:nvPicPr>
          <p:cNvPr id="3074" name="Picture 2" descr="Free photo html system for website concept">
            <a:extLst>
              <a:ext uri="{FF2B5EF4-FFF2-40B4-BE49-F238E27FC236}">
                <a16:creationId xmlns:a16="http://schemas.microsoft.com/office/drawing/2014/main" id="{972E414E-85BB-C77F-5D14-7D2CAF195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84" y="1196752"/>
            <a:ext cx="6047316" cy="5112568"/>
          </a:xfrm>
          <a:prstGeom prst="rect">
            <a:avLst/>
          </a:prstGeom>
          <a:noFill/>
          <a:effectLst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592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>
            <a:extLst>
              <a:ext uri="{FF2B5EF4-FFF2-40B4-BE49-F238E27FC236}">
                <a16:creationId xmlns:a16="http://schemas.microsoft.com/office/drawing/2014/main" id="{E6CC5278-485E-4232-F0BB-E8FA72549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8915" name="Content Placeholder 4">
            <a:extLst>
              <a:ext uri="{FF2B5EF4-FFF2-40B4-BE49-F238E27FC236}">
                <a16:creationId xmlns:a16="http://schemas.microsoft.com/office/drawing/2014/main" id="{8EE374E2-8688-A332-1BE7-8C197292F5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85261" y="1637084"/>
            <a:ext cx="6368625" cy="4240187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en-US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for users to submit data to a web server for processing.</a:t>
            </a:r>
          </a:p>
          <a:p>
            <a:pPr marL="457200" indent="-457200">
              <a:buFontTx/>
              <a:buChar char="•"/>
            </a:pPr>
            <a:r>
              <a:rPr lang="en-US" altLang="en-US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for various interactive elements:</a:t>
            </a:r>
          </a:p>
          <a:p>
            <a:pPr marL="901700" lvl="1" indent="-457200"/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forms</a:t>
            </a:r>
          </a:p>
          <a:p>
            <a:pPr marL="901700" lvl="1" indent="-457200"/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pages</a:t>
            </a:r>
          </a:p>
          <a:p>
            <a:pPr marL="901700" lvl="1" indent="-457200"/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bars</a:t>
            </a:r>
            <a:endParaRPr lang="en-GB" alt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A57246E-BE1B-1814-8C38-4645ED5EA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700808"/>
            <a:ext cx="5237807" cy="2124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marL="444500" lvl="1" indent="0">
              <a:buNone/>
            </a:pPr>
            <a:r>
              <a:rPr lang="en-GB" altLang="en-US" sz="2400" b="1" kern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 for a website where you use form before and discuss the various types of form from different websites.  </a:t>
            </a:r>
          </a:p>
        </p:txBody>
      </p:sp>
      <p:pic>
        <p:nvPicPr>
          <p:cNvPr id="1028" name="Picture 4" descr="Free vector curiosity brain concept illustration">
            <a:extLst>
              <a:ext uri="{FF2B5EF4-FFF2-40B4-BE49-F238E27FC236}">
                <a16:creationId xmlns:a16="http://schemas.microsoft.com/office/drawing/2014/main" id="{D49D3772-2EA6-E941-CB47-A26E33067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3250348"/>
            <a:ext cx="2765301" cy="276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3">
            <a:extLst>
              <a:ext uri="{FF2B5EF4-FFF2-40B4-BE49-F238E27FC236}">
                <a16:creationId xmlns:a16="http://schemas.microsoft.com/office/drawing/2014/main" id="{E4B236D5-0133-FBC4-5552-94A5F5547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9939" name="Content Placeholder 4">
            <a:extLst>
              <a:ext uri="{FF2B5EF4-FFF2-40B4-BE49-F238E27FC236}">
                <a16:creationId xmlns:a16="http://schemas.microsoft.com/office/drawing/2014/main" id="{B1201AC1-FDF4-59AC-0558-2C37049DB1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5360" y="1484784"/>
            <a:ext cx="11377263" cy="4680520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&lt;form&gt; element is used to create an HTML form.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elements: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fields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Buttons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Checkboxes</a:t>
            </a:r>
          </a:p>
          <a:p>
            <a:pPr marL="901700" lvl="1" indent="-457200"/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 buttons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action attribute specifies the URL where the form data will be sent upon submission.</a:t>
            </a:r>
          </a:p>
          <a:p>
            <a:pPr marL="457200" indent="-457200">
              <a:buFontTx/>
              <a:buChar char="•"/>
            </a:pPr>
            <a:r>
              <a:rPr lang="en-US" altLang="en-US" sz="2800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method attribute defines the HTTP method used for the form submission (e.g., "GET" or "POST").</a:t>
            </a:r>
            <a:endParaRPr lang="en-GB" altLang="en-US" sz="280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EEC4D5B-498D-9F38-EE9D-59103E1D6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6AA3-49EA-DCFD-3CF2-90776166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412777"/>
            <a:ext cx="11515328" cy="2952328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&lt;input&gt;: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&lt;input&gt; element represents various form controls like text input, radio buttons, checkboxes, buttons, etc.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 attribute defines the type of input control to be displayed.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attribute is used to identify the input field when the form is submitted.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2DAE29-8D7D-44D5-55DE-4C13C81947A7}"/>
              </a:ext>
            </a:extLst>
          </p:cNvPr>
          <p:cNvSpPr txBox="1">
            <a:spLocks/>
          </p:cNvSpPr>
          <p:nvPr/>
        </p:nvSpPr>
        <p:spPr bwMode="auto">
          <a:xfrm>
            <a:off x="551385" y="3861048"/>
            <a:ext cx="6408712" cy="20601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it-IT" sz="2000" i="0" kern="0" dirty="0"/>
              <a:t>&lt;form action="/submit" method="post"&gt;</a:t>
            </a:r>
          </a:p>
          <a:p>
            <a:pPr>
              <a:defRPr/>
            </a:pPr>
            <a:r>
              <a:rPr lang="it-IT" sz="2000" i="0" kern="0" dirty="0"/>
              <a:t>  &lt;label for="username"&gt;Username:&lt;/label&gt;</a:t>
            </a:r>
          </a:p>
          <a:p>
            <a:pPr>
              <a:defRPr/>
            </a:pPr>
            <a:r>
              <a:rPr lang="it-IT" sz="2000" i="0" kern="0" dirty="0"/>
              <a:t>  &lt;input type="text" id="username" name="username"&gt;</a:t>
            </a:r>
          </a:p>
          <a:p>
            <a:pPr>
              <a:defRPr/>
            </a:pPr>
            <a:r>
              <a:rPr lang="it-IT" sz="2000" i="0" kern="0" dirty="0"/>
              <a:t>  &lt;input type="submit" value="Submit"&gt;</a:t>
            </a:r>
          </a:p>
          <a:p>
            <a:pPr>
              <a:defRPr/>
            </a:pPr>
            <a:r>
              <a:rPr lang="it-IT" sz="2000" i="0" kern="0" dirty="0"/>
              <a:t>&lt;/form&gt;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3FB61-EC2C-5D97-A978-25D751ED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892" y="4518994"/>
            <a:ext cx="3429000" cy="80771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FF1964-16B6-E101-825F-633A30C04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201995">
            <a:off x="7193225" y="5393938"/>
            <a:ext cx="1296142" cy="48055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FFCC2824-668E-8B5A-E318-A6FFB4448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B3D9A-A945-315B-7E66-943DA680A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14" y="1412777"/>
            <a:ext cx="11572509" cy="2232248"/>
          </a:xfrm>
        </p:spPr>
        <p:txBody>
          <a:bodyPr/>
          <a:lstStyle/>
          <a:p>
            <a:pPr marL="0" indent="0">
              <a:defRPr/>
            </a:pPr>
            <a:r>
              <a:rPr lang="fr-FR" sz="28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8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textarea</a:t>
            </a:r>
            <a:r>
              <a:rPr lang="fr-FR" sz="28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</a:t>
            </a:r>
            <a:r>
              <a:rPr lang="en-US" sz="28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textarea</a:t>
            </a:r>
            <a:r>
              <a:rPr 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element creates a multi-line text input area for longer text entries.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attribute is used to identify the </a:t>
            </a:r>
            <a:r>
              <a:rPr lang="en-US" sz="28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textarea</a:t>
            </a:r>
            <a:r>
              <a:rPr 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the form is submitted.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9780D7-B8B6-F1AD-03C3-F062D7509C6F}"/>
              </a:ext>
            </a:extLst>
          </p:cNvPr>
          <p:cNvSpPr txBox="1">
            <a:spLocks/>
          </p:cNvSpPr>
          <p:nvPr/>
        </p:nvSpPr>
        <p:spPr bwMode="auto">
          <a:xfrm>
            <a:off x="767408" y="3933056"/>
            <a:ext cx="5472608" cy="216024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it-IT" sz="2000" i="0" kern="0" dirty="0"/>
              <a:t>&lt;form action="/submit" method="post"&gt;</a:t>
            </a:r>
          </a:p>
          <a:p>
            <a:pPr>
              <a:defRPr/>
            </a:pPr>
            <a:r>
              <a:rPr lang="it-IT" sz="2000" i="0" kern="0" dirty="0"/>
              <a:t>  &lt;label for="message"&gt;Message:&lt;/label&gt;</a:t>
            </a:r>
          </a:p>
          <a:p>
            <a:pPr>
              <a:defRPr/>
            </a:pPr>
            <a:r>
              <a:rPr lang="it-IT" sz="2000" i="0" kern="0" dirty="0"/>
              <a:t>  &lt;textarea id="message" name="message" rows="4" cols="50"&gt;&lt;/textarea&gt;</a:t>
            </a:r>
          </a:p>
          <a:p>
            <a:pPr>
              <a:defRPr/>
            </a:pPr>
            <a:r>
              <a:rPr lang="it-IT" sz="2000" i="0" kern="0" dirty="0"/>
              <a:t>  &lt;input type="submit" value="Submit"&gt;</a:t>
            </a:r>
          </a:p>
          <a:p>
            <a:pPr>
              <a:defRPr/>
            </a:pPr>
            <a:r>
              <a:rPr lang="it-IT" sz="2000" i="0" kern="0" dirty="0"/>
              <a:t>&lt;/form&gt;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7BFCD-DA1D-9A37-063A-E0669F76A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4077072"/>
            <a:ext cx="5124450" cy="170115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68708-7D40-C15C-AB12-47DB9CE8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47936">
            <a:off x="6557533" y="5827996"/>
            <a:ext cx="857370" cy="32169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F662F746-D2A4-695E-17A6-3BC6D1BD5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B7C1E-348F-ED83-048C-77C413D3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27" y="1268760"/>
            <a:ext cx="12053887" cy="2109787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&lt;select&gt; and &lt;option&gt;: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&lt;select&gt; element creates a dropdown list, and &lt;option&gt; elements define the individual options in the list.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name attribute is used to identify the select field when the form is submitted.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1DD1CF-554A-A9B6-C58B-0F86445275D5}"/>
              </a:ext>
            </a:extLst>
          </p:cNvPr>
          <p:cNvSpPr txBox="1">
            <a:spLocks/>
          </p:cNvSpPr>
          <p:nvPr/>
        </p:nvSpPr>
        <p:spPr bwMode="auto">
          <a:xfrm>
            <a:off x="839416" y="2924944"/>
            <a:ext cx="6408712" cy="324036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&lt;form action="/submit" method="post"&gt;</a:t>
            </a:r>
          </a:p>
          <a:p>
            <a:pPr>
              <a:defRPr/>
            </a:pPr>
            <a:r>
              <a:rPr lang="en-US" sz="2000" i="0" kern="0" dirty="0"/>
              <a:t>  &lt;label for="country"&gt;Country:&lt;/label&gt;</a:t>
            </a:r>
          </a:p>
          <a:p>
            <a:pPr>
              <a:defRPr/>
            </a:pPr>
            <a:r>
              <a:rPr lang="en-US" sz="2000" i="0" kern="0" dirty="0"/>
              <a:t>  &lt;select id="country" name="country"&gt;</a:t>
            </a:r>
          </a:p>
          <a:p>
            <a:pPr>
              <a:defRPr/>
            </a:pPr>
            <a:r>
              <a:rPr lang="en-US" sz="2000" i="0" kern="0" dirty="0"/>
              <a:t>    &lt;option value="USA"&gt;United States&lt;/option&gt;</a:t>
            </a:r>
          </a:p>
          <a:p>
            <a:pPr>
              <a:defRPr/>
            </a:pPr>
            <a:r>
              <a:rPr lang="en-US" sz="2000" i="0" kern="0" dirty="0"/>
              <a:t>    &lt;option value="UK"&gt;United Kingdom&lt;/option&gt;</a:t>
            </a:r>
          </a:p>
          <a:p>
            <a:pPr>
              <a:defRPr/>
            </a:pPr>
            <a:r>
              <a:rPr lang="en-US" sz="2000" i="0" kern="0" dirty="0"/>
              <a:t>    &lt;option value="Canada"&gt;Canada&lt;/option&gt;</a:t>
            </a:r>
          </a:p>
          <a:p>
            <a:pPr>
              <a:defRPr/>
            </a:pPr>
            <a:r>
              <a:rPr lang="en-US" sz="2000" i="0" kern="0" dirty="0"/>
              <a:t>  &lt;/select&gt;</a:t>
            </a:r>
          </a:p>
          <a:p>
            <a:pPr>
              <a:defRPr/>
            </a:pPr>
            <a:r>
              <a:rPr lang="en-US" sz="2000" i="0" kern="0" dirty="0"/>
              <a:t>  &lt;input type="submit" value="Submit"&gt;</a:t>
            </a:r>
          </a:p>
          <a:p>
            <a:pPr>
              <a:defRPr/>
            </a:pPr>
            <a:r>
              <a:rPr lang="en-US" sz="2000" i="0" kern="0" dirty="0"/>
              <a:t>&lt;/form&gt;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934A6-5EA5-2ECC-7FCF-AE0519E7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861" y="3573016"/>
            <a:ext cx="3711235" cy="148659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79B653-7B34-7799-032D-ADE44DDC6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82476">
            <a:off x="7327826" y="5133236"/>
            <a:ext cx="1296142" cy="54710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71388E2-BF95-D023-600A-E74DE8AF1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ABC71-A9C3-733C-0D18-13E099952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2" y="1362075"/>
            <a:ext cx="11712575" cy="2170112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&lt;button&gt; element represents a clickable button within the form.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be used for various purposes, such as submitting the form, triggering JavaScript functions, etc.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280A28-83B8-68B6-0394-E807577A5EC2}"/>
              </a:ext>
            </a:extLst>
          </p:cNvPr>
          <p:cNvSpPr txBox="1">
            <a:spLocks/>
          </p:cNvSpPr>
          <p:nvPr/>
        </p:nvSpPr>
        <p:spPr bwMode="auto">
          <a:xfrm>
            <a:off x="911424" y="3509070"/>
            <a:ext cx="4752975" cy="138019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&lt;form action="/submit" method="post"&gt;</a:t>
            </a:r>
          </a:p>
          <a:p>
            <a:pPr>
              <a:defRPr/>
            </a:pPr>
            <a:r>
              <a:rPr lang="en-US" sz="2000" i="0" kern="0" dirty="0"/>
              <a:t>  &lt;button type="submit"&gt;Submit&lt;/button&gt;</a:t>
            </a:r>
          </a:p>
          <a:p>
            <a:pPr>
              <a:defRPr/>
            </a:pPr>
            <a:r>
              <a:rPr lang="en-US" sz="2000" i="0" kern="0" dirty="0"/>
              <a:t>&lt;/form&gt;</a:t>
            </a:r>
          </a:p>
          <a:p>
            <a:pPr>
              <a:defRPr/>
            </a:pPr>
            <a:endParaRPr lang="en-US" sz="1600" i="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2B1CD-8358-ABD8-3244-E98008CD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356" y="4005063"/>
            <a:ext cx="1072506" cy="53625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C3B6B6-9969-1AF9-1FD4-08E99C20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82476">
            <a:off x="5818656" y="4448331"/>
            <a:ext cx="903792" cy="54710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C88EAD10-9E5E-AE5E-8016-5321A2B9E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02C32-BBDE-47E8-118F-AFE2E02C3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455712"/>
            <a:ext cx="5525840" cy="3053407"/>
          </a:xfrm>
        </p:spPr>
        <p:txBody>
          <a:bodyPr/>
          <a:lstStyle/>
          <a:p>
            <a:pPr marL="0" indent="0">
              <a:defRPr/>
            </a:pP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fieldset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and &lt;</a:t>
            </a:r>
            <a:r>
              <a:rPr lang="fr-FR" sz="2400" b="1" i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  <a:r>
              <a:rPr lang="fr-FR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fieldset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element groups related form elements together and creates a visual boundary around them.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&lt;legend&gt; element provides a caption or label for the </a:t>
            </a:r>
            <a:r>
              <a:rPr 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fieldset</a:t>
            </a:r>
            <a:r>
              <a:rPr 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7068CB-E4DB-12D8-AB77-9A1581D6B1E0}"/>
              </a:ext>
            </a:extLst>
          </p:cNvPr>
          <p:cNvSpPr txBox="1">
            <a:spLocks/>
          </p:cNvSpPr>
          <p:nvPr/>
        </p:nvSpPr>
        <p:spPr bwMode="auto">
          <a:xfrm>
            <a:off x="6010766" y="1455713"/>
            <a:ext cx="5760640" cy="367240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&lt;form action="/submit" method="post"&gt;</a:t>
            </a:r>
          </a:p>
          <a:p>
            <a:pPr>
              <a:defRPr/>
            </a:pPr>
            <a:r>
              <a:rPr lang="en-US" sz="2000" i="0" kern="0" dirty="0"/>
              <a:t>  &lt;</a:t>
            </a:r>
            <a:r>
              <a:rPr lang="en-US" sz="2000" i="0" kern="0" dirty="0" err="1"/>
              <a:t>fieldset</a:t>
            </a:r>
            <a:r>
              <a:rPr lang="en-US" sz="2000" i="0" kern="0" dirty="0"/>
              <a:t>&gt;</a:t>
            </a:r>
          </a:p>
          <a:p>
            <a:pPr>
              <a:defRPr/>
            </a:pPr>
            <a:r>
              <a:rPr lang="en-US" sz="2000" i="0" kern="0" dirty="0"/>
              <a:t>    &lt;legend&gt;Contact Information&lt;/legend&gt;</a:t>
            </a:r>
          </a:p>
          <a:p>
            <a:pPr>
              <a:defRPr/>
            </a:pPr>
            <a:r>
              <a:rPr lang="en-US" sz="2000" i="0" kern="0" dirty="0"/>
              <a:t>    &lt;label for="name"&gt;Name:&lt;/label&gt;</a:t>
            </a:r>
          </a:p>
          <a:p>
            <a:pPr>
              <a:defRPr/>
            </a:pPr>
            <a:r>
              <a:rPr lang="en-US" sz="2000" i="0" kern="0" dirty="0"/>
              <a:t>    &lt;input type="text" id="name" name="name"&gt;</a:t>
            </a:r>
          </a:p>
          <a:p>
            <a:pPr>
              <a:defRPr/>
            </a:pPr>
            <a:r>
              <a:rPr lang="en-US" sz="2000" i="0" kern="0" dirty="0"/>
              <a:t>    &lt;label for="email"&gt;Email:&lt;/label&gt;</a:t>
            </a:r>
          </a:p>
          <a:p>
            <a:pPr>
              <a:defRPr/>
            </a:pPr>
            <a:r>
              <a:rPr lang="en-US" sz="2000" i="0" kern="0" dirty="0"/>
              <a:t>    &lt;input type="email" id="email" name="email"&gt;</a:t>
            </a:r>
          </a:p>
          <a:p>
            <a:pPr>
              <a:defRPr/>
            </a:pPr>
            <a:r>
              <a:rPr lang="en-US" sz="2000" i="0" kern="0" dirty="0"/>
              <a:t>  &lt;/</a:t>
            </a:r>
            <a:r>
              <a:rPr lang="en-US" sz="2000" i="0" kern="0" dirty="0" err="1"/>
              <a:t>fieldset</a:t>
            </a:r>
            <a:r>
              <a:rPr lang="en-US" sz="2000" i="0" kern="0" dirty="0"/>
              <a:t>&gt;</a:t>
            </a:r>
          </a:p>
          <a:p>
            <a:pPr>
              <a:defRPr/>
            </a:pPr>
            <a:r>
              <a:rPr lang="en-US" sz="2000" i="0" kern="0" dirty="0"/>
              <a:t>  &lt;input type="submit" value="Submit"&gt;</a:t>
            </a:r>
          </a:p>
          <a:p>
            <a:pPr>
              <a:defRPr/>
            </a:pPr>
            <a:r>
              <a:rPr lang="en-US" sz="2000" i="0" kern="0" dirty="0"/>
              <a:t>&lt;/form&gt;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913A49-B9D1-EBE5-57D8-7269C8EDE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5229200"/>
            <a:ext cx="8064896" cy="86677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72094-2274-DA2F-8029-DADAFB1F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774060">
            <a:off x="4834640" y="4307892"/>
            <a:ext cx="903792" cy="58158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7B891E37-18A5-F147-B3F7-6E74B9E1F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Forms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D73CA-E5C5-129B-F3D9-1D09AAF42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3" y="1469541"/>
            <a:ext cx="5375920" cy="3456384"/>
          </a:xfrm>
        </p:spPr>
        <p:txBody>
          <a:bodyPr/>
          <a:lstStyle/>
          <a:p>
            <a:pPr marL="0" indent="0">
              <a:defRPr/>
            </a:pPr>
            <a:r>
              <a:rPr 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&lt;input type="radio"&gt; and &lt;input type="checkbox"&gt;: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&lt;input type="radio"&gt; element represents a radio button, allowing users to select one option from a group of options.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&lt;input type="checkbox"&gt; element represents a checkbox, allowing users to select one or more options from a group of options.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5943FE-D19E-A148-0220-B418F1951E21}"/>
              </a:ext>
            </a:extLst>
          </p:cNvPr>
          <p:cNvSpPr txBox="1">
            <a:spLocks/>
          </p:cNvSpPr>
          <p:nvPr/>
        </p:nvSpPr>
        <p:spPr bwMode="auto">
          <a:xfrm>
            <a:off x="5447928" y="1484784"/>
            <a:ext cx="6697018" cy="460851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/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0" kern="0" dirty="0"/>
              <a:t>&lt;form action="/submit" method="post"&gt;</a:t>
            </a:r>
          </a:p>
          <a:p>
            <a:pPr>
              <a:defRPr/>
            </a:pPr>
            <a:r>
              <a:rPr lang="en-US" sz="2000" i="0" kern="0" dirty="0"/>
              <a:t>  &lt;label for="male"&gt;Male&lt;/label&gt;</a:t>
            </a:r>
          </a:p>
          <a:p>
            <a:pPr>
              <a:defRPr/>
            </a:pPr>
            <a:r>
              <a:rPr lang="en-US" sz="2000" i="0" kern="0" dirty="0"/>
              <a:t>  &lt;input type="radio" id="male" name="gender" value="male"&gt;</a:t>
            </a:r>
          </a:p>
          <a:p>
            <a:pPr>
              <a:defRPr/>
            </a:pPr>
            <a:r>
              <a:rPr lang="en-US" sz="2000" i="0" kern="0" dirty="0"/>
              <a:t>  &lt;label for="female"&gt;Female&lt;/label&gt;</a:t>
            </a:r>
          </a:p>
          <a:p>
            <a:pPr>
              <a:defRPr/>
            </a:pPr>
            <a:r>
              <a:rPr lang="en-US" sz="2000" i="0" kern="0" dirty="0"/>
              <a:t>  &lt;input type="radio" id="female" name="gender" value="female"&gt;</a:t>
            </a:r>
          </a:p>
          <a:p>
            <a:pPr>
              <a:defRPr/>
            </a:pPr>
            <a:r>
              <a:rPr lang="en-US" sz="2000" i="0" kern="0" dirty="0"/>
              <a:t>  &lt;</a:t>
            </a:r>
            <a:r>
              <a:rPr lang="en-US" sz="2000" i="0" kern="0" dirty="0" err="1"/>
              <a:t>br</a:t>
            </a:r>
            <a:r>
              <a:rPr lang="en-US" sz="2000" i="0" kern="0" dirty="0"/>
              <a:t>&gt;</a:t>
            </a:r>
          </a:p>
          <a:p>
            <a:pPr>
              <a:defRPr/>
            </a:pPr>
            <a:r>
              <a:rPr lang="en-US" sz="2000" i="0" kern="0" dirty="0"/>
              <a:t>  &lt;label for="subscribe"&gt;Subscribe to Newsletter&lt;/label&gt;</a:t>
            </a:r>
          </a:p>
          <a:p>
            <a:pPr>
              <a:defRPr/>
            </a:pPr>
            <a:r>
              <a:rPr lang="en-US" sz="2000" i="0" kern="0" dirty="0"/>
              <a:t>  &lt;input type="checkbox" id="subscribe" name="newsletter" value="subscribe"&gt;</a:t>
            </a:r>
          </a:p>
          <a:p>
            <a:pPr>
              <a:defRPr/>
            </a:pPr>
            <a:r>
              <a:rPr lang="en-US" sz="2000" i="0" kern="0" dirty="0"/>
              <a:t>  &lt;input type="submit" value="Submit"&gt;</a:t>
            </a:r>
          </a:p>
          <a:p>
            <a:pPr>
              <a:defRPr/>
            </a:pPr>
            <a:r>
              <a:rPr lang="en-US" sz="2000" i="0" kern="0" dirty="0"/>
              <a:t>&lt;/form&gt;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ABB8C-4BE8-027C-2EC1-A7CBDF6F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4848399"/>
            <a:ext cx="2820541" cy="108012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4FAAE-3395-F72B-6728-4F6A46FA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963542">
            <a:off x="4462086" y="4606992"/>
            <a:ext cx="903792" cy="58158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3">
            <a:extLst>
              <a:ext uri="{FF2B5EF4-FFF2-40B4-BE49-F238E27FC236}">
                <a16:creationId xmlns:a16="http://schemas.microsoft.com/office/drawing/2014/main" id="{90317DFB-2553-EFE7-4502-D68A2F7D4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Best Practices</a:t>
            </a:r>
            <a:endParaRPr lang="en-GB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080665-6EC3-8768-52CF-5084135D1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340768"/>
            <a:ext cx="11809312" cy="43195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Semantic HTML:</a:t>
            </a:r>
            <a:endParaRPr lang="en-US" sz="2400" i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elements (e.g., &lt;header&gt;, &lt;nav&gt;, &lt;main&gt;, &lt;article&gt;, &lt;section&gt;, &lt;footer&gt;).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meaning to the structure of your web page. This improves accessibility and helps search engines understand the content.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 Tags Properly:</a:t>
            </a:r>
            <a:endParaRPr lang="en-US" sz="240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close HTML tags.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elements are self-closing (e.g., &lt;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and &lt;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&gt;)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require closing tags (e.g., &lt;p&gt;&lt;/p&gt;).</a:t>
            </a:r>
          </a:p>
          <a:p>
            <a:pPr marL="457200" indent="-457200">
              <a:buFontTx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Meaningful Text in Links and Buttons: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descriptive link text and button labels that are meaningful.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endParaRPr lang="en-GB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3">
            <a:extLst>
              <a:ext uri="{FF2B5EF4-FFF2-40B4-BE49-F238E27FC236}">
                <a16:creationId xmlns:a16="http://schemas.microsoft.com/office/drawing/2014/main" id="{3F305355-362A-C371-3439-78891AB77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Best Practices</a:t>
            </a:r>
            <a:endParaRPr lang="en-GB" altLang="en-US" dirty="0"/>
          </a:p>
        </p:txBody>
      </p:sp>
      <p:sp>
        <p:nvSpPr>
          <p:cNvPr id="48131" name="Content Placeholder 4">
            <a:extLst>
              <a:ext uri="{FF2B5EF4-FFF2-40B4-BE49-F238E27FC236}">
                <a16:creationId xmlns:a16="http://schemas.microsoft.com/office/drawing/2014/main" id="{CDB8DB07-AA09-4C48-3134-369B787EE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076" y="1412776"/>
            <a:ext cx="11928648" cy="43195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Lowercase Element Names and Attributes:</a:t>
            </a:r>
            <a:endParaRPr lang="en-US" sz="240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lowercase for HTML element names and attribute names.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consistency and better compatibility with XHTML and XML.</a:t>
            </a:r>
          </a:p>
          <a:p>
            <a:pPr marL="457200" indent="-457200">
              <a:buFontTx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Accessibility: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to people with disabilities.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appropriate headings, labels for form elements, descriptive link text.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and Well-Formatted HTML:</a:t>
            </a:r>
            <a:endParaRPr lang="en-US" sz="2400" i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your HTML code is valid.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Adhering to the HTML standard.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proper indentation and formatting to enhance readability for both humans and machines.</a:t>
            </a:r>
          </a:p>
          <a:p>
            <a:pPr marL="901700" lvl="1" indent="-457200"/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/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1700" lvl="1" indent="-457200"/>
            <a:endParaRPr lang="en-GB" alt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C467-574A-F951-B871-EFA67111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HTML Best Practices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FC29D-5B6D-8653-6853-7DF5E543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3" y="1340768"/>
            <a:ext cx="11858763" cy="4319587"/>
          </a:xfrm>
        </p:spPr>
        <p:txBody>
          <a:bodyPr/>
          <a:lstStyle/>
          <a:p>
            <a:pPr marL="457200" indent="-457200">
              <a:buFontTx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Cross-Browser Compatibility: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web pages on different browsers (Chrome, Firefox, Safari, Edge, etc.).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they display and function correctly across platforms.</a:t>
            </a:r>
          </a:p>
          <a:p>
            <a:pPr marL="457200" indent="-457200">
              <a:buFontTx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Deprecated Elements: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using deprecated HTML elements and attributes.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the current HTML specifications to ensure usage of the latest and recommended elements.</a:t>
            </a:r>
          </a:p>
          <a:p>
            <a:pPr marL="457200" indent="-457200">
              <a:buFontTx/>
              <a:buChar char="•"/>
            </a:pPr>
            <a:r>
              <a:rPr lang="en-US" altLang="en-US" sz="24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Responsiveness: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your web pages to be mobile-responsive</a:t>
            </a:r>
          </a:p>
          <a:p>
            <a:pPr marL="901700" lvl="1" indent="-457200"/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 layout and content to different screen sizes and devices</a:t>
            </a:r>
          </a:p>
          <a:p>
            <a:pPr marL="901700" lvl="1" indent="-457200"/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95303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3F3E-E967-BE9C-F898-066849D4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- 1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4A190-2A76-0463-A060-FE5E45A20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2404" y="1412776"/>
            <a:ext cx="12150576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is the correct order of elements in a basic HTML document structure?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&lt;html&gt;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&lt;html&gt;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&lt;html&gt;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&lt;html&gt;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HTML element is used to define the metadata of the document, such as its title and character set?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&lt;body&gt;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&lt;header&gt;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&lt;meta&gt;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&lt;head&gt;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What is the purpose of the &lt;!DOCTYPE html&gt; declaration?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It links the HTML document to a CSS file.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It declares the document type and version of HTML.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It includes JavaScript code in the HTML document.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It adds a title to the HTML document.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6201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D01A-F8C7-784A-C9B5-24B52793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113298-AE9F-6D85-EC52-B7ACCA751E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3" y="1371738"/>
            <a:ext cx="12149137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Which element is used to define emphasized text in HTML?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&lt;strong&gt;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&lt;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&lt;mark&gt;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&lt;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What is the purpose of the &lt;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&gt; element in HTML?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To create a new paragraph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To insert a horizontal line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To add a line break within a text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To emphasize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Which HTML element is used to define a part of text in an alternate voice or mood?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&lt;blockquote&gt;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&lt;cite&gt;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&lt;q&gt;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&lt;s&gt;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8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8372-F16A-5877-AB78-AAA13F1B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- 3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0432CB-3C5E-79EF-49B9-921A8729B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52" y="1294571"/>
            <a:ext cx="11089232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is the purpose of the &lt;form&gt; element in HTML?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To create a searchable database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To display user inputs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To collect user inputs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To format document sections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attribute specifies the method the form data should be sent to the server?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method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type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enctype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What type of form input is used to submit the form to the server?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&lt;input type="text"&gt;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&lt;input type="submit"&gt;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&lt;input type="button"&gt;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&lt;input type="checkbox"&gt;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3438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9FEC-C72E-BDEF-FE36-F1D00CAD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6AE4B-7524-755F-9AEB-63F88B788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3" y="1412776"/>
            <a:ext cx="11807825" cy="4319587"/>
          </a:xfrm>
        </p:spPr>
        <p:txBody>
          <a:bodyPr/>
          <a:lstStyle/>
          <a:p>
            <a:r>
              <a:rPr lang="en-GB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Introduction to HTML: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 to HTML</a:t>
            </a:r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https://developer.mozilla.org/en-US/docs/Learn/HTML/Introduction_to_HTML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HTML Document Structure: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Getting started with HTML</a:t>
            </a:r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https://developer.mozilla.org/en-US/docs/Learn/HTML/Introduction_to_HTML/Getting</a:t>
            </a:r>
            <a:r>
              <a:rPr lang="en-GB" sz="2000" i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_started</a:t>
            </a:r>
            <a:endParaRPr lang="en-GB" sz="2000" i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HTML Text Level Elements: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Mozilla Developer Network (MDN). (n.d.).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HTML basics</a:t>
            </a:r>
            <a:r>
              <a:rPr lang="en-GB" sz="2000" i="0" dirty="0">
                <a:latin typeface="Arial" panose="020B0604020202020204" pitchFamily="34" charset="0"/>
                <a:cs typeface="Arial" panose="020B0604020202020204" pitchFamily="34" charset="0"/>
              </a:rPr>
              <a:t>. Available at: https://developer.mozilla.org/en-US/docs/Learn/HTML/Introduction_to_HTML/HTML_basics</a:t>
            </a:r>
          </a:p>
        </p:txBody>
      </p:sp>
    </p:spTree>
    <p:extLst>
      <p:ext uri="{BB962C8B-B14F-4D97-AF65-F5344CB8AC3E}">
        <p14:creationId xmlns:p14="http://schemas.microsoft.com/office/powerpoint/2010/main" val="38457514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E08723AD-44AC-0C10-C10B-6F8428D575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2 – Introduction to HTML5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6FBB550-B562-311E-A27C-D9B5872B742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Any Questions?</a:t>
            </a:r>
          </a:p>
          <a:p>
            <a:pPr eaLnBrk="1" hangingPunct="1"/>
            <a:endParaRPr lang="en-GB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58AE22-E2DE-416B-9226-5AE53250DC81}"/>
</file>

<file path=customXml/itemProps3.xml><?xml version="1.0" encoding="utf-8"?>
<ds:datastoreItem xmlns:ds="http://schemas.openxmlformats.org/officeDocument/2006/customXml" ds:itemID="{103CECCA-C364-42D5-B169-4D11FEADAD03}">
  <ds:schemaRefs>
    <ds:schemaRef ds:uri="bdeceafc-5c0f-406d-b95f-35e6593d664b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beaa6b5-7a21-43b8-ab59-31e7cbf2c187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1966</TotalTime>
  <Words>4427</Words>
  <Application>Microsoft Office PowerPoint</Application>
  <PresentationFormat>Widescreen</PresentationFormat>
  <Paragraphs>556</Paragraphs>
  <Slides>50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Gill Sans</vt:lpstr>
      <vt:lpstr>Arial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HTML </vt:lpstr>
      <vt:lpstr>HTML</vt:lpstr>
      <vt:lpstr>HTML Code Example </vt:lpstr>
      <vt:lpstr>Roles of HTML (1)</vt:lpstr>
      <vt:lpstr>Roles of HTML (2)</vt:lpstr>
      <vt:lpstr>HTML Document Structure</vt:lpstr>
      <vt:lpstr>HTML Document Structure</vt:lpstr>
      <vt:lpstr>HTML Document Structure</vt:lpstr>
      <vt:lpstr>HTML Document Structure</vt:lpstr>
      <vt:lpstr>HTML Document Structure</vt:lpstr>
      <vt:lpstr>HTML Document Structure</vt:lpstr>
      <vt:lpstr>HTML Text Level Elements </vt:lpstr>
      <vt:lpstr>Text-level Elements</vt:lpstr>
      <vt:lpstr>Text-level Elements</vt:lpstr>
      <vt:lpstr>Text-level Elements: h1 – h6 example </vt:lpstr>
      <vt:lpstr>Text-level Elements</vt:lpstr>
      <vt:lpstr>Text-level Elements</vt:lpstr>
      <vt:lpstr>Text-level Elements</vt:lpstr>
      <vt:lpstr>Text-level Elements</vt:lpstr>
      <vt:lpstr>Text-level Elements</vt:lpstr>
      <vt:lpstr>Text-level Elements</vt:lpstr>
      <vt:lpstr>Text-level Elements</vt:lpstr>
      <vt:lpstr>Text-level Elements</vt:lpstr>
      <vt:lpstr>Text-level Elements</vt:lpstr>
      <vt:lpstr>HTML Lists</vt:lpstr>
      <vt:lpstr>HTML Lists</vt:lpstr>
      <vt:lpstr>HTML Lists</vt:lpstr>
      <vt:lpstr>HTML Lists</vt:lpstr>
      <vt:lpstr>HTML Lists</vt:lpstr>
      <vt:lpstr>HTML Forms</vt:lpstr>
      <vt:lpstr>HTML Forms</vt:lpstr>
      <vt:lpstr>HTML Forms</vt:lpstr>
      <vt:lpstr>HTML Forms</vt:lpstr>
      <vt:lpstr>HTML Forms</vt:lpstr>
      <vt:lpstr>HTML Forms</vt:lpstr>
      <vt:lpstr>HTML Forms</vt:lpstr>
      <vt:lpstr>HTML Forms</vt:lpstr>
      <vt:lpstr>HTML Forms</vt:lpstr>
      <vt:lpstr>HTML Best Practices</vt:lpstr>
      <vt:lpstr>HTML Best Practices</vt:lpstr>
      <vt:lpstr>HTML Best Practices</vt:lpstr>
      <vt:lpstr>Quiz - 1</vt:lpstr>
      <vt:lpstr>Quiz - 2</vt:lpstr>
      <vt:lpstr>Quiz - 3</vt:lpstr>
      <vt:lpstr>References </vt:lpstr>
      <vt:lpstr>Topic 2 – Introduction to HTML5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104</cp:revision>
  <dcterms:created xsi:type="dcterms:W3CDTF">2008-01-18T13:21:43Z</dcterms:created>
  <dcterms:modified xsi:type="dcterms:W3CDTF">2024-03-07T05:36:56Z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