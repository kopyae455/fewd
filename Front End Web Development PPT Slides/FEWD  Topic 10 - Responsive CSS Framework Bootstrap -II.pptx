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50" r:id="rId5"/>
  </p:sldMasterIdLst>
  <p:notesMasterIdLst>
    <p:notesMasterId r:id="rId56"/>
  </p:notesMasterIdLst>
  <p:handoutMasterIdLst>
    <p:handoutMasterId r:id="rId57"/>
  </p:handoutMasterIdLst>
  <p:sldIdLst>
    <p:sldId id="261" r:id="rId6"/>
    <p:sldId id="263" r:id="rId7"/>
    <p:sldId id="363" r:id="rId8"/>
    <p:sldId id="364" r:id="rId9"/>
    <p:sldId id="372" r:id="rId10"/>
    <p:sldId id="298" r:id="rId11"/>
    <p:sldId id="299" r:id="rId12"/>
    <p:sldId id="300" r:id="rId13"/>
    <p:sldId id="301" r:id="rId14"/>
    <p:sldId id="373" r:id="rId15"/>
    <p:sldId id="374" r:id="rId16"/>
    <p:sldId id="302" r:id="rId17"/>
    <p:sldId id="304" r:id="rId18"/>
    <p:sldId id="305" r:id="rId19"/>
    <p:sldId id="306" r:id="rId20"/>
    <p:sldId id="307" r:id="rId21"/>
    <p:sldId id="308" r:id="rId22"/>
    <p:sldId id="375" r:id="rId23"/>
    <p:sldId id="309" r:id="rId24"/>
    <p:sldId id="310" r:id="rId25"/>
    <p:sldId id="311" r:id="rId26"/>
    <p:sldId id="376" r:id="rId27"/>
    <p:sldId id="312" r:id="rId28"/>
    <p:sldId id="313" r:id="rId29"/>
    <p:sldId id="314" r:id="rId30"/>
    <p:sldId id="315" r:id="rId31"/>
    <p:sldId id="316" r:id="rId32"/>
    <p:sldId id="317" r:id="rId33"/>
    <p:sldId id="37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45" r:id="rId43"/>
    <p:sldId id="346" r:id="rId44"/>
    <p:sldId id="347" r:id="rId45"/>
    <p:sldId id="348" r:id="rId46"/>
    <p:sldId id="349" r:id="rId47"/>
    <p:sldId id="350" r:id="rId48"/>
    <p:sldId id="352" r:id="rId49"/>
    <p:sldId id="353" r:id="rId50"/>
    <p:sldId id="354" r:id="rId51"/>
    <p:sldId id="355" r:id="rId52"/>
    <p:sldId id="378" r:id="rId53"/>
    <p:sldId id="268" r:id="rId54"/>
    <p:sldId id="262" r:id="rId5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9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929"/>
    <a:srgbClr val="CB9535"/>
    <a:srgbClr val="974F8E"/>
    <a:srgbClr val="286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BA622E-47AE-4A0D-8550-49EF61522BBE}" v="3" dt="2024-03-07T05:41:36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1"/>
    <p:restoredTop sz="94648"/>
  </p:normalViewPr>
  <p:slideViewPr>
    <p:cSldViewPr>
      <p:cViewPr varScale="1">
        <p:scale>
          <a:sx n="85" d="100"/>
          <a:sy n="85" d="100"/>
        </p:scale>
        <p:origin x="1614" y="84"/>
      </p:cViewPr>
      <p:guideLst>
        <p:guide orient="horz" pos="2160"/>
        <p:guide pos="2880"/>
        <p:guide pos="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Pei Ling" userId="c3090c8e-0726-43ba-95b9-123e980a216d" providerId="ADAL" clId="{86BA622E-47AE-4A0D-8550-49EF61522BBE}"/>
    <pc:docChg chg="custSel delSld modSld modMainMaster">
      <pc:chgData name="Liew Pei Ling" userId="c3090c8e-0726-43ba-95b9-123e980a216d" providerId="ADAL" clId="{86BA622E-47AE-4A0D-8550-49EF61522BBE}" dt="2024-03-07T07:23:20.187" v="42" actId="6549"/>
      <pc:docMkLst>
        <pc:docMk/>
      </pc:docMkLst>
      <pc:sldChg chg="modSp mod">
        <pc:chgData name="Liew Pei Ling" userId="c3090c8e-0726-43ba-95b9-123e980a216d" providerId="ADAL" clId="{86BA622E-47AE-4A0D-8550-49EF61522BBE}" dt="2024-03-07T05:41:55.546" v="33" actId="20577"/>
        <pc:sldMkLst>
          <pc:docMk/>
          <pc:sldMk cId="0" sldId="262"/>
        </pc:sldMkLst>
        <pc:spChg chg="mod">
          <ac:chgData name="Liew Pei Ling" userId="c3090c8e-0726-43ba-95b9-123e980a216d" providerId="ADAL" clId="{86BA622E-47AE-4A0D-8550-49EF61522BBE}" dt="2024-03-07T05:41:55.546" v="33" actId="20577"/>
          <ac:spMkLst>
            <pc:docMk/>
            <pc:sldMk cId="0" sldId="262"/>
            <ac:spMk id="59394" creationId="{78B233DC-C439-D002-AAFE-D66608904F75}"/>
          </ac:spMkLst>
        </pc:spChg>
      </pc:sldChg>
      <pc:sldChg chg="addSp delSp modSp mod">
        <pc:chgData name="Liew Pei Ling" userId="c3090c8e-0726-43ba-95b9-123e980a216d" providerId="ADAL" clId="{86BA622E-47AE-4A0D-8550-49EF61522BBE}" dt="2024-03-07T05:41:45.928" v="27" actId="2711"/>
        <pc:sldMkLst>
          <pc:docMk/>
          <pc:sldMk cId="0" sldId="268"/>
        </pc:sldMkLst>
        <pc:spChg chg="add del mod">
          <ac:chgData name="Liew Pei Ling" userId="c3090c8e-0726-43ba-95b9-123e980a216d" providerId="ADAL" clId="{86BA622E-47AE-4A0D-8550-49EF61522BBE}" dt="2024-03-07T05:41:36.122" v="25" actId="478"/>
          <ac:spMkLst>
            <pc:docMk/>
            <pc:sldMk cId="0" sldId="268"/>
            <ac:spMk id="2" creationId="{F5BAD32B-655F-C041-104A-DAD747B739B8}"/>
          </ac:spMkLst>
        </pc:spChg>
        <pc:spChg chg="add mod">
          <ac:chgData name="Liew Pei Ling" userId="c3090c8e-0726-43ba-95b9-123e980a216d" providerId="ADAL" clId="{86BA622E-47AE-4A0D-8550-49EF61522BBE}" dt="2024-03-07T05:41:45.928" v="27" actId="2711"/>
          <ac:spMkLst>
            <pc:docMk/>
            <pc:sldMk cId="0" sldId="268"/>
            <ac:spMk id="3" creationId="{79819B45-E2B1-8763-3925-952FCF5E1993}"/>
          </ac:spMkLst>
        </pc:spChg>
        <pc:spChg chg="del">
          <ac:chgData name="Liew Pei Ling" userId="c3090c8e-0726-43ba-95b9-123e980a216d" providerId="ADAL" clId="{86BA622E-47AE-4A0D-8550-49EF61522BBE}" dt="2024-03-07T05:41:31.636" v="24" actId="478"/>
          <ac:spMkLst>
            <pc:docMk/>
            <pc:sldMk cId="0" sldId="268"/>
            <ac:spMk id="58371" creationId="{48C53380-3898-ACCC-AC4A-AF2222F3F8A2}"/>
          </ac:spMkLst>
        </pc:spChg>
      </pc:sldChg>
      <pc:sldChg chg="modSp mod">
        <pc:chgData name="Liew Pei Ling" userId="c3090c8e-0726-43ba-95b9-123e980a216d" providerId="ADAL" clId="{86BA622E-47AE-4A0D-8550-49EF61522BBE}" dt="2024-03-07T05:38:46.179" v="16" actId="313"/>
        <pc:sldMkLst>
          <pc:docMk/>
          <pc:sldMk cId="0" sldId="299"/>
        </pc:sldMkLst>
        <pc:spChg chg="mod">
          <ac:chgData name="Liew Pei Ling" userId="c3090c8e-0726-43ba-95b9-123e980a216d" providerId="ADAL" clId="{86BA622E-47AE-4A0D-8550-49EF61522BBE}" dt="2024-03-07T05:38:46.179" v="16" actId="313"/>
          <ac:spMkLst>
            <pc:docMk/>
            <pc:sldMk cId="0" sldId="299"/>
            <ac:spMk id="2" creationId="{7B333305-9A1C-3CE4-CD65-547561AE0C43}"/>
          </ac:spMkLst>
        </pc:spChg>
      </pc:sldChg>
      <pc:sldChg chg="modSp mod">
        <pc:chgData name="Liew Pei Ling" userId="c3090c8e-0726-43ba-95b9-123e980a216d" providerId="ADAL" clId="{86BA622E-47AE-4A0D-8550-49EF61522BBE}" dt="2024-03-07T05:39:16.670" v="20" actId="20577"/>
        <pc:sldMkLst>
          <pc:docMk/>
          <pc:sldMk cId="0" sldId="302"/>
        </pc:sldMkLst>
        <pc:spChg chg="mod">
          <ac:chgData name="Liew Pei Ling" userId="c3090c8e-0726-43ba-95b9-123e980a216d" providerId="ADAL" clId="{86BA622E-47AE-4A0D-8550-49EF61522BBE}" dt="2024-03-07T05:39:16.670" v="20" actId="20577"/>
          <ac:spMkLst>
            <pc:docMk/>
            <pc:sldMk cId="0" sldId="302"/>
            <ac:spMk id="2" creationId="{692630B6-519D-6B0B-3AF6-D72C830794D3}"/>
          </ac:spMkLst>
        </pc:spChg>
      </pc:sldChg>
      <pc:sldChg chg="modSp mod">
        <pc:chgData name="Liew Pei Ling" userId="c3090c8e-0726-43ba-95b9-123e980a216d" providerId="ADAL" clId="{86BA622E-47AE-4A0D-8550-49EF61522BBE}" dt="2024-03-07T05:40:00.819" v="22" actId="20577"/>
        <pc:sldMkLst>
          <pc:docMk/>
          <pc:sldMk cId="0" sldId="307"/>
        </pc:sldMkLst>
        <pc:spChg chg="mod">
          <ac:chgData name="Liew Pei Ling" userId="c3090c8e-0726-43ba-95b9-123e980a216d" providerId="ADAL" clId="{86BA622E-47AE-4A0D-8550-49EF61522BBE}" dt="2024-03-07T05:40:00.819" v="22" actId="20577"/>
          <ac:spMkLst>
            <pc:docMk/>
            <pc:sldMk cId="0" sldId="307"/>
            <ac:spMk id="2" creationId="{42C83B90-38D2-6266-49B8-887011B52612}"/>
          </ac:spMkLst>
        </pc:spChg>
      </pc:sldChg>
      <pc:sldChg chg="modSp mod">
        <pc:chgData name="Liew Pei Ling" userId="c3090c8e-0726-43ba-95b9-123e980a216d" providerId="ADAL" clId="{86BA622E-47AE-4A0D-8550-49EF61522BBE}" dt="2024-03-07T05:38:00.193" v="14" actId="20577"/>
        <pc:sldMkLst>
          <pc:docMk/>
          <pc:sldMk cId="0" sldId="364"/>
        </pc:sldMkLst>
        <pc:graphicFrameChg chg="modGraphic">
          <ac:chgData name="Liew Pei Ling" userId="c3090c8e-0726-43ba-95b9-123e980a216d" providerId="ADAL" clId="{86BA622E-47AE-4A0D-8550-49EF61522BBE}" dt="2024-03-07T05:38:00.193" v="14" actId="20577"/>
          <ac:graphicFrameMkLst>
            <pc:docMk/>
            <pc:sldMk cId="0" sldId="364"/>
            <ac:graphicFrameMk id="4" creationId="{084A67CF-1EF9-74B4-00B7-5925CE8C8B7A}"/>
          </ac:graphicFrameMkLst>
        </pc:graphicFrameChg>
      </pc:sldChg>
      <pc:sldChg chg="del">
        <pc:chgData name="Liew Pei Ling" userId="c3090c8e-0726-43ba-95b9-123e980a216d" providerId="ADAL" clId="{86BA622E-47AE-4A0D-8550-49EF61522BBE}" dt="2024-03-07T05:38:22.270" v="15" actId="47"/>
        <pc:sldMkLst>
          <pc:docMk/>
          <pc:sldMk cId="0" sldId="371"/>
        </pc:sldMkLst>
      </pc:sldChg>
      <pc:sldChg chg="modSp mod">
        <pc:chgData name="Liew Pei Ling" userId="c3090c8e-0726-43ba-95b9-123e980a216d" providerId="ADAL" clId="{86BA622E-47AE-4A0D-8550-49EF61522BBE}" dt="2024-03-07T05:40:15.890" v="23" actId="20577"/>
        <pc:sldMkLst>
          <pc:docMk/>
          <pc:sldMk cId="0" sldId="375"/>
        </pc:sldMkLst>
        <pc:spChg chg="mod">
          <ac:chgData name="Liew Pei Ling" userId="c3090c8e-0726-43ba-95b9-123e980a216d" providerId="ADAL" clId="{86BA622E-47AE-4A0D-8550-49EF61522BBE}" dt="2024-03-07T05:40:15.890" v="23" actId="20577"/>
          <ac:spMkLst>
            <pc:docMk/>
            <pc:sldMk cId="0" sldId="375"/>
            <ac:spMk id="26627" creationId="{22343959-810F-5692-9860-369C819BFCEF}"/>
          </ac:spMkLst>
        </pc:spChg>
      </pc:sldChg>
      <pc:sldMasterChg chg="modSp mod">
        <pc:chgData name="Liew Pei Ling" userId="c3090c8e-0726-43ba-95b9-123e980a216d" providerId="ADAL" clId="{86BA622E-47AE-4A0D-8550-49EF61522BBE}" dt="2024-03-07T07:23:20.187" v="42" actId="6549"/>
        <pc:sldMasterMkLst>
          <pc:docMk/>
          <pc:sldMasterMk cId="0" sldId="2147483648"/>
        </pc:sldMasterMkLst>
        <pc:spChg chg="mod">
          <ac:chgData name="Liew Pei Ling" userId="c3090c8e-0726-43ba-95b9-123e980a216d" providerId="ADAL" clId="{86BA622E-47AE-4A0D-8550-49EF61522BBE}" dt="2024-03-07T07:23:20.187" v="42" actId="6549"/>
          <ac:spMkLst>
            <pc:docMk/>
            <pc:sldMasterMk cId="0" sldId="2147483648"/>
            <ac:spMk id="2" creationId="{B77B62FC-A1AA-063C-45D6-723F114A3DD2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7135779-607B-DD31-522F-1B7B6DF5F0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Topic X – Topic Title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E1E6B5C-72EE-A206-56EB-B7121DAF2B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Module Title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647404B8-CC8D-2B47-7AFB-D1BD7E28F6D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V0.0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29645765-B245-2DCE-FB6F-A1DF9EE5263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altLang="en-US"/>
              <a:t>Visuals Handout – Page </a:t>
            </a:r>
            <a:fld id="{80A019DA-DCD7-42ED-98AB-E6A804F61E2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EC8F050-670D-6EEE-65D0-EC2D047D09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77D84B6-932B-0FC1-E189-2A81C669E57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F183B2D-B531-623A-C83E-47E2C31D957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97272DC-EDF7-AFCF-4606-4F682055FA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B5704E5-DF55-6451-F769-7B1A948F856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CCF902D3-6803-E77D-50C8-2C8C46AE0B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A89171-42F3-4CE2-A687-46D84969DC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44A96FC6-2B18-D365-D6D1-ABA378B93A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ECA50E-6D97-456D-8B70-AA3945EDCA4D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5E2A015A-8479-BDFA-3D46-DA772D12BF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E4F5098-F0A7-F75D-A4B3-2AC7AD8542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Title Master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B9119AC4-E20B-6762-A5E0-769FB25736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E7A48E9-0EC6-42CA-8D2A-7D3C36CD2370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1A11A8F-EE55-3024-A098-D8837A7D84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5252DD65-2ACD-C058-9FEB-6AC1FE7FB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Slide Master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6556041C-0520-9D22-3F69-16A0488A25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A28E358-B2A5-4920-8685-F50CCB6A7363}" type="slidenum">
              <a:rPr lang="en-US" altLang="en-US" sz="1200" smtClean="0"/>
              <a:pPr/>
              <a:t>50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027B4D48-9E14-A402-9A4F-8A92CA114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5B3E4C6C-F63A-18A2-9A83-F0F78FF4AD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End Slide Master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BFD45546-6D64-1606-5716-AC2336E648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439025" y="6616700"/>
            <a:ext cx="1684338" cy="242888"/>
            <a:chOff x="4513" y="4156"/>
            <a:chExt cx="1061" cy="153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EB922B28-AFFD-8139-DC42-56496884C95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13" y="4156"/>
              <a:ext cx="173" cy="1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>
                  <a:solidFill>
                    <a:srgbClr val="FFFFFF"/>
                  </a:solidFill>
                </a:rPr>
                <a:t>©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5384393A-DBB4-17C0-6837-DB95C15E89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23" y="4156"/>
              <a:ext cx="951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NCC Education Limited</a:t>
              </a:r>
            </a:p>
          </p:txBody>
        </p:sp>
      </p:grpSp>
      <p:pic>
        <p:nvPicPr>
          <p:cNvPr id="5" name="Picture 8">
            <a:extLst>
              <a:ext uri="{FF2B5EF4-FFF2-40B4-BE49-F238E27FC236}">
                <a16:creationId xmlns:a16="http://schemas.microsoft.com/office/drawing/2014/main" id="{37D41120-E992-752D-D852-45FBC432E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770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01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206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430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" y="1845717"/>
            <a:ext cx="4351338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845717"/>
            <a:ext cx="4352925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960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4006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788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630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482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44824"/>
            <a:ext cx="5111750" cy="5853113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019276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2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7104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F4792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123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667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50050" y="404813"/>
            <a:ext cx="2214563" cy="5472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8" y="404813"/>
            <a:ext cx="6494462" cy="5472112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8598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11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CBD79E4-AA2B-1055-588D-B3E02FFBA6F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5">
            <a:extLst>
              <a:ext uri="{FF2B5EF4-FFF2-40B4-BE49-F238E27FC236}">
                <a16:creationId xmlns:a16="http://schemas.microsoft.com/office/drawing/2014/main" id="{04590271-8A8D-E4E5-CDAF-85BB2978E0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3188" y="11588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B77B62FC-A1AA-063C-45D6-723F114A3D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5976" y="0"/>
            <a:ext cx="4788024" cy="2436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7620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Responsive CSS Framework: Bootstrap II </a:t>
            </a: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 Topic 10 – 10.</a:t>
            </a:r>
            <a:fld id="{4C8CB450-6898-4623-BDC1-F50FC0332EF8}" type="slidenum">
              <a:rPr lang="en-GB" altLang="en-US" sz="1000" smtClean="0">
                <a:solidFill>
                  <a:schemeClr val="bg1"/>
                </a:solidFill>
                <a:latin typeface="Gill Sans" charset="0"/>
              </a:rPr>
              <a:pPr algn="r" eaLnBrk="1" hangingPunct="1">
                <a:defRPr/>
              </a:pPr>
              <a:t>‹#›</a:t>
            </a:fld>
            <a:endParaRPr lang="en-GB" altLang="en-US" sz="1000" dirty="0">
              <a:solidFill>
                <a:schemeClr val="bg1"/>
              </a:solidFill>
              <a:latin typeface="Gill Sans" charset="0"/>
            </a:endParaRPr>
          </a:p>
        </p:txBody>
      </p:sp>
      <p:sp>
        <p:nvSpPr>
          <p:cNvPr id="1029" name="Rectangle 22">
            <a:extLst>
              <a:ext uri="{FF2B5EF4-FFF2-40B4-BE49-F238E27FC236}">
                <a16:creationId xmlns:a16="http://schemas.microsoft.com/office/drawing/2014/main" id="{A8D21F2B-089C-2BC2-9EBB-F6EFE4D88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1846263"/>
            <a:ext cx="88566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9pPr>
    </p:titleStyle>
    <p:bodyStyle>
      <a:lvl1pPr marL="88900" indent="-88900" algn="l" rtl="0" eaLnBrk="0" fontAlgn="base" hangingPunct="0">
        <a:spcBef>
          <a:spcPct val="20000"/>
        </a:spcBef>
        <a:spcAft>
          <a:spcPct val="0"/>
        </a:spcAft>
        <a:defRPr sz="3000" i="1">
          <a:solidFill>
            <a:srgbClr val="002060"/>
          </a:solidFill>
          <a:latin typeface="+mn-lt"/>
          <a:ea typeface="+mn-ea"/>
          <a:cs typeface="ＭＳ Ｐゴシック" charset="0"/>
        </a:defRPr>
      </a:lvl1pPr>
      <a:lvl2pPr marL="533400" indent="-2651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800">
          <a:solidFill>
            <a:schemeClr val="bg2"/>
          </a:solidFill>
          <a:latin typeface="Arial" charset="0"/>
          <a:ea typeface="+mn-ea"/>
        </a:defRPr>
      </a:lvl2pPr>
      <a:lvl3pPr marL="1068388" indent="-355600" algn="l" rtl="0" eaLnBrk="0" fontAlgn="base" hangingPunct="0">
        <a:spcBef>
          <a:spcPct val="20000"/>
        </a:spcBef>
        <a:spcAft>
          <a:spcPct val="0"/>
        </a:spcAft>
        <a:buFont typeface="Gill Sans" charset="0"/>
        <a:buChar char="–"/>
        <a:defRPr sz="2400">
          <a:solidFill>
            <a:schemeClr val="bg2"/>
          </a:solidFill>
          <a:latin typeface="Arial" charset="0"/>
          <a:ea typeface="+mn-ea"/>
        </a:defRPr>
      </a:lvl3pPr>
      <a:lvl4pPr marL="1435100" indent="-187325" algn="l" rtl="0" eaLnBrk="0" fontAlgn="base" hangingPunct="0">
        <a:spcBef>
          <a:spcPct val="0"/>
        </a:spcBef>
        <a:spcAft>
          <a:spcPct val="0"/>
        </a:spcAft>
        <a:buChar char="•"/>
        <a:defRPr sz="2000">
          <a:solidFill>
            <a:schemeClr val="bg2"/>
          </a:solidFill>
          <a:latin typeface="Arial" charset="0"/>
          <a:ea typeface="+mn-ea"/>
        </a:defRPr>
      </a:lvl4pPr>
      <a:lvl5pPr marL="2098675" indent="-3952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5pPr>
      <a:lvl6pPr marL="25558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30130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702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9274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073E4153-62F5-8E17-23BE-460022C1B3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4">
            <a:extLst>
              <a:ext uri="{FF2B5EF4-FFF2-40B4-BE49-F238E27FC236}">
                <a16:creationId xmlns:a16="http://schemas.microsoft.com/office/drawing/2014/main" id="{544E516A-E6C5-2DC5-751F-F0720F0C3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2798763"/>
            <a:ext cx="5486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UNIT X</a:t>
            </a:r>
          </a:p>
        </p:txBody>
      </p:sp>
      <p:sp>
        <p:nvSpPr>
          <p:cNvPr id="2052" name="Rectangle 15">
            <a:extLst>
              <a:ext uri="{FF2B5EF4-FFF2-40B4-BE49-F238E27FC236}">
                <a16:creationId xmlns:a16="http://schemas.microsoft.com/office/drawing/2014/main" id="{265BE161-F260-4791-07AE-8AD7B5836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35150" y="3794125"/>
            <a:ext cx="5486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Any Questions?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2500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C546E6F2-7345-E66C-3742-9794946843A2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419475" y="4365625"/>
            <a:ext cx="5975350" cy="965200"/>
          </a:xfrm>
        </p:spPr>
        <p:txBody>
          <a:bodyPr/>
          <a:lstStyle/>
          <a:p>
            <a:pPr algn="ctr" eaLnBrk="1" hangingPunct="1"/>
            <a:r>
              <a:rPr lang="en-GB" altLang="en-US" sz="1600" b="1" i="0">
                <a:solidFill>
                  <a:schemeClr val="bg1"/>
                </a:solidFill>
                <a:latin typeface="Arial" panose="020B0604020202020204" pitchFamily="34" charset="0"/>
              </a:rPr>
              <a:t>Front End Web Development</a:t>
            </a:r>
          </a:p>
          <a:p>
            <a:pPr algn="ctr" eaLnBrk="1" hangingPunct="1"/>
            <a:r>
              <a:rPr lang="en-GB" altLang="en-US" sz="1600" b="1" i="0">
                <a:solidFill>
                  <a:schemeClr val="bg1"/>
                </a:solidFill>
                <a:latin typeface="Arial" panose="020B0604020202020204" pitchFamily="34" charset="0"/>
              </a:rPr>
              <a:t>Topic 10:  Responsive CSS Framework: </a:t>
            </a:r>
          </a:p>
          <a:p>
            <a:pPr algn="ctr" eaLnBrk="1" hangingPunct="1"/>
            <a:r>
              <a:rPr lang="en-GB" altLang="en-US" sz="1600" b="1" i="0">
                <a:solidFill>
                  <a:schemeClr val="bg1"/>
                </a:solidFill>
                <a:latin typeface="Arial" panose="020B0604020202020204" pitchFamily="34" charset="0"/>
              </a:rPr>
              <a:t>BootStrap - II</a:t>
            </a:r>
            <a:endParaRPr lang="en-US" altLang="en-US" sz="1600" b="1" i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en-US" sz="1600" i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en-US" sz="1600" i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3697AD8A-DA25-755C-6387-9521B852BC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Scope and Coverage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23A3D4E7-0F48-4DC1-41A9-6BF0A9D761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This topic will cover: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Bootstrap Forms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Bootstrap Form Controls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Bootstrap Buttons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Bootstrap Utilities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Bootstrap Cards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E1940369-F777-1D58-76F1-B42264B78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Learning Outcomes</a:t>
            </a:r>
            <a:endParaRPr lang="en-US" altLang="en-US"/>
          </a:p>
        </p:txBody>
      </p:sp>
      <p:sp>
        <p:nvSpPr>
          <p:cNvPr id="10243" name="Rectangle 5">
            <a:extLst>
              <a:ext uri="{FF2B5EF4-FFF2-40B4-BE49-F238E27FC236}">
                <a16:creationId xmlns:a16="http://schemas.microsoft.com/office/drawing/2014/main" id="{AA15DD79-B273-9860-EF89-3A11EB779D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By the end of this topic students will be able to: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Use advanced features of Bootstrap and develop responsive web pages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Demonstrate understanding of various bootstrap concepts including Bootstrap form, form controls, buttons, utilities and Cards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Identify different types of Bootstrap elements and explain its working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6209E91-0C1B-DB80-DEE5-899F372AB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Unit Roadmap</a:t>
            </a:r>
            <a:endParaRPr lang="en-GB" alt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84A67CF-1EF9-74B4-00B7-5925CE8C8B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070221"/>
              </p:ext>
            </p:extLst>
          </p:nvPr>
        </p:nvGraphicFramePr>
        <p:xfrm>
          <a:off x="323529" y="1484783"/>
          <a:ext cx="8352159" cy="4302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4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72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Overview of Web Application Architecture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II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tc>
                  <a:txBody>
                    <a:bodyPr/>
                    <a:lstStyle/>
                    <a:p>
                      <a:r>
                        <a:rPr lang="en-GB" sz="2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to HTML5 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jQuery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70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Introduction to CSS</a:t>
                      </a:r>
                    </a:p>
                  </a:txBody>
                  <a:tcPr marL="38571" marR="38571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b="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GB" sz="2000" b="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1" marR="38571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b="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- I</a:t>
                      </a:r>
                      <a:endParaRPr lang="en-GB" sz="2000" b="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1" marR="38571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HTML and CSS</a:t>
                      </a:r>
                    </a:p>
                  </a:txBody>
                  <a:tcPr marL="38571" marR="38571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b="1" kern="1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b="1" kern="1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1" marR="38571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b="1" kern="1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- II</a:t>
                      </a:r>
                    </a:p>
                  </a:txBody>
                  <a:tcPr marL="38571" marR="38571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06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CSS Flexbox and Grid Layout </a:t>
                      </a:r>
                    </a:p>
                  </a:txBody>
                  <a:tcPr marL="38571" marR="38571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1" marR="38571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Code Review, Testing and Collaboration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1" marR="38571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9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</a:t>
                      </a:r>
                      <a:endParaRPr lang="en-GB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Summary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9" marR="51429" marT="25710" marB="2571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2A0384-4801-1DF2-98C9-04D4029D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Bootstrap components</a:t>
            </a:r>
            <a:endParaRPr lang="en-GB" dirty="0"/>
          </a:p>
        </p:txBody>
      </p:sp>
      <p:sp>
        <p:nvSpPr>
          <p:cNvPr id="13315" name="Text Placeholder 4">
            <a:extLst>
              <a:ext uri="{FF2B5EF4-FFF2-40B4-BE49-F238E27FC236}">
                <a16:creationId xmlns:a16="http://schemas.microsoft.com/office/drawing/2014/main" id="{FC0FCC56-4109-1E78-5C71-917E45278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39E8486-8569-8BDF-C00C-F7F48B8664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/>
              <a:t>Forms</a:t>
            </a:r>
            <a:endParaRPr dirty="0"/>
          </a:p>
        </p:txBody>
      </p:sp>
      <p:sp>
        <p:nvSpPr>
          <p:cNvPr id="14339" name="object 3">
            <a:extLst>
              <a:ext uri="{FF2B5EF4-FFF2-40B4-BE49-F238E27FC236}">
                <a16:creationId xmlns:a16="http://schemas.microsoft.com/office/drawing/2014/main" id="{6CE8B7E4-A1B1-09DC-0962-F2AFB410F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340768"/>
            <a:ext cx="4032250" cy="4490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525" rIns="0" bIns="0">
            <a:spAutoFit/>
          </a:bodyPr>
          <a:lstStyle>
            <a:lvl1pPr marL="295275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2870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42875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Form controls automatically receive global styling in Bootstrap:</a:t>
            </a:r>
          </a:p>
          <a:p>
            <a:pPr lvl="1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All Textual &lt;input&gt;, &lt;</a:t>
            </a:r>
            <a:r>
              <a:rPr lang="en-US" altLang="en-US" sz="1800" dirty="0" err="1">
                <a:ea typeface="Arial MT"/>
                <a:cs typeface="Arial" panose="020B0604020202020204" pitchFamily="34" charset="0"/>
              </a:rPr>
              <a:t>textarea</a:t>
            </a:r>
            <a:r>
              <a:rPr lang="en-US" altLang="en-US" sz="1800" dirty="0">
                <a:ea typeface="Arial MT"/>
                <a:cs typeface="Arial" panose="020B0604020202020204" pitchFamily="34" charset="0"/>
              </a:rPr>
              <a:t>&gt;, and &lt;select&gt; elements with  class .</a:t>
            </a:r>
            <a:r>
              <a:rPr lang="en-US" altLang="en-US" sz="1800" dirty="0">
                <a:solidFill>
                  <a:srgbClr val="002060"/>
                </a:solidFill>
                <a:ea typeface="Arial MT"/>
                <a:cs typeface="Arial" panose="020B0604020202020204" pitchFamily="34" charset="0"/>
              </a:rPr>
              <a:t>form-control </a:t>
            </a:r>
            <a:r>
              <a:rPr lang="en-US" altLang="en-US" sz="1800" dirty="0">
                <a:ea typeface="Arial MT"/>
                <a:cs typeface="Arial" panose="020B0604020202020204" pitchFamily="34" charset="0"/>
              </a:rPr>
              <a:t>have a width of 100%</a:t>
            </a:r>
          </a:p>
          <a:p>
            <a:pPr>
              <a:spcBef>
                <a:spcPts val="738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Form Layouts:</a:t>
            </a:r>
          </a:p>
          <a:p>
            <a:pPr lvl="1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Bootstrap provides following types of layouts:</a:t>
            </a:r>
          </a:p>
          <a:p>
            <a:pPr marL="1485900" lvl="2" indent="-285750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Vertical (</a:t>
            </a:r>
            <a:r>
              <a:rPr lang="en-US" altLang="en-US" sz="20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default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) form</a:t>
            </a:r>
          </a:p>
          <a:p>
            <a:pPr marL="1485900" lvl="2" indent="-285750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Inline form</a:t>
            </a:r>
          </a:p>
          <a:p>
            <a:pPr marL="1485900" lvl="2" indent="-285750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Horizontal form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BB553521-53ED-809D-F324-F408A394B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00808"/>
            <a:ext cx="4388421" cy="410492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333305-9A1C-3CE4-CD65-547561AE0C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spc="-11" dirty="0"/>
              <a:t>Vertical (default) </a:t>
            </a:r>
            <a:r>
              <a:rPr spc="-11" dirty="0"/>
              <a:t>F</a:t>
            </a:r>
            <a:r>
              <a:rPr dirty="0"/>
              <a:t>orms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F14A50E-7AAD-A1FA-BD99-ED2734051667}"/>
              </a:ext>
            </a:extLst>
          </p:cNvPr>
          <p:cNvSpPr txBox="1"/>
          <p:nvPr/>
        </p:nvSpPr>
        <p:spPr>
          <a:xfrm>
            <a:off x="257608" y="1268760"/>
            <a:ext cx="8612188" cy="1439497"/>
          </a:xfrm>
          <a:prstGeom prst="rect">
            <a:avLst/>
          </a:prstGeom>
        </p:spPr>
        <p:txBody>
          <a:bodyPr wrap="square" lIns="0" tIns="10477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95275" indent="-285750">
              <a:spcBef>
                <a:spcPts val="738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Wrap labels and controls in a </a:t>
            </a:r>
            <a:r>
              <a:rPr lang="en-US" altLang="en-US" sz="2000" dirty="0">
                <a:solidFill>
                  <a:srgbClr val="002060"/>
                </a:solidFill>
                <a:latin typeface="Arial MT"/>
                <a:ea typeface="Arial MT"/>
                <a:cs typeface="Arial MT"/>
              </a:rPr>
              <a:t>&lt;div&gt;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with class </a:t>
            </a:r>
            <a:r>
              <a:rPr lang="en-US" altLang="en-US" sz="2000" dirty="0">
                <a:solidFill>
                  <a:srgbClr val="C00000"/>
                </a:solidFill>
                <a:latin typeface="Arial MT"/>
                <a:ea typeface="Arial MT"/>
                <a:cs typeface="Arial MT"/>
              </a:rPr>
              <a:t>.form-group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for optimum spacing.</a:t>
            </a:r>
          </a:p>
          <a:p>
            <a:pPr marL="295275" indent="-285750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Add a class of </a:t>
            </a:r>
            <a:r>
              <a:rPr lang="en-US" altLang="en-US" sz="2000" b="1" dirty="0">
                <a:solidFill>
                  <a:srgbClr val="C00000"/>
                </a:solidFill>
                <a:latin typeface="Arial MT"/>
                <a:ea typeface="Arial MT"/>
                <a:cs typeface="Arial MT"/>
              </a:rPr>
              <a:t>.form-control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to all textual </a:t>
            </a:r>
            <a:r>
              <a:rPr lang="en-US" altLang="en-US" sz="2000" dirty="0">
                <a:solidFill>
                  <a:srgbClr val="002060"/>
                </a:solidFill>
                <a:latin typeface="Arial MT"/>
                <a:ea typeface="Arial MT"/>
                <a:cs typeface="Arial MT"/>
              </a:rPr>
              <a:t>&lt;input&gt;, &lt;</a:t>
            </a:r>
            <a:r>
              <a:rPr lang="en-US" altLang="en-US" sz="2000" dirty="0" err="1">
                <a:solidFill>
                  <a:srgbClr val="002060"/>
                </a:solidFill>
                <a:latin typeface="Arial MT"/>
                <a:ea typeface="Arial MT"/>
                <a:cs typeface="Arial MT"/>
              </a:rPr>
              <a:t>textarea</a:t>
            </a:r>
            <a:r>
              <a:rPr lang="en-US" altLang="en-US" sz="2000" dirty="0">
                <a:solidFill>
                  <a:srgbClr val="002060"/>
                </a:solidFill>
                <a:latin typeface="Arial MT"/>
                <a:ea typeface="Arial MT"/>
                <a:cs typeface="Arial MT"/>
              </a:rPr>
              <a:t>&gt;,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and </a:t>
            </a:r>
            <a:r>
              <a:rPr lang="en-US" altLang="en-US" sz="2000" dirty="0">
                <a:solidFill>
                  <a:srgbClr val="002060"/>
                </a:solidFill>
                <a:latin typeface="Arial MT"/>
                <a:ea typeface="Arial MT"/>
                <a:cs typeface="Arial MT"/>
              </a:rPr>
              <a:t>&lt;select&gt;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elements.</a:t>
            </a:r>
          </a:p>
        </p:txBody>
      </p:sp>
      <p:pic>
        <p:nvPicPr>
          <p:cNvPr id="15364" name="object 4">
            <a:extLst>
              <a:ext uri="{FF2B5EF4-FFF2-40B4-BE49-F238E27FC236}">
                <a16:creationId xmlns:a16="http://schemas.microsoft.com/office/drawing/2014/main" id="{772E53F6-868B-D1D4-F90B-481B7046B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3946525"/>
            <a:ext cx="5879951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>
            <a:extLst>
              <a:ext uri="{FF2B5EF4-FFF2-40B4-BE49-F238E27FC236}">
                <a16:creationId xmlns:a16="http://schemas.microsoft.com/office/drawing/2014/main" id="{9A9F5F8A-947D-A9A9-035F-B51F94AB8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423" y="2708257"/>
            <a:ext cx="6427340" cy="3387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6F6799-BC88-D279-EA53-BBD5EBF07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spc="-4" dirty="0"/>
              <a:t>Inline </a:t>
            </a:r>
            <a:r>
              <a:rPr spc="-4" dirty="0"/>
              <a:t>Forms</a:t>
            </a:r>
            <a:endParaRPr dirty="0"/>
          </a:p>
        </p:txBody>
      </p:sp>
      <p:sp>
        <p:nvSpPr>
          <p:cNvPr id="16387" name="object 3">
            <a:extLst>
              <a:ext uri="{FF2B5EF4-FFF2-40B4-BE49-F238E27FC236}">
                <a16:creationId xmlns:a16="http://schemas.microsoft.com/office/drawing/2014/main" id="{330084D6-F247-84B9-EAB4-66231F21E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7" y="1417638"/>
            <a:ext cx="8785225" cy="1077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154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2425" indent="-34290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Arial MT"/>
                <a:ea typeface="Arial MT"/>
                <a:cs typeface="Arial MT"/>
              </a:rPr>
              <a:t>All elements are inline,  left aligned and labels are alongside using the class </a:t>
            </a:r>
            <a:r>
              <a:rPr lang="en-US" altLang="en-US" sz="1900" dirty="0">
                <a:solidFill>
                  <a:srgbClr val="91268E"/>
                </a:solidFill>
                <a:latin typeface="Arial MT"/>
                <a:ea typeface="Arial MT"/>
                <a:cs typeface="Arial MT"/>
              </a:rPr>
              <a:t>.form-inline </a:t>
            </a:r>
            <a:r>
              <a:rPr lang="en-US" altLang="en-US" sz="1900" dirty="0">
                <a:latin typeface="Arial MT"/>
                <a:ea typeface="Arial MT"/>
                <a:cs typeface="Arial MT"/>
              </a:rPr>
              <a:t>to the &lt;form&gt; tag.</a:t>
            </a:r>
          </a:p>
          <a:p>
            <a:pPr marL="1085850" lvl="1" indent="-34290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altLang="en-US" sz="1900" b="1" i="1" dirty="0">
                <a:latin typeface="Arial MT"/>
                <a:ea typeface="Arial MT"/>
                <a:cs typeface="Arial MT"/>
              </a:rPr>
              <a:t>Note:</a:t>
            </a:r>
            <a:r>
              <a:rPr lang="en-US" altLang="en-US" sz="1900" dirty="0">
                <a:latin typeface="Arial MT"/>
                <a:ea typeface="Arial MT"/>
                <a:cs typeface="Arial MT"/>
              </a:rPr>
              <a:t> Only applies to forms within viewports at least 768px wide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C5CC4-A19C-41DE-C2DE-915009C2DE12}"/>
              </a:ext>
            </a:extLst>
          </p:cNvPr>
          <p:cNvSpPr txBox="1"/>
          <p:nvPr/>
        </p:nvSpPr>
        <p:spPr>
          <a:xfrm>
            <a:off x="467544" y="2708921"/>
            <a:ext cx="8420868" cy="258532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GB" sz="1800" dirty="0"/>
              <a:t>&lt;div class="container mt-3"&gt;</a:t>
            </a:r>
          </a:p>
          <a:p>
            <a:pPr>
              <a:defRPr/>
            </a:pPr>
            <a:r>
              <a:rPr lang="en-GB" sz="1800" dirty="0"/>
              <a:t>    &lt;form </a:t>
            </a:r>
            <a:r>
              <a:rPr lang="en-GB" sz="1800" b="1" dirty="0">
                <a:solidFill>
                  <a:srgbClr val="C00000"/>
                </a:solidFill>
              </a:rPr>
              <a:t>class="form-inline"&gt;</a:t>
            </a:r>
          </a:p>
          <a:p>
            <a:pPr>
              <a:defRPr/>
            </a:pPr>
            <a:r>
              <a:rPr lang="en-GB" sz="1800" dirty="0"/>
              <a:t>        &lt;input type="email" </a:t>
            </a:r>
            <a:r>
              <a:rPr lang="en-GB" sz="1800" b="1" dirty="0">
                <a:solidFill>
                  <a:srgbClr val="C00000"/>
                </a:solidFill>
              </a:rPr>
              <a:t>class="form-control mb-2 mr-2" </a:t>
            </a:r>
            <a:r>
              <a:rPr lang="en-GB" sz="1800" b="1" dirty="0"/>
              <a:t>id</a:t>
            </a:r>
            <a:r>
              <a:rPr lang="en-GB" sz="1800" dirty="0"/>
              <a:t>="email" placeholder="Email"&gt;</a:t>
            </a:r>
          </a:p>
          <a:p>
            <a:pPr>
              <a:defRPr/>
            </a:pPr>
            <a:r>
              <a:rPr lang="en-GB" sz="1800" dirty="0"/>
              <a:t>        &lt;input type="password" </a:t>
            </a:r>
            <a:r>
              <a:rPr lang="en-GB" sz="1800" b="1" dirty="0">
                <a:solidFill>
                  <a:srgbClr val="C00000"/>
                </a:solidFill>
              </a:rPr>
              <a:t>class="form-control mb-2 mr-2</a:t>
            </a:r>
            <a:r>
              <a:rPr lang="en-GB" sz="1800" dirty="0"/>
              <a:t>" id="password" placeholder="Password"&gt;</a:t>
            </a:r>
          </a:p>
          <a:p>
            <a:pPr>
              <a:defRPr/>
            </a:pPr>
            <a:r>
              <a:rPr lang="en-GB" sz="1800" dirty="0"/>
              <a:t>        &lt;button type="submit" class="</a:t>
            </a:r>
            <a:r>
              <a:rPr lang="en-GB" sz="1800" dirty="0" err="1"/>
              <a:t>btn</a:t>
            </a:r>
            <a:r>
              <a:rPr lang="en-GB" sz="1800" dirty="0"/>
              <a:t> </a:t>
            </a:r>
            <a:r>
              <a:rPr lang="en-GB" sz="1800" dirty="0" err="1"/>
              <a:t>btn</a:t>
            </a:r>
            <a:r>
              <a:rPr lang="en-GB" sz="1800" dirty="0"/>
              <a:t>-primary mb-2"&gt;Submit&lt;/button&gt;</a:t>
            </a:r>
          </a:p>
          <a:p>
            <a:pPr>
              <a:defRPr/>
            </a:pPr>
            <a:r>
              <a:rPr lang="en-GB" sz="1800" dirty="0"/>
              <a:t>    &lt;/form&gt;</a:t>
            </a:r>
          </a:p>
          <a:p>
            <a:pPr>
              <a:defRPr/>
            </a:pPr>
            <a:r>
              <a:rPr lang="en-GB" sz="1800" dirty="0"/>
              <a:t>&lt;/div&gt;</a:t>
            </a:r>
          </a:p>
        </p:txBody>
      </p:sp>
      <p:pic>
        <p:nvPicPr>
          <p:cNvPr id="16388" name="object 4">
            <a:extLst>
              <a:ext uri="{FF2B5EF4-FFF2-40B4-BE49-F238E27FC236}">
                <a16:creationId xmlns:a16="http://schemas.microsoft.com/office/drawing/2014/main" id="{B130B6AC-B320-7E96-2064-93072C9AC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018902"/>
            <a:ext cx="7472846" cy="97753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</p:cSld>
  <p:clrMapOvr>
    <a:masterClrMapping/>
  </p:clrMapOvr>
  <p:transition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3B0DA6-9008-E99D-98A6-E573DCFAD293}"/>
              </a:ext>
            </a:extLst>
          </p:cNvPr>
          <p:cNvSpPr txBox="1"/>
          <p:nvPr/>
        </p:nvSpPr>
        <p:spPr>
          <a:xfrm>
            <a:off x="103188" y="2108226"/>
            <a:ext cx="7853188" cy="36471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GB" sz="1100" dirty="0"/>
              <a:t>&lt;div class="container mt-3"&gt;</a:t>
            </a:r>
          </a:p>
          <a:p>
            <a:pPr>
              <a:defRPr/>
            </a:pPr>
            <a:r>
              <a:rPr lang="en-GB" sz="1100" dirty="0"/>
              <a:t>    &lt;form </a:t>
            </a:r>
            <a:r>
              <a:rPr lang="en-GB" sz="1100" b="1" dirty="0">
                <a:solidFill>
                  <a:srgbClr val="C00000"/>
                </a:solidFill>
              </a:rPr>
              <a:t>class="form-horizontal"&gt;</a:t>
            </a:r>
          </a:p>
          <a:p>
            <a:pPr>
              <a:defRPr/>
            </a:pPr>
            <a:r>
              <a:rPr lang="en-GB" sz="1100" dirty="0"/>
              <a:t>        &lt;div class="form-group"&gt;</a:t>
            </a:r>
          </a:p>
          <a:p>
            <a:pPr>
              <a:defRPr/>
            </a:pPr>
            <a:r>
              <a:rPr lang="en-GB" sz="1100" dirty="0"/>
              <a:t>            &lt;label for="email" </a:t>
            </a:r>
            <a:r>
              <a:rPr lang="en-GB" sz="1100" b="1" dirty="0">
                <a:solidFill>
                  <a:srgbClr val="C00000"/>
                </a:solidFill>
              </a:rPr>
              <a:t>class="control-label col-sm-2</a:t>
            </a:r>
            <a:r>
              <a:rPr lang="en-GB" sz="1100" dirty="0"/>
              <a:t>"&gt;Email&lt;/label&gt;</a:t>
            </a:r>
          </a:p>
          <a:p>
            <a:pPr>
              <a:defRPr/>
            </a:pPr>
            <a:r>
              <a:rPr lang="en-GB" sz="1100" dirty="0"/>
              <a:t>            &lt;div class="col-sm-10"&gt;</a:t>
            </a:r>
          </a:p>
          <a:p>
            <a:pPr>
              <a:defRPr/>
            </a:pPr>
            <a:r>
              <a:rPr lang="en-GB" sz="1100" dirty="0"/>
              <a:t>                &lt;input type="email" </a:t>
            </a:r>
            <a:r>
              <a:rPr lang="en-GB" sz="1100" b="1" dirty="0">
                <a:solidFill>
                  <a:srgbClr val="C00000"/>
                </a:solidFill>
              </a:rPr>
              <a:t>class="form-control</a:t>
            </a:r>
            <a:r>
              <a:rPr lang="en-GB" sz="1100" dirty="0"/>
              <a:t>" id="email" placeholder="Email"&gt;</a:t>
            </a:r>
          </a:p>
          <a:p>
            <a:pPr>
              <a:defRPr/>
            </a:pPr>
            <a:r>
              <a:rPr lang="en-GB" sz="1100" dirty="0"/>
              <a:t>            &lt;/div&gt;</a:t>
            </a:r>
          </a:p>
          <a:p>
            <a:pPr>
              <a:defRPr/>
            </a:pPr>
            <a:r>
              <a:rPr lang="en-GB" sz="1100" dirty="0"/>
              <a:t>        &lt;/div&gt;</a:t>
            </a:r>
          </a:p>
          <a:p>
            <a:pPr>
              <a:defRPr/>
            </a:pPr>
            <a:r>
              <a:rPr lang="en-GB" sz="1100" dirty="0"/>
              <a:t>        &lt;div class="form-group"&gt;</a:t>
            </a:r>
          </a:p>
          <a:p>
            <a:pPr>
              <a:defRPr/>
            </a:pPr>
            <a:r>
              <a:rPr lang="en-GB" sz="1100" dirty="0"/>
              <a:t>            &lt;label for="password" </a:t>
            </a:r>
            <a:r>
              <a:rPr lang="en-GB" sz="1100" b="1" dirty="0">
                <a:solidFill>
                  <a:srgbClr val="C00000"/>
                </a:solidFill>
              </a:rPr>
              <a:t>class="control-label col-sm-2</a:t>
            </a:r>
            <a:r>
              <a:rPr lang="en-GB" sz="1100" dirty="0"/>
              <a:t>"&gt;Password&lt;/label&gt;</a:t>
            </a:r>
          </a:p>
          <a:p>
            <a:pPr>
              <a:defRPr/>
            </a:pPr>
            <a:r>
              <a:rPr lang="en-GB" sz="1100" dirty="0"/>
              <a:t>            &lt;div class="col-sm-10"&gt;</a:t>
            </a:r>
          </a:p>
          <a:p>
            <a:pPr>
              <a:defRPr/>
            </a:pPr>
            <a:r>
              <a:rPr lang="en-GB" sz="1100" dirty="0"/>
              <a:t>                &lt;input type="password" </a:t>
            </a:r>
            <a:r>
              <a:rPr lang="en-GB" sz="1100" b="1" dirty="0">
                <a:solidFill>
                  <a:srgbClr val="C00000"/>
                </a:solidFill>
              </a:rPr>
              <a:t>class="form-control" </a:t>
            </a:r>
            <a:r>
              <a:rPr lang="en-GB" sz="1100" dirty="0"/>
              <a:t>id="password" placeholder="Password"&gt;</a:t>
            </a:r>
          </a:p>
          <a:p>
            <a:pPr>
              <a:defRPr/>
            </a:pPr>
            <a:r>
              <a:rPr lang="en-GB" sz="1100" dirty="0"/>
              <a:t>            &lt;/div&gt;</a:t>
            </a:r>
          </a:p>
          <a:p>
            <a:pPr>
              <a:defRPr/>
            </a:pPr>
            <a:r>
              <a:rPr lang="en-GB" sz="1100" dirty="0"/>
              <a:t>        &lt;/div&gt;</a:t>
            </a:r>
          </a:p>
          <a:p>
            <a:pPr>
              <a:defRPr/>
            </a:pPr>
            <a:r>
              <a:rPr lang="en-GB" sz="1100" dirty="0"/>
              <a:t>        &lt;div class="form-group"&gt;</a:t>
            </a:r>
          </a:p>
          <a:p>
            <a:pPr>
              <a:defRPr/>
            </a:pPr>
            <a:r>
              <a:rPr lang="en-GB" sz="1100" dirty="0"/>
              <a:t>            &lt;div class="col-sm-offset-2 col-sm-10"&gt;</a:t>
            </a:r>
          </a:p>
          <a:p>
            <a:pPr>
              <a:defRPr/>
            </a:pPr>
            <a:r>
              <a:rPr lang="en-GB" sz="1100" dirty="0"/>
              <a:t>                &lt;button type="submit" class="</a:t>
            </a:r>
            <a:r>
              <a:rPr lang="en-GB" sz="1100" dirty="0" err="1"/>
              <a:t>btn</a:t>
            </a:r>
            <a:r>
              <a:rPr lang="en-GB" sz="1100" dirty="0"/>
              <a:t> </a:t>
            </a:r>
            <a:r>
              <a:rPr lang="en-GB" sz="1100" dirty="0" err="1"/>
              <a:t>btn</a:t>
            </a:r>
            <a:r>
              <a:rPr lang="en-GB" sz="1100" dirty="0"/>
              <a:t>-primary"&gt;Submit&lt;/button&gt;</a:t>
            </a:r>
          </a:p>
          <a:p>
            <a:pPr>
              <a:defRPr/>
            </a:pPr>
            <a:r>
              <a:rPr lang="en-GB" sz="1100" dirty="0"/>
              <a:t>            &lt;/div&gt;</a:t>
            </a:r>
          </a:p>
          <a:p>
            <a:pPr>
              <a:defRPr/>
            </a:pPr>
            <a:r>
              <a:rPr lang="en-GB" sz="1100" dirty="0"/>
              <a:t>        &lt;/div&gt;</a:t>
            </a:r>
          </a:p>
          <a:p>
            <a:pPr>
              <a:defRPr/>
            </a:pPr>
            <a:r>
              <a:rPr lang="en-GB" sz="1100" dirty="0"/>
              <a:t>    &lt;/form&gt;</a:t>
            </a:r>
          </a:p>
          <a:p>
            <a:pPr>
              <a:defRPr/>
            </a:pPr>
            <a:r>
              <a:rPr lang="en-GB" sz="1100" dirty="0"/>
              <a:t>&lt;/div&gt;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8FF87A3-2BBE-D97B-C8FD-D3FEAF2A1E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spc="-4" dirty="0"/>
              <a:t>Horizontal </a:t>
            </a:r>
            <a:r>
              <a:rPr spc="-4" dirty="0"/>
              <a:t>Forms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44A1C42-0B1A-144A-C1FA-88D2EE0D5453}"/>
              </a:ext>
            </a:extLst>
          </p:cNvPr>
          <p:cNvSpPr txBox="1"/>
          <p:nvPr/>
        </p:nvSpPr>
        <p:spPr>
          <a:xfrm>
            <a:off x="306388" y="1268413"/>
            <a:ext cx="8837612" cy="839813"/>
          </a:xfrm>
          <a:prstGeom prst="rect">
            <a:avLst/>
          </a:prstGeom>
        </p:spPr>
        <p:txBody>
          <a:bodyPr wrap="square" lIns="0" tIns="120491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95275" indent="-285750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Add a class of 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.form-horizontal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to the parent &lt;form&gt;  element.</a:t>
            </a:r>
          </a:p>
          <a:p>
            <a:pPr marL="295275" indent="-285750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Add a class of 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.control-label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to all &lt;labels&gt; elements.</a:t>
            </a:r>
          </a:p>
        </p:txBody>
      </p:sp>
      <p:pic>
        <p:nvPicPr>
          <p:cNvPr id="17413" name="object 4">
            <a:extLst>
              <a:ext uri="{FF2B5EF4-FFF2-40B4-BE49-F238E27FC236}">
                <a16:creationId xmlns:a16="http://schemas.microsoft.com/office/drawing/2014/main" id="{C08417BF-17A7-13A4-9D17-531F66040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775" y="4941168"/>
            <a:ext cx="4594225" cy="125018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  <p:transition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C3AA3CFB-829D-C32B-1FD9-FA8CFD94D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Quiz - 1</a:t>
            </a:r>
            <a:endParaRPr lang="en-GB" altLang="en-US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9F40FDDF-7273-C24E-E63A-0F45CD93BB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 the differences between the different types of forms in Bootstrap</a:t>
            </a:r>
            <a:endParaRPr lang="en-GB" altLang="en-US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054261-B767-FDA8-5AD3-DB74EAA3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Bootstrap form controls</a:t>
            </a:r>
            <a:endParaRPr lang="en-GB" dirty="0"/>
          </a:p>
        </p:txBody>
      </p:sp>
      <p:sp>
        <p:nvSpPr>
          <p:cNvPr id="19459" name="Text Placeholder 4">
            <a:extLst>
              <a:ext uri="{FF2B5EF4-FFF2-40B4-BE49-F238E27FC236}">
                <a16:creationId xmlns:a16="http://schemas.microsoft.com/office/drawing/2014/main" id="{4E44A3ED-A6DE-E59C-9CD1-7D1044881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2630B6-519D-6B0B-3AF6-D72C830794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8" dirty="0"/>
              <a:t>Supported</a:t>
            </a:r>
            <a:r>
              <a:rPr spc="-38" dirty="0"/>
              <a:t> </a:t>
            </a:r>
            <a:r>
              <a:rPr lang="en-GB" spc="-4" dirty="0"/>
              <a:t>C</a:t>
            </a:r>
            <a:r>
              <a:rPr spc="-4" dirty="0" err="1"/>
              <a:t>ontrols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F250FC9-1089-20E3-9024-CBE0117EBAA7}"/>
              </a:ext>
            </a:extLst>
          </p:cNvPr>
          <p:cNvSpPr txBox="1"/>
          <p:nvPr/>
        </p:nvSpPr>
        <p:spPr>
          <a:xfrm>
            <a:off x="442652" y="1351630"/>
            <a:ext cx="8493125" cy="1676741"/>
          </a:xfrm>
          <a:prstGeom prst="rect">
            <a:avLst/>
          </a:prstGeom>
        </p:spPr>
        <p:txBody>
          <a:bodyPr lIns="0" tIns="9525" rIns="0" bIns="0">
            <a:spAutoFit/>
          </a:bodyPr>
          <a:lstStyle>
            <a:lvl1pPr marL="266700" indent="-257175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9525" indent="0">
              <a:spcBef>
                <a:spcPts val="75"/>
              </a:spcBef>
              <a:buClr>
                <a:srgbClr val="91268E"/>
              </a:buClr>
              <a:defRPr/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Inputs: </a:t>
            </a:r>
          </a:p>
          <a:p>
            <a:pPr marL="295275" indent="-285750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Bootstrap supports all the HTML5 input types: </a:t>
            </a:r>
          </a:p>
          <a:p>
            <a:pPr marL="771525" lvl="1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text,  password, datetime, datetime-local, date, month, time, week,  number, email, </a:t>
            </a:r>
            <a:r>
              <a:rPr lang="en-US" altLang="en-US" sz="2000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url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, search, </a:t>
            </a:r>
            <a:r>
              <a:rPr lang="en-US" altLang="en-US" sz="2000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tel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, and color.</a:t>
            </a:r>
          </a:p>
          <a:p>
            <a:pPr marL="295275" indent="-285750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Inputs will be fully styled if 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type</a:t>
            </a:r>
            <a:r>
              <a:rPr lang="en-US" altLang="en-US" sz="2000" dirty="0">
                <a:solidFill>
                  <a:srgbClr val="91268E"/>
                </a:solidFill>
                <a:ea typeface="Arial MT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is properly declared.</a:t>
            </a:r>
          </a:p>
        </p:txBody>
      </p:sp>
      <p:sp>
        <p:nvSpPr>
          <p:cNvPr id="20485" name="object 7">
            <a:extLst>
              <a:ext uri="{FF2B5EF4-FFF2-40B4-BE49-F238E27FC236}">
                <a16:creationId xmlns:a16="http://schemas.microsoft.com/office/drawing/2014/main" id="{255B8B6A-56AD-C857-D2A8-6B840C914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4437063"/>
            <a:ext cx="8493125" cy="1638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525" rIns="0" bIns="0">
            <a:spAutoFit/>
          </a:bodyPr>
          <a:lstStyle>
            <a:lvl1pPr marL="295275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2425" indent="-342900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b="1" dirty="0" err="1">
                <a:solidFill>
                  <a:schemeClr val="accent2"/>
                </a:solidFill>
                <a:cs typeface="Arial" panose="020B0604020202020204" pitchFamily="34" charset="0"/>
              </a:rPr>
              <a:t>Textarea</a:t>
            </a: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Form control supports multiples lines of text. Change 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rows</a:t>
            </a:r>
            <a:r>
              <a:rPr lang="en-US" altLang="en-US" sz="2000" dirty="0">
                <a:solidFill>
                  <a:srgbClr val="91268E"/>
                </a:solidFill>
                <a:ea typeface="Arial MT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attribute as required.</a:t>
            </a:r>
          </a:p>
          <a:p>
            <a:pPr marL="352425" indent="-342900">
              <a:spcBef>
                <a:spcPts val="738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Checkboxes and Radio Buttons: </a:t>
            </a:r>
            <a:r>
              <a:rPr lang="en-US" altLang="en-US" sz="2000" dirty="0">
                <a:ea typeface="Arial MT"/>
                <a:cs typeface="Arial MT"/>
              </a:rPr>
              <a:t>Checkboxes or </a:t>
            </a:r>
            <a:r>
              <a:rPr lang="en-US" altLang="en-US" sz="2000" dirty="0" err="1">
                <a:ea typeface="Arial MT"/>
                <a:cs typeface="Arial MT"/>
              </a:rPr>
              <a:t>Radiobuttons</a:t>
            </a:r>
            <a:r>
              <a:rPr lang="en-US" altLang="en-US" sz="2000" dirty="0">
                <a:ea typeface="Arial MT"/>
                <a:cs typeface="Arial MT"/>
              </a:rPr>
              <a:t>  are used if you want the user to select any number of options  from a list of preset options.</a:t>
            </a:r>
          </a:p>
        </p:txBody>
      </p:sp>
      <p:pic>
        <p:nvPicPr>
          <p:cNvPr id="20486" name="object 8">
            <a:extLst>
              <a:ext uri="{FF2B5EF4-FFF2-40B4-BE49-F238E27FC236}">
                <a16:creationId xmlns:a16="http://schemas.microsoft.com/office/drawing/2014/main" id="{BDB060B8-9D77-07B0-7FF3-C4398C6C3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812" y="3284984"/>
            <a:ext cx="6149975" cy="10795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  <p:transition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AB488B-FD51-3CB7-F74F-393027D82CDE}"/>
              </a:ext>
            </a:extLst>
          </p:cNvPr>
          <p:cNvSpPr txBox="1"/>
          <p:nvPr/>
        </p:nvSpPr>
        <p:spPr>
          <a:xfrm>
            <a:off x="686110" y="1480359"/>
            <a:ext cx="7419353" cy="317395"/>
          </a:xfrm>
          <a:prstGeom prst="rect">
            <a:avLst/>
          </a:prstGeom>
        </p:spPr>
        <p:txBody>
          <a:bodyPr wrap="square" lIns="0" tIns="9525" rIns="0" bIns="0">
            <a:spAutoFit/>
          </a:bodyPr>
          <a:lstStyle/>
          <a:p>
            <a:pPr marL="266700" indent="-257175">
              <a:spcBef>
                <a:spcPts val="75"/>
              </a:spcBef>
              <a:buClr>
                <a:schemeClr val="tx1"/>
              </a:buClr>
              <a:buFontTx/>
              <a:buChar char="•"/>
              <a:tabLst>
                <a:tab pos="266224" algn="l"/>
                <a:tab pos="266700" algn="l"/>
              </a:tabLst>
              <a:defRPr/>
            </a:pP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Select</a:t>
            </a:r>
            <a:r>
              <a:rPr sz="2000" spc="4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lists</a:t>
            </a:r>
            <a:r>
              <a:rPr sz="2000" spc="8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that</a:t>
            </a:r>
            <a:r>
              <a:rPr sz="2000" spc="4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are allow</a:t>
            </a:r>
            <a:r>
              <a:rPr sz="20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the user</a:t>
            </a:r>
            <a:r>
              <a:rPr sz="20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spc="4" dirty="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 pick from</a:t>
            </a:r>
            <a:r>
              <a:rPr sz="2000" spc="19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multiple options</a:t>
            </a:r>
            <a:r>
              <a:rPr sz="1800" spc="-4" dirty="0">
                <a:solidFill>
                  <a:srgbClr val="3F3F3F"/>
                </a:solidFill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1507" name="object 3">
            <a:extLst>
              <a:ext uri="{FF2B5EF4-FFF2-40B4-BE49-F238E27FC236}">
                <a16:creationId xmlns:a16="http://schemas.microsoft.com/office/drawing/2014/main" id="{0FED3750-813F-FE4B-9E22-439092EA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42" y="4036348"/>
            <a:ext cx="7643515" cy="544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29051" rIns="0" bIns="0">
            <a:spAutoFit/>
          </a:bodyPr>
          <a:lstStyle>
            <a:lvl1pPr marL="266700" indent="-257175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3000"/>
              </a:lnSpc>
              <a:spcBef>
                <a:spcPts val="225"/>
              </a:spcBef>
              <a:buClr>
                <a:schemeClr val="tx1"/>
              </a:buClr>
              <a:buFont typeface="Arial MT"/>
              <a:buChar char="•"/>
            </a:pPr>
            <a:r>
              <a:rPr lang="en-US" altLang="en-US" sz="1800" b="1" dirty="0">
                <a:solidFill>
                  <a:srgbClr val="3F3F3F"/>
                </a:solidFill>
                <a:cs typeface="Arial" panose="020B0604020202020204" pitchFamily="34" charset="0"/>
              </a:rPr>
              <a:t>Static Control :</a:t>
            </a:r>
            <a:r>
              <a:rPr lang="en-US" altLang="en-US" sz="18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If you need to insert plain text next to a form label  within a horizontal form, use the .form-control-static class on &lt;p&gt;  element.</a:t>
            </a:r>
            <a:endParaRPr lang="en-US" altLang="en-US" sz="1800" dirty="0">
              <a:latin typeface="Arial MT"/>
              <a:ea typeface="Arial MT"/>
              <a:cs typeface="Arial MT"/>
            </a:endParaRPr>
          </a:p>
        </p:txBody>
      </p:sp>
      <p:pic>
        <p:nvPicPr>
          <p:cNvPr id="21508" name="object 5">
            <a:extLst>
              <a:ext uri="{FF2B5EF4-FFF2-40B4-BE49-F238E27FC236}">
                <a16:creationId xmlns:a16="http://schemas.microsoft.com/office/drawing/2014/main" id="{29861A03-C45D-2B61-55AB-35F09D0BE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519" y="4859337"/>
            <a:ext cx="6078537" cy="117792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pic>
        <p:nvPicPr>
          <p:cNvPr id="21509" name="object 4">
            <a:extLst>
              <a:ext uri="{FF2B5EF4-FFF2-40B4-BE49-F238E27FC236}">
                <a16:creationId xmlns:a16="http://schemas.microsoft.com/office/drawing/2014/main" id="{DF898B92-85B6-BC5D-7397-3543A369A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2" y="1864077"/>
            <a:ext cx="5264150" cy="206897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BBD616B0-636D-2476-9230-C1BC0BD029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spc="-8" dirty="0"/>
              <a:t>Static</a:t>
            </a:r>
            <a:r>
              <a:rPr spc="-38" dirty="0"/>
              <a:t> </a:t>
            </a:r>
            <a:r>
              <a:rPr lang="en-US" spc="-38" dirty="0"/>
              <a:t>C</a:t>
            </a:r>
            <a:r>
              <a:rPr spc="-4" dirty="0"/>
              <a:t>ontrol</a:t>
            </a:r>
            <a:endParaRPr dirty="0"/>
          </a:p>
        </p:txBody>
      </p:sp>
    </p:spTree>
  </p:cSld>
  <p:clrMapOvr>
    <a:masterClrMapping/>
  </p:clrMapOvr>
  <p:transition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object 2">
            <a:extLst>
              <a:ext uri="{FF2B5EF4-FFF2-40B4-BE49-F238E27FC236}">
                <a16:creationId xmlns:a16="http://schemas.microsoft.com/office/drawing/2014/main" id="{8CC06544-4B51-95B8-3FFE-80287D49B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566811"/>
            <a:ext cx="8207375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4290" rIns="0" bIns="0">
            <a:spAutoFit/>
          </a:bodyPr>
          <a:lstStyle>
            <a:lvl1pPr marL="9525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000"/>
              </a:lnSpc>
              <a:spcBef>
                <a:spcPts val="275"/>
              </a:spcBef>
              <a:buClr>
                <a:srgbClr val="91268E"/>
              </a:buClr>
            </a:pPr>
            <a:r>
              <a:rPr lang="en-US" altLang="en-US" sz="2000" b="1" dirty="0">
                <a:cs typeface="Arial" panose="020B0604020202020204" pitchFamily="34" charset="0"/>
              </a:rPr>
              <a:t>Focus state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: Removes the default 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outline</a:t>
            </a:r>
            <a:r>
              <a:rPr lang="en-US" altLang="en-US" sz="2000" dirty="0">
                <a:solidFill>
                  <a:srgbClr val="91268E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styles on some form  controls and apply a 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box- shadow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in its place for 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:focus.</a:t>
            </a:r>
          </a:p>
        </p:txBody>
      </p:sp>
      <p:sp>
        <p:nvSpPr>
          <p:cNvPr id="22531" name="object 4">
            <a:extLst>
              <a:ext uri="{FF2B5EF4-FFF2-40B4-BE49-F238E27FC236}">
                <a16:creationId xmlns:a16="http://schemas.microsoft.com/office/drawing/2014/main" id="{962F528D-1205-C363-4DE8-8CE24713E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3354388"/>
            <a:ext cx="8491538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3238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025"/>
              </a:lnSpc>
              <a:spcBef>
                <a:spcPts val="250"/>
              </a:spcBef>
            </a:pPr>
            <a:r>
              <a:rPr lang="en-US" altLang="en-US" sz="2000" b="1" dirty="0">
                <a:solidFill>
                  <a:srgbClr val="3F3F3F"/>
                </a:solidFill>
                <a:cs typeface="Arial" panose="020B0604020202020204" pitchFamily="34" charset="0"/>
              </a:rPr>
              <a:t>Disabled state: 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Add the 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disabled</a:t>
            </a:r>
            <a:r>
              <a:rPr lang="en-US" altLang="en-US" sz="2000" dirty="0">
                <a:solidFill>
                  <a:srgbClr val="91268E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Boolean attribute to an input.  Disabled inputs appear greyed-out and do 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not-allow</a:t>
            </a:r>
            <a:r>
              <a:rPr lang="en-US" altLang="en-US" sz="2000" dirty="0">
                <a:solidFill>
                  <a:srgbClr val="91268E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cursor.</a:t>
            </a:r>
            <a:endParaRPr lang="en-US" altLang="en-US" sz="2000" dirty="0">
              <a:latin typeface="Arial MT"/>
              <a:ea typeface="Arial MT"/>
              <a:cs typeface="Arial MT"/>
            </a:endParaRPr>
          </a:p>
        </p:txBody>
      </p:sp>
      <p:sp>
        <p:nvSpPr>
          <p:cNvPr id="22532" name="object 5">
            <a:extLst>
              <a:ext uri="{FF2B5EF4-FFF2-40B4-BE49-F238E27FC236}">
                <a16:creationId xmlns:a16="http://schemas.microsoft.com/office/drawing/2014/main" id="{B1B80BE4-BB74-BFB7-6817-0AC2FAED9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18" y="5352998"/>
            <a:ext cx="7777163" cy="553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34290" rIns="0" bIns="0">
            <a:spAutoFit/>
          </a:bodyPr>
          <a:lstStyle>
            <a:lvl1pPr marL="9525">
              <a:tabLst>
                <a:tab pos="55800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55800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55800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55800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55800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5800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5800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5800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5800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000"/>
              </a:lnSpc>
              <a:spcBef>
                <a:spcPts val="275"/>
              </a:spcBef>
            </a:pPr>
            <a:r>
              <a:rPr lang="en-US" altLang="en-US" sz="2000" b="1" dirty="0">
                <a:solidFill>
                  <a:srgbClr val="3F3F3F"/>
                </a:solidFill>
                <a:cs typeface="Arial" panose="020B0604020202020204" pitchFamily="34" charset="0"/>
              </a:rPr>
              <a:t>Syntax</a:t>
            </a:r>
            <a:r>
              <a:rPr lang="en-US" altLang="en-US" sz="2000" b="1" dirty="0">
                <a:solidFill>
                  <a:srgbClr val="002060"/>
                </a:solidFill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2060"/>
                </a:solidFill>
                <a:latin typeface="Arial MT"/>
                <a:ea typeface="Arial MT"/>
                <a:cs typeface="Arial MT"/>
              </a:rPr>
              <a:t>&lt;input class="form-control" id="</a:t>
            </a:r>
            <a:r>
              <a:rPr lang="en-US" altLang="en-US" sz="2000" dirty="0" err="1">
                <a:solidFill>
                  <a:srgbClr val="002060"/>
                </a:solidFill>
                <a:latin typeface="Arial MT"/>
                <a:ea typeface="Arial MT"/>
                <a:cs typeface="Arial MT"/>
              </a:rPr>
              <a:t>disabledInput</a:t>
            </a:r>
            <a:r>
              <a:rPr lang="en-US" altLang="en-US" sz="2000" dirty="0">
                <a:solidFill>
                  <a:srgbClr val="002060"/>
                </a:solidFill>
                <a:latin typeface="Arial MT"/>
                <a:ea typeface="Arial MT"/>
                <a:cs typeface="Arial MT"/>
              </a:rPr>
              <a:t>"	type="text"  placeholder</a:t>
            </a:r>
            <a:r>
              <a:rPr lang="en-US" altLang="en-US" dirty="0">
                <a:solidFill>
                  <a:srgbClr val="002060"/>
                </a:solidFill>
                <a:latin typeface="Arial MT"/>
                <a:ea typeface="Arial MT"/>
                <a:cs typeface="Arial MT"/>
              </a:rPr>
              <a:t>="</a:t>
            </a:r>
            <a:r>
              <a:rPr lang="en-US" altLang="en-US" sz="2000" dirty="0">
                <a:solidFill>
                  <a:srgbClr val="002060"/>
                </a:solidFill>
                <a:latin typeface="Arial MT"/>
                <a:ea typeface="Arial MT"/>
                <a:cs typeface="Arial MT"/>
              </a:rPr>
              <a:t>Disabled input here..." disabled&gt;</a:t>
            </a:r>
          </a:p>
        </p:txBody>
      </p:sp>
      <p:pic>
        <p:nvPicPr>
          <p:cNvPr id="22533" name="object 6">
            <a:extLst>
              <a:ext uri="{FF2B5EF4-FFF2-40B4-BE49-F238E27FC236}">
                <a16:creationId xmlns:a16="http://schemas.microsoft.com/office/drawing/2014/main" id="{AA8C621D-020C-337C-3635-F34597FF5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148" y="2282797"/>
            <a:ext cx="6257925" cy="8509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pic>
        <p:nvPicPr>
          <p:cNvPr id="22534" name="object 7">
            <a:extLst>
              <a:ext uri="{FF2B5EF4-FFF2-40B4-BE49-F238E27FC236}">
                <a16:creationId xmlns:a16="http://schemas.microsoft.com/office/drawing/2014/main" id="{48E7E67F-7EBB-ED78-916E-CA192DB43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9" y="4302125"/>
            <a:ext cx="6257433" cy="74295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22535" name="Title 7">
            <a:extLst>
              <a:ext uri="{FF2B5EF4-FFF2-40B4-BE49-F238E27FC236}">
                <a16:creationId xmlns:a16="http://schemas.microsoft.com/office/drawing/2014/main" id="{1337A638-2ED2-F073-B3B4-C805C9A23D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Control States</a:t>
            </a:r>
            <a:endParaRPr lang="en-GB" altLang="en-US" dirty="0"/>
          </a:p>
        </p:txBody>
      </p:sp>
    </p:spTree>
  </p:cSld>
  <p:clrMapOvr>
    <a:masterClrMapping/>
  </p:clrMapOvr>
  <p:transition>
    <p:blinds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object 3">
            <a:extLst>
              <a:ext uri="{FF2B5EF4-FFF2-40B4-BE49-F238E27FC236}">
                <a16:creationId xmlns:a16="http://schemas.microsoft.com/office/drawing/2014/main" id="{975BD1DC-E17F-30F8-A25B-FE2280FC9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1322696"/>
            <a:ext cx="8540750" cy="888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9051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3000"/>
              </a:lnSpc>
              <a:spcBef>
                <a:spcPts val="225"/>
              </a:spcBef>
            </a:pPr>
            <a:r>
              <a:rPr lang="en-US" altLang="en-US" sz="2000" b="1" dirty="0" err="1">
                <a:solidFill>
                  <a:schemeClr val="accent2"/>
                </a:solidFill>
                <a:cs typeface="Arial" panose="020B0604020202020204" pitchFamily="34" charset="0"/>
              </a:rPr>
              <a:t>Readonly</a:t>
            </a: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 state: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the </a:t>
            </a:r>
            <a:r>
              <a:rPr lang="en-US" altLang="en-US" sz="2000" dirty="0" err="1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readonly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 Boolean attribute on an input to prevent modification of the input’s value. Read-only inputs appear lighter  (just like disabled inputs) but retain the standard cursor.</a:t>
            </a:r>
          </a:p>
        </p:txBody>
      </p:sp>
      <p:sp>
        <p:nvSpPr>
          <p:cNvPr id="23555" name="object 4">
            <a:extLst>
              <a:ext uri="{FF2B5EF4-FFF2-40B4-BE49-F238E27FC236}">
                <a16:creationId xmlns:a16="http://schemas.microsoft.com/office/drawing/2014/main" id="{37720EF4-BA66-C4DD-87B3-C600F4A55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4076700"/>
            <a:ext cx="8601075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4290" rIns="0" bIns="0">
            <a:spAutoFit/>
          </a:bodyPr>
          <a:lstStyle>
            <a:lvl1pPr marL="9525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000"/>
              </a:lnSpc>
              <a:spcBef>
                <a:spcPts val="763"/>
              </a:spcBef>
              <a:buClr>
                <a:srgbClr val="91268E"/>
              </a:buClr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Help Text: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A block of help text that breaks onto a new line and may  extend beyond one line.</a:t>
            </a:r>
          </a:p>
        </p:txBody>
      </p:sp>
      <p:pic>
        <p:nvPicPr>
          <p:cNvPr id="23556" name="object 5">
            <a:extLst>
              <a:ext uri="{FF2B5EF4-FFF2-40B4-BE49-F238E27FC236}">
                <a16:creationId xmlns:a16="http://schemas.microsoft.com/office/drawing/2014/main" id="{349DF079-EB44-4E11-A7E1-11862BEA6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3068638"/>
            <a:ext cx="60991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itle 5">
            <a:extLst>
              <a:ext uri="{FF2B5EF4-FFF2-40B4-BE49-F238E27FC236}">
                <a16:creationId xmlns:a16="http://schemas.microsoft.com/office/drawing/2014/main" id="{1B36C14A-9E01-164A-ECA3-88E4C333D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Control States</a:t>
            </a:r>
            <a:endParaRPr lang="en-GB" altLang="en-US" dirty="0"/>
          </a:p>
        </p:txBody>
      </p:sp>
      <p:sp>
        <p:nvSpPr>
          <p:cNvPr id="23558" name="TextBox 4">
            <a:extLst>
              <a:ext uri="{FF2B5EF4-FFF2-40B4-BE49-F238E27FC236}">
                <a16:creationId xmlns:a16="http://schemas.microsoft.com/office/drawing/2014/main" id="{8B1107BE-BEA7-5039-F50F-5A8F7E8DD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0" y="2168526"/>
            <a:ext cx="6604000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000"/>
              </a:lnSpc>
              <a:spcBef>
                <a:spcPts val="275"/>
              </a:spcBef>
              <a:buClr>
                <a:srgbClr val="91268E"/>
              </a:buClr>
            </a:pPr>
            <a:r>
              <a:rPr lang="en-US" alt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Syntax:</a:t>
            </a:r>
          </a:p>
          <a:p>
            <a:pPr>
              <a:lnSpc>
                <a:spcPts val="2000"/>
              </a:lnSpc>
              <a:spcBef>
                <a:spcPts val="275"/>
              </a:spcBef>
              <a:buClr>
                <a:srgbClr val="91268E"/>
              </a:buClr>
            </a:pPr>
            <a:r>
              <a:rPr lang="en-US" altLang="en-US" sz="1800" dirty="0">
                <a:latin typeface="Arial MT"/>
                <a:ea typeface="Arial MT"/>
                <a:cs typeface="Arial MT"/>
              </a:rPr>
              <a:t>&lt;input class="form-control" type="text" placeholder="</a:t>
            </a:r>
            <a:r>
              <a:rPr lang="en-US" altLang="en-US" sz="1800" dirty="0" err="1">
                <a:latin typeface="Arial MT"/>
                <a:ea typeface="Arial MT"/>
                <a:cs typeface="Arial MT"/>
              </a:rPr>
              <a:t>Readonly</a:t>
            </a:r>
            <a:r>
              <a:rPr lang="en-US" altLang="en-US" sz="1800" dirty="0">
                <a:latin typeface="Arial MT"/>
                <a:ea typeface="Arial MT"/>
                <a:cs typeface="Arial MT"/>
              </a:rPr>
              <a:t>  input here…" </a:t>
            </a:r>
            <a:r>
              <a:rPr lang="en-US" altLang="en-US" sz="1800" dirty="0" err="1">
                <a:latin typeface="Arial MT"/>
                <a:ea typeface="Arial MT"/>
                <a:cs typeface="Arial MT"/>
              </a:rPr>
              <a:t>readonly</a:t>
            </a:r>
            <a:r>
              <a:rPr lang="en-US" altLang="en-US" sz="1800" dirty="0">
                <a:latin typeface="Arial MT"/>
                <a:ea typeface="Arial MT"/>
                <a:cs typeface="Arial MT"/>
              </a:rPr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B3A4A-E402-43E6-A927-C49AC8C708CD}"/>
              </a:ext>
            </a:extLst>
          </p:cNvPr>
          <p:cNvSpPr txBox="1"/>
          <p:nvPr/>
        </p:nvSpPr>
        <p:spPr>
          <a:xfrm>
            <a:off x="367222" y="4606664"/>
            <a:ext cx="7848600" cy="1581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343025" lvl="3">
              <a:lnSpc>
                <a:spcPts val="2000"/>
              </a:lnSpc>
              <a:spcBef>
                <a:spcPts val="763"/>
              </a:spcBef>
              <a:buClr>
                <a:srgbClr val="91268E"/>
              </a:buClr>
              <a:defRPr/>
            </a:pPr>
            <a:r>
              <a:rPr lang="en-US" alt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Syntax:</a:t>
            </a:r>
          </a:p>
          <a:p>
            <a:pPr marL="1343025" lvl="3">
              <a:lnSpc>
                <a:spcPts val="2000"/>
              </a:lnSpc>
              <a:spcBef>
                <a:spcPts val="763"/>
              </a:spcBef>
              <a:buClr>
                <a:srgbClr val="91268E"/>
              </a:buClr>
              <a:defRPr/>
            </a:pPr>
            <a:r>
              <a:rPr lang="en-US" altLang="en-US" sz="1800" dirty="0">
                <a:latin typeface="Arial MT"/>
                <a:ea typeface="Arial MT"/>
                <a:cs typeface="Arial MT"/>
              </a:rPr>
              <a:t>&lt;label class="</a:t>
            </a:r>
            <a:r>
              <a:rPr lang="en-US" altLang="en-US" sz="1800" dirty="0" err="1">
                <a:latin typeface="Arial MT"/>
                <a:ea typeface="Arial MT"/>
                <a:cs typeface="Arial MT"/>
              </a:rPr>
              <a:t>sr</a:t>
            </a:r>
            <a:r>
              <a:rPr lang="en-US" altLang="en-US" sz="1800" dirty="0">
                <a:latin typeface="Arial MT"/>
                <a:ea typeface="Arial MT"/>
                <a:cs typeface="Arial MT"/>
              </a:rPr>
              <a:t>-only" for="</a:t>
            </a:r>
            <a:r>
              <a:rPr lang="en-US" altLang="en-US" sz="1800" dirty="0" err="1">
                <a:latin typeface="Arial MT"/>
                <a:ea typeface="Arial MT"/>
                <a:cs typeface="Arial MT"/>
              </a:rPr>
              <a:t>inputHelpBlock</a:t>
            </a:r>
            <a:r>
              <a:rPr lang="en-US" altLang="en-US" sz="1800" dirty="0">
                <a:latin typeface="Arial MT"/>
                <a:ea typeface="Arial MT"/>
                <a:cs typeface="Arial MT"/>
              </a:rPr>
              <a:t>"&gt;Input with help  text&lt;/label&gt;</a:t>
            </a:r>
          </a:p>
          <a:p>
            <a:pPr lvl="3">
              <a:lnSpc>
                <a:spcPts val="2000"/>
              </a:lnSpc>
              <a:spcBef>
                <a:spcPts val="763"/>
              </a:spcBef>
              <a:defRPr/>
            </a:pPr>
            <a:r>
              <a:rPr lang="en-US" altLang="en-US" sz="1800" dirty="0">
                <a:latin typeface="Arial MT"/>
                <a:ea typeface="Arial MT"/>
                <a:cs typeface="Arial MT"/>
              </a:rPr>
              <a:t>&lt;input type="text" id="</a:t>
            </a:r>
            <a:r>
              <a:rPr lang="en-US" altLang="en-US" sz="1800" dirty="0" err="1">
                <a:latin typeface="Arial MT"/>
                <a:ea typeface="Arial MT"/>
                <a:cs typeface="Arial MT"/>
              </a:rPr>
              <a:t>inputHelpBlock</a:t>
            </a:r>
            <a:r>
              <a:rPr lang="en-US" altLang="en-US" sz="1800" dirty="0">
                <a:latin typeface="Arial MT"/>
                <a:ea typeface="Arial MT"/>
                <a:cs typeface="Arial MT"/>
              </a:rPr>
              <a:t>" class="form-control" area described by="</a:t>
            </a:r>
            <a:r>
              <a:rPr lang="en-US" altLang="en-US" sz="1800" dirty="0" err="1">
                <a:latin typeface="Arial MT"/>
                <a:ea typeface="Arial MT"/>
                <a:cs typeface="Arial MT"/>
              </a:rPr>
              <a:t>helpBlock</a:t>
            </a:r>
            <a:r>
              <a:rPr lang="en-US" altLang="en-US" sz="1800" dirty="0">
                <a:latin typeface="Arial MT"/>
                <a:ea typeface="Arial MT"/>
                <a:cs typeface="Arial MT"/>
              </a:rPr>
              <a:t>"&gt;.</a:t>
            </a:r>
          </a:p>
        </p:txBody>
      </p:sp>
    </p:spTree>
  </p:cSld>
  <p:clrMapOvr>
    <a:masterClrMapping/>
  </p:clrMapOvr>
  <p:transition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2C83B90-38D2-6266-49B8-887011B526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23" dirty="0">
                <a:latin typeface="Arial"/>
                <a:cs typeface="Arial"/>
              </a:rPr>
              <a:t>Validation</a:t>
            </a:r>
            <a:r>
              <a:rPr spc="-41" dirty="0">
                <a:latin typeface="Arial"/>
                <a:cs typeface="Arial"/>
              </a:rPr>
              <a:t> </a:t>
            </a:r>
            <a:r>
              <a:rPr lang="en-GB" spc="-4" dirty="0">
                <a:latin typeface="Arial"/>
                <a:cs typeface="Arial"/>
              </a:rPr>
              <a:t>S</a:t>
            </a:r>
            <a:r>
              <a:rPr spc="-4" dirty="0" err="1">
                <a:latin typeface="Arial"/>
                <a:cs typeface="Arial"/>
              </a:rPr>
              <a:t>tates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24579" name="object 3">
            <a:extLst>
              <a:ext uri="{FF2B5EF4-FFF2-40B4-BE49-F238E27FC236}">
                <a16:creationId xmlns:a16="http://schemas.microsoft.com/office/drawing/2014/main" id="{B8F3B73A-C6E6-C36B-EB98-18E909AA0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1474788"/>
            <a:ext cx="8928100" cy="156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525" rIns="0" bIns="0">
            <a:spAutoFit/>
          </a:bodyPr>
          <a:lstStyle>
            <a:lvl1pPr marL="295275" indent="-28575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2425" indent="-342900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Bootstrap includes validation styles for error, warning, and success states  on form controls</a:t>
            </a:r>
          </a:p>
          <a:p>
            <a:pPr marL="352425" indent="-342900"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 MT"/>
                <a:ea typeface="Arial MT"/>
                <a:cs typeface="Arial MT"/>
              </a:rPr>
              <a:t>To use, add 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.has-warning, .has-error,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or 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.has-success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to  the parent element. Any 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.control-label, .form-control,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and </a:t>
            </a:r>
            <a:r>
              <a:rPr lang="en-US" altLang="en-US" sz="2000" dirty="0">
                <a:solidFill>
                  <a:srgbClr val="91268E"/>
                </a:solidFill>
                <a:latin typeface="Arial MT"/>
                <a:ea typeface="Arial MT"/>
                <a:cs typeface="Arial MT"/>
              </a:rPr>
              <a:t>.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help-block</a:t>
            </a:r>
            <a:r>
              <a:rPr lang="en-US" altLang="en-US" sz="2000" dirty="0">
                <a:solidFill>
                  <a:srgbClr val="91268E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within  that element will receive the validation styles.</a:t>
            </a:r>
          </a:p>
        </p:txBody>
      </p:sp>
      <p:pic>
        <p:nvPicPr>
          <p:cNvPr id="24580" name="object 4">
            <a:extLst>
              <a:ext uri="{FF2B5EF4-FFF2-40B4-BE49-F238E27FC236}">
                <a16:creationId xmlns:a16="http://schemas.microsoft.com/office/drawing/2014/main" id="{85C71A0F-5515-E300-107E-A678BE527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3068638"/>
            <a:ext cx="6115050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B3975A-911F-776A-7FDA-25260AABC3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436563"/>
            <a:ext cx="8785225" cy="50165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z="3200" spc="-4" dirty="0">
                <a:latin typeface="Arial"/>
                <a:cs typeface="Arial"/>
              </a:rPr>
              <a:t>Bootstrap</a:t>
            </a:r>
            <a:r>
              <a:rPr sz="3200" spc="-26" dirty="0">
                <a:latin typeface="Arial"/>
                <a:cs typeface="Arial"/>
              </a:rPr>
              <a:t> </a:t>
            </a:r>
            <a:r>
              <a:rPr sz="3200" spc="-4" dirty="0">
                <a:latin typeface="Arial"/>
                <a:cs typeface="Arial"/>
              </a:rPr>
              <a:t>Form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4" dirty="0">
                <a:latin typeface="Arial"/>
                <a:cs typeface="Arial"/>
              </a:rPr>
              <a:t>Control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4" dirty="0">
                <a:latin typeface="Arial"/>
                <a:cs typeface="Arial"/>
              </a:rPr>
              <a:t>States</a:t>
            </a:r>
            <a:r>
              <a:rPr lang="en-US" sz="3200" spc="-4" dirty="0">
                <a:latin typeface="Arial"/>
                <a:cs typeface="Arial"/>
              </a:rPr>
              <a:t> - Summary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25603" name="object 3">
            <a:extLst>
              <a:ext uri="{FF2B5EF4-FFF2-40B4-BE49-F238E27FC236}">
                <a16:creationId xmlns:a16="http://schemas.microsoft.com/office/drawing/2014/main" id="{9386BCAD-D8F7-B30A-A4A0-FD4273CD6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" y="1437907"/>
            <a:ext cx="8848378" cy="2533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525" rIns="0" bIns="0">
            <a:spAutoFit/>
          </a:bodyPr>
          <a:lstStyle>
            <a:lvl1pPr marL="295275" indent="-285750">
              <a:tabLst>
                <a:tab pos="825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825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825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825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825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25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25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25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25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5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INPUT FOCUS </a:t>
            </a:r>
            <a:r>
              <a:rPr lang="en-US" altLang="en-US" sz="18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- O</a:t>
            </a:r>
            <a:r>
              <a:rPr lang="en-US" altLang="en-US" sz="1800" dirty="0">
                <a:ea typeface="Arial MT"/>
                <a:cs typeface="Arial" panose="020B0604020202020204" pitchFamily="34" charset="0"/>
              </a:rPr>
              <a:t>utline of input removed and box-shadow is applied  on focus</a:t>
            </a: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DISABLED INPUTS </a:t>
            </a:r>
            <a:r>
              <a:rPr lang="en-US" altLang="en-US" sz="1800" dirty="0">
                <a:solidFill>
                  <a:schemeClr val="accent2"/>
                </a:solidFill>
                <a:ea typeface="Arial MT"/>
                <a:cs typeface="Arial MT"/>
              </a:rPr>
              <a:t>- </a:t>
            </a:r>
            <a:r>
              <a:rPr lang="en-US" altLang="en-US" sz="1800" dirty="0">
                <a:ea typeface="Arial MT"/>
                <a:cs typeface="Arial MT"/>
              </a:rPr>
              <a:t>Add a disabled attribute to disable an input field</a:t>
            </a: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DISABLED FIELDSETS </a:t>
            </a:r>
            <a:r>
              <a:rPr lang="en-US" altLang="en-US" sz="1800" dirty="0">
                <a:solidFill>
                  <a:schemeClr val="accent2"/>
                </a:solidFill>
                <a:ea typeface="Arial MT"/>
                <a:cs typeface="Arial MT"/>
              </a:rPr>
              <a:t>- </a:t>
            </a:r>
            <a:r>
              <a:rPr lang="en-US" altLang="en-US" sz="1800" dirty="0">
                <a:ea typeface="Arial MT"/>
                <a:cs typeface="Arial MT"/>
              </a:rPr>
              <a:t>Add a disabled attribute to a </a:t>
            </a:r>
            <a:r>
              <a:rPr lang="en-US" altLang="en-US" sz="1800" dirty="0" err="1">
                <a:ea typeface="Arial MT"/>
                <a:cs typeface="Arial MT"/>
              </a:rPr>
              <a:t>fieldset</a:t>
            </a:r>
            <a:r>
              <a:rPr lang="en-US" altLang="en-US" sz="1800" dirty="0">
                <a:ea typeface="Arial MT"/>
                <a:cs typeface="Arial MT"/>
              </a:rPr>
              <a:t> to disable all  controls within</a:t>
            </a: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READONLY INPUTS </a:t>
            </a:r>
            <a:r>
              <a:rPr lang="en-US" altLang="en-US" sz="1800" dirty="0">
                <a:solidFill>
                  <a:schemeClr val="accent2"/>
                </a:solidFill>
                <a:ea typeface="Arial MT"/>
                <a:cs typeface="Arial MT"/>
              </a:rPr>
              <a:t>- </a:t>
            </a:r>
            <a:r>
              <a:rPr lang="en-US" altLang="en-US" sz="1800" dirty="0">
                <a:ea typeface="Arial MT"/>
                <a:cs typeface="Arial MT"/>
              </a:rPr>
              <a:t>Add </a:t>
            </a:r>
            <a:r>
              <a:rPr lang="en-US" altLang="en-US" sz="1800" dirty="0" err="1">
                <a:ea typeface="Arial MT"/>
                <a:cs typeface="Arial MT"/>
              </a:rPr>
              <a:t>readonly</a:t>
            </a:r>
            <a:r>
              <a:rPr lang="en-US" altLang="en-US" sz="1800" dirty="0">
                <a:ea typeface="Arial MT"/>
                <a:cs typeface="Arial MT"/>
              </a:rPr>
              <a:t> attribute to an input to prevent user input</a:t>
            </a: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VALIDATION STATES </a:t>
            </a:r>
            <a:r>
              <a:rPr lang="en-US" altLang="en-US" sz="1800" dirty="0">
                <a:solidFill>
                  <a:schemeClr val="accent2"/>
                </a:solidFill>
                <a:ea typeface="Arial MT"/>
                <a:cs typeface="Arial MT"/>
              </a:rPr>
              <a:t>- </a:t>
            </a:r>
            <a:r>
              <a:rPr lang="en-US" altLang="en-US" sz="1800" dirty="0">
                <a:ea typeface="Arial MT"/>
                <a:cs typeface="Arial MT"/>
              </a:rPr>
              <a:t>Bootstrap includes validation styles for </a:t>
            </a:r>
            <a:r>
              <a:rPr lang="en-US" altLang="en-US" sz="1800" i="1" dirty="0">
                <a:solidFill>
                  <a:srgbClr val="002060"/>
                </a:solidFill>
                <a:ea typeface="Arial MT"/>
                <a:cs typeface="Arial MT"/>
              </a:rPr>
              <a:t>error, warning,  </a:t>
            </a:r>
            <a:r>
              <a:rPr lang="en-US" altLang="en-US" sz="1800" dirty="0">
                <a:ea typeface="Arial MT"/>
                <a:cs typeface="Arial MT"/>
              </a:rPr>
              <a:t>and</a:t>
            </a:r>
            <a:r>
              <a:rPr lang="en-US" altLang="en-US" sz="1800" i="1" dirty="0">
                <a:solidFill>
                  <a:srgbClr val="002060"/>
                </a:solidFill>
                <a:ea typeface="Arial MT"/>
                <a:cs typeface="Arial MT"/>
              </a:rPr>
              <a:t> success</a:t>
            </a:r>
            <a:r>
              <a:rPr lang="en-US" altLang="en-US" sz="1800" dirty="0">
                <a:ea typeface="Arial MT"/>
                <a:cs typeface="Arial MT"/>
              </a:rPr>
              <a:t> messages. To use, add </a:t>
            </a:r>
            <a:r>
              <a:rPr lang="en-US" altLang="en-US" sz="1800" dirty="0">
                <a:solidFill>
                  <a:srgbClr val="C00000"/>
                </a:solidFill>
                <a:ea typeface="Arial MT"/>
                <a:cs typeface="Arial MT"/>
              </a:rPr>
              <a:t>.has-warning, .has-error, </a:t>
            </a:r>
            <a:r>
              <a:rPr lang="en-US" altLang="en-US" sz="1800" dirty="0">
                <a:ea typeface="Arial MT"/>
                <a:cs typeface="Arial MT"/>
              </a:rPr>
              <a:t>or .</a:t>
            </a:r>
            <a:r>
              <a:rPr lang="en-US" altLang="en-US" sz="1800" dirty="0">
                <a:solidFill>
                  <a:srgbClr val="C00000"/>
                </a:solidFill>
                <a:ea typeface="Arial MT"/>
                <a:cs typeface="Arial MT"/>
              </a:rPr>
              <a:t>has-success</a:t>
            </a:r>
            <a:r>
              <a:rPr lang="en-US" altLang="en-US" sz="1800" dirty="0">
                <a:ea typeface="Arial MT"/>
                <a:cs typeface="Arial MT"/>
              </a:rPr>
              <a:t> to  the parent element</a:t>
            </a:r>
          </a:p>
        </p:txBody>
      </p:sp>
      <p:pic>
        <p:nvPicPr>
          <p:cNvPr id="25604" name="object 4">
            <a:extLst>
              <a:ext uri="{FF2B5EF4-FFF2-40B4-BE49-F238E27FC236}">
                <a16:creationId xmlns:a16="http://schemas.microsoft.com/office/drawing/2014/main" id="{FE1D4DA2-53B9-79BE-DEC3-6EC5756C0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7" y="4261360"/>
            <a:ext cx="7127526" cy="183495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  <p:transition>
    <p:blinds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93B5E9B3-487C-D786-0896-8F5E57B3D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Quiz - 2</a:t>
            </a:r>
            <a:endParaRPr lang="en-GB" altLang="en-US"/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22343959-810F-5692-9860-369C819BFC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i="0" dirty="0">
                <a:latin typeface="Arial" panose="020B0604020202020204" pitchFamily="34" charset="0"/>
                <a:cs typeface="Arial" panose="020B0604020202020204" pitchFamily="34" charset="0"/>
              </a:rPr>
              <a:t>Describe why form controls are needed.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i="0" dirty="0">
                <a:latin typeface="Arial" panose="020B0604020202020204" pitchFamily="34" charset="0"/>
                <a:cs typeface="Arial" panose="020B0604020202020204" pitchFamily="34" charset="0"/>
              </a:rPr>
              <a:t>Why are validation states useful in web-design?</a:t>
            </a:r>
            <a:endParaRPr lang="en-GB" altLang="en-US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FE8271-45D3-A4A1-65AB-D59B8B75CF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8" dirty="0">
                <a:latin typeface="Arial"/>
                <a:cs typeface="Arial"/>
              </a:rPr>
              <a:t>Control</a:t>
            </a:r>
            <a:r>
              <a:rPr spc="-53" dirty="0">
                <a:latin typeface="Arial"/>
                <a:cs typeface="Arial"/>
              </a:rPr>
              <a:t> </a:t>
            </a:r>
            <a:r>
              <a:rPr lang="en-US" spc="-4" dirty="0">
                <a:latin typeface="Arial"/>
                <a:cs typeface="Arial"/>
              </a:rPr>
              <a:t>S</a:t>
            </a:r>
            <a:r>
              <a:rPr spc="-4" dirty="0">
                <a:latin typeface="Arial"/>
                <a:cs typeface="Arial"/>
              </a:rPr>
              <a:t>izing</a:t>
            </a:r>
            <a:endParaRPr dirty="0">
              <a:latin typeface="Arial"/>
              <a:cs typeface="Arial"/>
            </a:endParaRPr>
          </a:p>
        </p:txBody>
      </p:sp>
      <p:sp>
        <p:nvSpPr>
          <p:cNvPr id="27651" name="object 3">
            <a:extLst>
              <a:ext uri="{FF2B5EF4-FFF2-40B4-BE49-F238E27FC236}">
                <a16:creationId xmlns:a16="http://schemas.microsoft.com/office/drawing/2014/main" id="{C7AA657A-BF59-EEBE-67FF-0C147D25F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1403350"/>
            <a:ext cx="9077325" cy="104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525" rIns="0" bIns="0">
            <a:spAutoFit/>
          </a:bodyPr>
          <a:lstStyle>
            <a:lvl1pPr marL="295275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5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Set the heights of the input elements using classes likes </a:t>
            </a:r>
            <a:r>
              <a:rPr lang="en-US" altLang="en-US" sz="18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.input-lg  </a:t>
            </a:r>
            <a:r>
              <a:rPr lang="en-US" altLang="en-US" sz="18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and </a:t>
            </a:r>
            <a:r>
              <a:rPr lang="en-US" altLang="en-US" sz="18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.input-sm.</a:t>
            </a:r>
          </a:p>
          <a:p>
            <a:pPr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Set the widths of elements using grid column classes like </a:t>
            </a:r>
            <a:r>
              <a:rPr lang="en-US" altLang="en-US" sz="18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.col-lg-* </a:t>
            </a:r>
            <a:r>
              <a:rPr lang="en-US" altLang="en-US" sz="18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and </a:t>
            </a:r>
            <a:r>
              <a:rPr lang="en-US" altLang="en-US" sz="18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.col-</a:t>
            </a:r>
            <a:r>
              <a:rPr lang="en-US" altLang="en-US" sz="1800" dirty="0" err="1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sm</a:t>
            </a:r>
            <a:r>
              <a:rPr lang="en-US" altLang="en-US" sz="18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-*.</a:t>
            </a:r>
          </a:p>
          <a:p>
            <a:pPr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altLang="en-US" sz="1800" i="1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Height Sizing:</a:t>
            </a:r>
          </a:p>
        </p:txBody>
      </p:sp>
      <p:pic>
        <p:nvPicPr>
          <p:cNvPr id="27653" name="object 4">
            <a:extLst>
              <a:ext uri="{FF2B5EF4-FFF2-40B4-BE49-F238E27FC236}">
                <a16:creationId xmlns:a16="http://schemas.microsoft.com/office/drawing/2014/main" id="{4E4298BC-8DE0-4215-AA81-A9488369F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2638424"/>
            <a:ext cx="8160355" cy="223073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pic>
        <p:nvPicPr>
          <p:cNvPr id="27652" name="object 4">
            <a:extLst>
              <a:ext uri="{FF2B5EF4-FFF2-40B4-BE49-F238E27FC236}">
                <a16:creationId xmlns:a16="http://schemas.microsoft.com/office/drawing/2014/main" id="{7F68AE71-7BE7-1435-B564-4AE388B44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346609"/>
            <a:ext cx="5043488" cy="187642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object 3">
            <a:extLst>
              <a:ext uri="{FF2B5EF4-FFF2-40B4-BE49-F238E27FC236}">
                <a16:creationId xmlns:a16="http://schemas.microsoft.com/office/drawing/2014/main" id="{A1EAC63F-0E12-65BD-0BFC-AD197F552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41438"/>
            <a:ext cx="8748712" cy="932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52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5"/>
              </a:spcBef>
            </a:pP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Horizontal form group sizes:</a:t>
            </a:r>
          </a:p>
          <a:p>
            <a:r>
              <a:rPr lang="en-US" altLang="en-US" sz="2000" dirty="0">
                <a:latin typeface="Arial MT"/>
                <a:ea typeface="Arial MT"/>
                <a:cs typeface="Arial MT"/>
              </a:rPr>
              <a:t>Size labels and form controls within 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.form-horizontal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by adding 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.form-group-lg </a:t>
            </a:r>
            <a:r>
              <a:rPr lang="en-US" altLang="en-US" sz="2000" dirty="0">
                <a:latin typeface="Arial MT"/>
                <a:ea typeface="Arial MT"/>
                <a:cs typeface="Arial MT"/>
              </a:rPr>
              <a:t>or </a:t>
            </a:r>
            <a:r>
              <a:rPr lang="en-US" altLang="en-US" sz="2000" dirty="0">
                <a:solidFill>
                  <a:srgbClr val="91268E"/>
                </a:solidFill>
                <a:latin typeface="Arial MT"/>
                <a:ea typeface="Arial MT"/>
                <a:cs typeface="Arial MT"/>
              </a:rPr>
              <a:t>.</a:t>
            </a:r>
            <a:r>
              <a:rPr lang="en-US" altLang="en-US" sz="2000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form-group-sm.</a:t>
            </a:r>
          </a:p>
        </p:txBody>
      </p:sp>
      <p:sp>
        <p:nvSpPr>
          <p:cNvPr id="28676" name="Title 3">
            <a:extLst>
              <a:ext uri="{FF2B5EF4-FFF2-40B4-BE49-F238E27FC236}">
                <a16:creationId xmlns:a16="http://schemas.microsoft.com/office/drawing/2014/main" id="{183DA6A3-4F2A-9080-C43D-BA5B3A708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Control Sizing</a:t>
            </a:r>
            <a:endParaRPr lang="en-GB" altLang="en-US" dirty="0"/>
          </a:p>
        </p:txBody>
      </p:sp>
      <p:pic>
        <p:nvPicPr>
          <p:cNvPr id="28677" name="object 4">
            <a:extLst>
              <a:ext uri="{FF2B5EF4-FFF2-40B4-BE49-F238E27FC236}">
                <a16:creationId xmlns:a16="http://schemas.microsoft.com/office/drawing/2014/main" id="{647B502C-CE63-73EE-903F-A9D08F554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7" y="2362715"/>
            <a:ext cx="8561444" cy="316835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pic>
        <p:nvPicPr>
          <p:cNvPr id="28675" name="object 5">
            <a:extLst>
              <a:ext uri="{FF2B5EF4-FFF2-40B4-BE49-F238E27FC236}">
                <a16:creationId xmlns:a16="http://schemas.microsoft.com/office/drawing/2014/main" id="{8F8C3602-08D1-8645-803B-6C5C01DC2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093" y="4927817"/>
            <a:ext cx="6072188" cy="12065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  <p:transition>
    <p:blinds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object 3">
            <a:extLst>
              <a:ext uri="{FF2B5EF4-FFF2-40B4-BE49-F238E27FC236}">
                <a16:creationId xmlns:a16="http://schemas.microsoft.com/office/drawing/2014/main" id="{E898CEE3-0B9D-8D01-6F7B-36169AE39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8" y="1484313"/>
            <a:ext cx="83280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525" rIns="0" bIns="0">
            <a:spAutoFit/>
          </a:bodyPr>
          <a:lstStyle>
            <a:lvl1pPr marL="266700" indent="-25717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5"/>
              </a:spcBef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Column sizing: </a:t>
            </a:r>
          </a:p>
          <a:p>
            <a:pPr>
              <a:spcBef>
                <a:spcPts val="75"/>
              </a:spcBef>
            </a:pP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Wrap inputs in grid columns, or any custom parent  element, to easily enforce desired widths.</a:t>
            </a:r>
            <a:endParaRPr lang="en-US" altLang="en-US" sz="2000" dirty="0">
              <a:latin typeface="Arial MT"/>
              <a:ea typeface="Arial MT"/>
              <a:cs typeface="Arial MT"/>
            </a:endParaRPr>
          </a:p>
        </p:txBody>
      </p:sp>
      <p:pic>
        <p:nvPicPr>
          <p:cNvPr id="29699" name="object 5">
            <a:extLst>
              <a:ext uri="{FF2B5EF4-FFF2-40B4-BE49-F238E27FC236}">
                <a16:creationId xmlns:a16="http://schemas.microsoft.com/office/drawing/2014/main" id="{0DB27693-B177-F7E3-7CE7-29C6A6A64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632918"/>
            <a:ext cx="8424496" cy="353238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29700" name="Title 3">
            <a:extLst>
              <a:ext uri="{FF2B5EF4-FFF2-40B4-BE49-F238E27FC236}">
                <a16:creationId xmlns:a16="http://schemas.microsoft.com/office/drawing/2014/main" id="{9A310785-3B05-AA84-0327-910D63E12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Control Sizing</a:t>
            </a:r>
            <a:endParaRPr lang="en-GB" altLang="en-US" dirty="0"/>
          </a:p>
        </p:txBody>
      </p:sp>
    </p:spTree>
  </p:cSld>
  <p:clrMapOvr>
    <a:masterClrMapping/>
  </p:clrMapOvr>
  <p:transition>
    <p:blinds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760000-8CF9-C8C7-7556-07490A15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Bootstrap buttons</a:t>
            </a:r>
            <a:endParaRPr lang="en-GB" dirty="0"/>
          </a:p>
        </p:txBody>
      </p:sp>
      <p:sp>
        <p:nvSpPr>
          <p:cNvPr id="30723" name="Text Placeholder 4">
            <a:extLst>
              <a:ext uri="{FF2B5EF4-FFF2-40B4-BE49-F238E27FC236}">
                <a16:creationId xmlns:a16="http://schemas.microsoft.com/office/drawing/2014/main" id="{955017E0-2CE0-04EA-7FB0-87FEF9C9FF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bject 3">
            <a:extLst>
              <a:ext uri="{FF2B5EF4-FFF2-40B4-BE49-F238E27FC236}">
                <a16:creationId xmlns:a16="http://schemas.microsoft.com/office/drawing/2014/main" id="{BC2BAA53-8294-1536-712D-FDDCF5EDA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1345967"/>
            <a:ext cx="8785225" cy="100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05" rIns="0" bIns="0">
            <a:spAutoFit/>
          </a:bodyPr>
          <a:lstStyle>
            <a:lvl1pPr marL="295275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2425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3F3F3F"/>
                </a:solidFill>
                <a:ea typeface="Arial MT"/>
                <a:cs typeface="Arial" panose="020B0604020202020204" pitchFamily="34" charset="0"/>
              </a:rPr>
              <a:t>By default, in bootstrap, a button given by a class of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 .</a:t>
            </a:r>
            <a:r>
              <a:rPr lang="en-US" altLang="en-US" sz="2000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btn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rgbClr val="3F3F3F"/>
                </a:solidFill>
                <a:ea typeface="Arial MT"/>
                <a:cs typeface="Arial" panose="020B0604020202020204" pitchFamily="34" charset="0"/>
              </a:rPr>
              <a:t>will inherit the default look of a gray button with rounded corners.</a:t>
            </a:r>
          </a:p>
          <a:p>
            <a:pPr marL="352425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3F3F3F"/>
                </a:solidFill>
                <a:ea typeface="Arial MT"/>
                <a:cs typeface="Arial" panose="020B0604020202020204" pitchFamily="34" charset="0"/>
              </a:rPr>
              <a:t>Some of the 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button</a:t>
            </a:r>
            <a:r>
              <a:rPr lang="en-US" altLang="en-US" sz="2000" dirty="0">
                <a:solidFill>
                  <a:srgbClr val="3F3F3F"/>
                </a:solidFill>
                <a:ea typeface="Arial MT"/>
                <a:cs typeface="Arial" panose="020B0604020202020204" pitchFamily="34" charset="0"/>
              </a:rPr>
              <a:t> elements are in the table:</a:t>
            </a:r>
            <a:endParaRPr lang="en-US" altLang="en-US" sz="2000" dirty="0">
              <a:ea typeface="Arial MT"/>
              <a:cs typeface="Arial" panose="020B0604020202020204" pitchFamily="34" charset="0"/>
            </a:endParaRPr>
          </a:p>
        </p:txBody>
      </p:sp>
      <p:pic>
        <p:nvPicPr>
          <p:cNvPr id="31747" name="object 4">
            <a:extLst>
              <a:ext uri="{FF2B5EF4-FFF2-40B4-BE49-F238E27FC236}">
                <a16:creationId xmlns:a16="http://schemas.microsoft.com/office/drawing/2014/main" id="{3C837BEE-228F-137A-0A7A-79D37852C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434339"/>
            <a:ext cx="8280920" cy="3715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Title 4">
            <a:extLst>
              <a:ext uri="{FF2B5EF4-FFF2-40B4-BE49-F238E27FC236}">
                <a16:creationId xmlns:a16="http://schemas.microsoft.com/office/drawing/2014/main" id="{C6BD691A-6F9E-F059-1050-E7F84E567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Buttons</a:t>
            </a:r>
            <a:endParaRPr lang="en-GB" altLang="en-US" dirty="0"/>
          </a:p>
        </p:txBody>
      </p:sp>
    </p:spTree>
  </p:cSld>
  <p:clrMapOvr>
    <a:masterClrMapping/>
  </p:clrMapOvr>
  <p:transition>
    <p:blinds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436DED-1508-9F82-D270-403178B56B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8" dirty="0"/>
              <a:t>Buttons</a:t>
            </a:r>
            <a:r>
              <a:rPr lang="en-GB" spc="-8" dirty="0"/>
              <a:t> Tags</a:t>
            </a:r>
            <a:endParaRPr dirty="0"/>
          </a:p>
        </p:txBody>
      </p:sp>
      <p:sp>
        <p:nvSpPr>
          <p:cNvPr id="32771" name="object 3">
            <a:extLst>
              <a:ext uri="{FF2B5EF4-FFF2-40B4-BE49-F238E27FC236}">
                <a16:creationId xmlns:a16="http://schemas.microsoft.com/office/drawing/2014/main" id="{F98705C7-B429-748E-2ACF-091BF9C8C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336291"/>
            <a:ext cx="7058223" cy="293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0477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25"/>
              </a:spcBef>
            </a:pPr>
            <a:r>
              <a:rPr lang="en-US" altLang="en-US" sz="2000" b="1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Button Tags</a:t>
            </a:r>
          </a:p>
          <a:p>
            <a:pPr>
              <a:lnSpc>
                <a:spcPct val="135000"/>
              </a:lnSpc>
            </a:pP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The button classes used as &lt;a&gt; ,&lt;button&gt; or &lt;input&gt; element.  </a:t>
            </a:r>
            <a:endParaRPr lang="en-US" altLang="en-US" sz="2000" dirty="0">
              <a:latin typeface="Arial MT"/>
              <a:ea typeface="Arial MT"/>
              <a:cs typeface="Arial MT"/>
            </a:endParaRPr>
          </a:p>
          <a:p>
            <a:pPr>
              <a:spcBef>
                <a:spcPts val="1325"/>
              </a:spcBef>
            </a:pPr>
            <a:r>
              <a:rPr lang="en-US" altLang="en-US" sz="2000" b="1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Syntax:</a:t>
            </a:r>
          </a:p>
          <a:p>
            <a:pPr>
              <a:spcBef>
                <a:spcPts val="738"/>
              </a:spcBef>
            </a:pP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&lt;a class="</a:t>
            </a:r>
            <a:r>
              <a:rPr lang="en-US" altLang="en-US" sz="2000" dirty="0" err="1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btn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altLang="en-US" sz="2000" dirty="0" err="1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btn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-default" </a:t>
            </a:r>
            <a:r>
              <a:rPr lang="en-US" altLang="en-US" sz="2000" dirty="0" err="1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href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="#" role="button"&gt;Link&lt;/a&gt;</a:t>
            </a:r>
            <a:endParaRPr lang="en-US" altLang="en-US" sz="2000" dirty="0">
              <a:latin typeface="Arial MT"/>
              <a:ea typeface="Arial MT"/>
              <a:cs typeface="Arial MT"/>
            </a:endParaRPr>
          </a:p>
          <a:p>
            <a:pPr>
              <a:spcBef>
                <a:spcPts val="750"/>
              </a:spcBef>
            </a:pP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&lt;button class="</a:t>
            </a:r>
            <a:r>
              <a:rPr lang="en-US" altLang="en-US" sz="2000" dirty="0" err="1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btn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altLang="en-US" sz="2000" dirty="0" err="1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btn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-default" type="submit"&gt;Button&lt;/button&gt;</a:t>
            </a:r>
            <a:endParaRPr lang="en-US" altLang="en-US" sz="2000" dirty="0">
              <a:latin typeface="Arial MT"/>
              <a:ea typeface="Arial MT"/>
              <a:cs typeface="Arial MT"/>
            </a:endParaRPr>
          </a:p>
          <a:p>
            <a:pPr>
              <a:spcBef>
                <a:spcPts val="750"/>
              </a:spcBef>
            </a:pP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&lt;input class="</a:t>
            </a:r>
            <a:r>
              <a:rPr lang="en-US" altLang="en-US" sz="2000" dirty="0" err="1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btn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altLang="en-US" sz="2000" dirty="0" err="1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btn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-default" type="button" value="Input"&gt;</a:t>
            </a:r>
            <a:endParaRPr lang="en-US" altLang="en-US" sz="2000" dirty="0">
              <a:latin typeface="Arial MT"/>
              <a:ea typeface="Arial MT"/>
              <a:cs typeface="Arial MT"/>
            </a:endParaRPr>
          </a:p>
          <a:p>
            <a:pPr>
              <a:spcBef>
                <a:spcPts val="750"/>
              </a:spcBef>
            </a:pP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&lt;input class="</a:t>
            </a:r>
            <a:r>
              <a:rPr lang="en-US" altLang="en-US" sz="2000" dirty="0" err="1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btn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altLang="en-US" sz="2000" dirty="0" err="1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btn</a:t>
            </a: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-default" type="submit" value="Submit"&gt;</a:t>
            </a:r>
            <a:endParaRPr lang="en-US" altLang="en-US" sz="2000" dirty="0">
              <a:latin typeface="Arial MT"/>
              <a:ea typeface="Arial MT"/>
              <a:cs typeface="Arial M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4293096"/>
            <a:ext cx="4324350" cy="18669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  <p:transition>
    <p:blinds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45D858-A78F-717B-0451-37A38E2A246D}"/>
              </a:ext>
            </a:extLst>
          </p:cNvPr>
          <p:cNvSpPr txBox="1"/>
          <p:nvPr/>
        </p:nvSpPr>
        <p:spPr>
          <a:xfrm>
            <a:off x="251520" y="1338985"/>
            <a:ext cx="5159350" cy="317395"/>
          </a:xfrm>
          <a:prstGeom prst="rect">
            <a:avLst/>
          </a:prstGeom>
        </p:spPr>
        <p:txBody>
          <a:bodyPr wrap="square" lIns="0" tIns="9525" rIns="0" bIns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z="1800" spc="-4" dirty="0">
                <a:solidFill>
                  <a:srgbClr val="3F3F3F"/>
                </a:solidFill>
                <a:cs typeface="Arial" panose="020B0604020202020204" pitchFamily="34" charset="0"/>
              </a:rPr>
              <a:t>Bootstrap </a:t>
            </a:r>
            <a:r>
              <a:rPr sz="1800" spc="-8" dirty="0">
                <a:solidFill>
                  <a:srgbClr val="3F3F3F"/>
                </a:solidFill>
                <a:cs typeface="Arial" panose="020B0604020202020204" pitchFamily="34" charset="0"/>
              </a:rPr>
              <a:t>provides</a:t>
            </a:r>
            <a:r>
              <a:rPr sz="1800" dirty="0">
                <a:solidFill>
                  <a:srgbClr val="3F3F3F"/>
                </a:solidFill>
                <a:cs typeface="Arial" panose="020B0604020202020204" pitchFamily="34" charset="0"/>
              </a:rPr>
              <a:t> </a:t>
            </a:r>
            <a:r>
              <a:rPr sz="2000" spc="-4" dirty="0">
                <a:solidFill>
                  <a:srgbClr val="3F3F3F"/>
                </a:solidFill>
                <a:cs typeface="Arial" panose="020B0604020202020204" pitchFamily="34" charset="0"/>
              </a:rPr>
              <a:t>seven</a:t>
            </a:r>
            <a:r>
              <a:rPr sz="1800" spc="-8" dirty="0">
                <a:solidFill>
                  <a:srgbClr val="3F3F3F"/>
                </a:solidFill>
                <a:cs typeface="Arial" panose="020B0604020202020204" pitchFamily="34" charset="0"/>
              </a:rPr>
              <a:t> </a:t>
            </a:r>
            <a:r>
              <a:rPr sz="1800" spc="-4" dirty="0">
                <a:solidFill>
                  <a:srgbClr val="3F3F3F"/>
                </a:solidFill>
                <a:cs typeface="Arial" panose="020B0604020202020204" pitchFamily="34" charset="0"/>
              </a:rPr>
              <a:t>styles</a:t>
            </a:r>
            <a:r>
              <a:rPr sz="1800" spc="4" dirty="0">
                <a:solidFill>
                  <a:srgbClr val="3F3F3F"/>
                </a:solidFill>
                <a:cs typeface="Arial" panose="020B0604020202020204" pitchFamily="34" charset="0"/>
              </a:rPr>
              <a:t> </a:t>
            </a:r>
            <a:r>
              <a:rPr sz="1800" spc="-4" dirty="0">
                <a:solidFill>
                  <a:srgbClr val="3F3F3F"/>
                </a:solidFill>
                <a:cs typeface="Arial" panose="020B0604020202020204" pitchFamily="34" charset="0"/>
              </a:rPr>
              <a:t>of buttons:</a:t>
            </a:r>
            <a:endParaRPr sz="1800" dirty="0">
              <a:cs typeface="Arial" panose="020B0604020202020204" pitchFamily="34" charset="0"/>
            </a:endParaRPr>
          </a:p>
        </p:txBody>
      </p:sp>
      <p:pic>
        <p:nvPicPr>
          <p:cNvPr id="33795" name="object 4">
            <a:extLst>
              <a:ext uri="{FF2B5EF4-FFF2-40B4-BE49-F238E27FC236}">
                <a16:creationId xmlns:a16="http://schemas.microsoft.com/office/drawing/2014/main" id="{4E877BD1-7356-457A-58E8-7BAA7F9FD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437"/>
            <a:ext cx="6768752" cy="433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Title 4">
            <a:extLst>
              <a:ext uri="{FF2B5EF4-FFF2-40B4-BE49-F238E27FC236}">
                <a16:creationId xmlns:a16="http://schemas.microsoft.com/office/drawing/2014/main" id="{A189AA01-3FED-B80A-2AEB-54215AA85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Buttons Options</a:t>
            </a:r>
            <a:endParaRPr lang="en-GB" altLang="en-US" dirty="0"/>
          </a:p>
        </p:txBody>
      </p:sp>
    </p:spTree>
  </p:cSld>
  <p:clrMapOvr>
    <a:masterClrMapping/>
  </p:clrMapOvr>
  <p:transition>
    <p:blinds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CCB773-9AC4-5C52-A2E5-D44ECD5BE0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8" dirty="0"/>
              <a:t>Button</a:t>
            </a:r>
            <a:r>
              <a:rPr spc="-56" dirty="0"/>
              <a:t> </a:t>
            </a:r>
            <a:r>
              <a:rPr spc="-4" dirty="0"/>
              <a:t>Sizes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F224EDC-F3D9-439C-83E2-B1911AC1CEE1}"/>
              </a:ext>
            </a:extLst>
          </p:cNvPr>
          <p:cNvSpPr txBox="1"/>
          <p:nvPr/>
        </p:nvSpPr>
        <p:spPr>
          <a:xfrm>
            <a:off x="114476" y="1425973"/>
            <a:ext cx="6545755" cy="413575"/>
          </a:xfrm>
          <a:prstGeom prst="rect">
            <a:avLst/>
          </a:prstGeom>
        </p:spPr>
        <p:txBody>
          <a:bodyPr wrap="square" lIns="0" tIns="104775" rIns="0" bIns="0">
            <a:spAutoFit/>
          </a:bodyPr>
          <a:lstStyle/>
          <a:p>
            <a:pPr marL="9525">
              <a:spcBef>
                <a:spcPts val="825"/>
              </a:spcBef>
              <a:defRPr/>
            </a:pPr>
            <a:r>
              <a:rPr sz="2000" dirty="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sz="2000" spc="-8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classes that define </a:t>
            </a:r>
            <a:r>
              <a:rPr sz="2000" dirty="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sz="2000" spc="-8" dirty="0">
                <a:solidFill>
                  <a:srgbClr val="3F3F3F"/>
                </a:solidFill>
                <a:latin typeface="Arial MT"/>
                <a:cs typeface="Arial MT"/>
              </a:rPr>
              <a:t> different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 sizes</a:t>
            </a:r>
            <a:r>
              <a:rPr sz="20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are: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34820" name="object 4">
            <a:extLst>
              <a:ext uri="{FF2B5EF4-FFF2-40B4-BE49-F238E27FC236}">
                <a16:creationId xmlns:a16="http://schemas.microsoft.com/office/drawing/2014/main" id="{603D342B-4D8A-AA74-DF97-00C082B8F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839548"/>
            <a:ext cx="5916612" cy="428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C17A1B-E9ED-B1CA-A9A8-58BC0F647753}"/>
              </a:ext>
            </a:extLst>
          </p:cNvPr>
          <p:cNvSpPr txBox="1"/>
          <p:nvPr/>
        </p:nvSpPr>
        <p:spPr>
          <a:xfrm>
            <a:off x="395536" y="2229323"/>
            <a:ext cx="4684888" cy="1433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>
              <a:spcBef>
                <a:spcPts val="750"/>
              </a:spcBef>
              <a:defRPr/>
            </a:pPr>
            <a:r>
              <a:rPr lang="en-GB" sz="1700" spc="-4" dirty="0">
                <a:solidFill>
                  <a:schemeClr val="accent2"/>
                </a:solidFill>
                <a:latin typeface="Arial MT"/>
                <a:cs typeface="Arial MT"/>
              </a:rPr>
              <a:t>.</a:t>
            </a:r>
            <a:r>
              <a:rPr lang="en-GB" sz="1700" spc="-4" dirty="0" err="1">
                <a:solidFill>
                  <a:schemeClr val="accent2"/>
                </a:solidFill>
                <a:latin typeface="Arial MT"/>
                <a:cs typeface="Arial MT"/>
              </a:rPr>
              <a:t>btn-lg</a:t>
            </a:r>
            <a:endParaRPr lang="en-GB" sz="1700" dirty="0">
              <a:solidFill>
                <a:schemeClr val="accent2"/>
              </a:solidFill>
              <a:latin typeface="Arial MT"/>
              <a:cs typeface="Arial MT"/>
            </a:endParaRPr>
          </a:p>
          <a:p>
            <a:pPr marL="9525">
              <a:spcBef>
                <a:spcPts val="743"/>
              </a:spcBef>
              <a:defRPr/>
            </a:pPr>
            <a:r>
              <a:rPr lang="en-GB" sz="1700" dirty="0">
                <a:solidFill>
                  <a:schemeClr val="accent2"/>
                </a:solidFill>
                <a:latin typeface="Arial MT"/>
                <a:cs typeface="Arial MT"/>
              </a:rPr>
              <a:t>.</a:t>
            </a:r>
            <a:r>
              <a:rPr lang="en-GB" sz="1700" dirty="0" err="1">
                <a:solidFill>
                  <a:schemeClr val="accent2"/>
                </a:solidFill>
                <a:latin typeface="Arial MT"/>
                <a:cs typeface="Arial MT"/>
              </a:rPr>
              <a:t>btn</a:t>
            </a:r>
            <a:r>
              <a:rPr lang="en-GB" sz="1700" dirty="0">
                <a:solidFill>
                  <a:schemeClr val="accent2"/>
                </a:solidFill>
                <a:latin typeface="Arial MT"/>
                <a:cs typeface="Arial MT"/>
              </a:rPr>
              <a:t>-md</a:t>
            </a:r>
          </a:p>
          <a:p>
            <a:pPr marL="9525">
              <a:spcBef>
                <a:spcPts val="750"/>
              </a:spcBef>
              <a:defRPr/>
            </a:pPr>
            <a:r>
              <a:rPr lang="en-GB" sz="1700" spc="-4" dirty="0">
                <a:solidFill>
                  <a:schemeClr val="accent2"/>
                </a:solidFill>
                <a:latin typeface="Arial MT"/>
                <a:cs typeface="Arial MT"/>
              </a:rPr>
              <a:t>.</a:t>
            </a:r>
            <a:r>
              <a:rPr lang="en-GB" sz="1700" spc="-4" dirty="0" err="1">
                <a:solidFill>
                  <a:schemeClr val="accent2"/>
                </a:solidFill>
                <a:latin typeface="Arial MT"/>
                <a:cs typeface="Arial MT"/>
              </a:rPr>
              <a:t>btn-sm</a:t>
            </a:r>
            <a:endParaRPr lang="en-GB" sz="1700" dirty="0">
              <a:solidFill>
                <a:schemeClr val="accent2"/>
              </a:solidFill>
              <a:latin typeface="Arial MT"/>
              <a:cs typeface="Arial MT"/>
            </a:endParaRPr>
          </a:p>
          <a:p>
            <a:pPr marL="9525">
              <a:spcBef>
                <a:spcPts val="750"/>
              </a:spcBef>
              <a:defRPr/>
            </a:pPr>
            <a:r>
              <a:rPr lang="en-GB" sz="1700" spc="-4" dirty="0">
                <a:solidFill>
                  <a:schemeClr val="accent2"/>
                </a:solidFill>
                <a:latin typeface="Arial MT"/>
                <a:cs typeface="Arial MT"/>
              </a:rPr>
              <a:t>.</a:t>
            </a:r>
            <a:r>
              <a:rPr lang="en-GB" sz="1700" spc="-4" dirty="0" err="1">
                <a:solidFill>
                  <a:schemeClr val="accent2"/>
                </a:solidFill>
                <a:latin typeface="Arial MT"/>
                <a:cs typeface="Arial MT"/>
              </a:rPr>
              <a:t>btn-xs</a:t>
            </a:r>
            <a:endParaRPr lang="en-GB" sz="1700" dirty="0">
              <a:solidFill>
                <a:schemeClr val="accent2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ransition>
    <p:blinds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object 2">
            <a:extLst>
              <a:ext uri="{FF2B5EF4-FFF2-40B4-BE49-F238E27FC236}">
                <a16:creationId xmlns:a16="http://schemas.microsoft.com/office/drawing/2014/main" id="{FD441FCC-5ABA-D248-2571-B49C7219F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altLang="en-US" dirty="0"/>
              <a:t>Block-level Buttons</a:t>
            </a:r>
          </a:p>
        </p:txBody>
      </p:sp>
      <p:pic>
        <p:nvPicPr>
          <p:cNvPr id="35843" name="object 4">
            <a:extLst>
              <a:ext uri="{FF2B5EF4-FFF2-40B4-BE49-F238E27FC236}">
                <a16:creationId xmlns:a16="http://schemas.microsoft.com/office/drawing/2014/main" id="{59E8CC4D-5635-44D9-3693-7FA456E3A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350" y="2598738"/>
            <a:ext cx="70993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TextBox 3">
            <a:extLst>
              <a:ext uri="{FF2B5EF4-FFF2-40B4-BE49-F238E27FC236}">
                <a16:creationId xmlns:a16="http://schemas.microsoft.com/office/drawing/2014/main" id="{CAE50C1B-3803-67A4-CA7C-426005FD3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06" y="1489359"/>
            <a:ext cx="79771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1" dirty="0">
                <a:solidFill>
                  <a:schemeClr val="accent2"/>
                </a:solidFill>
              </a:rPr>
              <a:t>Block level buttons</a:t>
            </a:r>
          </a:p>
          <a:p>
            <a:r>
              <a:rPr lang="en-US" altLang="en-US" sz="2000" dirty="0"/>
              <a:t>Buttons that span the full width of a parent— by adding </a:t>
            </a:r>
            <a:r>
              <a:rPr lang="en-US" altLang="en-US" sz="2000" dirty="0">
                <a:solidFill>
                  <a:schemeClr val="accent2"/>
                </a:solidFill>
              </a:rPr>
              <a:t>.</a:t>
            </a:r>
            <a:r>
              <a:rPr lang="en-US" altLang="en-US" sz="2000" dirty="0" err="1">
                <a:solidFill>
                  <a:schemeClr val="accent2"/>
                </a:solidFill>
              </a:rPr>
              <a:t>btn</a:t>
            </a:r>
            <a:r>
              <a:rPr lang="en-US" altLang="en-US" sz="2000" dirty="0">
                <a:solidFill>
                  <a:schemeClr val="accent2"/>
                </a:solidFill>
              </a:rPr>
              <a:t>-block.</a:t>
            </a:r>
            <a:endParaRPr lang="en-GB" altLang="en-US" sz="2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blinds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object 2">
            <a:extLst>
              <a:ext uri="{FF2B5EF4-FFF2-40B4-BE49-F238E27FC236}">
                <a16:creationId xmlns:a16="http://schemas.microsoft.com/office/drawing/2014/main" id="{FCC8D12B-8AA4-66EF-741F-23AF0B156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836" y="2564804"/>
            <a:ext cx="4486275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4E1DE481-48D9-4961-347F-BC4FE0BAD2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US" spc="-4" dirty="0">
                <a:latin typeface="Arial"/>
                <a:cs typeface="Arial"/>
              </a:rPr>
              <a:t>Button States</a:t>
            </a:r>
            <a:endParaRPr spc="-4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3295FAD-4DD7-BC3E-6FFB-C63AF9871AD6}"/>
              </a:ext>
            </a:extLst>
          </p:cNvPr>
          <p:cNvSpPr txBox="1"/>
          <p:nvPr/>
        </p:nvSpPr>
        <p:spPr>
          <a:xfrm>
            <a:off x="417240" y="3756310"/>
            <a:ext cx="8207375" cy="995784"/>
          </a:xfrm>
          <a:prstGeom prst="rect">
            <a:avLst/>
          </a:prstGeom>
        </p:spPr>
        <p:txBody>
          <a:bodyPr lIns="0" tIns="20954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513"/>
              </a:lnSpc>
              <a:spcBef>
                <a:spcPts val="163"/>
              </a:spcBef>
              <a:defRPr/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Disabled state: </a:t>
            </a:r>
          </a:p>
          <a:p>
            <a:pPr marL="352425" indent="-342900">
              <a:lnSpc>
                <a:spcPts val="2513"/>
              </a:lnSpc>
              <a:spcBef>
                <a:spcPts val="163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Make buttons look unclickable by fading them back with </a:t>
            </a:r>
            <a:r>
              <a:rPr lang="en-US" altLang="en-US" sz="2000" dirty="0">
                <a:solidFill>
                  <a:schemeClr val="accent2"/>
                </a:solidFill>
                <a:cs typeface="Arial" panose="020B0604020202020204" pitchFamily="34" charset="0"/>
              </a:rPr>
              <a:t>opacity</a:t>
            </a:r>
            <a:r>
              <a:rPr lang="en-US" altLang="en-US" sz="2000" dirty="0">
                <a:solidFill>
                  <a:srgbClr val="91268E"/>
                </a:solidFill>
                <a:cs typeface="Arial" panose="020B0604020202020204" pitchFamily="34" charset="0"/>
              </a:rPr>
              <a:t>.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marL="352425" indent="-342900">
              <a:lnSpc>
                <a:spcPts val="2438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Add the </a:t>
            </a:r>
            <a:r>
              <a:rPr lang="en-US" altLang="en-US" sz="2000" dirty="0">
                <a:solidFill>
                  <a:schemeClr val="accent2"/>
                </a:solidFill>
                <a:cs typeface="Arial" panose="020B0604020202020204" pitchFamily="34" charset="0"/>
              </a:rPr>
              <a:t>disabled</a:t>
            </a:r>
            <a:r>
              <a:rPr lang="en-US" altLang="en-US" sz="2000" dirty="0">
                <a:solidFill>
                  <a:srgbClr val="91268E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attribute to the </a:t>
            </a:r>
            <a:r>
              <a:rPr lang="en-US" altLang="en-US" sz="2000" dirty="0">
                <a:solidFill>
                  <a:schemeClr val="accent2"/>
                </a:solidFill>
                <a:cs typeface="Arial" panose="020B0604020202020204" pitchFamily="34" charset="0"/>
              </a:rPr>
              <a:t>&lt;button&gt; </a:t>
            </a:r>
            <a:r>
              <a:rPr lang="en-US" altLang="en-US" sz="2000" dirty="0">
                <a:cs typeface="Arial" panose="020B0604020202020204" pitchFamily="34" charset="0"/>
              </a:rPr>
              <a:t>buttons.</a:t>
            </a:r>
          </a:p>
        </p:txBody>
      </p:sp>
      <p:pic>
        <p:nvPicPr>
          <p:cNvPr id="36869" name="object 5">
            <a:extLst>
              <a:ext uri="{FF2B5EF4-FFF2-40B4-BE49-F238E27FC236}">
                <a16:creationId xmlns:a16="http://schemas.microsoft.com/office/drawing/2014/main" id="{CC4E3D3C-E178-2E74-5414-D9FC40A96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737100"/>
            <a:ext cx="5237162" cy="142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69749881-E33F-92C4-DE3B-C70F5EDC401E}"/>
              </a:ext>
            </a:extLst>
          </p:cNvPr>
          <p:cNvSpPr txBox="1"/>
          <p:nvPr/>
        </p:nvSpPr>
        <p:spPr>
          <a:xfrm>
            <a:off x="395536" y="1377950"/>
            <a:ext cx="8492877" cy="1240724"/>
          </a:xfrm>
          <a:prstGeom prst="rect">
            <a:avLst/>
          </a:prstGeom>
        </p:spPr>
        <p:txBody>
          <a:bodyPr wrap="square" lIns="0" tIns="952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5"/>
              </a:spcBef>
              <a:defRPr/>
            </a:pPr>
            <a:r>
              <a:rPr lang="en-US" altLang="en-US" sz="2000" b="1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Active state:</a:t>
            </a:r>
          </a:p>
          <a:p>
            <a:pPr marL="295275" indent="-28575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Buttons will appear pressed (with a darker background, darker border, and  inset shadow) when active. For &lt;button&gt; elements, this can be done by 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.active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class.</a:t>
            </a:r>
          </a:p>
        </p:txBody>
      </p:sp>
    </p:spTree>
  </p:cSld>
  <p:clrMapOvr>
    <a:masterClrMapping/>
  </p:clrMapOvr>
  <p:transition>
    <p:blinds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B8D41F-DD91-3CA8-4F89-C9E0F084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Bootstrap utilities</a:t>
            </a:r>
            <a:endParaRPr lang="en-GB" dirty="0"/>
          </a:p>
        </p:txBody>
      </p:sp>
      <p:sp>
        <p:nvSpPr>
          <p:cNvPr id="37891" name="Text Placeholder 4">
            <a:extLst>
              <a:ext uri="{FF2B5EF4-FFF2-40B4-BE49-F238E27FC236}">
                <a16:creationId xmlns:a16="http://schemas.microsoft.com/office/drawing/2014/main" id="{4341EF6B-B721-EA00-0265-1AF9EC862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5CF04D-8164-1DCE-D356-CE361C556D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387" y="332656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11" dirty="0"/>
              <a:t>I</a:t>
            </a:r>
            <a:r>
              <a:rPr dirty="0"/>
              <a:t>ma</a:t>
            </a:r>
            <a:r>
              <a:rPr spc="-4" dirty="0"/>
              <a:t>g</a:t>
            </a:r>
            <a:r>
              <a:rPr dirty="0"/>
              <a:t>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227532F-6E3F-0EBD-BBB8-CA4C7135DBDF}"/>
              </a:ext>
            </a:extLst>
          </p:cNvPr>
          <p:cNvSpPr txBox="1"/>
          <p:nvPr/>
        </p:nvSpPr>
        <p:spPr>
          <a:xfrm>
            <a:off x="467544" y="1700808"/>
            <a:ext cx="8352928" cy="2791148"/>
          </a:xfrm>
          <a:prstGeom prst="rect">
            <a:avLst/>
          </a:prstGeom>
        </p:spPr>
        <p:txBody>
          <a:bodyPr wrap="square" lIns="0" tIns="20954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513"/>
              </a:lnSpc>
              <a:spcBef>
                <a:spcPts val="163"/>
              </a:spcBef>
              <a:defRPr/>
            </a:pPr>
            <a:r>
              <a:rPr lang="en-US" altLang="en-US" dirty="0">
                <a:solidFill>
                  <a:srgbClr val="3F3F3F"/>
                </a:solidFill>
                <a:ea typeface="Arial MT"/>
                <a:cs typeface="Arial" panose="020B0604020202020204" pitchFamily="34" charset="0"/>
              </a:rPr>
              <a:t>Bootstrap provides three classes that can be used to apply  some simple styles to images:</a:t>
            </a:r>
            <a:endParaRPr lang="en-US" altLang="en-US" dirty="0">
              <a:ea typeface="Arial MT"/>
              <a:cs typeface="Arial" panose="020B0604020202020204" pitchFamily="34" charset="0"/>
            </a:endParaRPr>
          </a:p>
          <a:p>
            <a:pPr marL="352425" indent="-342900">
              <a:spcBef>
                <a:spcPts val="663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</a:t>
            </a:r>
            <a:r>
              <a:rPr lang="en-US" altLang="en-US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img</a:t>
            </a:r>
            <a:r>
              <a:rPr lang="en-US" altLang="en-US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-rounded: </a:t>
            </a:r>
            <a:r>
              <a:rPr lang="en-US" altLang="en-US" dirty="0">
                <a:solidFill>
                  <a:srgbClr val="3F3F3F"/>
                </a:solidFill>
                <a:ea typeface="Arial MT"/>
                <a:cs typeface="Arial" panose="020B0604020202020204" pitchFamily="34" charset="0"/>
              </a:rPr>
              <a:t>class adds rounded corners to an image (IE8  does not support rounded corners)</a:t>
            </a:r>
            <a:endParaRPr lang="en-US" altLang="en-US" dirty="0">
              <a:ea typeface="Arial MT"/>
              <a:cs typeface="Arial" panose="020B0604020202020204" pitchFamily="34" charset="0"/>
            </a:endParaRPr>
          </a:p>
          <a:p>
            <a:pPr marL="352425" indent="-342900">
              <a:spcBef>
                <a:spcPts val="75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</a:t>
            </a:r>
            <a:r>
              <a:rPr lang="en-US" altLang="en-US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img</a:t>
            </a:r>
            <a:r>
              <a:rPr lang="en-US" altLang="en-US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-circle: </a:t>
            </a:r>
            <a:r>
              <a:rPr lang="en-US" altLang="en-US" dirty="0">
                <a:solidFill>
                  <a:srgbClr val="3F3F3F"/>
                </a:solidFill>
                <a:ea typeface="Arial MT"/>
                <a:cs typeface="Arial" panose="020B0604020202020204" pitchFamily="34" charset="0"/>
              </a:rPr>
              <a:t>class shapes the image to a circle (IE8 does not  support rounded corners):</a:t>
            </a:r>
            <a:endParaRPr lang="en-US" altLang="en-US" dirty="0">
              <a:ea typeface="Arial MT"/>
              <a:cs typeface="Arial" panose="020B0604020202020204" pitchFamily="34" charset="0"/>
            </a:endParaRPr>
          </a:p>
          <a:p>
            <a:pPr marL="352425" indent="-342900">
              <a:spcBef>
                <a:spcPts val="738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</a:t>
            </a:r>
            <a:r>
              <a:rPr lang="en-US" altLang="en-US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img</a:t>
            </a:r>
            <a:r>
              <a:rPr lang="en-US" altLang="en-US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-thumbnail: </a:t>
            </a:r>
            <a:r>
              <a:rPr lang="en-US" altLang="en-US" dirty="0">
                <a:solidFill>
                  <a:srgbClr val="3F3F3F"/>
                </a:solidFill>
                <a:ea typeface="Arial MT"/>
                <a:cs typeface="Arial" panose="020B0604020202020204" pitchFamily="34" charset="0"/>
              </a:rPr>
              <a:t>class shapes the image to a thumbnail.</a:t>
            </a:r>
            <a:endParaRPr lang="en-US" altLang="en-US" dirty="0">
              <a:ea typeface="Arial MT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blinds dir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D6D897D-1C18-6A7C-E0B5-2B8CFFFE18B0}"/>
              </a:ext>
            </a:extLst>
          </p:cNvPr>
          <p:cNvSpPr txBox="1"/>
          <p:nvPr/>
        </p:nvSpPr>
        <p:spPr>
          <a:xfrm>
            <a:off x="1304925" y="1330325"/>
            <a:ext cx="6939483" cy="1644681"/>
          </a:xfrm>
          <a:prstGeom prst="rect">
            <a:avLst/>
          </a:prstGeom>
        </p:spPr>
        <p:txBody>
          <a:bodyPr wrap="square" lIns="0" tIns="104775" rIns="0" bIns="0">
            <a:spAutoFit/>
          </a:bodyPr>
          <a:lstStyle/>
          <a:p>
            <a:pPr marL="9525">
              <a:spcBef>
                <a:spcPts val="825"/>
              </a:spcBef>
              <a:defRPr/>
            </a:pPr>
            <a:r>
              <a:rPr sz="2000" b="1" spc="-4" dirty="0">
                <a:solidFill>
                  <a:schemeClr val="accent2"/>
                </a:solidFill>
                <a:latin typeface="Arial MT"/>
                <a:cs typeface="Arial MT"/>
              </a:rPr>
              <a:t>Syntax:</a:t>
            </a:r>
            <a:endParaRPr sz="2000" b="1" dirty="0">
              <a:solidFill>
                <a:schemeClr val="accent2"/>
              </a:solidFill>
              <a:latin typeface="Arial MT"/>
              <a:cs typeface="Arial MT"/>
            </a:endParaRPr>
          </a:p>
          <a:p>
            <a:pPr marL="9525">
              <a:spcBef>
                <a:spcPts val="750"/>
              </a:spcBef>
              <a:defRPr/>
            </a:pPr>
            <a:r>
              <a:rPr sz="2000" dirty="0">
                <a:solidFill>
                  <a:srgbClr val="3F3F3F"/>
                </a:solidFill>
                <a:latin typeface="Arial MT"/>
                <a:cs typeface="Arial MT"/>
              </a:rPr>
              <a:t>&lt;img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F3F3F"/>
                </a:solidFill>
                <a:latin typeface="Arial MT"/>
                <a:cs typeface="Arial MT"/>
              </a:rPr>
              <a:t>src="..."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 alt="..."</a:t>
            </a:r>
            <a:r>
              <a:rPr sz="2000" spc="4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class="img-rounded"&gt;</a:t>
            </a:r>
            <a:endParaRPr sz="2000" dirty="0">
              <a:latin typeface="Arial MT"/>
              <a:cs typeface="Arial MT"/>
            </a:endParaRPr>
          </a:p>
          <a:p>
            <a:pPr marL="9525">
              <a:spcBef>
                <a:spcPts val="750"/>
              </a:spcBef>
              <a:defRPr/>
            </a:pPr>
            <a:r>
              <a:rPr sz="2000" dirty="0">
                <a:solidFill>
                  <a:srgbClr val="3F3F3F"/>
                </a:solidFill>
                <a:latin typeface="Arial MT"/>
                <a:cs typeface="Arial MT"/>
              </a:rPr>
              <a:t>&lt;img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F3F3F"/>
                </a:solidFill>
                <a:latin typeface="Arial MT"/>
                <a:cs typeface="Arial MT"/>
              </a:rPr>
              <a:t>src="..."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alt="..."</a:t>
            </a:r>
            <a:r>
              <a:rPr sz="2000" spc="8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class="img-circle"&gt;</a:t>
            </a:r>
            <a:endParaRPr sz="2000" dirty="0">
              <a:latin typeface="Arial MT"/>
              <a:cs typeface="Arial MT"/>
            </a:endParaRPr>
          </a:p>
          <a:p>
            <a:pPr marL="9525">
              <a:spcBef>
                <a:spcPts val="750"/>
              </a:spcBef>
              <a:defRPr/>
            </a:pPr>
            <a:r>
              <a:rPr sz="2000" dirty="0">
                <a:solidFill>
                  <a:srgbClr val="3F3F3F"/>
                </a:solidFill>
                <a:latin typeface="Arial MT"/>
                <a:cs typeface="Arial MT"/>
              </a:rPr>
              <a:t>&lt;img src="..."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alt="..."</a:t>
            </a:r>
            <a:r>
              <a:rPr sz="2000" spc="8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class="</a:t>
            </a:r>
            <a:r>
              <a:rPr sz="2000" spc="-4" dirty="0" err="1">
                <a:solidFill>
                  <a:srgbClr val="3F3F3F"/>
                </a:solidFill>
                <a:latin typeface="Arial MT"/>
                <a:cs typeface="Arial MT"/>
              </a:rPr>
              <a:t>img</a:t>
            </a:r>
            <a:r>
              <a:rPr sz="2000" spc="-4" dirty="0">
                <a:solidFill>
                  <a:srgbClr val="3F3F3F"/>
                </a:solidFill>
                <a:latin typeface="Arial MT"/>
                <a:cs typeface="Arial MT"/>
              </a:rPr>
              <a:t>-thumbnail"&gt;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39939" name="object 3">
            <a:extLst>
              <a:ext uri="{FF2B5EF4-FFF2-40B4-BE49-F238E27FC236}">
                <a16:creationId xmlns:a16="http://schemas.microsoft.com/office/drawing/2014/main" id="{27EE531A-D4A9-2E71-5066-694AD440C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3303588"/>
            <a:ext cx="7152422" cy="264569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39940" name="Title 3">
            <a:extLst>
              <a:ext uri="{FF2B5EF4-FFF2-40B4-BE49-F238E27FC236}">
                <a16:creationId xmlns:a16="http://schemas.microsoft.com/office/drawing/2014/main" id="{09EA6AE7-90EF-9768-F571-ECAC237E2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Images</a:t>
            </a:r>
            <a:endParaRPr lang="en-GB" altLang="en-US" dirty="0"/>
          </a:p>
        </p:txBody>
      </p:sp>
    </p:spTree>
  </p:cSld>
  <p:clrMapOvr>
    <a:masterClrMapping/>
  </p:clrMapOvr>
  <p:transition>
    <p:blinds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F9ADA2-ED3B-030A-3439-258873228F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8" dirty="0">
                <a:latin typeface="Arial"/>
                <a:cs typeface="Arial"/>
              </a:rPr>
              <a:t>Responsive</a:t>
            </a:r>
            <a:r>
              <a:rPr spc="-41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Images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40963" name="object 5">
            <a:extLst>
              <a:ext uri="{FF2B5EF4-FFF2-40B4-BE49-F238E27FC236}">
                <a16:creationId xmlns:a16="http://schemas.microsoft.com/office/drawing/2014/main" id="{81629D35-8211-E6F3-6BB0-D0C8BF75D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" y="1465821"/>
            <a:ext cx="8785225" cy="260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525" rIns="0" bIns="0">
            <a:spAutoFit/>
          </a:bodyPr>
          <a:lstStyle>
            <a:lvl1pPr marL="295275" indent="-28575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  <a:tab pos="266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Responsive images  automatically adjust to fit the size of the screen</a:t>
            </a:r>
          </a:p>
          <a:p>
            <a:pPr>
              <a:spcBef>
                <a:spcPts val="75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Create responsive images by adding an </a:t>
            </a:r>
            <a:r>
              <a:rPr lang="en-US" altLang="en-US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.</a:t>
            </a:r>
            <a:r>
              <a:rPr lang="en-US" altLang="en-US" dirty="0" err="1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img</a:t>
            </a:r>
            <a:r>
              <a:rPr lang="en-US" altLang="en-US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-responsive </a:t>
            </a:r>
            <a:r>
              <a:rPr lang="en-US" altLang="en-US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class to the </a:t>
            </a:r>
            <a:r>
              <a:rPr lang="en-US" altLang="en-US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&lt;</a:t>
            </a:r>
            <a:r>
              <a:rPr lang="en-US" altLang="en-US" dirty="0" err="1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img</a:t>
            </a:r>
            <a:r>
              <a:rPr lang="en-US" altLang="en-US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&gt; </a:t>
            </a:r>
            <a:r>
              <a:rPr lang="en-US" altLang="en-US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tag. The image will then scale nicely to the parent element.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The </a:t>
            </a:r>
            <a:r>
              <a:rPr lang="en-US" altLang="en-US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.</a:t>
            </a:r>
            <a:r>
              <a:rPr lang="en-US" altLang="en-US" dirty="0" err="1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img</a:t>
            </a:r>
            <a:r>
              <a:rPr lang="en-US" altLang="en-US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-responsive </a:t>
            </a:r>
            <a:r>
              <a:rPr lang="en-US" altLang="en-US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class applies </a:t>
            </a:r>
            <a:r>
              <a:rPr lang="en-US" altLang="en-US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display: block; </a:t>
            </a:r>
            <a:r>
              <a:rPr lang="en-US" altLang="en-US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and </a:t>
            </a:r>
            <a:r>
              <a:rPr lang="en-US" altLang="en-US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max-width: 100%;  </a:t>
            </a:r>
            <a:r>
              <a:rPr lang="en-US" altLang="en-US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and </a:t>
            </a:r>
            <a:r>
              <a:rPr lang="en-US" altLang="en-US" dirty="0">
                <a:solidFill>
                  <a:schemeClr val="accent2"/>
                </a:solidFill>
                <a:latin typeface="Arial MT"/>
                <a:ea typeface="Arial MT"/>
                <a:cs typeface="Arial MT"/>
              </a:rPr>
              <a:t>height: auto; </a:t>
            </a:r>
            <a:r>
              <a:rPr lang="en-US" altLang="en-US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to the image</a:t>
            </a:r>
            <a:endParaRPr lang="en-US" altLang="en-US" dirty="0">
              <a:latin typeface="Arial MT"/>
              <a:ea typeface="Arial MT"/>
              <a:cs typeface="Arial M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C1184-B36A-5FFE-3C67-F0A47AFC4007}"/>
              </a:ext>
            </a:extLst>
          </p:cNvPr>
          <p:cNvSpPr txBox="1"/>
          <p:nvPr/>
        </p:nvSpPr>
        <p:spPr>
          <a:xfrm>
            <a:off x="900111" y="4293096"/>
            <a:ext cx="7343775" cy="163036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&lt;div class="container mt-3"&gt;</a:t>
            </a:r>
          </a:p>
          <a:p>
            <a:pPr>
              <a:defRPr/>
            </a:pPr>
            <a:r>
              <a:rPr lang="en-US" sz="2000" dirty="0"/>
              <a:t>    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="path-to-your-image.jpg" alt="Description of Image" class="</a:t>
            </a:r>
            <a:r>
              <a:rPr lang="en-US" sz="2000" dirty="0" err="1"/>
              <a:t>img</a:t>
            </a:r>
            <a:r>
              <a:rPr lang="en-US" sz="2000" dirty="0"/>
              <a:t>-responsive"&gt;</a:t>
            </a:r>
          </a:p>
          <a:p>
            <a:pPr>
              <a:defRPr/>
            </a:pPr>
            <a:r>
              <a:rPr lang="en-US" sz="2000" dirty="0"/>
              <a:t>&lt;/div&gt;</a:t>
            </a:r>
          </a:p>
          <a:p>
            <a:pPr>
              <a:defRPr/>
            </a:pPr>
            <a:endParaRPr lang="en-GB" sz="2000" dirty="0"/>
          </a:p>
        </p:txBody>
      </p:sp>
    </p:spTree>
  </p:cSld>
  <p:clrMapOvr>
    <a:masterClrMapping/>
  </p:clrMapOvr>
  <p:transition>
    <p:blinds dir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97E747-9CA9-69C7-16E1-0565BEF6F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4" dirty="0">
                <a:latin typeface="Arial"/>
                <a:cs typeface="Arial"/>
              </a:rPr>
              <a:t>Helper</a:t>
            </a:r>
            <a:r>
              <a:rPr spc="-71" dirty="0">
                <a:latin typeface="Arial"/>
                <a:cs typeface="Arial"/>
              </a:rPr>
              <a:t> </a:t>
            </a:r>
            <a:r>
              <a:rPr lang="en-GB" spc="-4" dirty="0">
                <a:latin typeface="Arial"/>
                <a:cs typeface="Arial"/>
              </a:rPr>
              <a:t>C</a:t>
            </a:r>
            <a:r>
              <a:rPr spc="-4" dirty="0">
                <a:latin typeface="Arial"/>
                <a:cs typeface="Arial"/>
              </a:rPr>
              <a:t>lasses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41987" name="object 4">
            <a:extLst>
              <a:ext uri="{FF2B5EF4-FFF2-40B4-BE49-F238E27FC236}">
                <a16:creationId xmlns:a16="http://schemas.microsoft.com/office/drawing/2014/main" id="{54E7F9A0-6F2B-32AD-2868-86FD7B40B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444625"/>
            <a:ext cx="7560840" cy="37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52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altLang="en-US" dirty="0">
                <a:solidFill>
                  <a:srgbClr val="3F3F3F"/>
                </a:solidFill>
                <a:ea typeface="Arial MT"/>
                <a:cs typeface="Arial" panose="020B0604020202020204" pitchFamily="34" charset="0"/>
              </a:rPr>
              <a:t>Add meaning through text-colors with the classes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DCF70C-D0F0-A1F4-3AC7-74ED90269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587133"/>
              </p:ext>
            </p:extLst>
          </p:nvPr>
        </p:nvGraphicFramePr>
        <p:xfrm>
          <a:off x="628576" y="2237912"/>
          <a:ext cx="7734448" cy="284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224">
                  <a:extLst>
                    <a:ext uri="{9D8B030D-6E8A-4147-A177-3AD203B41FA5}">
                      <a16:colId xmlns:a16="http://schemas.microsoft.com/office/drawing/2014/main" val="4074107618"/>
                    </a:ext>
                  </a:extLst>
                </a:gridCol>
                <a:gridCol w="3867224">
                  <a:extLst>
                    <a:ext uri="{9D8B030D-6E8A-4147-A177-3AD203B41FA5}">
                      <a16:colId xmlns:a16="http://schemas.microsoft.com/office/drawing/2014/main" val="3214745351"/>
                    </a:ext>
                  </a:extLst>
                </a:gridCol>
              </a:tblGrid>
              <a:tr h="471008">
                <a:tc>
                  <a:txBody>
                    <a:bodyPr/>
                    <a:lstStyle/>
                    <a:p>
                      <a:r>
                        <a:rPr lang="en-GB" sz="2000" dirty="0"/>
                        <a:t>Example: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Syntax: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3160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>
                          <a:solidFill>
                            <a:srgbClr val="A5A5A5"/>
                          </a:solidFill>
                          <a:ea typeface="Arial MT"/>
                          <a:cs typeface="Arial" panose="020B0604020202020204" pitchFamily="34" charset="0"/>
                        </a:rPr>
                        <a:t>Bootstrap Programming. 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&lt;p</a:t>
                      </a:r>
                      <a:r>
                        <a:rPr lang="en-GB" sz="2000" spc="-38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GB" sz="2000" spc="-4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class="text-muted"&gt;...&lt;/p&gt;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93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>
                          <a:solidFill>
                            <a:srgbClr val="8EC8F3"/>
                          </a:solidFill>
                          <a:ea typeface="Arial MT"/>
                          <a:cs typeface="Arial" panose="020B0604020202020204" pitchFamily="34" charset="0"/>
                        </a:rPr>
                        <a:t>Bootstrap Programming. 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&lt;p</a:t>
                      </a:r>
                      <a:r>
                        <a:rPr lang="en-GB" sz="2000" spc="8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GB" sz="2000" spc="-8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class="text-primary"&gt;...&lt;/p&gt;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814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>
                          <a:solidFill>
                            <a:srgbClr val="00AF4F"/>
                          </a:solidFill>
                          <a:ea typeface="Arial MT"/>
                          <a:cs typeface="Arial" panose="020B0604020202020204" pitchFamily="34" charset="0"/>
                        </a:rPr>
                        <a:t>Bootstrap Programming. 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&lt;p</a:t>
                      </a:r>
                      <a:r>
                        <a:rPr lang="en-GB" sz="2000" spc="-49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GB" sz="2000" spc="-4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class="text-success"&gt;...&lt;/p&gt;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31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>
                          <a:solidFill>
                            <a:srgbClr val="5881DA"/>
                          </a:solidFill>
                          <a:ea typeface="Arial MT"/>
                          <a:cs typeface="Arial" panose="020B0604020202020204" pitchFamily="34" charset="0"/>
                        </a:rPr>
                        <a:t>Bootstrap Programming. 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&lt;p</a:t>
                      </a:r>
                      <a:r>
                        <a:rPr lang="en-GB" sz="2000" spc="-38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GB" sz="2000" spc="-4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class="text-info"&gt;...&lt;/p&gt;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062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>
                          <a:solidFill>
                            <a:srgbClr val="FFBF00"/>
                          </a:solidFill>
                          <a:ea typeface="Arial MT"/>
                          <a:cs typeface="Arial" panose="020B0604020202020204" pitchFamily="34" charset="0"/>
                        </a:rPr>
                        <a:t>Bootstrap Programming. 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&lt;p</a:t>
                      </a:r>
                      <a:r>
                        <a:rPr lang="en-GB" sz="2000" spc="-8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 class="text-warning"&gt;...&lt;/p&gt;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187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solidFill>
                            <a:srgbClr val="BF0000"/>
                          </a:solidFill>
                          <a:ea typeface="Arial MT"/>
                          <a:cs typeface="Arial" panose="020B0604020202020204" pitchFamily="34" charset="0"/>
                        </a:rPr>
                        <a:t>Bootstrap Programming.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&lt;p</a:t>
                      </a:r>
                      <a:r>
                        <a:rPr lang="en-GB" sz="2000" spc="8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GB" sz="2000" spc="-8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class="text-danger"&gt;...&lt;/p&gt;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3666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80FD08A-D28D-0B42-3083-ED5AA0A2AE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8" dirty="0"/>
              <a:t>Contextual</a:t>
            </a:r>
            <a:r>
              <a:rPr spc="-26" dirty="0"/>
              <a:t> </a:t>
            </a:r>
            <a:r>
              <a:rPr lang="en-GB" spc="-26" dirty="0"/>
              <a:t>Backgrounds</a:t>
            </a:r>
            <a:endParaRPr dirty="0"/>
          </a:p>
        </p:txBody>
      </p:sp>
      <p:sp>
        <p:nvSpPr>
          <p:cNvPr id="43011" name="object 3">
            <a:extLst>
              <a:ext uri="{FF2B5EF4-FFF2-40B4-BE49-F238E27FC236}">
                <a16:creationId xmlns:a16="http://schemas.microsoft.com/office/drawing/2014/main" id="{9D02D547-1EC3-CE8D-AB82-1C3735832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1389243"/>
            <a:ext cx="8933308" cy="63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525" rIns="0" bIns="0">
            <a:spAutoFit/>
          </a:bodyPr>
          <a:lstStyle>
            <a:lvl1pPr marL="295275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Add meaning through background-colors with the classes below. </a:t>
            </a:r>
          </a:p>
          <a:p>
            <a:pPr>
              <a:spcBef>
                <a:spcPts val="7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Links will darken on hover just  like text classes: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3C156C1-CB06-93C5-B504-24F6AF69B50D}"/>
              </a:ext>
            </a:extLst>
          </p:cNvPr>
          <p:cNvSpPr txBox="1"/>
          <p:nvPr/>
        </p:nvSpPr>
        <p:spPr>
          <a:xfrm>
            <a:off x="2771800" y="4149724"/>
            <a:ext cx="3384376" cy="1871564"/>
          </a:xfrm>
          <a:prstGeom prst="rect">
            <a:avLst/>
          </a:prstGeom>
        </p:spPr>
        <p:txBody>
          <a:bodyPr wrap="square" lIns="0" tIns="104775" rIns="0" bIns="0">
            <a:spAutoFit/>
          </a:bodyPr>
          <a:lstStyle/>
          <a:p>
            <a:pPr marL="9525">
              <a:spcBef>
                <a:spcPts val="825"/>
              </a:spcBef>
              <a:defRPr/>
            </a:pPr>
            <a:r>
              <a:rPr sz="1350" b="1" spc="-8" dirty="0">
                <a:latin typeface="Arial"/>
                <a:cs typeface="Arial"/>
              </a:rPr>
              <a:t>Syntax:</a:t>
            </a:r>
            <a:endParaRPr sz="1350" dirty="0">
              <a:latin typeface="Arial"/>
              <a:cs typeface="Arial"/>
            </a:endParaRPr>
          </a:p>
          <a:p>
            <a:pPr marL="9525">
              <a:spcBef>
                <a:spcPts val="750"/>
              </a:spcBef>
              <a:defRPr/>
            </a:pPr>
            <a:r>
              <a:rPr sz="1350" dirty="0">
                <a:latin typeface="Arial MT"/>
                <a:cs typeface="Arial MT"/>
              </a:rPr>
              <a:t>&lt;p</a:t>
            </a:r>
            <a:r>
              <a:rPr sz="1350" spc="-26" dirty="0">
                <a:latin typeface="Arial MT"/>
                <a:cs typeface="Arial MT"/>
              </a:rPr>
              <a:t> </a:t>
            </a:r>
            <a:r>
              <a:rPr sz="1350" spc="-4" dirty="0">
                <a:latin typeface="Arial MT"/>
                <a:cs typeface="Arial MT"/>
              </a:rPr>
              <a:t>class="bg-primary"&gt;...&lt;/p&gt;</a:t>
            </a:r>
            <a:endParaRPr sz="1350" dirty="0">
              <a:latin typeface="Arial MT"/>
              <a:cs typeface="Arial MT"/>
            </a:endParaRPr>
          </a:p>
          <a:p>
            <a:pPr marL="9525">
              <a:spcBef>
                <a:spcPts val="750"/>
              </a:spcBef>
              <a:defRPr/>
            </a:pPr>
            <a:r>
              <a:rPr sz="1350" dirty="0">
                <a:latin typeface="Arial MT"/>
                <a:cs typeface="Arial MT"/>
              </a:rPr>
              <a:t>&lt;p</a:t>
            </a:r>
            <a:r>
              <a:rPr sz="1350" spc="-30" dirty="0">
                <a:latin typeface="Arial MT"/>
                <a:cs typeface="Arial MT"/>
              </a:rPr>
              <a:t> </a:t>
            </a:r>
            <a:r>
              <a:rPr sz="1350" spc="-4" dirty="0">
                <a:latin typeface="Arial MT"/>
                <a:cs typeface="Arial MT"/>
              </a:rPr>
              <a:t>class="bg-success"&gt;...&lt;/p&gt;</a:t>
            </a:r>
            <a:endParaRPr sz="1350" dirty="0">
              <a:latin typeface="Arial MT"/>
              <a:cs typeface="Arial MT"/>
            </a:endParaRPr>
          </a:p>
          <a:p>
            <a:pPr marL="9525">
              <a:spcBef>
                <a:spcPts val="750"/>
              </a:spcBef>
              <a:defRPr/>
            </a:pPr>
            <a:r>
              <a:rPr sz="1350" dirty="0">
                <a:latin typeface="Arial MT"/>
                <a:cs typeface="Arial MT"/>
              </a:rPr>
              <a:t>&lt;p</a:t>
            </a:r>
            <a:r>
              <a:rPr sz="1350" spc="-23" dirty="0">
                <a:latin typeface="Arial MT"/>
                <a:cs typeface="Arial MT"/>
              </a:rPr>
              <a:t> </a:t>
            </a:r>
            <a:r>
              <a:rPr sz="1350" spc="-4" dirty="0">
                <a:latin typeface="Arial MT"/>
                <a:cs typeface="Arial MT"/>
              </a:rPr>
              <a:t>class="bg-info"&gt;...&lt;/p&gt;</a:t>
            </a:r>
            <a:endParaRPr sz="1350" dirty="0">
              <a:latin typeface="Arial MT"/>
              <a:cs typeface="Arial MT"/>
            </a:endParaRPr>
          </a:p>
          <a:p>
            <a:pPr marL="9525">
              <a:spcBef>
                <a:spcPts val="743"/>
              </a:spcBef>
              <a:defRPr/>
            </a:pPr>
            <a:r>
              <a:rPr sz="1350" dirty="0">
                <a:latin typeface="Arial MT"/>
                <a:cs typeface="Arial MT"/>
              </a:rPr>
              <a:t>&lt;p </a:t>
            </a:r>
            <a:r>
              <a:rPr sz="1350" spc="-8" dirty="0">
                <a:latin typeface="Arial MT"/>
                <a:cs typeface="Arial MT"/>
              </a:rPr>
              <a:t>class="bg-warning"&gt;...&lt;/p&gt;</a:t>
            </a:r>
            <a:endParaRPr sz="1350" dirty="0">
              <a:latin typeface="Arial MT"/>
              <a:cs typeface="Arial MT"/>
            </a:endParaRPr>
          </a:p>
          <a:p>
            <a:pPr marL="9525">
              <a:spcBef>
                <a:spcPts val="750"/>
              </a:spcBef>
              <a:defRPr/>
            </a:pPr>
            <a:r>
              <a:rPr sz="1350" dirty="0">
                <a:latin typeface="Arial MT"/>
                <a:cs typeface="Arial MT"/>
              </a:rPr>
              <a:t>&lt;p</a:t>
            </a:r>
            <a:r>
              <a:rPr sz="1350" spc="-30" dirty="0">
                <a:latin typeface="Arial MT"/>
                <a:cs typeface="Arial MT"/>
              </a:rPr>
              <a:t> </a:t>
            </a:r>
            <a:r>
              <a:rPr sz="1350" spc="-4" dirty="0">
                <a:latin typeface="Arial MT"/>
                <a:cs typeface="Arial MT"/>
              </a:rPr>
              <a:t>class="bg-danger"&gt;...&lt;/p&gt;</a:t>
            </a:r>
            <a:endParaRPr sz="1350" dirty="0">
              <a:latin typeface="Arial MT"/>
              <a:cs typeface="Arial MT"/>
            </a:endParaRPr>
          </a:p>
        </p:txBody>
      </p:sp>
      <p:pic>
        <p:nvPicPr>
          <p:cNvPr id="43013" name="object 5">
            <a:extLst>
              <a:ext uri="{FF2B5EF4-FFF2-40B4-BE49-F238E27FC236}">
                <a16:creationId xmlns:a16="http://schemas.microsoft.com/office/drawing/2014/main" id="{F4E5C5AE-0934-4171-A4BD-D1C57DA80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073275"/>
            <a:ext cx="6926262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object 2">
            <a:extLst>
              <a:ext uri="{FF2B5EF4-FFF2-40B4-BE49-F238E27FC236}">
                <a16:creationId xmlns:a16="http://schemas.microsoft.com/office/drawing/2014/main" id="{4D4BE6F8-8C14-4A97-F5B0-1FEF6860C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1" y="1555179"/>
            <a:ext cx="8240713" cy="1008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84773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663"/>
              </a:spcBef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Close icon :</a:t>
            </a:r>
            <a:endParaRPr lang="en-US" altLang="en-US" sz="2000" dirty="0">
              <a:solidFill>
                <a:schemeClr val="accent2"/>
              </a:solidFill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788"/>
              </a:spcBef>
            </a:pPr>
            <a:r>
              <a:rPr lang="en-US" altLang="en-US" sz="2000" dirty="0">
                <a:solidFill>
                  <a:srgbClr val="3F3F3F"/>
                </a:solidFill>
                <a:ea typeface="Arial MT"/>
                <a:cs typeface="Arial" panose="020B0604020202020204" pitchFamily="34" charset="0"/>
              </a:rPr>
              <a:t>Use the generic close icon for dismissing content like modals and alerts. Use the class close to get the close icon.</a:t>
            </a:r>
            <a:endParaRPr lang="en-US" altLang="en-US" sz="2000" dirty="0">
              <a:ea typeface="Arial MT"/>
              <a:cs typeface="Arial" panose="020B0604020202020204" pitchFamily="34" charset="0"/>
            </a:endParaRPr>
          </a:p>
        </p:txBody>
      </p:sp>
      <p:sp>
        <p:nvSpPr>
          <p:cNvPr id="44035" name="object 3">
            <a:extLst>
              <a:ext uri="{FF2B5EF4-FFF2-40B4-BE49-F238E27FC236}">
                <a16:creationId xmlns:a16="http://schemas.microsoft.com/office/drawing/2014/main" id="{45CF178E-43D1-DF09-D4E8-2473EFB08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3869334"/>
            <a:ext cx="7672710" cy="753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8572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675"/>
              </a:spcBef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Carets:</a:t>
            </a:r>
            <a:endParaRPr lang="en-US" altLang="en-US" sz="2000" dirty="0">
              <a:solidFill>
                <a:schemeClr val="accent2"/>
              </a:solidFill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800"/>
              </a:spcBef>
            </a:pP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Use carets to indicate dropdown functionality and direction. </a:t>
            </a:r>
            <a:endParaRPr lang="en-US" altLang="en-US" sz="2000" dirty="0">
              <a:latin typeface="Arial MT"/>
              <a:ea typeface="Arial MT"/>
              <a:cs typeface="Arial MT"/>
            </a:endParaRPr>
          </a:p>
        </p:txBody>
      </p:sp>
      <p:pic>
        <p:nvPicPr>
          <p:cNvPr id="44036" name="object 4">
            <a:extLst>
              <a:ext uri="{FF2B5EF4-FFF2-40B4-BE49-F238E27FC236}">
                <a16:creationId xmlns:a16="http://schemas.microsoft.com/office/drawing/2014/main" id="{A39F08F1-AE9A-37BB-9151-3691A2121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736" y="2753528"/>
            <a:ext cx="5483225" cy="98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object 5">
            <a:extLst>
              <a:ext uri="{FF2B5EF4-FFF2-40B4-BE49-F238E27FC236}">
                <a16:creationId xmlns:a16="http://schemas.microsoft.com/office/drawing/2014/main" id="{A86DC79D-0703-2853-698C-9844E76AE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797152"/>
            <a:ext cx="3117850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8" name="Title 5">
            <a:extLst>
              <a:ext uri="{FF2B5EF4-FFF2-40B4-BE49-F238E27FC236}">
                <a16:creationId xmlns:a16="http://schemas.microsoft.com/office/drawing/2014/main" id="{C0D3095D-15AD-F69C-18A7-B9B6D6650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Interaction Controls</a:t>
            </a:r>
            <a:endParaRPr lang="en-GB" altLang="en-US"/>
          </a:p>
        </p:txBody>
      </p:sp>
    </p:spTree>
  </p:cSld>
  <p:clrMapOvr>
    <a:masterClrMapping/>
  </p:clrMapOvr>
  <p:transition>
    <p:blinds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78E125-C9E3-9D40-ABF1-76A077AC0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pc="-8" dirty="0">
                <a:latin typeface="Arial"/>
                <a:cs typeface="Arial"/>
              </a:rPr>
              <a:t>Quick</a:t>
            </a:r>
            <a:r>
              <a:rPr spc="-45" dirty="0">
                <a:latin typeface="Arial"/>
                <a:cs typeface="Arial"/>
              </a:rPr>
              <a:t> </a:t>
            </a:r>
            <a:r>
              <a:rPr lang="en-GB" spc="-45" dirty="0">
                <a:latin typeface="Arial"/>
                <a:cs typeface="Arial"/>
              </a:rPr>
              <a:t>Floats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59C3D9D-CFEE-0F91-3FC8-F909DBC6D7F8}"/>
              </a:ext>
            </a:extLst>
          </p:cNvPr>
          <p:cNvSpPr txBox="1"/>
          <p:nvPr/>
        </p:nvSpPr>
        <p:spPr>
          <a:xfrm>
            <a:off x="575370" y="1628800"/>
            <a:ext cx="7993260" cy="3824958"/>
          </a:xfrm>
          <a:prstGeom prst="rect">
            <a:avLst/>
          </a:prstGeom>
        </p:spPr>
        <p:txBody>
          <a:bodyPr wrap="square" lIns="0" tIns="952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95275" indent="-285750">
              <a:lnSpc>
                <a:spcPct val="135000"/>
              </a:lnSpc>
              <a:spcBef>
                <a:spcPts val="75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Float an element to the left or right with a class.  </a:t>
            </a:r>
          </a:p>
          <a:p>
            <a:pPr lvl="2" indent="0">
              <a:spcBef>
                <a:spcPts val="750"/>
              </a:spcBef>
              <a:defRPr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&lt;div class="pull-right"&gt;...&lt;/div&gt;</a:t>
            </a:r>
          </a:p>
          <a:p>
            <a:pPr marL="295275" indent="-285750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Center content blocks: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Sets an element to </a:t>
            </a:r>
            <a:r>
              <a:rPr lang="en-US" altLang="en-US" sz="2000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display:block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and  center with </a:t>
            </a:r>
            <a:r>
              <a:rPr lang="en-US" altLang="en-US" sz="2000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margin-right:auto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and </a:t>
            </a:r>
            <a:r>
              <a:rPr lang="en-US" altLang="en-US" sz="2000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margin-left:auto</a:t>
            </a: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</a:t>
            </a:r>
          </a:p>
          <a:p>
            <a:pPr marL="1200150" lvl="2" indent="0">
              <a:spcBef>
                <a:spcPts val="738"/>
              </a:spcBef>
              <a:defRPr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&lt;div class="center-block"&gt;...&lt;/div&gt;</a:t>
            </a:r>
          </a:p>
          <a:p>
            <a:pPr marL="295275" indent="-285750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Showing and hiding content:</a:t>
            </a:r>
            <a:endParaRPr lang="en-US" altLang="en-US" sz="2000" dirty="0">
              <a:solidFill>
                <a:schemeClr val="accent2"/>
              </a:solidFill>
              <a:cs typeface="Arial" panose="020B0604020202020204" pitchFamily="34" charset="0"/>
            </a:endParaRPr>
          </a:p>
          <a:p>
            <a:pPr marL="1028700" lvl="1">
              <a:spcBef>
                <a:spcPts val="75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.show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class Forces an element to be shown (</a:t>
            </a:r>
            <a:r>
              <a:rPr lang="en-US" altLang="en-US" sz="2000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display:block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)</a:t>
            </a:r>
          </a:p>
          <a:p>
            <a:pPr marL="1028700" lvl="1">
              <a:lnSpc>
                <a:spcPct val="134000"/>
              </a:lnSpc>
              <a:spcBef>
                <a:spcPts val="1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.hidden 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class Forces an element to be hidden (</a:t>
            </a:r>
            <a:r>
              <a:rPr lang="en-US" altLang="en-US" sz="2000" dirty="0" err="1">
                <a:solidFill>
                  <a:schemeClr val="accent2"/>
                </a:solidFill>
                <a:ea typeface="Arial MT"/>
                <a:cs typeface="Arial" panose="020B0604020202020204" pitchFamily="34" charset="0"/>
              </a:rPr>
              <a:t>display:none</a:t>
            </a:r>
            <a:r>
              <a:rPr lang="en-US" altLang="en-US" sz="2000" dirty="0">
                <a:ea typeface="Arial MT"/>
                <a:cs typeface="Arial" panose="020B0604020202020204" pitchFamily="34" charset="0"/>
              </a:rPr>
              <a:t>)  </a:t>
            </a:r>
          </a:p>
          <a:p>
            <a:pPr marL="1200150" lvl="2" indent="0">
              <a:lnSpc>
                <a:spcPct val="134000"/>
              </a:lnSpc>
              <a:spcBef>
                <a:spcPts val="13"/>
              </a:spcBef>
              <a:defRPr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&lt;div class="show"&gt;...&lt;/div&gt;</a:t>
            </a:r>
          </a:p>
          <a:p>
            <a:pPr marL="1200150" lvl="2" indent="0">
              <a:lnSpc>
                <a:spcPct val="134000"/>
              </a:lnSpc>
              <a:spcBef>
                <a:spcPts val="13"/>
              </a:spcBef>
              <a:defRPr/>
            </a:pPr>
            <a:r>
              <a:rPr lang="en-US" altLang="en-US" sz="1800" dirty="0">
                <a:ea typeface="Arial MT"/>
                <a:cs typeface="Arial" panose="020B0604020202020204" pitchFamily="34" charset="0"/>
              </a:rPr>
              <a:t>&lt;div class="hidden"&gt;...&lt;/div&gt;</a:t>
            </a:r>
          </a:p>
        </p:txBody>
      </p:sp>
    </p:spTree>
  </p:cSld>
  <p:clrMapOvr>
    <a:masterClrMapping/>
  </p:clrMapOvr>
  <p:transition>
    <p:blinds dir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2B5694-9D9A-4E1C-7051-06927305E8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4488"/>
            <a:ext cx="8785225" cy="685800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lang="en-GB" spc="-8" dirty="0">
                <a:latin typeface="Arial"/>
                <a:cs typeface="Arial"/>
              </a:rPr>
              <a:t>Responsive</a:t>
            </a:r>
            <a:r>
              <a:rPr lang="en-GB" spc="-30" dirty="0">
                <a:latin typeface="Arial"/>
                <a:cs typeface="Arial"/>
              </a:rPr>
              <a:t> </a:t>
            </a:r>
            <a:r>
              <a:rPr lang="en-GB" spc="-4" dirty="0">
                <a:latin typeface="Arial"/>
                <a:cs typeface="Arial"/>
              </a:rPr>
              <a:t>Utilities</a:t>
            </a:r>
            <a:endParaRPr lang="en-GB" dirty="0">
              <a:latin typeface="Arial"/>
              <a:cs typeface="Arial"/>
            </a:endParaRPr>
          </a:p>
        </p:txBody>
      </p:sp>
      <p:sp>
        <p:nvSpPr>
          <p:cNvPr id="46083" name="object 3">
            <a:extLst>
              <a:ext uri="{FF2B5EF4-FFF2-40B4-BE49-F238E27FC236}">
                <a16:creationId xmlns:a16="http://schemas.microsoft.com/office/drawing/2014/main" id="{50A67FE3-57C0-F684-ABB5-D6AA6DA86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1341438"/>
            <a:ext cx="8168010" cy="143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525" rIns="0" bIns="0">
            <a:spAutoFit/>
          </a:bodyPr>
          <a:lstStyle>
            <a:lvl1pPr marL="9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5"/>
              </a:spcBef>
            </a:pP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Show and/or hide content by device via media queries.</a:t>
            </a:r>
            <a:endParaRPr lang="en-US" altLang="en-US" sz="2000" dirty="0">
              <a:latin typeface="Arial MT"/>
              <a:ea typeface="Arial MT"/>
              <a:cs typeface="Arial MT"/>
            </a:endParaRPr>
          </a:p>
          <a:p>
            <a:pPr>
              <a:spcBef>
                <a:spcPts val="738"/>
              </a:spcBef>
            </a:pPr>
            <a:r>
              <a:rPr lang="en-US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Available classes :</a:t>
            </a:r>
            <a:endParaRPr lang="en-US" altLang="en-US" sz="2000" dirty="0">
              <a:solidFill>
                <a:schemeClr val="accent2"/>
              </a:solidFill>
              <a:cs typeface="Arial" panose="020B0604020202020204" pitchFamily="34" charset="0"/>
            </a:endParaRPr>
          </a:p>
          <a:p>
            <a:pPr>
              <a:spcBef>
                <a:spcPts val="750"/>
              </a:spcBef>
            </a:pPr>
            <a:r>
              <a:rPr lang="en-US" altLang="en-US" sz="2000" dirty="0">
                <a:solidFill>
                  <a:srgbClr val="3F3F3F"/>
                </a:solidFill>
                <a:latin typeface="Arial MT"/>
                <a:ea typeface="Arial MT"/>
                <a:cs typeface="Arial MT"/>
              </a:rPr>
              <a:t>Use one or a combination of the available classes for toggling  content across viewport breakpoints.</a:t>
            </a:r>
            <a:endParaRPr lang="en-US" altLang="en-US" sz="2000" dirty="0">
              <a:latin typeface="Arial MT"/>
              <a:ea typeface="Arial MT"/>
              <a:cs typeface="Arial MT"/>
            </a:endParaRPr>
          </a:p>
        </p:txBody>
      </p:sp>
      <p:pic>
        <p:nvPicPr>
          <p:cNvPr id="46084" name="object 4">
            <a:extLst>
              <a:ext uri="{FF2B5EF4-FFF2-40B4-BE49-F238E27FC236}">
                <a16:creationId xmlns:a16="http://schemas.microsoft.com/office/drawing/2014/main" id="{2ABEAC94-43E7-449A-B3AC-7D2904F6F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924944"/>
            <a:ext cx="7197725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04B33F-C857-BC22-3DE1-12CBFDC75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Bootstrap cards</a:t>
            </a:r>
            <a:endParaRPr lang="en-GB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object 17">
            <a:extLst>
              <a:ext uri="{FF2B5EF4-FFF2-40B4-BE49-F238E27FC236}">
                <a16:creationId xmlns:a16="http://schemas.microsoft.com/office/drawing/2014/main" id="{C64917F1-46DC-6ACD-4DEA-5468EC96D617}"/>
              </a:ext>
            </a:extLst>
          </p:cNvPr>
          <p:cNvSpPr>
            <a:spLocks/>
          </p:cNvSpPr>
          <p:nvPr/>
        </p:nvSpPr>
        <p:spPr bwMode="auto">
          <a:xfrm>
            <a:off x="3675063" y="1219200"/>
            <a:ext cx="26987" cy="26988"/>
          </a:xfrm>
          <a:custGeom>
            <a:avLst/>
            <a:gdLst>
              <a:gd name="T0" fmla="*/ 20609 w 27939"/>
              <a:gd name="T1" fmla="*/ 0 h 27939"/>
              <a:gd name="T2" fmla="*/ 5888 w 27939"/>
              <a:gd name="T3" fmla="*/ 0 h 27939"/>
              <a:gd name="T4" fmla="*/ 0 w 27939"/>
              <a:gd name="T5" fmla="*/ 5889 h 27939"/>
              <a:gd name="T6" fmla="*/ 0 w 27939"/>
              <a:gd name="T7" fmla="*/ 20610 h 27939"/>
              <a:gd name="T8" fmla="*/ 5888 w 27939"/>
              <a:gd name="T9" fmla="*/ 26498 h 27939"/>
              <a:gd name="T10" fmla="*/ 20609 w 27939"/>
              <a:gd name="T11" fmla="*/ 26498 h 27939"/>
              <a:gd name="T12" fmla="*/ 26497 w 27939"/>
              <a:gd name="T13" fmla="*/ 20610 h 27939"/>
              <a:gd name="T14" fmla="*/ 26497 w 27939"/>
              <a:gd name="T15" fmla="*/ 13248 h 27939"/>
              <a:gd name="T16" fmla="*/ 26497 w 27939"/>
              <a:gd name="T17" fmla="*/ 5889 h 27939"/>
              <a:gd name="T18" fmla="*/ 20609 w 27939"/>
              <a:gd name="T19" fmla="*/ 0 h 2793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939" h="27939">
                <a:moveTo>
                  <a:pt x="2133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1336"/>
                </a:lnTo>
                <a:lnTo>
                  <a:pt x="6096" y="27432"/>
                </a:lnTo>
                <a:lnTo>
                  <a:pt x="21336" y="27432"/>
                </a:lnTo>
                <a:lnTo>
                  <a:pt x="27432" y="21336"/>
                </a:lnTo>
                <a:lnTo>
                  <a:pt x="27432" y="13715"/>
                </a:lnTo>
                <a:lnTo>
                  <a:pt x="27432" y="6096"/>
                </a:lnTo>
                <a:lnTo>
                  <a:pt x="21336" y="0"/>
                </a:lnTo>
                <a:close/>
              </a:path>
            </a:pathLst>
          </a:custGeom>
          <a:solidFill>
            <a:srgbClr val="3C3C3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8131" name="object 18">
            <a:extLst>
              <a:ext uri="{FF2B5EF4-FFF2-40B4-BE49-F238E27FC236}">
                <a16:creationId xmlns:a16="http://schemas.microsoft.com/office/drawing/2014/main" id="{6DAA23BE-4216-7266-133B-FC52DCE823C3}"/>
              </a:ext>
            </a:extLst>
          </p:cNvPr>
          <p:cNvSpPr>
            <a:spLocks/>
          </p:cNvSpPr>
          <p:nvPr/>
        </p:nvSpPr>
        <p:spPr bwMode="auto">
          <a:xfrm>
            <a:off x="3600450" y="1219200"/>
            <a:ext cx="28575" cy="26988"/>
          </a:xfrm>
          <a:custGeom>
            <a:avLst/>
            <a:gdLst>
              <a:gd name="T0" fmla="*/ 21822 w 27939"/>
              <a:gd name="T1" fmla="*/ 0 h 27939"/>
              <a:gd name="T2" fmla="*/ 6235 w 27939"/>
              <a:gd name="T3" fmla="*/ 0 h 27939"/>
              <a:gd name="T4" fmla="*/ 0 w 27939"/>
              <a:gd name="T5" fmla="*/ 5889 h 27939"/>
              <a:gd name="T6" fmla="*/ 0 w 27939"/>
              <a:gd name="T7" fmla="*/ 20610 h 27939"/>
              <a:gd name="T8" fmla="*/ 6235 w 27939"/>
              <a:gd name="T9" fmla="*/ 26498 h 27939"/>
              <a:gd name="T10" fmla="*/ 21822 w 27939"/>
              <a:gd name="T11" fmla="*/ 26498 h 27939"/>
              <a:gd name="T12" fmla="*/ 28056 w 27939"/>
              <a:gd name="T13" fmla="*/ 20610 h 27939"/>
              <a:gd name="T14" fmla="*/ 28056 w 27939"/>
              <a:gd name="T15" fmla="*/ 13248 h 27939"/>
              <a:gd name="T16" fmla="*/ 28056 w 27939"/>
              <a:gd name="T17" fmla="*/ 5889 h 27939"/>
              <a:gd name="T18" fmla="*/ 21822 w 27939"/>
              <a:gd name="T19" fmla="*/ 0 h 2793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939" h="27939">
                <a:moveTo>
                  <a:pt x="2133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1336"/>
                </a:lnTo>
                <a:lnTo>
                  <a:pt x="6096" y="27432"/>
                </a:lnTo>
                <a:lnTo>
                  <a:pt x="21336" y="27432"/>
                </a:lnTo>
                <a:lnTo>
                  <a:pt x="27432" y="21336"/>
                </a:lnTo>
                <a:lnTo>
                  <a:pt x="27432" y="13715"/>
                </a:lnTo>
                <a:lnTo>
                  <a:pt x="27432" y="6096"/>
                </a:lnTo>
                <a:lnTo>
                  <a:pt x="21336" y="0"/>
                </a:lnTo>
                <a:close/>
              </a:path>
            </a:pathLst>
          </a:custGeom>
          <a:solidFill>
            <a:srgbClr val="3C3C3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8132" name="object 19">
            <a:extLst>
              <a:ext uri="{FF2B5EF4-FFF2-40B4-BE49-F238E27FC236}">
                <a16:creationId xmlns:a16="http://schemas.microsoft.com/office/drawing/2014/main" id="{74620461-7DAB-8B6B-5B00-CE13C2DCF759}"/>
              </a:ext>
            </a:extLst>
          </p:cNvPr>
          <p:cNvSpPr>
            <a:spLocks/>
          </p:cNvSpPr>
          <p:nvPr/>
        </p:nvSpPr>
        <p:spPr bwMode="auto">
          <a:xfrm>
            <a:off x="3525838" y="1219200"/>
            <a:ext cx="28575" cy="26988"/>
          </a:xfrm>
          <a:custGeom>
            <a:avLst/>
            <a:gdLst>
              <a:gd name="T0" fmla="*/ 21822 w 27939"/>
              <a:gd name="T1" fmla="*/ 0 h 27939"/>
              <a:gd name="T2" fmla="*/ 6235 w 27939"/>
              <a:gd name="T3" fmla="*/ 0 h 27939"/>
              <a:gd name="T4" fmla="*/ 0 w 27939"/>
              <a:gd name="T5" fmla="*/ 5889 h 27939"/>
              <a:gd name="T6" fmla="*/ 0 w 27939"/>
              <a:gd name="T7" fmla="*/ 20610 h 27939"/>
              <a:gd name="T8" fmla="*/ 6235 w 27939"/>
              <a:gd name="T9" fmla="*/ 26498 h 27939"/>
              <a:gd name="T10" fmla="*/ 21822 w 27939"/>
              <a:gd name="T11" fmla="*/ 26498 h 27939"/>
              <a:gd name="T12" fmla="*/ 28055 w 27939"/>
              <a:gd name="T13" fmla="*/ 20610 h 27939"/>
              <a:gd name="T14" fmla="*/ 28055 w 27939"/>
              <a:gd name="T15" fmla="*/ 13248 h 27939"/>
              <a:gd name="T16" fmla="*/ 28055 w 27939"/>
              <a:gd name="T17" fmla="*/ 5889 h 27939"/>
              <a:gd name="T18" fmla="*/ 21822 w 27939"/>
              <a:gd name="T19" fmla="*/ 0 h 2793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939" h="27939">
                <a:moveTo>
                  <a:pt x="2133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1336"/>
                </a:lnTo>
                <a:lnTo>
                  <a:pt x="6096" y="27432"/>
                </a:lnTo>
                <a:lnTo>
                  <a:pt x="21336" y="27432"/>
                </a:lnTo>
                <a:lnTo>
                  <a:pt x="27431" y="21336"/>
                </a:lnTo>
                <a:lnTo>
                  <a:pt x="27431" y="13715"/>
                </a:lnTo>
                <a:lnTo>
                  <a:pt x="27431" y="6096"/>
                </a:lnTo>
                <a:lnTo>
                  <a:pt x="21336" y="0"/>
                </a:lnTo>
                <a:close/>
              </a:path>
            </a:pathLst>
          </a:custGeom>
          <a:solidFill>
            <a:srgbClr val="3C3C3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8133" name="object 20">
            <a:extLst>
              <a:ext uri="{FF2B5EF4-FFF2-40B4-BE49-F238E27FC236}">
                <a16:creationId xmlns:a16="http://schemas.microsoft.com/office/drawing/2014/main" id="{6EE82489-B812-049A-C2EE-7527B1220F09}"/>
              </a:ext>
            </a:extLst>
          </p:cNvPr>
          <p:cNvSpPr>
            <a:spLocks/>
          </p:cNvSpPr>
          <p:nvPr/>
        </p:nvSpPr>
        <p:spPr bwMode="auto">
          <a:xfrm>
            <a:off x="628650" y="1100138"/>
            <a:ext cx="26988" cy="26987"/>
          </a:xfrm>
          <a:custGeom>
            <a:avLst/>
            <a:gdLst>
              <a:gd name="T0" fmla="*/ 20560 w 27940"/>
              <a:gd name="T1" fmla="*/ 0 h 27939"/>
              <a:gd name="T2" fmla="*/ 5937 w 27940"/>
              <a:gd name="T3" fmla="*/ 0 h 27939"/>
              <a:gd name="T4" fmla="*/ 0 w 27940"/>
              <a:gd name="T5" fmla="*/ 5888 h 27939"/>
              <a:gd name="T6" fmla="*/ 0 w 27940"/>
              <a:gd name="T7" fmla="*/ 20609 h 27939"/>
              <a:gd name="T8" fmla="*/ 5937 w 27940"/>
              <a:gd name="T9" fmla="*/ 26497 h 27939"/>
              <a:gd name="T10" fmla="*/ 20560 w 27940"/>
              <a:gd name="T11" fmla="*/ 26497 h 27939"/>
              <a:gd name="T12" fmla="*/ 26497 w 27940"/>
              <a:gd name="T13" fmla="*/ 20609 h 27939"/>
              <a:gd name="T14" fmla="*/ 26497 w 27940"/>
              <a:gd name="T15" fmla="*/ 13249 h 27939"/>
              <a:gd name="T16" fmla="*/ 26497 w 27940"/>
              <a:gd name="T17" fmla="*/ 5888 h 27939"/>
              <a:gd name="T18" fmla="*/ 20560 w 27940"/>
              <a:gd name="T19" fmla="*/ 0 h 2793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940" h="27939">
                <a:moveTo>
                  <a:pt x="21285" y="0"/>
                </a:moveTo>
                <a:lnTo>
                  <a:pt x="6146" y="0"/>
                </a:lnTo>
                <a:lnTo>
                  <a:pt x="0" y="6096"/>
                </a:lnTo>
                <a:lnTo>
                  <a:pt x="0" y="21336"/>
                </a:lnTo>
                <a:lnTo>
                  <a:pt x="6146" y="27432"/>
                </a:lnTo>
                <a:lnTo>
                  <a:pt x="21285" y="27432"/>
                </a:lnTo>
                <a:lnTo>
                  <a:pt x="27432" y="21336"/>
                </a:lnTo>
                <a:lnTo>
                  <a:pt x="27432" y="13716"/>
                </a:lnTo>
                <a:lnTo>
                  <a:pt x="27432" y="6096"/>
                </a:lnTo>
                <a:lnTo>
                  <a:pt x="21285" y="0"/>
                </a:lnTo>
                <a:close/>
              </a:path>
            </a:pathLst>
          </a:custGeom>
          <a:solidFill>
            <a:srgbClr val="3C3C3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8134" name="object 21">
            <a:extLst>
              <a:ext uri="{FF2B5EF4-FFF2-40B4-BE49-F238E27FC236}">
                <a16:creationId xmlns:a16="http://schemas.microsoft.com/office/drawing/2014/main" id="{975989A7-9EA8-8508-2104-5C7AAF5DE622}"/>
              </a:ext>
            </a:extLst>
          </p:cNvPr>
          <p:cNvSpPr>
            <a:spLocks/>
          </p:cNvSpPr>
          <p:nvPr/>
        </p:nvSpPr>
        <p:spPr bwMode="auto">
          <a:xfrm>
            <a:off x="554038" y="1100138"/>
            <a:ext cx="28575" cy="26987"/>
          </a:xfrm>
          <a:custGeom>
            <a:avLst/>
            <a:gdLst>
              <a:gd name="T0" fmla="*/ 21769 w 27940"/>
              <a:gd name="T1" fmla="*/ 0 h 27939"/>
              <a:gd name="T2" fmla="*/ 6286 w 27940"/>
              <a:gd name="T3" fmla="*/ 0 h 27939"/>
              <a:gd name="T4" fmla="*/ 0 w 27940"/>
              <a:gd name="T5" fmla="*/ 5888 h 27939"/>
              <a:gd name="T6" fmla="*/ 0 w 27940"/>
              <a:gd name="T7" fmla="*/ 20609 h 27939"/>
              <a:gd name="T8" fmla="*/ 6286 w 27940"/>
              <a:gd name="T9" fmla="*/ 26497 h 27939"/>
              <a:gd name="T10" fmla="*/ 21769 w 27940"/>
              <a:gd name="T11" fmla="*/ 26497 h 27939"/>
              <a:gd name="T12" fmla="*/ 28055 w 27940"/>
              <a:gd name="T13" fmla="*/ 20609 h 27939"/>
              <a:gd name="T14" fmla="*/ 28055 w 27940"/>
              <a:gd name="T15" fmla="*/ 13249 h 27939"/>
              <a:gd name="T16" fmla="*/ 28055 w 27940"/>
              <a:gd name="T17" fmla="*/ 5888 h 27939"/>
              <a:gd name="T18" fmla="*/ 21769 w 27940"/>
              <a:gd name="T19" fmla="*/ 0 h 2793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940" h="27939">
                <a:moveTo>
                  <a:pt x="21285" y="0"/>
                </a:moveTo>
                <a:lnTo>
                  <a:pt x="6146" y="0"/>
                </a:lnTo>
                <a:lnTo>
                  <a:pt x="0" y="6096"/>
                </a:lnTo>
                <a:lnTo>
                  <a:pt x="0" y="21336"/>
                </a:lnTo>
                <a:lnTo>
                  <a:pt x="6146" y="27432"/>
                </a:lnTo>
                <a:lnTo>
                  <a:pt x="21285" y="27432"/>
                </a:lnTo>
                <a:lnTo>
                  <a:pt x="27432" y="21336"/>
                </a:lnTo>
                <a:lnTo>
                  <a:pt x="27432" y="13716"/>
                </a:lnTo>
                <a:lnTo>
                  <a:pt x="27432" y="6096"/>
                </a:lnTo>
                <a:lnTo>
                  <a:pt x="21285" y="0"/>
                </a:lnTo>
                <a:close/>
              </a:path>
            </a:pathLst>
          </a:custGeom>
          <a:solidFill>
            <a:srgbClr val="3C3C3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8135" name="object 22">
            <a:extLst>
              <a:ext uri="{FF2B5EF4-FFF2-40B4-BE49-F238E27FC236}">
                <a16:creationId xmlns:a16="http://schemas.microsoft.com/office/drawing/2014/main" id="{936DC875-EDF8-2970-F63D-9F9E7679FF1C}"/>
              </a:ext>
            </a:extLst>
          </p:cNvPr>
          <p:cNvSpPr>
            <a:spLocks/>
          </p:cNvSpPr>
          <p:nvPr/>
        </p:nvSpPr>
        <p:spPr bwMode="auto">
          <a:xfrm>
            <a:off x="479425" y="1100138"/>
            <a:ext cx="28575" cy="26987"/>
          </a:xfrm>
          <a:custGeom>
            <a:avLst/>
            <a:gdLst>
              <a:gd name="T0" fmla="*/ 21769 w 27940"/>
              <a:gd name="T1" fmla="*/ 0 h 27939"/>
              <a:gd name="T2" fmla="*/ 6286 w 27940"/>
              <a:gd name="T3" fmla="*/ 0 h 27939"/>
              <a:gd name="T4" fmla="*/ 0 w 27940"/>
              <a:gd name="T5" fmla="*/ 5888 h 27939"/>
              <a:gd name="T6" fmla="*/ 0 w 27940"/>
              <a:gd name="T7" fmla="*/ 20609 h 27939"/>
              <a:gd name="T8" fmla="*/ 6286 w 27940"/>
              <a:gd name="T9" fmla="*/ 26497 h 27939"/>
              <a:gd name="T10" fmla="*/ 21769 w 27940"/>
              <a:gd name="T11" fmla="*/ 26497 h 27939"/>
              <a:gd name="T12" fmla="*/ 28055 w 27940"/>
              <a:gd name="T13" fmla="*/ 20609 h 27939"/>
              <a:gd name="T14" fmla="*/ 28055 w 27940"/>
              <a:gd name="T15" fmla="*/ 13249 h 27939"/>
              <a:gd name="T16" fmla="*/ 28055 w 27940"/>
              <a:gd name="T17" fmla="*/ 5888 h 27939"/>
              <a:gd name="T18" fmla="*/ 21769 w 27940"/>
              <a:gd name="T19" fmla="*/ 0 h 2793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940" h="27939">
                <a:moveTo>
                  <a:pt x="21285" y="0"/>
                </a:moveTo>
                <a:lnTo>
                  <a:pt x="6146" y="0"/>
                </a:lnTo>
                <a:lnTo>
                  <a:pt x="0" y="6096"/>
                </a:lnTo>
                <a:lnTo>
                  <a:pt x="0" y="21336"/>
                </a:lnTo>
                <a:lnTo>
                  <a:pt x="6146" y="27432"/>
                </a:lnTo>
                <a:lnTo>
                  <a:pt x="21285" y="27432"/>
                </a:lnTo>
                <a:lnTo>
                  <a:pt x="27432" y="21336"/>
                </a:lnTo>
                <a:lnTo>
                  <a:pt x="27432" y="13716"/>
                </a:lnTo>
                <a:lnTo>
                  <a:pt x="27432" y="6096"/>
                </a:lnTo>
                <a:lnTo>
                  <a:pt x="21285" y="0"/>
                </a:lnTo>
                <a:close/>
              </a:path>
            </a:pathLst>
          </a:custGeom>
          <a:solidFill>
            <a:srgbClr val="3C3C3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7A477549-197E-726D-61B3-B341DE824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90" dirty="0"/>
              <a:t>Bootst</a:t>
            </a:r>
            <a:r>
              <a:rPr spc="-85" dirty="0"/>
              <a:t>r</a:t>
            </a:r>
            <a:r>
              <a:rPr spc="-155" dirty="0"/>
              <a:t>ap</a:t>
            </a:r>
            <a:r>
              <a:rPr spc="-300" dirty="0"/>
              <a:t> </a:t>
            </a:r>
            <a:r>
              <a:rPr spc="-155" dirty="0"/>
              <a:t>Ca</a:t>
            </a:r>
            <a:r>
              <a:rPr spc="-114" dirty="0"/>
              <a:t>r</a:t>
            </a:r>
            <a:r>
              <a:rPr spc="-100" dirty="0"/>
              <a:t>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792ECA-AC54-0236-9A5D-86793F4445ED}"/>
              </a:ext>
            </a:extLst>
          </p:cNvPr>
          <p:cNvSpPr txBox="1"/>
          <p:nvPr/>
        </p:nvSpPr>
        <p:spPr>
          <a:xfrm>
            <a:off x="119634" y="1352197"/>
            <a:ext cx="507726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rgbClr val="374151"/>
                </a:solidFill>
                <a:cs typeface="Arial" panose="020B0604020202020204" pitchFamily="34" charset="0"/>
              </a:rPr>
              <a:t>A card in Bootstrap is a bordered box with some padding around its content.</a:t>
            </a:r>
          </a:p>
          <a:p>
            <a:pPr>
              <a:defRPr/>
            </a:pPr>
            <a:endParaRPr lang="en-US" sz="1800" b="1" dirty="0">
              <a:solidFill>
                <a:srgbClr val="374151"/>
              </a:solidFill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Unified Design</a:t>
            </a:r>
            <a:r>
              <a:rPr lang="en-US" sz="1800" dirty="0">
                <a:solidFill>
                  <a:schemeClr val="accent2"/>
                </a:solidFill>
                <a:cs typeface="Arial" panose="020B0604020202020204" pitchFamily="34" charset="0"/>
              </a:rPr>
              <a:t>: </a:t>
            </a:r>
            <a:r>
              <a:rPr lang="en-US" sz="1800" dirty="0">
                <a:solidFill>
                  <a:srgbClr val="374151"/>
                </a:solidFill>
                <a:cs typeface="Arial" panose="020B0604020202020204" pitchFamily="34" charset="0"/>
              </a:rPr>
              <a:t>Consolidate varying content types (images, text, lists) into a single, consistent design.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Flexibility</a:t>
            </a:r>
            <a:r>
              <a:rPr lang="en-US" sz="1800" dirty="0">
                <a:solidFill>
                  <a:schemeClr val="accent2"/>
                </a:solidFill>
                <a:cs typeface="Arial" panose="020B0604020202020204" pitchFamily="34" charset="0"/>
              </a:rPr>
              <a:t>: </a:t>
            </a:r>
            <a:r>
              <a:rPr lang="en-US" sz="1800" dirty="0">
                <a:solidFill>
                  <a:srgbClr val="374151"/>
                </a:solidFill>
                <a:cs typeface="Arial" panose="020B0604020202020204" pitchFamily="34" charset="0"/>
              </a:rPr>
              <a:t>Multiple sizes, alignments, and styles available. Can contain headers, footers, and various content.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Interactive Components</a:t>
            </a:r>
            <a:r>
              <a:rPr lang="en-US" sz="1800" dirty="0">
                <a:solidFill>
                  <a:schemeClr val="accent2"/>
                </a:solidFill>
                <a:cs typeface="Arial" panose="020B0604020202020204" pitchFamily="34" charset="0"/>
              </a:rPr>
              <a:t>: </a:t>
            </a:r>
            <a:r>
              <a:rPr lang="en-US" sz="1800" dirty="0">
                <a:solidFill>
                  <a:srgbClr val="374151"/>
                </a:solidFill>
                <a:cs typeface="Arial" panose="020B0604020202020204" pitchFamily="34" charset="0"/>
              </a:rPr>
              <a:t>Incorporate buttons, links, and other interactive elements seamlessly.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800" b="1" dirty="0">
                <a:solidFill>
                  <a:schemeClr val="accent2"/>
                </a:solidFill>
                <a:cs typeface="Arial" panose="020B0604020202020204" pitchFamily="34" charset="0"/>
              </a:rPr>
              <a:t>Responsive</a:t>
            </a:r>
            <a:r>
              <a:rPr lang="en-US" sz="1800" dirty="0">
                <a:solidFill>
                  <a:srgbClr val="374151"/>
                </a:solidFill>
                <a:cs typeface="Arial" panose="020B0604020202020204" pitchFamily="34" charset="0"/>
              </a:rPr>
              <a:t>: Adapts to various screen sizes ensuring content is always legible and looks professional.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800" b="1" dirty="0" err="1">
                <a:solidFill>
                  <a:schemeClr val="accent2"/>
                </a:solidFill>
                <a:cs typeface="Arial" panose="020B0604020202020204" pitchFamily="34" charset="0"/>
              </a:rPr>
              <a:t>Customisable</a:t>
            </a:r>
            <a:r>
              <a:rPr lang="en-US" sz="1800" dirty="0">
                <a:solidFill>
                  <a:schemeClr val="accent2"/>
                </a:solidFill>
                <a:cs typeface="Arial" panose="020B0604020202020204" pitchFamily="34" charset="0"/>
              </a:rPr>
              <a:t>: </a:t>
            </a:r>
            <a:r>
              <a:rPr lang="en-US" sz="1800" dirty="0">
                <a:solidFill>
                  <a:srgbClr val="374151"/>
                </a:solidFill>
                <a:cs typeface="Arial" panose="020B0604020202020204" pitchFamily="34" charset="0"/>
              </a:rPr>
              <a:t>Easy to modify with CSS to match any brand or design aesthetic.</a:t>
            </a: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endParaRPr lang="en-GB" sz="1600" dirty="0">
              <a:cs typeface="Arial" panose="020B0604020202020204" pitchFamily="34" charset="0"/>
            </a:endParaRPr>
          </a:p>
        </p:txBody>
      </p:sp>
      <p:pic>
        <p:nvPicPr>
          <p:cNvPr id="48138" name="Picture 3">
            <a:extLst>
              <a:ext uri="{FF2B5EF4-FFF2-40B4-BE49-F238E27FC236}">
                <a16:creationId xmlns:a16="http://schemas.microsoft.com/office/drawing/2014/main" id="{5EE3C707-A9D5-E966-9F26-57FCFA18F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903" y="2636912"/>
            <a:ext cx="3827463" cy="28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31">
            <a:extLst>
              <a:ext uri="{FF2B5EF4-FFF2-40B4-BE49-F238E27FC236}">
                <a16:creationId xmlns:a16="http://schemas.microsoft.com/office/drawing/2014/main" id="{A08273C4-5E4A-FA31-5E67-B998BD4356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190" dirty="0"/>
              <a:t>Car</a:t>
            </a:r>
            <a:r>
              <a:rPr spc="-204" dirty="0"/>
              <a:t>d</a:t>
            </a:r>
            <a:r>
              <a:rPr spc="-265" dirty="0"/>
              <a:t> </a:t>
            </a:r>
            <a:r>
              <a:rPr spc="-204" dirty="0"/>
              <a:t>Conte</a:t>
            </a:r>
            <a:r>
              <a:rPr spc="-210" dirty="0"/>
              <a:t>n</a:t>
            </a:r>
            <a:r>
              <a:rPr spc="-15" dirty="0"/>
              <a:t>t</a:t>
            </a:r>
            <a:r>
              <a:rPr spc="-250" dirty="0"/>
              <a:t> </a:t>
            </a:r>
            <a:r>
              <a:rPr spc="-340" dirty="0"/>
              <a:t>T</a:t>
            </a:r>
            <a:r>
              <a:rPr spc="-285" dirty="0"/>
              <a:t>y</a:t>
            </a:r>
            <a:r>
              <a:rPr spc="-215" dirty="0"/>
              <a:t>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C76BB4-56E1-65F4-B738-CACAE4F0544F}"/>
              </a:ext>
            </a:extLst>
          </p:cNvPr>
          <p:cNvSpPr txBox="1"/>
          <p:nvPr/>
        </p:nvSpPr>
        <p:spPr>
          <a:xfrm>
            <a:off x="103188" y="1328703"/>
            <a:ext cx="5116512" cy="5157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>
              <a:spcBef>
                <a:spcPts val="95"/>
              </a:spcBef>
              <a:buClr>
                <a:srgbClr val="77C5FB"/>
              </a:buClr>
              <a:tabLst>
                <a:tab pos="342892" algn="l"/>
                <a:tab pos="343526" algn="l"/>
              </a:tabLst>
              <a:defRPr/>
            </a:pPr>
            <a:r>
              <a:rPr lang="en-US" sz="1800" b="1" spc="-110" dirty="0">
                <a:cs typeface="Arial" panose="020B0604020202020204" pitchFamily="34" charset="0"/>
              </a:rPr>
              <a:t>Content Types: </a:t>
            </a:r>
            <a:r>
              <a:rPr lang="en-US" sz="1800" spc="-110" dirty="0">
                <a:cs typeface="Arial" panose="020B0604020202020204" pitchFamily="34" charset="0"/>
              </a:rPr>
              <a:t>Cards support a wide variety of content, including images, text, list groups, links, and more.</a:t>
            </a:r>
          </a:p>
          <a:p>
            <a:pPr marL="12065">
              <a:spcBef>
                <a:spcPts val="95"/>
              </a:spcBef>
              <a:buClr>
                <a:srgbClr val="77C5FB"/>
              </a:buClr>
              <a:tabLst>
                <a:tab pos="342892" algn="l"/>
                <a:tab pos="343526" algn="l"/>
              </a:tabLst>
              <a:defRPr/>
            </a:pPr>
            <a:endParaRPr lang="en-US" sz="1800" spc="-110" dirty="0">
              <a:cs typeface="Arial" panose="020B0604020202020204" pitchFamily="34" charset="0"/>
            </a:endParaRPr>
          </a:p>
          <a:p>
            <a:pPr marL="12065">
              <a:spcBef>
                <a:spcPts val="95"/>
              </a:spcBef>
              <a:buClr>
                <a:srgbClr val="77C5FB"/>
              </a:buClr>
              <a:tabLst>
                <a:tab pos="342892" algn="l"/>
                <a:tab pos="343526" algn="l"/>
              </a:tabLst>
              <a:defRPr/>
            </a:pPr>
            <a:r>
              <a:rPr lang="en-US" sz="1800" b="1" spc="-110" dirty="0">
                <a:cs typeface="Arial" panose="020B0604020202020204" pitchFamily="34" charset="0"/>
              </a:rPr>
              <a:t>Subcomponents</a:t>
            </a:r>
            <a:r>
              <a:rPr lang="en-US" sz="1800" spc="-110" dirty="0">
                <a:cs typeface="Arial" panose="020B0604020202020204" pitchFamily="34" charset="0"/>
              </a:rPr>
              <a:t>: There are various subcomponents you can include:</a:t>
            </a:r>
          </a:p>
          <a:p>
            <a:pPr marL="12065">
              <a:spcBef>
                <a:spcPts val="95"/>
              </a:spcBef>
              <a:buClr>
                <a:srgbClr val="77C5FB"/>
              </a:buClr>
              <a:tabLst>
                <a:tab pos="342892" algn="l"/>
                <a:tab pos="343526" algn="l"/>
              </a:tabLst>
              <a:defRPr/>
            </a:pPr>
            <a:endParaRPr lang="en-US" sz="1800" spc="-110" dirty="0">
              <a:cs typeface="Arial" panose="020B0604020202020204" pitchFamily="34" charset="0"/>
            </a:endParaRPr>
          </a:p>
          <a:p>
            <a:pPr marL="297815" indent="-285750">
              <a:spcBef>
                <a:spcPts val="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42892" algn="l"/>
                <a:tab pos="343526" algn="l"/>
              </a:tabLst>
              <a:defRPr/>
            </a:pPr>
            <a:r>
              <a:rPr lang="en-US" sz="1800" spc="-110" dirty="0">
                <a:solidFill>
                  <a:schemeClr val="accent2"/>
                </a:solidFill>
                <a:cs typeface="Arial" panose="020B0604020202020204" pitchFamily="34" charset="0"/>
              </a:rPr>
              <a:t>card-header: </a:t>
            </a:r>
            <a:r>
              <a:rPr lang="en-US" sz="1800" spc="-110" dirty="0">
                <a:cs typeface="Arial" panose="020B0604020202020204" pitchFamily="34" charset="0"/>
              </a:rPr>
              <a:t>A header section.</a:t>
            </a:r>
          </a:p>
          <a:p>
            <a:pPr marL="297815" indent="-285750">
              <a:spcBef>
                <a:spcPts val="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42892" algn="l"/>
                <a:tab pos="343526" algn="l"/>
              </a:tabLst>
              <a:defRPr/>
            </a:pPr>
            <a:r>
              <a:rPr lang="en-US" sz="1800" spc="-110" dirty="0">
                <a:solidFill>
                  <a:schemeClr val="accent2"/>
                </a:solidFill>
                <a:cs typeface="Arial" panose="020B0604020202020204" pitchFamily="34" charset="0"/>
              </a:rPr>
              <a:t>card-body: </a:t>
            </a:r>
            <a:r>
              <a:rPr lang="en-US" sz="1800" spc="-110" dirty="0">
                <a:cs typeface="Arial" panose="020B0604020202020204" pitchFamily="34" charset="0"/>
              </a:rPr>
              <a:t>Main content area for short descriptions.</a:t>
            </a:r>
          </a:p>
          <a:p>
            <a:pPr marL="297815" indent="-285750">
              <a:spcBef>
                <a:spcPts val="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42892" algn="l"/>
                <a:tab pos="343526" algn="l"/>
              </a:tabLst>
              <a:defRPr/>
            </a:pPr>
            <a:r>
              <a:rPr lang="en-US" sz="1800" spc="-110" dirty="0">
                <a:solidFill>
                  <a:schemeClr val="accent2"/>
                </a:solidFill>
                <a:cs typeface="Arial" panose="020B0604020202020204" pitchFamily="34" charset="0"/>
              </a:rPr>
              <a:t>card-title and card-subtitle: </a:t>
            </a:r>
            <a:r>
              <a:rPr lang="en-US" sz="1800" spc="-110" dirty="0">
                <a:cs typeface="Arial" panose="020B0604020202020204" pitchFamily="34" charset="0"/>
              </a:rPr>
              <a:t>Title and subtitle for the content.</a:t>
            </a:r>
          </a:p>
          <a:p>
            <a:pPr marL="297815" indent="-285750">
              <a:spcBef>
                <a:spcPts val="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42892" algn="l"/>
                <a:tab pos="343526" algn="l"/>
              </a:tabLst>
              <a:defRPr/>
            </a:pPr>
            <a:r>
              <a:rPr lang="en-US" sz="1800" spc="-110" dirty="0">
                <a:solidFill>
                  <a:schemeClr val="accent2"/>
                </a:solidFill>
                <a:cs typeface="Arial" panose="020B0604020202020204" pitchFamily="34" charset="0"/>
              </a:rPr>
              <a:t>card-text: </a:t>
            </a:r>
            <a:r>
              <a:rPr lang="en-US" sz="1800" spc="-110" dirty="0">
                <a:cs typeface="Arial" panose="020B0604020202020204" pitchFamily="34" charset="0"/>
              </a:rPr>
              <a:t>Additional text content.</a:t>
            </a:r>
          </a:p>
          <a:p>
            <a:pPr marL="297815" indent="-285750">
              <a:spcBef>
                <a:spcPts val="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42892" algn="l"/>
                <a:tab pos="343526" algn="l"/>
              </a:tabLst>
              <a:defRPr/>
            </a:pPr>
            <a:r>
              <a:rPr lang="en-US" sz="1800" spc="-110" dirty="0">
                <a:solidFill>
                  <a:schemeClr val="accent2"/>
                </a:solidFill>
                <a:cs typeface="Arial" panose="020B0604020202020204" pitchFamily="34" charset="0"/>
              </a:rPr>
              <a:t>card-link: </a:t>
            </a:r>
            <a:r>
              <a:rPr lang="en-US" sz="1800" spc="-110" dirty="0">
                <a:cs typeface="Arial" panose="020B0604020202020204" pitchFamily="34" charset="0"/>
              </a:rPr>
              <a:t>Links you can add to a card.</a:t>
            </a:r>
          </a:p>
          <a:p>
            <a:pPr marL="297815" indent="-285750">
              <a:spcBef>
                <a:spcPts val="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42892" algn="l"/>
                <a:tab pos="343526" algn="l"/>
              </a:tabLst>
              <a:defRPr/>
            </a:pPr>
            <a:r>
              <a:rPr lang="en-US" sz="1800" spc="-110" dirty="0">
                <a:solidFill>
                  <a:schemeClr val="accent2"/>
                </a:solidFill>
                <a:cs typeface="Arial" panose="020B0604020202020204" pitchFamily="34" charset="0"/>
              </a:rPr>
              <a:t>card-footer: </a:t>
            </a:r>
            <a:r>
              <a:rPr lang="en-US" sz="1800" spc="-110" dirty="0">
                <a:cs typeface="Arial" panose="020B0604020202020204" pitchFamily="34" charset="0"/>
              </a:rPr>
              <a:t>A footer section.</a:t>
            </a:r>
          </a:p>
          <a:p>
            <a:pPr marL="297815" indent="-285750">
              <a:spcBef>
                <a:spcPts val="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42892" algn="l"/>
                <a:tab pos="343526" algn="l"/>
              </a:tabLst>
              <a:defRPr/>
            </a:pPr>
            <a:r>
              <a:rPr lang="en-US" sz="1800" spc="-110" dirty="0">
                <a:solidFill>
                  <a:schemeClr val="accent2"/>
                </a:solidFill>
                <a:cs typeface="Arial" panose="020B0604020202020204" pitchFamily="34" charset="0"/>
              </a:rPr>
              <a:t>card-</a:t>
            </a:r>
            <a:r>
              <a:rPr lang="en-US" sz="1800" spc="-110" dirty="0" err="1">
                <a:solidFill>
                  <a:schemeClr val="accent2"/>
                </a:solidFill>
                <a:cs typeface="Arial" panose="020B0604020202020204" pitchFamily="34" charset="0"/>
              </a:rPr>
              <a:t>img</a:t>
            </a:r>
            <a:r>
              <a:rPr lang="en-US" sz="1800" spc="-110" dirty="0">
                <a:solidFill>
                  <a:schemeClr val="accent2"/>
                </a:solidFill>
                <a:cs typeface="Arial" panose="020B0604020202020204" pitchFamily="34" charset="0"/>
              </a:rPr>
              <a:t>-top and card-</a:t>
            </a:r>
            <a:r>
              <a:rPr lang="en-US" sz="1800" spc="-110" dirty="0" err="1">
                <a:solidFill>
                  <a:schemeClr val="accent2"/>
                </a:solidFill>
                <a:cs typeface="Arial" panose="020B0604020202020204" pitchFamily="34" charset="0"/>
              </a:rPr>
              <a:t>img</a:t>
            </a:r>
            <a:r>
              <a:rPr lang="en-US" sz="1800" spc="-110" dirty="0">
                <a:solidFill>
                  <a:schemeClr val="accent2"/>
                </a:solidFill>
                <a:cs typeface="Arial" panose="020B0604020202020204" pitchFamily="34" charset="0"/>
              </a:rPr>
              <a:t>-bottom: </a:t>
            </a:r>
            <a:r>
              <a:rPr lang="en-US" sz="1800" spc="-110" dirty="0">
                <a:cs typeface="Arial" panose="020B0604020202020204" pitchFamily="34" charset="0"/>
              </a:rPr>
              <a:t>For placing images at the top or bottom of a card.</a:t>
            </a:r>
          </a:p>
          <a:p>
            <a:pPr marL="12065">
              <a:spcBef>
                <a:spcPts val="95"/>
              </a:spcBef>
              <a:buClr>
                <a:srgbClr val="77C5FB"/>
              </a:buClr>
              <a:tabLst>
                <a:tab pos="342892" algn="l"/>
                <a:tab pos="343526" algn="l"/>
              </a:tabLst>
              <a:defRPr/>
            </a:pPr>
            <a:endParaRPr lang="en-US" sz="1600" spc="-110" dirty="0">
              <a:cs typeface="Arial" panose="020B0604020202020204" pitchFamily="34" charset="0"/>
            </a:endParaRPr>
          </a:p>
          <a:p>
            <a:pPr>
              <a:defRPr/>
            </a:pPr>
            <a:endParaRPr lang="en-GB" sz="1600" dirty="0"/>
          </a:p>
        </p:txBody>
      </p:sp>
      <p:pic>
        <p:nvPicPr>
          <p:cNvPr id="49156" name="object 33">
            <a:extLst>
              <a:ext uri="{FF2B5EF4-FFF2-40B4-BE49-F238E27FC236}">
                <a16:creationId xmlns:a16="http://schemas.microsoft.com/office/drawing/2014/main" id="{DAF1B8B4-86E3-3D9E-A287-9FAE8D284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628800"/>
            <a:ext cx="3964756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object 28">
            <a:extLst>
              <a:ext uri="{FF2B5EF4-FFF2-40B4-BE49-F238E27FC236}">
                <a16:creationId xmlns:a16="http://schemas.microsoft.com/office/drawing/2014/main" id="{37179225-035C-C89E-4135-E2E693CC116E}"/>
              </a:ext>
            </a:extLst>
          </p:cNvPr>
          <p:cNvGrpSpPr>
            <a:grpSpLocks/>
          </p:cNvGrpSpPr>
          <p:nvPr/>
        </p:nvGrpSpPr>
        <p:grpSpPr bwMode="auto">
          <a:xfrm>
            <a:off x="0" y="1476376"/>
            <a:ext cx="8959850" cy="4616920"/>
            <a:chOff x="300227" y="883919"/>
            <a:chExt cx="8659369" cy="3672840"/>
          </a:xfrm>
        </p:grpSpPr>
        <p:pic>
          <p:nvPicPr>
            <p:cNvPr id="50181" name="object 30">
              <a:extLst>
                <a:ext uri="{FF2B5EF4-FFF2-40B4-BE49-F238E27FC236}">
                  <a16:creationId xmlns:a16="http://schemas.microsoft.com/office/drawing/2014/main" id="{43E28D6E-D0C0-6CC4-CF20-94B7218A00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8304" y="3124199"/>
              <a:ext cx="4241292" cy="1432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182" name="object 31">
              <a:extLst>
                <a:ext uri="{FF2B5EF4-FFF2-40B4-BE49-F238E27FC236}">
                  <a16:creationId xmlns:a16="http://schemas.microsoft.com/office/drawing/2014/main" id="{1825F625-2837-6A09-CAB1-5AC48542B5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1595" y="2017775"/>
              <a:ext cx="4108704" cy="1475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183" name="object 32">
              <a:extLst>
                <a:ext uri="{FF2B5EF4-FFF2-40B4-BE49-F238E27FC236}">
                  <a16:creationId xmlns:a16="http://schemas.microsoft.com/office/drawing/2014/main" id="{9F2AA51A-F8FC-E302-3B43-EB0D8605CB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227" y="883919"/>
              <a:ext cx="2993136" cy="1624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3CF7A156-B951-7642-729C-CD758466B1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190" dirty="0"/>
              <a:t>Car</a:t>
            </a:r>
            <a:r>
              <a:rPr spc="-204" dirty="0"/>
              <a:t>d</a:t>
            </a:r>
            <a:r>
              <a:rPr spc="-280" dirty="0"/>
              <a:t> </a:t>
            </a:r>
            <a:r>
              <a:rPr spc="-250" dirty="0"/>
              <a:t>S</a:t>
            </a:r>
            <a:r>
              <a:rPr spc="-110" dirty="0"/>
              <a:t>izing</a:t>
            </a:r>
          </a:p>
        </p:txBody>
      </p:sp>
      <p:sp>
        <p:nvSpPr>
          <p:cNvPr id="50180" name="TextBox 1">
            <a:extLst>
              <a:ext uri="{FF2B5EF4-FFF2-40B4-BE49-F238E27FC236}">
                <a16:creationId xmlns:a16="http://schemas.microsoft.com/office/drawing/2014/main" id="{FFE77AC7-90E6-3834-5D08-FC7D95F17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476375"/>
            <a:ext cx="539591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1" dirty="0">
                <a:solidFill>
                  <a:schemeClr val="accent2"/>
                </a:solidFill>
              </a:rPr>
              <a:t>Sizing and Alignment: </a:t>
            </a:r>
            <a:r>
              <a:rPr lang="en-US" altLang="en-US" sz="2000" dirty="0"/>
              <a:t>There are classes to modify the default look, align content, and stretch or squeeze the cards to make them fit your layout needs.</a:t>
            </a:r>
            <a:endParaRPr lang="en-GB" alt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D639AFD8-5CD8-47C1-1927-1AA379B77B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190" dirty="0"/>
              <a:t>Car</a:t>
            </a:r>
            <a:r>
              <a:rPr spc="-204" dirty="0"/>
              <a:t>d</a:t>
            </a:r>
            <a:r>
              <a:rPr spc="-280" dirty="0"/>
              <a:t> </a:t>
            </a:r>
            <a:r>
              <a:rPr spc="-450" dirty="0"/>
              <a:t>T</a:t>
            </a:r>
            <a:r>
              <a:rPr spc="-150" dirty="0"/>
              <a:t>ex</a:t>
            </a:r>
            <a:r>
              <a:rPr spc="-95" dirty="0"/>
              <a:t>t</a:t>
            </a:r>
            <a:r>
              <a:rPr spc="-275" dirty="0"/>
              <a:t> </a:t>
            </a:r>
            <a:r>
              <a:rPr spc="-145" dirty="0"/>
              <a:t>Alignment</a:t>
            </a:r>
          </a:p>
        </p:txBody>
      </p:sp>
      <p:pic>
        <p:nvPicPr>
          <p:cNvPr id="51204" name="object 7">
            <a:extLst>
              <a:ext uri="{FF2B5EF4-FFF2-40B4-BE49-F238E27FC236}">
                <a16:creationId xmlns:a16="http://schemas.microsoft.com/office/drawing/2014/main" id="{26DD0234-FFB2-0599-3A72-B7F74A459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824"/>
            <a:ext cx="6995308" cy="3969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854" y="1078309"/>
            <a:ext cx="3252507" cy="15330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581" y="4437112"/>
            <a:ext cx="3059832" cy="152017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40">
            <a:extLst>
              <a:ext uri="{FF2B5EF4-FFF2-40B4-BE49-F238E27FC236}">
                <a16:creationId xmlns:a16="http://schemas.microsoft.com/office/drawing/2014/main" id="{E51AECB8-5139-1762-2A89-760EE3A44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3335">
              <a:spcBef>
                <a:spcPts val="95"/>
              </a:spcBef>
              <a:defRPr/>
            </a:pPr>
            <a:r>
              <a:rPr spc="-190" dirty="0"/>
              <a:t>Car</a:t>
            </a:r>
            <a:r>
              <a:rPr spc="-204" dirty="0"/>
              <a:t>d</a:t>
            </a:r>
            <a:r>
              <a:rPr spc="-280" dirty="0"/>
              <a:t> </a:t>
            </a:r>
            <a:r>
              <a:rPr spc="-290" dirty="0"/>
              <a:t>I</a:t>
            </a:r>
            <a:r>
              <a:rPr spc="-210" dirty="0"/>
              <a:t>mages</a:t>
            </a:r>
          </a:p>
        </p:txBody>
      </p:sp>
      <p:sp>
        <p:nvSpPr>
          <p:cNvPr id="95247" name="Content Placeholder 47">
            <a:extLst>
              <a:ext uri="{FF2B5EF4-FFF2-40B4-BE49-F238E27FC236}">
                <a16:creationId xmlns:a16="http://schemas.microsoft.com/office/drawing/2014/main" id="{D32E9517-2D73-C4CC-290B-8EA04A2304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2875" y="1512888"/>
            <a:ext cx="8856663" cy="431958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z="24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.card-</a:t>
            </a:r>
            <a:r>
              <a:rPr lang="en-US" altLang="en-US" sz="2400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img</a:t>
            </a:r>
            <a:r>
              <a:rPr lang="en-US" altLang="en-US" sz="24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is used for adding images to cards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z="24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.card-</a:t>
            </a:r>
            <a:r>
              <a:rPr lang="en-US" altLang="en-US" sz="2400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img</a:t>
            </a:r>
            <a:r>
              <a:rPr lang="en-US" altLang="en-US" sz="24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is typically used in conjunction with the </a:t>
            </a:r>
            <a:r>
              <a:rPr lang="en-US" altLang="en-US" sz="24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.card-</a:t>
            </a:r>
            <a:r>
              <a:rPr lang="en-US" altLang="en-US" sz="2400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img</a:t>
            </a:r>
            <a:r>
              <a:rPr lang="en-US" altLang="en-US" sz="2400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-overlay </a:t>
            </a: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to display content on top of the image.</a:t>
            </a:r>
          </a:p>
          <a:p>
            <a:pPr>
              <a:defRPr/>
            </a:pPr>
            <a:endParaRPr lang="en-US" altLang="en-US" sz="18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228" name="Group 4">
            <a:extLst>
              <a:ext uri="{FF2B5EF4-FFF2-40B4-BE49-F238E27FC236}">
                <a16:creationId xmlns:a16="http://schemas.microsoft.com/office/drawing/2014/main" id="{56C29C9D-C602-9FDE-7828-A8F858460255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068638"/>
            <a:ext cx="7559675" cy="2846387"/>
            <a:chOff x="449110" y="3280884"/>
            <a:chExt cx="7561210" cy="2846488"/>
          </a:xfrm>
        </p:grpSpPr>
        <p:grpSp>
          <p:nvGrpSpPr>
            <p:cNvPr id="52229" name="object 41">
              <a:extLst>
                <a:ext uri="{FF2B5EF4-FFF2-40B4-BE49-F238E27FC236}">
                  <a16:creationId xmlns:a16="http://schemas.microsoft.com/office/drawing/2014/main" id="{78D7DF95-B7C9-6CB9-6004-DE28457BB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3401" y="3407574"/>
              <a:ext cx="3386919" cy="2719798"/>
              <a:chOff x="4802886" y="1358645"/>
              <a:chExt cx="3386328" cy="2720340"/>
            </a:xfrm>
          </p:grpSpPr>
          <p:pic>
            <p:nvPicPr>
              <p:cNvPr id="52231" name="object 42">
                <a:extLst>
                  <a:ext uri="{FF2B5EF4-FFF2-40B4-BE49-F238E27FC236}">
                    <a16:creationId xmlns:a16="http://schemas.microsoft.com/office/drawing/2014/main" id="{49193B1B-3AD4-0988-B3F8-C1799CBA6A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86044" y="1377695"/>
                <a:ext cx="2484120" cy="2682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232" name="object 43">
                <a:extLst>
                  <a:ext uri="{FF2B5EF4-FFF2-40B4-BE49-F238E27FC236}">
                    <a16:creationId xmlns:a16="http://schemas.microsoft.com/office/drawing/2014/main" id="{36CC4E76-CC65-7567-9BE4-5D7473CF5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6994" y="1358645"/>
                <a:ext cx="2522220" cy="2720340"/>
              </a:xfrm>
              <a:custGeom>
                <a:avLst/>
                <a:gdLst>
                  <a:gd name="T0" fmla="*/ 0 w 2522220"/>
                  <a:gd name="T1" fmla="*/ 2720340 h 2720340"/>
                  <a:gd name="T2" fmla="*/ 2522220 w 2522220"/>
                  <a:gd name="T3" fmla="*/ 2720340 h 2720340"/>
                  <a:gd name="T4" fmla="*/ 2522220 w 2522220"/>
                  <a:gd name="T5" fmla="*/ 0 h 2720340"/>
                  <a:gd name="T6" fmla="*/ 0 w 2522220"/>
                  <a:gd name="T7" fmla="*/ 0 h 2720340"/>
                  <a:gd name="T8" fmla="*/ 0 w 2522220"/>
                  <a:gd name="T9" fmla="*/ 2720340 h 27203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2220" h="2720340">
                    <a:moveTo>
                      <a:pt x="0" y="2720340"/>
                    </a:moveTo>
                    <a:lnTo>
                      <a:pt x="2522220" y="2720340"/>
                    </a:lnTo>
                    <a:lnTo>
                      <a:pt x="2522220" y="0"/>
                    </a:lnTo>
                    <a:lnTo>
                      <a:pt x="0" y="0"/>
                    </a:lnTo>
                    <a:lnTo>
                      <a:pt x="0" y="2720340"/>
                    </a:lnTo>
                    <a:close/>
                  </a:path>
                </a:pathLst>
              </a:custGeom>
              <a:noFill/>
              <a:ln w="38100">
                <a:solidFill>
                  <a:srgbClr val="A8DBF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GB"/>
              </a:p>
            </p:txBody>
          </p:sp>
          <p:pic>
            <p:nvPicPr>
              <p:cNvPr id="52233" name="object 46">
                <a:extLst>
                  <a:ext uri="{FF2B5EF4-FFF2-40B4-BE49-F238E27FC236}">
                    <a16:creationId xmlns:a16="http://schemas.microsoft.com/office/drawing/2014/main" id="{AE0D0F7F-2871-19EC-1668-B4DEAEBEFF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2886" y="1835658"/>
                <a:ext cx="848867" cy="219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234" name="object 47">
                <a:extLst>
                  <a:ext uri="{FF2B5EF4-FFF2-40B4-BE49-F238E27FC236}">
                    <a16:creationId xmlns:a16="http://schemas.microsoft.com/office/drawing/2014/main" id="{3118CC51-4169-067C-A233-1C5029E7E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2886" y="1835658"/>
                <a:ext cx="848994" cy="219710"/>
              </a:xfrm>
              <a:custGeom>
                <a:avLst/>
                <a:gdLst>
                  <a:gd name="T0" fmla="*/ 0 w 848995"/>
                  <a:gd name="T1" fmla="*/ 54863 h 219710"/>
                  <a:gd name="T2" fmla="*/ 739138 w 848995"/>
                  <a:gd name="T3" fmla="*/ 54863 h 219710"/>
                  <a:gd name="T4" fmla="*/ 739138 w 848995"/>
                  <a:gd name="T5" fmla="*/ 0 h 219710"/>
                  <a:gd name="T6" fmla="*/ 848866 w 848995"/>
                  <a:gd name="T7" fmla="*/ 109727 h 219710"/>
                  <a:gd name="T8" fmla="*/ 739138 w 848995"/>
                  <a:gd name="T9" fmla="*/ 219455 h 219710"/>
                  <a:gd name="T10" fmla="*/ 739138 w 848995"/>
                  <a:gd name="T11" fmla="*/ 164591 h 219710"/>
                  <a:gd name="T12" fmla="*/ 0 w 848995"/>
                  <a:gd name="T13" fmla="*/ 164591 h 219710"/>
                  <a:gd name="T14" fmla="*/ 0 w 848995"/>
                  <a:gd name="T15" fmla="*/ 54863 h 21971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48995" h="219710">
                    <a:moveTo>
                      <a:pt x="0" y="54863"/>
                    </a:moveTo>
                    <a:lnTo>
                      <a:pt x="739139" y="54863"/>
                    </a:lnTo>
                    <a:lnTo>
                      <a:pt x="739139" y="0"/>
                    </a:lnTo>
                    <a:lnTo>
                      <a:pt x="848867" y="109727"/>
                    </a:lnTo>
                    <a:lnTo>
                      <a:pt x="739139" y="219455"/>
                    </a:lnTo>
                    <a:lnTo>
                      <a:pt x="739139" y="164591"/>
                    </a:lnTo>
                    <a:lnTo>
                      <a:pt x="0" y="164591"/>
                    </a:lnTo>
                    <a:lnTo>
                      <a:pt x="0" y="54863"/>
                    </a:lnTo>
                    <a:close/>
                  </a:path>
                </a:pathLst>
              </a:custGeom>
              <a:noFill/>
              <a:ln w="25400">
                <a:solidFill>
                  <a:srgbClr val="5591B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GB"/>
              </a:p>
            </p:txBody>
          </p:sp>
        </p:grpSp>
        <p:pic>
          <p:nvPicPr>
            <p:cNvPr id="52230" name="Picture 3">
              <a:extLst>
                <a:ext uri="{FF2B5EF4-FFF2-40B4-BE49-F238E27FC236}">
                  <a16:creationId xmlns:a16="http://schemas.microsoft.com/office/drawing/2014/main" id="{A48DE5FA-45AE-B16A-2370-36557BDA3B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110" y="3280884"/>
              <a:ext cx="4122890" cy="172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object 2">
            <a:extLst>
              <a:ext uri="{FF2B5EF4-FFF2-40B4-BE49-F238E27FC236}">
                <a16:creationId xmlns:a16="http://schemas.microsoft.com/office/drawing/2014/main" id="{E59775F1-DD1A-E589-5EC1-5C152DEE94AE}"/>
              </a:ext>
            </a:extLst>
          </p:cNvPr>
          <p:cNvGrpSpPr>
            <a:grpSpLocks/>
          </p:cNvGrpSpPr>
          <p:nvPr/>
        </p:nvGrpSpPr>
        <p:grpSpPr bwMode="auto">
          <a:xfrm>
            <a:off x="334963" y="2747963"/>
            <a:ext cx="8809037" cy="3767137"/>
            <a:chOff x="339852" y="1328927"/>
            <a:chExt cx="8809355" cy="3766185"/>
          </a:xfrm>
        </p:grpSpPr>
        <p:pic>
          <p:nvPicPr>
            <p:cNvPr id="53253" name="object 3">
              <a:extLst>
                <a:ext uri="{FF2B5EF4-FFF2-40B4-BE49-F238E27FC236}">
                  <a16:creationId xmlns:a16="http://schemas.microsoft.com/office/drawing/2014/main" id="{9FD60BCB-603D-36C7-70DA-0F050AF68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852" y="1328927"/>
              <a:ext cx="5059680" cy="2656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254" name="object 4">
              <a:extLst>
                <a:ext uri="{FF2B5EF4-FFF2-40B4-BE49-F238E27FC236}">
                  <a16:creationId xmlns:a16="http://schemas.microsoft.com/office/drawing/2014/main" id="{57BFEC12-86E6-58EE-45A7-B13506CF3B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3672" y="2572511"/>
              <a:ext cx="4317491" cy="2061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55" name="object 5">
              <a:extLst>
                <a:ext uri="{FF2B5EF4-FFF2-40B4-BE49-F238E27FC236}">
                  <a16:creationId xmlns:a16="http://schemas.microsoft.com/office/drawing/2014/main" id="{2EDD2213-A6EC-545A-0909-8E0198B0B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622" y="2553461"/>
              <a:ext cx="4356100" cy="2100580"/>
            </a:xfrm>
            <a:custGeom>
              <a:avLst/>
              <a:gdLst>
                <a:gd name="T0" fmla="*/ 0 w 4356100"/>
                <a:gd name="T1" fmla="*/ 2100073 h 2100579"/>
                <a:gd name="T2" fmla="*/ 4355591 w 4356100"/>
                <a:gd name="T3" fmla="*/ 2100073 h 2100579"/>
                <a:gd name="T4" fmla="*/ 4355591 w 4356100"/>
                <a:gd name="T5" fmla="*/ 0 h 2100579"/>
                <a:gd name="T6" fmla="*/ 0 w 4356100"/>
                <a:gd name="T7" fmla="*/ 0 h 2100579"/>
                <a:gd name="T8" fmla="*/ 0 w 4356100"/>
                <a:gd name="T9" fmla="*/ 2100073 h 21005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56100" h="2100579">
                  <a:moveTo>
                    <a:pt x="0" y="2100072"/>
                  </a:moveTo>
                  <a:lnTo>
                    <a:pt x="4355591" y="2100072"/>
                  </a:lnTo>
                  <a:lnTo>
                    <a:pt x="4355591" y="0"/>
                  </a:lnTo>
                  <a:lnTo>
                    <a:pt x="0" y="0"/>
                  </a:lnTo>
                  <a:lnTo>
                    <a:pt x="0" y="2100072"/>
                  </a:lnTo>
                  <a:close/>
                </a:path>
              </a:pathLst>
            </a:custGeom>
            <a:noFill/>
            <a:ln w="38100">
              <a:solidFill>
                <a:srgbClr val="A8DBF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BE41AE9-B9D2-A3A3-F275-CA55202B18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155" dirty="0"/>
              <a:t>Hori</a:t>
            </a:r>
            <a:r>
              <a:rPr spc="-140" dirty="0"/>
              <a:t>z</a:t>
            </a:r>
            <a:r>
              <a:rPr spc="-110" dirty="0"/>
              <a:t>ontal</a:t>
            </a:r>
            <a:r>
              <a:rPr spc="-250" dirty="0"/>
              <a:t> </a:t>
            </a:r>
            <a:r>
              <a:rPr spc="-195" dirty="0"/>
              <a:t>Card</a:t>
            </a:r>
          </a:p>
        </p:txBody>
      </p:sp>
      <p:sp>
        <p:nvSpPr>
          <p:cNvPr id="53252" name="TextBox 1">
            <a:extLst>
              <a:ext uri="{FF2B5EF4-FFF2-40B4-BE49-F238E27FC236}">
                <a16:creationId xmlns:a16="http://schemas.microsoft.com/office/drawing/2014/main" id="{1F1641F8-7F6B-746A-F13E-2F25C690C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341438"/>
            <a:ext cx="87122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A horizontal card layout arranges the card's image and content side by side, as opposed to the traditional top-to-bottom layout.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This can be especially useful for presenting content in a more compact and wide layout, such as in a media object or a list of articles.</a:t>
            </a:r>
            <a:endParaRPr lang="en-GB" altLang="en-US" sz="20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ontent Placeholder 6">
            <a:extLst>
              <a:ext uri="{FF2B5EF4-FFF2-40B4-BE49-F238E27FC236}">
                <a16:creationId xmlns:a16="http://schemas.microsoft.com/office/drawing/2014/main" id="{BAE0353D-1FAE-B4A9-7FE0-0630B7DD75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2875" y="1484313"/>
            <a:ext cx="8856663" cy="1143000"/>
          </a:xfrm>
        </p:spPr>
        <p:txBody>
          <a:bodyPr/>
          <a:lstStyle/>
          <a:p>
            <a:pPr marL="0" indent="0"/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 navigation in Bootstrap refers to integrating Bootstrap's navigation components (like tabs or pills) within a card, allowing for a more compact and </a:t>
            </a:r>
            <a:r>
              <a:rPr lang="en-US" alt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organised</a:t>
            </a: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presentation of information. </a:t>
            </a:r>
            <a:endParaRPr lang="en-GB" altLang="en-US" sz="24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4275" name="object 2">
            <a:extLst>
              <a:ext uri="{FF2B5EF4-FFF2-40B4-BE49-F238E27FC236}">
                <a16:creationId xmlns:a16="http://schemas.microsoft.com/office/drawing/2014/main" id="{D6EF0521-B165-93F0-DC88-B1E5E7133D84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2781300"/>
            <a:ext cx="8872537" cy="3911600"/>
            <a:chOff x="275843" y="1184147"/>
            <a:chExt cx="8873490" cy="3910965"/>
          </a:xfrm>
        </p:grpSpPr>
        <p:pic>
          <p:nvPicPr>
            <p:cNvPr id="54277" name="object 3">
              <a:extLst>
                <a:ext uri="{FF2B5EF4-FFF2-40B4-BE49-F238E27FC236}">
                  <a16:creationId xmlns:a16="http://schemas.microsoft.com/office/drawing/2014/main" id="{1D3A8584-B203-2324-C66E-C2579CDFA1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843" y="1184147"/>
              <a:ext cx="4700015" cy="3087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278" name="object 4">
              <a:extLst>
                <a:ext uri="{FF2B5EF4-FFF2-40B4-BE49-F238E27FC236}">
                  <a16:creationId xmlns:a16="http://schemas.microsoft.com/office/drawing/2014/main" id="{B8D98076-A3EC-82FA-851D-B7CA6A1EFB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5255" y="2314955"/>
              <a:ext cx="4130040" cy="1920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279" name="object 5">
              <a:extLst>
                <a:ext uri="{FF2B5EF4-FFF2-40B4-BE49-F238E27FC236}">
                  <a16:creationId xmlns:a16="http://schemas.microsoft.com/office/drawing/2014/main" id="{098FDC94-B0B8-068E-6169-B4E954A49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6205" y="2295905"/>
              <a:ext cx="4168140" cy="1958339"/>
            </a:xfrm>
            <a:custGeom>
              <a:avLst/>
              <a:gdLst>
                <a:gd name="T0" fmla="*/ 0 w 4168140"/>
                <a:gd name="T1" fmla="*/ 1958339 h 1958339"/>
                <a:gd name="T2" fmla="*/ 4168140 w 4168140"/>
                <a:gd name="T3" fmla="*/ 1958339 h 1958339"/>
                <a:gd name="T4" fmla="*/ 4168140 w 4168140"/>
                <a:gd name="T5" fmla="*/ 0 h 1958339"/>
                <a:gd name="T6" fmla="*/ 0 w 4168140"/>
                <a:gd name="T7" fmla="*/ 0 h 1958339"/>
                <a:gd name="T8" fmla="*/ 0 w 4168140"/>
                <a:gd name="T9" fmla="*/ 1958339 h 19583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68140" h="1958339">
                  <a:moveTo>
                    <a:pt x="0" y="1958339"/>
                  </a:moveTo>
                  <a:lnTo>
                    <a:pt x="4168140" y="1958339"/>
                  </a:lnTo>
                  <a:lnTo>
                    <a:pt x="4168140" y="0"/>
                  </a:lnTo>
                  <a:lnTo>
                    <a:pt x="0" y="0"/>
                  </a:lnTo>
                  <a:lnTo>
                    <a:pt x="0" y="1958339"/>
                  </a:lnTo>
                  <a:close/>
                </a:path>
              </a:pathLst>
            </a:custGeom>
            <a:noFill/>
            <a:ln w="38100">
              <a:solidFill>
                <a:srgbClr val="A8DBF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B50BE03-B902-F3F8-E9BA-85E58D7A78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190" dirty="0"/>
              <a:t>Car</a:t>
            </a:r>
            <a:r>
              <a:rPr spc="-204" dirty="0"/>
              <a:t>d</a:t>
            </a:r>
            <a:r>
              <a:rPr spc="-280" dirty="0"/>
              <a:t> </a:t>
            </a:r>
            <a:r>
              <a:rPr spc="-150" dirty="0"/>
              <a:t>Navigation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object 28">
            <a:extLst>
              <a:ext uri="{FF2B5EF4-FFF2-40B4-BE49-F238E27FC236}">
                <a16:creationId xmlns:a16="http://schemas.microsoft.com/office/drawing/2014/main" id="{A90B5E0B-889E-07F3-6EB6-1C8BCE1530A9}"/>
              </a:ext>
            </a:extLst>
          </p:cNvPr>
          <p:cNvGrpSpPr>
            <a:grpSpLocks/>
          </p:cNvGrpSpPr>
          <p:nvPr/>
        </p:nvGrpSpPr>
        <p:grpSpPr bwMode="auto">
          <a:xfrm>
            <a:off x="231775" y="3967163"/>
            <a:ext cx="6310313" cy="1947862"/>
            <a:chOff x="232409" y="3109722"/>
            <a:chExt cx="6309361" cy="1949195"/>
          </a:xfrm>
        </p:grpSpPr>
        <p:pic>
          <p:nvPicPr>
            <p:cNvPr id="55306" name="object 30">
              <a:extLst>
                <a:ext uri="{FF2B5EF4-FFF2-40B4-BE49-F238E27FC236}">
                  <a16:creationId xmlns:a16="http://schemas.microsoft.com/office/drawing/2014/main" id="{06D5BBCA-6566-8263-8C1A-5E96E349FC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39" y="3144012"/>
              <a:ext cx="3390900" cy="1630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7" name="object 31">
              <a:extLst>
                <a:ext uri="{FF2B5EF4-FFF2-40B4-BE49-F238E27FC236}">
                  <a16:creationId xmlns:a16="http://schemas.microsoft.com/office/drawing/2014/main" id="{ECBD7E5A-614A-96F6-F184-441DF69EA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09" y="3109722"/>
              <a:ext cx="3589020" cy="1714500"/>
            </a:xfrm>
            <a:custGeom>
              <a:avLst/>
              <a:gdLst>
                <a:gd name="T0" fmla="*/ 0 w 3589020"/>
                <a:gd name="T1" fmla="*/ 1714500 h 1714500"/>
                <a:gd name="T2" fmla="*/ 3589020 w 3589020"/>
                <a:gd name="T3" fmla="*/ 1714500 h 1714500"/>
                <a:gd name="T4" fmla="*/ 3589020 w 3589020"/>
                <a:gd name="T5" fmla="*/ 0 h 1714500"/>
                <a:gd name="T6" fmla="*/ 0 w 3589020"/>
                <a:gd name="T7" fmla="*/ 0 h 1714500"/>
                <a:gd name="T8" fmla="*/ 0 w 3589020"/>
                <a:gd name="T9" fmla="*/ 1714500 h 17145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89020" h="1714500">
                  <a:moveTo>
                    <a:pt x="0" y="1714500"/>
                  </a:moveTo>
                  <a:lnTo>
                    <a:pt x="3589020" y="1714500"/>
                  </a:lnTo>
                  <a:lnTo>
                    <a:pt x="3589020" y="0"/>
                  </a:lnTo>
                  <a:lnTo>
                    <a:pt x="0" y="0"/>
                  </a:lnTo>
                  <a:lnTo>
                    <a:pt x="0" y="1714500"/>
                  </a:lnTo>
                  <a:close/>
                </a:path>
              </a:pathLst>
            </a:custGeom>
            <a:noFill/>
            <a:ln w="38100">
              <a:solidFill>
                <a:srgbClr val="A8DBF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55308" name="object 32">
              <a:extLst>
                <a:ext uri="{FF2B5EF4-FFF2-40B4-BE49-F238E27FC236}">
                  <a16:creationId xmlns:a16="http://schemas.microsoft.com/office/drawing/2014/main" id="{4CAFC1C5-C2F3-F6F9-4889-22D5FD989A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2380" y="3348226"/>
              <a:ext cx="2720339" cy="1691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9" name="object 33">
              <a:extLst>
                <a:ext uri="{FF2B5EF4-FFF2-40B4-BE49-F238E27FC236}">
                  <a16:creationId xmlns:a16="http://schemas.microsoft.com/office/drawing/2014/main" id="{2DEBEEEC-487C-B2C6-211A-43E7D5BF8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330" y="3329178"/>
              <a:ext cx="2758440" cy="1729739"/>
            </a:xfrm>
            <a:custGeom>
              <a:avLst/>
              <a:gdLst>
                <a:gd name="T0" fmla="*/ 0 w 2758440"/>
                <a:gd name="T1" fmla="*/ 1729740 h 1729739"/>
                <a:gd name="T2" fmla="*/ 2758439 w 2758440"/>
                <a:gd name="T3" fmla="*/ 1729740 h 1729739"/>
                <a:gd name="T4" fmla="*/ 2758439 w 2758440"/>
                <a:gd name="T5" fmla="*/ 0 h 1729739"/>
                <a:gd name="T6" fmla="*/ 0 w 2758440"/>
                <a:gd name="T7" fmla="*/ 0 h 1729739"/>
                <a:gd name="T8" fmla="*/ 0 w 2758440"/>
                <a:gd name="T9" fmla="*/ 1729740 h 17297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8440" h="1729739">
                  <a:moveTo>
                    <a:pt x="0" y="1729740"/>
                  </a:moveTo>
                  <a:lnTo>
                    <a:pt x="2758439" y="1729740"/>
                  </a:lnTo>
                  <a:lnTo>
                    <a:pt x="2758439" y="0"/>
                  </a:lnTo>
                  <a:lnTo>
                    <a:pt x="0" y="0"/>
                  </a:lnTo>
                  <a:lnTo>
                    <a:pt x="0" y="1729740"/>
                  </a:lnTo>
                  <a:close/>
                </a:path>
              </a:pathLst>
            </a:custGeom>
            <a:noFill/>
            <a:ln w="38100">
              <a:solidFill>
                <a:srgbClr val="A8DBF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34" name="object 34">
            <a:extLst>
              <a:ext uri="{FF2B5EF4-FFF2-40B4-BE49-F238E27FC236}">
                <a16:creationId xmlns:a16="http://schemas.microsoft.com/office/drawing/2014/main" id="{E6D90DEE-6EC4-EE4B-DDBE-01CA5D333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190" dirty="0"/>
              <a:t>Car</a:t>
            </a:r>
            <a:r>
              <a:rPr spc="-204" dirty="0"/>
              <a:t>d</a:t>
            </a:r>
            <a:r>
              <a:rPr spc="-280" dirty="0"/>
              <a:t> </a:t>
            </a:r>
            <a:r>
              <a:rPr spc="-250" dirty="0"/>
              <a:t>S</a:t>
            </a:r>
            <a:r>
              <a:rPr spc="-90" dirty="0"/>
              <a:t>tyles</a:t>
            </a: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FBCD10D6-F576-E263-40B1-CA26267596EC}"/>
              </a:ext>
            </a:extLst>
          </p:cNvPr>
          <p:cNvSpPr txBox="1"/>
          <p:nvPr/>
        </p:nvSpPr>
        <p:spPr>
          <a:xfrm>
            <a:off x="6843709" y="3202395"/>
            <a:ext cx="2068513" cy="1243289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297815" indent="-285750">
              <a:spcBef>
                <a:spcPts val="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42892" algn="l"/>
                <a:tab pos="343526" algn="l"/>
              </a:tabLst>
              <a:defRPr/>
            </a:pPr>
            <a:r>
              <a:rPr sz="2000" spc="-85" dirty="0">
                <a:solidFill>
                  <a:srgbClr val="484848"/>
                </a:solidFill>
                <a:cs typeface="Arial" panose="020B0604020202020204" pitchFamily="34" charset="0"/>
              </a:rPr>
              <a:t>B</a:t>
            </a:r>
            <a:r>
              <a:rPr sz="2000" spc="-110" dirty="0">
                <a:solidFill>
                  <a:srgbClr val="484848"/>
                </a:solidFill>
                <a:cs typeface="Arial" panose="020B0604020202020204" pitchFamily="34" charset="0"/>
              </a:rPr>
              <a:t>a</a:t>
            </a:r>
            <a:r>
              <a:rPr sz="2000" spc="-40" dirty="0">
                <a:solidFill>
                  <a:srgbClr val="484848"/>
                </a:solidFill>
                <a:cs typeface="Arial" panose="020B0604020202020204" pitchFamily="34" charset="0"/>
              </a:rPr>
              <a:t>c</a:t>
            </a:r>
            <a:r>
              <a:rPr sz="2000" spc="-50" dirty="0">
                <a:solidFill>
                  <a:srgbClr val="484848"/>
                </a:solidFill>
                <a:cs typeface="Arial" panose="020B0604020202020204" pitchFamily="34" charset="0"/>
              </a:rPr>
              <a:t>k</a:t>
            </a:r>
            <a:r>
              <a:rPr sz="2000" spc="-105" dirty="0">
                <a:solidFill>
                  <a:srgbClr val="484848"/>
                </a:solidFill>
                <a:cs typeface="Arial" panose="020B0604020202020204" pitchFamily="34" charset="0"/>
              </a:rPr>
              <a:t>grou</a:t>
            </a:r>
            <a:r>
              <a:rPr sz="2000" spc="-120" dirty="0">
                <a:solidFill>
                  <a:srgbClr val="484848"/>
                </a:solidFill>
                <a:cs typeface="Arial" panose="020B0604020202020204" pitchFamily="34" charset="0"/>
              </a:rPr>
              <a:t>nd</a:t>
            </a:r>
            <a:r>
              <a:rPr sz="2000" spc="-165" dirty="0">
                <a:solidFill>
                  <a:srgbClr val="484848"/>
                </a:solidFill>
                <a:cs typeface="Arial" panose="020B0604020202020204" pitchFamily="34" charset="0"/>
              </a:rPr>
              <a:t> </a:t>
            </a:r>
            <a:r>
              <a:rPr sz="2000" spc="-110" dirty="0">
                <a:solidFill>
                  <a:srgbClr val="484848"/>
                </a:solidFill>
                <a:cs typeface="Arial" panose="020B0604020202020204" pitchFamily="34" charset="0"/>
              </a:rPr>
              <a:t>a</a:t>
            </a:r>
            <a:r>
              <a:rPr sz="2000" spc="-120" dirty="0">
                <a:solidFill>
                  <a:srgbClr val="484848"/>
                </a:solidFill>
                <a:cs typeface="Arial" panose="020B0604020202020204" pitchFamily="34" charset="0"/>
              </a:rPr>
              <a:t>nd</a:t>
            </a:r>
            <a:r>
              <a:rPr sz="2000" spc="-165" dirty="0">
                <a:solidFill>
                  <a:srgbClr val="484848"/>
                </a:solidFill>
                <a:cs typeface="Arial" panose="020B0604020202020204" pitchFamily="34" charset="0"/>
              </a:rPr>
              <a:t> </a:t>
            </a:r>
            <a:r>
              <a:rPr sz="2000" spc="-60" dirty="0">
                <a:solidFill>
                  <a:srgbClr val="484848"/>
                </a:solidFill>
                <a:cs typeface="Arial" panose="020B0604020202020204" pitchFamily="34" charset="0"/>
              </a:rPr>
              <a:t>co</a:t>
            </a:r>
            <a:r>
              <a:rPr sz="2000" spc="-40" dirty="0">
                <a:solidFill>
                  <a:srgbClr val="484848"/>
                </a:solidFill>
                <a:cs typeface="Arial" panose="020B0604020202020204" pitchFamily="34" charset="0"/>
              </a:rPr>
              <a:t>l</a:t>
            </a:r>
            <a:r>
              <a:rPr sz="2000" spc="-80" dirty="0">
                <a:solidFill>
                  <a:srgbClr val="484848"/>
                </a:solidFill>
                <a:cs typeface="Arial" panose="020B0604020202020204" pitchFamily="34" charset="0"/>
              </a:rPr>
              <a:t>or</a:t>
            </a:r>
            <a:endParaRPr sz="2000" dirty="0">
              <a:cs typeface="Arial" panose="020B0604020202020204" pitchFamily="34" charset="0"/>
            </a:endParaRPr>
          </a:p>
          <a:p>
            <a:pPr marL="297815" indent="-285750"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42892" algn="l"/>
                <a:tab pos="343526" algn="l"/>
              </a:tabLst>
              <a:defRPr/>
            </a:pPr>
            <a:r>
              <a:rPr sz="2000" spc="-85" dirty="0">
                <a:solidFill>
                  <a:srgbClr val="484848"/>
                </a:solidFill>
                <a:cs typeface="Arial" panose="020B0604020202020204" pitchFamily="34" charset="0"/>
              </a:rPr>
              <a:t>Border</a:t>
            </a:r>
            <a:endParaRPr sz="2000" dirty="0">
              <a:cs typeface="Arial" panose="020B0604020202020204" pitchFamily="34" charset="0"/>
            </a:endParaRPr>
          </a:p>
          <a:p>
            <a:pPr marL="297815" indent="-285750"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42892" algn="l"/>
                <a:tab pos="343526" algn="l"/>
              </a:tabLst>
              <a:defRPr/>
            </a:pPr>
            <a:r>
              <a:rPr sz="2000" spc="-90" dirty="0">
                <a:solidFill>
                  <a:srgbClr val="484848"/>
                </a:solidFill>
                <a:cs typeface="Arial" panose="020B0604020202020204" pitchFamily="34" charset="0"/>
              </a:rPr>
              <a:t>Mixi</a:t>
            </a:r>
            <a:r>
              <a:rPr sz="2000" spc="-80" dirty="0">
                <a:solidFill>
                  <a:srgbClr val="484848"/>
                </a:solidFill>
                <a:cs typeface="Arial" panose="020B0604020202020204" pitchFamily="34" charset="0"/>
              </a:rPr>
              <a:t>ns</a:t>
            </a:r>
            <a:r>
              <a:rPr sz="2000" spc="-150" dirty="0">
                <a:solidFill>
                  <a:srgbClr val="484848"/>
                </a:solidFill>
                <a:cs typeface="Arial" panose="020B0604020202020204" pitchFamily="34" charset="0"/>
              </a:rPr>
              <a:t> </a:t>
            </a:r>
            <a:r>
              <a:rPr sz="2000" spc="-55" dirty="0">
                <a:solidFill>
                  <a:srgbClr val="484848"/>
                </a:solidFill>
                <a:cs typeface="Arial" panose="020B0604020202020204" pitchFamily="34" charset="0"/>
              </a:rPr>
              <a:t>uti</a:t>
            </a:r>
            <a:r>
              <a:rPr sz="2000" spc="-35" dirty="0">
                <a:solidFill>
                  <a:srgbClr val="484848"/>
                </a:solidFill>
                <a:cs typeface="Arial" panose="020B0604020202020204" pitchFamily="34" charset="0"/>
              </a:rPr>
              <a:t>lities</a:t>
            </a:r>
            <a:endParaRPr sz="2000" dirty="0">
              <a:cs typeface="Arial" panose="020B0604020202020204" pitchFamily="34" charset="0"/>
            </a:endParaRPr>
          </a:p>
        </p:txBody>
      </p:sp>
      <p:grpSp>
        <p:nvGrpSpPr>
          <p:cNvPr id="55301" name="object 36">
            <a:extLst>
              <a:ext uri="{FF2B5EF4-FFF2-40B4-BE49-F238E27FC236}">
                <a16:creationId xmlns:a16="http://schemas.microsoft.com/office/drawing/2014/main" id="{6CCC7343-E738-BD71-838D-58FBB20E6DD1}"/>
              </a:ext>
            </a:extLst>
          </p:cNvPr>
          <p:cNvGrpSpPr>
            <a:grpSpLocks/>
          </p:cNvGrpSpPr>
          <p:nvPr/>
        </p:nvGrpSpPr>
        <p:grpSpPr bwMode="auto">
          <a:xfrm>
            <a:off x="212725" y="1768475"/>
            <a:ext cx="6386513" cy="2093913"/>
            <a:chOff x="213359" y="911352"/>
            <a:chExt cx="6385560" cy="2094230"/>
          </a:xfrm>
        </p:grpSpPr>
        <p:pic>
          <p:nvPicPr>
            <p:cNvPr id="55302" name="object 37">
              <a:extLst>
                <a:ext uri="{FF2B5EF4-FFF2-40B4-BE49-F238E27FC236}">
                  <a16:creationId xmlns:a16="http://schemas.microsoft.com/office/drawing/2014/main" id="{0F407A77-D530-092A-4C3C-A5BE3FF16A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59" y="949452"/>
              <a:ext cx="3467100" cy="1760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3" name="object 38">
              <a:extLst>
                <a:ext uri="{FF2B5EF4-FFF2-40B4-BE49-F238E27FC236}">
                  <a16:creationId xmlns:a16="http://schemas.microsoft.com/office/drawing/2014/main" id="{7B449937-A375-ED0B-67FC-830C4C29B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09" y="930402"/>
              <a:ext cx="3627120" cy="1798320"/>
            </a:xfrm>
            <a:custGeom>
              <a:avLst/>
              <a:gdLst>
                <a:gd name="T0" fmla="*/ 0 w 3627120"/>
                <a:gd name="T1" fmla="*/ 1798320 h 1798320"/>
                <a:gd name="T2" fmla="*/ 3627120 w 3627120"/>
                <a:gd name="T3" fmla="*/ 1798320 h 1798320"/>
                <a:gd name="T4" fmla="*/ 3627120 w 3627120"/>
                <a:gd name="T5" fmla="*/ 0 h 1798320"/>
                <a:gd name="T6" fmla="*/ 0 w 3627120"/>
                <a:gd name="T7" fmla="*/ 0 h 1798320"/>
                <a:gd name="T8" fmla="*/ 0 w 3627120"/>
                <a:gd name="T9" fmla="*/ 1798320 h 1798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27120" h="1798320">
                  <a:moveTo>
                    <a:pt x="0" y="1798320"/>
                  </a:moveTo>
                  <a:lnTo>
                    <a:pt x="3627120" y="1798320"/>
                  </a:lnTo>
                  <a:lnTo>
                    <a:pt x="3627120" y="0"/>
                  </a:lnTo>
                  <a:lnTo>
                    <a:pt x="0" y="0"/>
                  </a:lnTo>
                  <a:lnTo>
                    <a:pt x="0" y="1798320"/>
                  </a:lnTo>
                  <a:close/>
                </a:path>
              </a:pathLst>
            </a:custGeom>
            <a:noFill/>
            <a:ln w="38100">
              <a:solidFill>
                <a:srgbClr val="A8DBF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55304" name="object 39">
              <a:extLst>
                <a:ext uri="{FF2B5EF4-FFF2-40B4-BE49-F238E27FC236}">
                  <a16:creationId xmlns:a16="http://schemas.microsoft.com/office/drawing/2014/main" id="{39B0E477-0510-21E2-3505-62E7803B5E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0480" y="1267968"/>
              <a:ext cx="2720339" cy="1699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5" name="object 40">
              <a:extLst>
                <a:ext uri="{FF2B5EF4-FFF2-40B4-BE49-F238E27FC236}">
                  <a16:creationId xmlns:a16="http://schemas.microsoft.com/office/drawing/2014/main" id="{2731628B-3B5D-226F-28F3-988EE96C2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430" y="1248918"/>
              <a:ext cx="2758440" cy="1737360"/>
            </a:xfrm>
            <a:custGeom>
              <a:avLst/>
              <a:gdLst>
                <a:gd name="T0" fmla="*/ 0 w 2758440"/>
                <a:gd name="T1" fmla="*/ 1737360 h 1737360"/>
                <a:gd name="T2" fmla="*/ 2758439 w 2758440"/>
                <a:gd name="T3" fmla="*/ 1737360 h 1737360"/>
                <a:gd name="T4" fmla="*/ 2758439 w 2758440"/>
                <a:gd name="T5" fmla="*/ 0 h 1737360"/>
                <a:gd name="T6" fmla="*/ 0 w 2758440"/>
                <a:gd name="T7" fmla="*/ 0 h 1737360"/>
                <a:gd name="T8" fmla="*/ 0 w 2758440"/>
                <a:gd name="T9" fmla="*/ 1737360 h 17373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8440" h="1737360">
                  <a:moveTo>
                    <a:pt x="0" y="1737360"/>
                  </a:moveTo>
                  <a:lnTo>
                    <a:pt x="2758439" y="1737360"/>
                  </a:lnTo>
                  <a:lnTo>
                    <a:pt x="2758439" y="0"/>
                  </a:lnTo>
                  <a:lnTo>
                    <a:pt x="0" y="0"/>
                  </a:lnTo>
                  <a:lnTo>
                    <a:pt x="0" y="1737360"/>
                  </a:lnTo>
                  <a:close/>
                </a:path>
              </a:pathLst>
            </a:custGeom>
            <a:noFill/>
            <a:ln w="38100">
              <a:solidFill>
                <a:srgbClr val="A8DBF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object 28">
            <a:extLst>
              <a:ext uri="{FF2B5EF4-FFF2-40B4-BE49-F238E27FC236}">
                <a16:creationId xmlns:a16="http://schemas.microsoft.com/office/drawing/2014/main" id="{25C54B48-66E0-4C53-1266-5BD17722E512}"/>
              </a:ext>
            </a:extLst>
          </p:cNvPr>
          <p:cNvGrpSpPr>
            <a:grpSpLocks/>
          </p:cNvGrpSpPr>
          <p:nvPr/>
        </p:nvGrpSpPr>
        <p:grpSpPr bwMode="auto">
          <a:xfrm>
            <a:off x="-19050" y="1636713"/>
            <a:ext cx="9182100" cy="4383087"/>
            <a:chOff x="-19811" y="778763"/>
            <a:chExt cx="9183370" cy="4384040"/>
          </a:xfrm>
        </p:grpSpPr>
        <p:pic>
          <p:nvPicPr>
            <p:cNvPr id="56325" name="object 29">
              <a:extLst>
                <a:ext uri="{FF2B5EF4-FFF2-40B4-BE49-F238E27FC236}">
                  <a16:creationId xmlns:a16="http://schemas.microsoft.com/office/drawing/2014/main" id="{BE53E478-F0CB-40F5-91D6-313043F7D6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812" y="3992082"/>
              <a:ext cx="4175949" cy="1102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26" name="object 30">
              <a:extLst>
                <a:ext uri="{FF2B5EF4-FFF2-40B4-BE49-F238E27FC236}">
                  <a16:creationId xmlns:a16="http://schemas.microsoft.com/office/drawing/2014/main" id="{352DD078-D86C-ECCA-DA60-5224B75A4B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7" y="816863"/>
              <a:ext cx="3557016" cy="3212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27" name="object 31">
              <a:extLst>
                <a:ext uri="{FF2B5EF4-FFF2-40B4-BE49-F238E27FC236}">
                  <a16:creationId xmlns:a16="http://schemas.microsoft.com/office/drawing/2014/main" id="{7092FB63-CD5D-E069-AB17-76AB30925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-761" y="797813"/>
              <a:ext cx="3595370" cy="3251200"/>
            </a:xfrm>
            <a:custGeom>
              <a:avLst/>
              <a:gdLst>
                <a:gd name="T0" fmla="*/ 0 w 3595370"/>
                <a:gd name="T1" fmla="*/ 3250692 h 3251200"/>
                <a:gd name="T2" fmla="*/ 3595116 w 3595370"/>
                <a:gd name="T3" fmla="*/ 3250692 h 3251200"/>
                <a:gd name="T4" fmla="*/ 3595116 w 3595370"/>
                <a:gd name="T5" fmla="*/ 0 h 3251200"/>
                <a:gd name="T6" fmla="*/ 0 w 3595370"/>
                <a:gd name="T7" fmla="*/ 0 h 3251200"/>
                <a:gd name="T8" fmla="*/ 0 w 3595370"/>
                <a:gd name="T9" fmla="*/ 3250692 h 3251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95370" h="3251200">
                  <a:moveTo>
                    <a:pt x="0" y="3250692"/>
                  </a:moveTo>
                  <a:lnTo>
                    <a:pt x="3595116" y="3250692"/>
                  </a:lnTo>
                  <a:lnTo>
                    <a:pt x="3595116" y="0"/>
                  </a:lnTo>
                  <a:lnTo>
                    <a:pt x="0" y="0"/>
                  </a:lnTo>
                  <a:lnTo>
                    <a:pt x="0" y="3250692"/>
                  </a:lnTo>
                  <a:close/>
                </a:path>
              </a:pathLst>
            </a:custGeom>
            <a:noFill/>
            <a:ln w="38100">
              <a:solidFill>
                <a:srgbClr val="A8DBF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56328" name="object 32">
              <a:extLst>
                <a:ext uri="{FF2B5EF4-FFF2-40B4-BE49-F238E27FC236}">
                  <a16:creationId xmlns:a16="http://schemas.microsoft.com/office/drawing/2014/main" id="{3805F025-A778-35E3-A489-03A2B15539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600" y="2240279"/>
              <a:ext cx="5468111" cy="2903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29" name="object 33">
              <a:extLst>
                <a:ext uri="{FF2B5EF4-FFF2-40B4-BE49-F238E27FC236}">
                  <a16:creationId xmlns:a16="http://schemas.microsoft.com/office/drawing/2014/main" id="{ECA75371-6530-BECF-832E-9862A1207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550" y="2221230"/>
              <a:ext cx="5505450" cy="2922270"/>
            </a:xfrm>
            <a:custGeom>
              <a:avLst/>
              <a:gdLst>
                <a:gd name="T0" fmla="*/ 5505450 w 5505450"/>
                <a:gd name="T1" fmla="*/ 0 h 2922270"/>
                <a:gd name="T2" fmla="*/ 0 w 5505450"/>
                <a:gd name="T3" fmla="*/ 0 h 2922270"/>
                <a:gd name="T4" fmla="*/ 0 w 5505450"/>
                <a:gd name="T5" fmla="*/ 2922270 h 29222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05450" h="2922270">
                  <a:moveTo>
                    <a:pt x="5505450" y="0"/>
                  </a:moveTo>
                  <a:lnTo>
                    <a:pt x="0" y="0"/>
                  </a:lnTo>
                  <a:lnTo>
                    <a:pt x="0" y="2922270"/>
                  </a:lnTo>
                </a:path>
              </a:pathLst>
            </a:custGeom>
            <a:noFill/>
            <a:ln w="38099">
              <a:solidFill>
                <a:srgbClr val="A8DBF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34" name="object 34">
            <a:extLst>
              <a:ext uri="{FF2B5EF4-FFF2-40B4-BE49-F238E27FC236}">
                <a16:creationId xmlns:a16="http://schemas.microsoft.com/office/drawing/2014/main" id="{CC23AB6E-4088-3F16-86F2-56C84685F2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900"/>
            <a:ext cx="8785225" cy="688975"/>
          </a:xfrm>
        </p:spPr>
        <p:txBody>
          <a:bodyPr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pc="-190" dirty="0"/>
              <a:t>Car</a:t>
            </a:r>
            <a:r>
              <a:rPr spc="-204" dirty="0"/>
              <a:t>d</a:t>
            </a:r>
            <a:r>
              <a:rPr spc="-280" dirty="0"/>
              <a:t> </a:t>
            </a:r>
            <a:r>
              <a:rPr spc="-190" dirty="0"/>
              <a:t>Layout</a:t>
            </a:r>
          </a:p>
        </p:txBody>
      </p:sp>
      <p:sp>
        <p:nvSpPr>
          <p:cNvPr id="56324" name="TextBox 1">
            <a:extLst>
              <a:ext uri="{FF2B5EF4-FFF2-40B4-BE49-F238E27FC236}">
                <a16:creationId xmlns:a16="http://schemas.microsoft.com/office/drawing/2014/main" id="{68F3DC00-79D6-B9F6-2B5F-4E72F09EF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651000"/>
            <a:ext cx="516255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dirty="0">
                <a:solidFill>
                  <a:srgbClr val="374151"/>
                </a:solidFill>
                <a:cs typeface="Arial" panose="020B0604020202020204" pitchFamily="34" charset="0"/>
              </a:rPr>
              <a:t>The card layout encompasses a variety of structures, allowing users to include images, headers, footers, lists, and other UI elements. </a:t>
            </a:r>
            <a:endParaRPr lang="en-GB" altLang="en-US" sz="20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1B10980-2F86-11F6-F0E2-4D3FCA6F4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Quiz - 3</a:t>
            </a:r>
            <a:endParaRPr lang="en-GB" altLang="en-US"/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18EDBD7C-2D13-9826-F172-F3E12DA5B9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0" dirty="0">
                <a:latin typeface="Arial" panose="020B0604020202020204" pitchFamily="34" charset="0"/>
                <a:cs typeface="Arial" panose="020B0604020202020204" pitchFamily="34" charset="0"/>
              </a:rPr>
              <a:t>Describe the features of Bootstrap cards.</a:t>
            </a:r>
            <a:endParaRPr lang="en-GB" altLang="en-US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>
            <a:extLst>
              <a:ext uri="{FF2B5EF4-FFF2-40B4-BE49-F238E27FC236}">
                <a16:creationId xmlns:a16="http://schemas.microsoft.com/office/drawing/2014/main" id="{F0D75D69-8B15-4188-ACD0-D8C543C842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References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9819B45-E2B1-8763-3925-952FCF5E19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556792"/>
            <a:ext cx="8856663" cy="4319587"/>
          </a:xfrm>
        </p:spPr>
        <p:txBody>
          <a:bodyPr/>
          <a:lstStyle/>
          <a:p>
            <a:pPr algn="l"/>
            <a:r>
              <a:rPr lang="en-GB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Syed, M. A. (2020).</a:t>
            </a:r>
            <a:r>
              <a:rPr lang="en-GB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5 By Example</a:t>
            </a:r>
            <a:r>
              <a:rPr lang="en-GB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16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Packt</a:t>
            </a:r>
            <a:r>
              <a:rPr lang="en-GB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Publishing.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Spurgeon, B. (2017).</a:t>
            </a:r>
            <a:r>
              <a:rPr lang="en-GB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Learning Bootstrap 4, Second Edition</a:t>
            </a:r>
            <a:r>
              <a:rPr lang="en-GB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16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Packt</a:t>
            </a:r>
            <a:r>
              <a:rPr lang="en-GB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Publishing.</a:t>
            </a:r>
          </a:p>
          <a:p>
            <a:pPr algn="l"/>
            <a:r>
              <a:rPr lang="en-GB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 Resources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Forms</a:t>
            </a:r>
            <a:endParaRPr lang="en-GB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Documentation.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Forms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4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https://getbootstrap.com/docs/5.0/forms/overview/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Form Controls</a:t>
            </a:r>
            <a:endParaRPr lang="en-GB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Documentation.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 controls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4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https://getbootstrap.com/docs/5.0/forms/form-control/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Buttons</a:t>
            </a:r>
            <a:endParaRPr lang="en-GB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Documentation.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Buttons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4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https://getbootstrap.com/docs/5.0/components/buttons/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Utilities</a:t>
            </a:r>
            <a:endParaRPr lang="en-GB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Documentation.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Utilities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4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https://getbootstrap.com/docs/5.0/utilities/borders/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Cards</a:t>
            </a:r>
            <a:endParaRPr lang="en-GB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Documentation.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Cards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4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https://getbootstrap.com/docs/5.0/components/card/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78B233DC-C439-D002-AAFE-D66608904F7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Topic 10 – Responsive CSS Framework Bootstrap -II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E28E1E9-228E-C60E-D033-D746FB4562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Any Questions?</a:t>
            </a:r>
          </a:p>
          <a:p>
            <a:pPr eaLnBrk="1" hangingPunct="1"/>
            <a:endParaRPr lang="en-GB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1">
      <a:dk1>
        <a:srgbClr val="000000"/>
      </a:dk1>
      <a:lt1>
        <a:srgbClr val="FFFFFF"/>
      </a:lt1>
      <a:dk2>
        <a:srgbClr val="000000"/>
      </a:dk2>
      <a:lt2>
        <a:srgbClr val="3F3F3F"/>
      </a:lt2>
      <a:accent1>
        <a:srgbClr val="212167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ill Sans"/>
        <a:ea typeface="ＭＳ Ｐゴシック"/>
        <a:cs typeface=""/>
      </a:majorFont>
      <a:minorFont>
        <a:latin typeface="Gill 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st 2">
  <a:themeElements>
    <a:clrScheme name="test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st 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test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19901A04064790C94E9A9AE89D33" ma:contentTypeVersion="0" ma:contentTypeDescription="Create a new document." ma:contentTypeScope="" ma:versionID="eacdb1d6c144f2184e6157b4238170f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5A7619-CB47-4D58-A166-DEC2E95F46DB}"/>
</file>

<file path=customXml/itemProps2.xml><?xml version="1.0" encoding="utf-8"?>
<ds:datastoreItem xmlns:ds="http://schemas.openxmlformats.org/officeDocument/2006/customXml" ds:itemID="{ECE04B11-C029-4A4B-AA6A-73246B1B82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DE5C66-1F99-4251-A408-A7E681A81154}">
  <ds:schemaRefs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bdeceafc-5c0f-406d-b95f-35e6593d664b"/>
    <ds:schemaRef ds:uri="dbeaa6b5-7a21-43b8-ab59-31e7cbf2c187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Eric:Users:Eric:Desktop:test 2.ppt</Template>
  <TotalTime>182</TotalTime>
  <Words>2512</Words>
  <Application>Microsoft Office PowerPoint</Application>
  <PresentationFormat>On-screen Show (4:3)</PresentationFormat>
  <Paragraphs>291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 MT</vt:lpstr>
      <vt:lpstr>Gill Sans</vt:lpstr>
      <vt:lpstr>Arial</vt:lpstr>
      <vt:lpstr>Wingdings</vt:lpstr>
      <vt:lpstr>Blank Presentation</vt:lpstr>
      <vt:lpstr>test 2</vt:lpstr>
      <vt:lpstr>PowerPoint Presentation</vt:lpstr>
      <vt:lpstr>Scope and Coverage</vt:lpstr>
      <vt:lpstr>Learning Outcomes</vt:lpstr>
      <vt:lpstr>Unit Roadmap</vt:lpstr>
      <vt:lpstr>Bootstrap components</vt:lpstr>
      <vt:lpstr>Forms</vt:lpstr>
      <vt:lpstr>Vertical (default) Forms</vt:lpstr>
      <vt:lpstr>Inline Forms</vt:lpstr>
      <vt:lpstr>Horizontal Forms</vt:lpstr>
      <vt:lpstr>Quiz - 1</vt:lpstr>
      <vt:lpstr>Bootstrap form controls</vt:lpstr>
      <vt:lpstr>Supported Controls</vt:lpstr>
      <vt:lpstr>Static Control</vt:lpstr>
      <vt:lpstr>Control States</vt:lpstr>
      <vt:lpstr>Control States</vt:lpstr>
      <vt:lpstr>Validation States</vt:lpstr>
      <vt:lpstr>Bootstrap Form Control States - Summary</vt:lpstr>
      <vt:lpstr>Quiz - 2</vt:lpstr>
      <vt:lpstr>Control Sizing</vt:lpstr>
      <vt:lpstr>Control Sizing</vt:lpstr>
      <vt:lpstr>Control Sizing</vt:lpstr>
      <vt:lpstr>Bootstrap buttons</vt:lpstr>
      <vt:lpstr>Buttons</vt:lpstr>
      <vt:lpstr>Buttons Tags</vt:lpstr>
      <vt:lpstr>Buttons Options</vt:lpstr>
      <vt:lpstr>Button Sizes</vt:lpstr>
      <vt:lpstr>Block-level Buttons</vt:lpstr>
      <vt:lpstr>Button States</vt:lpstr>
      <vt:lpstr>Bootstrap utilities</vt:lpstr>
      <vt:lpstr>Images</vt:lpstr>
      <vt:lpstr>Images</vt:lpstr>
      <vt:lpstr>Responsive Images</vt:lpstr>
      <vt:lpstr>Helper Classes</vt:lpstr>
      <vt:lpstr>Contextual Backgrounds</vt:lpstr>
      <vt:lpstr>Interaction Controls</vt:lpstr>
      <vt:lpstr>Quick Floats</vt:lpstr>
      <vt:lpstr>Responsive Utilities</vt:lpstr>
      <vt:lpstr>Bootstrap cards</vt:lpstr>
      <vt:lpstr>Bootstrap Cards</vt:lpstr>
      <vt:lpstr>Card Content Type</vt:lpstr>
      <vt:lpstr>Card Sizing</vt:lpstr>
      <vt:lpstr>Card Text Alignment</vt:lpstr>
      <vt:lpstr>Card Images</vt:lpstr>
      <vt:lpstr>Horizontal Card</vt:lpstr>
      <vt:lpstr>Card Navigation</vt:lpstr>
      <vt:lpstr>Card Styles</vt:lpstr>
      <vt:lpstr>Card Layout</vt:lpstr>
      <vt:lpstr>Quiz - 3</vt:lpstr>
      <vt:lpstr>References</vt:lpstr>
      <vt:lpstr>Topic 10 – Responsive CSS Framework Bootstrap -II</vt:lpstr>
    </vt:vector>
  </TitlesOfParts>
  <Company>True Creative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Riley</dc:creator>
  <cp:lastModifiedBy>Liew Pei Ling</cp:lastModifiedBy>
  <cp:revision>100</cp:revision>
  <dcterms:created xsi:type="dcterms:W3CDTF">2008-01-18T13:21:43Z</dcterms:created>
  <dcterms:modified xsi:type="dcterms:W3CDTF">2024-03-07T07:23:28Z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0x010100104219901A04064790C94E9A9AE89D33</vt:lpwstr>
  </property>
</Properties>
</file>