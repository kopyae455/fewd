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4020" r:id="rId5"/>
  </p:sldMasterIdLst>
  <p:notesMasterIdLst>
    <p:notesMasterId r:id="rId53"/>
  </p:notesMasterIdLst>
  <p:handoutMasterIdLst>
    <p:handoutMasterId r:id="rId54"/>
  </p:handoutMasterIdLst>
  <p:sldIdLst>
    <p:sldId id="261" r:id="rId6"/>
    <p:sldId id="263" r:id="rId7"/>
    <p:sldId id="264" r:id="rId8"/>
    <p:sldId id="356" r:id="rId9"/>
    <p:sldId id="256" r:id="rId10"/>
    <p:sldId id="257" r:id="rId11"/>
    <p:sldId id="259" r:id="rId12"/>
    <p:sldId id="260" r:id="rId13"/>
    <p:sldId id="275" r:id="rId14"/>
    <p:sldId id="372" r:id="rId15"/>
    <p:sldId id="327" r:id="rId16"/>
    <p:sldId id="328" r:id="rId17"/>
    <p:sldId id="329" r:id="rId18"/>
    <p:sldId id="331" r:id="rId19"/>
    <p:sldId id="332" r:id="rId20"/>
    <p:sldId id="333" r:id="rId21"/>
    <p:sldId id="334" r:id="rId22"/>
    <p:sldId id="373" r:id="rId23"/>
    <p:sldId id="374" r:id="rId24"/>
    <p:sldId id="335" r:id="rId25"/>
    <p:sldId id="336" r:id="rId26"/>
    <p:sldId id="337" r:id="rId27"/>
    <p:sldId id="338" r:id="rId28"/>
    <p:sldId id="375" r:id="rId29"/>
    <p:sldId id="340" r:id="rId30"/>
    <p:sldId id="376" r:id="rId31"/>
    <p:sldId id="377" r:id="rId32"/>
    <p:sldId id="378" r:id="rId33"/>
    <p:sldId id="379" r:id="rId34"/>
    <p:sldId id="380" r:id="rId35"/>
    <p:sldId id="342" r:id="rId36"/>
    <p:sldId id="381" r:id="rId37"/>
    <p:sldId id="282" r:id="rId38"/>
    <p:sldId id="283" r:id="rId39"/>
    <p:sldId id="284" r:id="rId40"/>
    <p:sldId id="285" r:id="rId41"/>
    <p:sldId id="286" r:id="rId42"/>
    <p:sldId id="287" r:id="rId43"/>
    <p:sldId id="289" r:id="rId44"/>
    <p:sldId id="291" r:id="rId45"/>
    <p:sldId id="292" r:id="rId46"/>
    <p:sldId id="295" r:id="rId47"/>
    <p:sldId id="385" r:id="rId48"/>
    <p:sldId id="297" r:id="rId49"/>
    <p:sldId id="382" r:id="rId50"/>
    <p:sldId id="383" r:id="rId51"/>
    <p:sldId id="384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95C4C-EA0F-4FEF-A1AB-A77BCE1A0627}" v="16" dt="2024-03-07T05:57:22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1"/>
    <p:restoredTop sz="94648"/>
  </p:normalViewPr>
  <p:slideViewPr>
    <p:cSldViewPr>
      <p:cViewPr varScale="1">
        <p:scale>
          <a:sx n="62" d="100"/>
          <a:sy n="62" d="100"/>
        </p:scale>
        <p:origin x="1448" y="56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BB795C4C-EA0F-4FEF-A1AB-A77BCE1A0627}"/>
    <pc:docChg chg="custSel delSld modSld modMainMaster">
      <pc:chgData name="Liew Pei Ling" userId="c3090c8e-0726-43ba-95b9-123e980a216d" providerId="ADAL" clId="{BB795C4C-EA0F-4FEF-A1AB-A77BCE1A0627}" dt="2024-03-07T05:57:22.049" v="60"/>
      <pc:docMkLst>
        <pc:docMk/>
      </pc:docMkLst>
      <pc:sldChg chg="modSp mod">
        <pc:chgData name="Liew Pei Ling" userId="c3090c8e-0726-43ba-95b9-123e980a216d" providerId="ADAL" clId="{BB795C4C-EA0F-4FEF-A1AB-A77BCE1A0627}" dt="2024-03-07T05:49:17.259" v="8" actId="20577"/>
        <pc:sldMkLst>
          <pc:docMk/>
          <pc:sldMk cId="0" sldId="261"/>
        </pc:sldMkLst>
        <pc:spChg chg="mod">
          <ac:chgData name="Liew Pei Ling" userId="c3090c8e-0726-43ba-95b9-123e980a216d" providerId="ADAL" clId="{BB795C4C-EA0F-4FEF-A1AB-A77BCE1A0627}" dt="2024-03-07T05:49:17.259" v="8" actId="20577"/>
          <ac:spMkLst>
            <pc:docMk/>
            <pc:sldMk cId="0" sldId="261"/>
            <ac:spMk id="11266" creationId="{B1023AD2-38E0-98F6-95DF-80877D7663B4}"/>
          </ac:spMkLst>
        </pc:spChg>
      </pc:sldChg>
      <pc:sldChg chg="modSp mod">
        <pc:chgData name="Liew Pei Ling" userId="c3090c8e-0726-43ba-95b9-123e980a216d" providerId="ADAL" clId="{BB795C4C-EA0F-4FEF-A1AB-A77BCE1A0627}" dt="2024-03-07T05:50:09.056" v="11" actId="1076"/>
        <pc:sldMkLst>
          <pc:docMk/>
          <pc:sldMk cId="0" sldId="356"/>
        </pc:sldMkLst>
        <pc:graphicFrameChg chg="mod modGraphic">
          <ac:chgData name="Liew Pei Ling" userId="c3090c8e-0726-43ba-95b9-123e980a216d" providerId="ADAL" clId="{BB795C4C-EA0F-4FEF-A1AB-A77BCE1A0627}" dt="2024-03-07T05:50:09.056" v="11" actId="1076"/>
          <ac:graphicFrameMkLst>
            <pc:docMk/>
            <pc:sldMk cId="0" sldId="356"/>
            <ac:graphicFrameMk id="4" creationId="{3A4EDCBC-D9FA-88CE-33EF-01B06C5D6B3B}"/>
          </ac:graphicFrameMkLst>
        </pc:graphicFrameChg>
      </pc:sldChg>
      <pc:sldChg chg="del">
        <pc:chgData name="Liew Pei Ling" userId="c3090c8e-0726-43ba-95b9-123e980a216d" providerId="ADAL" clId="{BB795C4C-EA0F-4FEF-A1AB-A77BCE1A0627}" dt="2024-03-07T05:50:17.715" v="12" actId="47"/>
        <pc:sldMkLst>
          <pc:docMk/>
          <pc:sldMk cId="0" sldId="371"/>
        </pc:sldMkLst>
      </pc:sldChg>
      <pc:sldChg chg="addSp delSp modSp mod modNotesTx">
        <pc:chgData name="Liew Pei Ling" userId="c3090c8e-0726-43ba-95b9-123e980a216d" providerId="ADAL" clId="{BB795C4C-EA0F-4FEF-A1AB-A77BCE1A0627}" dt="2024-03-07T05:53:06.095" v="34" actId="20577"/>
        <pc:sldMkLst>
          <pc:docMk/>
          <pc:sldMk cId="0" sldId="372"/>
        </pc:sldMkLst>
        <pc:spChg chg="add mod">
          <ac:chgData name="Liew Pei Ling" userId="c3090c8e-0726-43ba-95b9-123e980a216d" providerId="ADAL" clId="{BB795C4C-EA0F-4FEF-A1AB-A77BCE1A0627}" dt="2024-03-07T05:51:37.016" v="25" actId="1076"/>
          <ac:spMkLst>
            <pc:docMk/>
            <pc:sldMk cId="0" sldId="372"/>
            <ac:spMk id="2" creationId="{83F5E89F-D42B-230F-DAE3-30DE64298A29}"/>
          </ac:spMkLst>
        </pc:spChg>
        <pc:spChg chg="mod">
          <ac:chgData name="Liew Pei Ling" userId="c3090c8e-0726-43ba-95b9-123e980a216d" providerId="ADAL" clId="{BB795C4C-EA0F-4FEF-A1AB-A77BCE1A0627}" dt="2024-03-07T05:53:06.095" v="34" actId="20577"/>
          <ac:spMkLst>
            <pc:docMk/>
            <pc:sldMk cId="0" sldId="372"/>
            <ac:spMk id="23554" creationId="{2D7F3241-02E1-050C-1097-E051F36AF152}"/>
          </ac:spMkLst>
        </pc:spChg>
        <pc:spChg chg="del">
          <ac:chgData name="Liew Pei Ling" userId="c3090c8e-0726-43ba-95b9-123e980a216d" providerId="ADAL" clId="{BB795C4C-EA0F-4FEF-A1AB-A77BCE1A0627}" dt="2024-03-07T05:51:19.691" v="21" actId="478"/>
          <ac:spMkLst>
            <pc:docMk/>
            <pc:sldMk cId="0" sldId="372"/>
            <ac:spMk id="23555" creationId="{20A0947F-BF80-2800-1483-F4936D2A429C}"/>
          </ac:spMkLst>
        </pc:spChg>
      </pc:sldChg>
      <pc:sldChg chg="addSp delSp modSp mod modNotesTx">
        <pc:chgData name="Liew Pei Ling" userId="c3090c8e-0726-43ba-95b9-123e980a216d" providerId="ADAL" clId="{BB795C4C-EA0F-4FEF-A1AB-A77BCE1A0627}" dt="2024-03-07T05:53:14.089" v="37" actId="20577"/>
        <pc:sldMkLst>
          <pc:docMk/>
          <pc:sldMk cId="0" sldId="373"/>
        </pc:sldMkLst>
        <pc:spChg chg="add mod">
          <ac:chgData name="Liew Pei Ling" userId="c3090c8e-0726-43ba-95b9-123e980a216d" providerId="ADAL" clId="{BB795C4C-EA0F-4FEF-A1AB-A77BCE1A0627}" dt="2024-03-07T05:52:25.215" v="31" actId="1076"/>
          <ac:spMkLst>
            <pc:docMk/>
            <pc:sldMk cId="0" sldId="373"/>
            <ac:spMk id="2" creationId="{4F11D999-97C1-C6B9-FEED-7E86556229E3}"/>
          </ac:spMkLst>
        </pc:spChg>
        <pc:spChg chg="mod">
          <ac:chgData name="Liew Pei Ling" userId="c3090c8e-0726-43ba-95b9-123e980a216d" providerId="ADAL" clId="{BB795C4C-EA0F-4FEF-A1AB-A77BCE1A0627}" dt="2024-03-07T05:53:14.089" v="37" actId="20577"/>
          <ac:spMkLst>
            <pc:docMk/>
            <pc:sldMk cId="0" sldId="373"/>
            <ac:spMk id="31746" creationId="{AE8630A5-6392-26E6-1E70-73102737D855}"/>
          </ac:spMkLst>
        </pc:spChg>
        <pc:spChg chg="del">
          <ac:chgData name="Liew Pei Ling" userId="c3090c8e-0726-43ba-95b9-123e980a216d" providerId="ADAL" clId="{BB795C4C-EA0F-4FEF-A1AB-A77BCE1A0627}" dt="2024-03-07T05:52:15.366" v="27" actId="478"/>
          <ac:spMkLst>
            <pc:docMk/>
            <pc:sldMk cId="0" sldId="373"/>
            <ac:spMk id="31747" creationId="{A14D292A-7B47-B8FE-85AF-CD59AC982E03}"/>
          </ac:spMkLst>
        </pc:spChg>
      </pc:sldChg>
      <pc:sldChg chg="addSp delSp modSp mod modNotesTx">
        <pc:chgData name="Liew Pei Ling" userId="c3090c8e-0726-43ba-95b9-123e980a216d" providerId="ADAL" clId="{BB795C4C-EA0F-4FEF-A1AB-A77BCE1A0627}" dt="2024-03-07T05:54:36.825" v="42"/>
        <pc:sldMkLst>
          <pc:docMk/>
          <pc:sldMk cId="0" sldId="382"/>
        </pc:sldMkLst>
        <pc:spChg chg="add mod">
          <ac:chgData name="Liew Pei Ling" userId="c3090c8e-0726-43ba-95b9-123e980a216d" providerId="ADAL" clId="{BB795C4C-EA0F-4FEF-A1AB-A77BCE1A0627}" dt="2024-03-07T05:54:30.528" v="41" actId="1076"/>
          <ac:spMkLst>
            <pc:docMk/>
            <pc:sldMk cId="0" sldId="382"/>
            <ac:spMk id="2" creationId="{27BAF134-8AB8-9618-CFE8-A035DD3FC96E}"/>
          </ac:spMkLst>
        </pc:spChg>
        <pc:spChg chg="del">
          <ac:chgData name="Liew Pei Ling" userId="c3090c8e-0726-43ba-95b9-123e980a216d" providerId="ADAL" clId="{BB795C4C-EA0F-4FEF-A1AB-A77BCE1A0627}" dt="2024-03-07T05:54:21.003" v="38" actId="478"/>
          <ac:spMkLst>
            <pc:docMk/>
            <pc:sldMk cId="0" sldId="382"/>
            <ac:spMk id="59395" creationId="{6E99F4EE-121C-3C29-22BE-C10D32EC2EAC}"/>
          </ac:spMkLst>
        </pc:spChg>
      </pc:sldChg>
      <pc:sldChg chg="addSp delSp modSp mod">
        <pc:chgData name="Liew Pei Ling" userId="c3090c8e-0726-43ba-95b9-123e980a216d" providerId="ADAL" clId="{BB795C4C-EA0F-4FEF-A1AB-A77BCE1A0627}" dt="2024-03-07T05:57:22.049" v="60"/>
        <pc:sldMkLst>
          <pc:docMk/>
          <pc:sldMk cId="0" sldId="383"/>
        </pc:sldMkLst>
        <pc:spChg chg="add del mod">
          <ac:chgData name="Liew Pei Ling" userId="c3090c8e-0726-43ba-95b9-123e980a216d" providerId="ADAL" clId="{BB795C4C-EA0F-4FEF-A1AB-A77BCE1A0627}" dt="2024-03-07T05:54:55.863" v="44" actId="478"/>
          <ac:spMkLst>
            <pc:docMk/>
            <pc:sldMk cId="0" sldId="383"/>
            <ac:spMk id="2" creationId="{1BDAF78D-2A34-2CD7-FCE2-06FEFB55245B}"/>
          </ac:spMkLst>
        </pc:spChg>
        <pc:spChg chg="add mod">
          <ac:chgData name="Liew Pei Ling" userId="c3090c8e-0726-43ba-95b9-123e980a216d" providerId="ADAL" clId="{BB795C4C-EA0F-4FEF-A1AB-A77BCE1A0627}" dt="2024-03-07T05:55:54.735" v="54" actId="12"/>
          <ac:spMkLst>
            <pc:docMk/>
            <pc:sldMk cId="0" sldId="383"/>
            <ac:spMk id="3" creationId="{E6A3357E-32DA-D300-FC01-2266F73FDF58}"/>
          </ac:spMkLst>
        </pc:spChg>
        <pc:spChg chg="mod">
          <ac:chgData name="Liew Pei Ling" userId="c3090c8e-0726-43ba-95b9-123e980a216d" providerId="ADAL" clId="{BB795C4C-EA0F-4FEF-A1AB-A77BCE1A0627}" dt="2024-03-07T05:57:22.049" v="60"/>
          <ac:spMkLst>
            <pc:docMk/>
            <pc:sldMk cId="0" sldId="383"/>
            <ac:spMk id="60418" creationId="{F53FF557-7980-51B3-1A66-588D4F57E73A}"/>
          </ac:spMkLst>
        </pc:spChg>
        <pc:spChg chg="del">
          <ac:chgData name="Liew Pei Ling" userId="c3090c8e-0726-43ba-95b9-123e980a216d" providerId="ADAL" clId="{BB795C4C-EA0F-4FEF-A1AB-A77BCE1A0627}" dt="2024-03-07T05:54:48.539" v="43" actId="478"/>
          <ac:spMkLst>
            <pc:docMk/>
            <pc:sldMk cId="0" sldId="383"/>
            <ac:spMk id="60419" creationId="{2ACEC75E-C43C-FC3B-24D5-889429A090DB}"/>
          </ac:spMkLst>
        </pc:spChg>
      </pc:sldChg>
      <pc:sldChg chg="modSp mod">
        <pc:chgData name="Liew Pei Ling" userId="c3090c8e-0726-43ba-95b9-123e980a216d" providerId="ADAL" clId="{BB795C4C-EA0F-4FEF-A1AB-A77BCE1A0627}" dt="2024-03-07T05:56:06.059" v="59" actId="20577"/>
        <pc:sldMkLst>
          <pc:docMk/>
          <pc:sldMk cId="0" sldId="384"/>
        </pc:sldMkLst>
        <pc:spChg chg="mod">
          <ac:chgData name="Liew Pei Ling" userId="c3090c8e-0726-43ba-95b9-123e980a216d" providerId="ADAL" clId="{BB795C4C-EA0F-4FEF-A1AB-A77BCE1A0627}" dt="2024-03-07T05:56:06.059" v="59" actId="20577"/>
          <ac:spMkLst>
            <pc:docMk/>
            <pc:sldMk cId="0" sldId="384"/>
            <ac:spMk id="61442" creationId="{07D9CD3D-4752-F086-ED8F-2DD2A41DDCA3}"/>
          </ac:spMkLst>
        </pc:spChg>
      </pc:sldChg>
      <pc:sldMasterChg chg="modSp mod">
        <pc:chgData name="Liew Pei Ling" userId="c3090c8e-0726-43ba-95b9-123e980a216d" providerId="ADAL" clId="{BB795C4C-EA0F-4FEF-A1AB-A77BCE1A0627}" dt="2024-03-07T05:50:54.588" v="20" actId="20577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BB795C4C-EA0F-4FEF-A1AB-A77BCE1A0627}" dt="2024-03-07T05:50:54.588" v="20" actId="20577"/>
          <ac:spMkLst>
            <pc:docMk/>
            <pc:sldMasterMk cId="0" sldId="2147483648"/>
            <ac:spMk id="2" creationId="{BA3E2C8E-834C-35B4-3AD2-0124DC46FD94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B2B385-6280-F55B-31D4-92F8CD5585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6AD66C9-D917-361C-DF2E-9886351E663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7A44B135-FC1C-A578-6B21-D1F24C3FC9F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B3E3AEE-1694-83C5-B1F4-242267D504D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9F29C6C8-1CC1-41E6-A6F2-E9A548D96D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BA786C5-79B7-5846-1A86-B15D5AD1A3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BFAD3FC-3208-E87D-CC0B-8AD7912A78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3141E514-B539-75B0-9254-CB6325CACE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2B1C221-53ED-64F6-2449-BAAD5CB12D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D6781BE6-082C-0778-7FE3-6512E6A6FB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F395E20-55B8-6ADB-5B5D-02673023F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5F24E57-48E4-40EF-AD24-B117AD5079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46F2AB7C-6BF9-A67E-6F64-A2F2B89F3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A987BA-C9B1-4D01-9F10-8C844A071ACB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1B1760B-5BF3-5014-76EC-B6257C1B8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CF26902-A225-BFCC-4F1D-73885FCC63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0EEB3903-2D7E-507D-0D56-95BC074CF9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ABFD12E-57D1-4FDE-86E6-706C95C9E45A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13576AA-386B-0109-BAED-1493E4E18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AEAA209-B18E-5391-EB9E-8E1606EB2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Mobile-first design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12</a:t>
            </a:r>
            <a:b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</a:b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D) Vector Graphics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F24E57-48E4-40EF-AD24-B117AD5079B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62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.container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.container-fluid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Containers can be nested inside each other.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F24E57-48E4-40EF-AD24-B117AD5079B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30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Wrap the table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&lt;div class="table-responsive"&gt;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.table-striped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.table-hover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F24E57-48E4-40EF-AD24-B117AD5079BD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755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53549048-189D-1159-1AAF-30E198292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D29FAB9-55AC-41B6-9A7D-6A84BFC944E5}" type="slidenum">
              <a:rPr lang="en-US" altLang="en-US" sz="1200" smtClean="0">
                <a:solidFill>
                  <a:srgbClr val="000000"/>
                </a:solidFill>
              </a:rPr>
              <a:pPr/>
              <a:t>47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72F434F-61D6-9CC2-ED5E-DA60288857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251AD71-78EF-F17D-C470-060E0D10D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B30A0352-3534-28B6-7C54-7AC95784078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37FFEFBB-E9BA-1DCD-DEB1-53EA4AFFC5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5DB65966-33B5-3827-6CF6-5821A2B78C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238F43C8-2025-95B3-66FC-3DB8D94D9B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18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93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256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56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191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45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71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020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346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998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2198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2533" y="44986"/>
            <a:ext cx="6718934" cy="67710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D7020B86-8544-DDE0-E666-F25E9579AC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84DAC0D6-3761-623F-7824-1FD1B5F7065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FB8F77-F0FB-4C10-8D23-70B877C6692B}" type="datetimeFigureOut">
              <a:rPr lang="en-US"/>
              <a:pPr>
                <a:defRPr/>
              </a:pPr>
              <a:t>3/7/2024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AF2E2212-7E39-BD51-2EA1-4573BFF0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A264C2-398A-452B-8238-F706791B027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2764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9C5DDEAE-FE4B-D5B2-AAFA-F0C984B469A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3C7E8925-E8A4-E02C-D6A2-AA20E682C07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174E7197-A815-9ECF-13F9-127CF58BEE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9B4F6EAB-51CD-AC03-2E5A-4DE32FA1EF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395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04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27E2B7AC-A9CD-3E37-F41C-928D114A03A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1111353C-D17E-2C0F-601E-EA36E74E1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BA3E2C8E-834C-35B4-3AD2-0124DC46FD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35700" y="0"/>
            <a:ext cx="2908300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Responsive CSS Bootstrap  - I Topic 9 - 9.</a:t>
            </a:r>
            <a:fld id="{3A05F83F-8C1C-4DEF-AE78-E211169E0C77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96F33B60-0C1F-AD11-98D6-C12A77568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49" r:id="rId12"/>
    <p:sldLayoutId id="214748405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9">
            <a:extLst>
              <a:ext uri="{FF2B5EF4-FFF2-40B4-BE49-F238E27FC236}">
                <a16:creationId xmlns:a16="http://schemas.microsoft.com/office/drawing/2014/main" id="{E4BE9A95-ED13-EA53-126A-1B3809D61D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14">
            <a:extLst>
              <a:ext uri="{FF2B5EF4-FFF2-40B4-BE49-F238E27FC236}">
                <a16:creationId xmlns:a16="http://schemas.microsoft.com/office/drawing/2014/main" id="{435FA4C4-0989-7BB3-8524-34BEF17BA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4100" name="Rectangle 15">
            <a:extLst>
              <a:ext uri="{FF2B5EF4-FFF2-40B4-BE49-F238E27FC236}">
                <a16:creationId xmlns:a16="http://schemas.microsoft.com/office/drawing/2014/main" id="{80C036BF-39D7-EB7E-80FC-627D3DE3C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getbootstrap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B1023AD2-38E0-98F6-95DF-80877D7663B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779838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18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18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9:  Responsive CSS Framework: </a:t>
            </a:r>
          </a:p>
          <a:p>
            <a:pPr algn="ctr" eaLnBrk="1" hangingPunct="1"/>
            <a:r>
              <a:rPr lang="en-GB" altLang="en-US" sz="1800" b="1" i="0" dirty="0">
                <a:solidFill>
                  <a:schemeClr val="bg1"/>
                </a:solidFill>
                <a:latin typeface="Arial" panose="020B0604020202020204" pitchFamily="34" charset="0"/>
              </a:rPr>
              <a:t>Bootstrap - I</a:t>
            </a:r>
            <a:endParaRPr lang="en-US" altLang="en-US" sz="1800" b="1" i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en-US" sz="1800" i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en-US" sz="1800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772CAD6-D6B3-2810-E5E8-BE220543D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13315" name="Rectangle 7">
            <a:extLst>
              <a:ext uri="{FF2B5EF4-FFF2-40B4-BE49-F238E27FC236}">
                <a16:creationId xmlns:a16="http://schemas.microsoft.com/office/drawing/2014/main" id="{9A9B3E9B-0E80-4946-8E7D-617D2C37B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introduction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containers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Grid system in bootstrap framework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content elements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58AD0957-EB01-6262-38AC-4B14CBEA0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Learning Outcomes</a:t>
            </a:r>
            <a:endParaRPr lang="en-US" altLang="en-US" dirty="0"/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7F01C82-7E90-06A8-5778-2C9EA6BB0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628800"/>
            <a:ext cx="8856663" cy="4319587"/>
          </a:xfrm>
        </p:spPr>
        <p:txBody>
          <a:bodyPr/>
          <a:lstStyle/>
          <a:p>
            <a:pPr eaLnBrk="1" hangingPunct="1"/>
            <a:r>
              <a:rPr lang="en-GB" altLang="en-US" dirty="0"/>
              <a:t>By the end of this topic students will be able to: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Use Bootstrap concepts and develop responsive web pages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Demonstrate understanding of basic bootstrap concepts including Bootstrap installation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Identify different types of Bootstrap containers and explain its concepts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Explain the grid system under bootstrap framework and some of its content elements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1B191C01-CCC5-CB20-B6EE-15797F10A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Roadmap</a:t>
            </a:r>
            <a:endParaRPr lang="en-GB" alt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4EDCBC-D9FA-88CE-33EF-01B06C5D6B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885954"/>
              </p:ext>
            </p:extLst>
          </p:nvPr>
        </p:nvGraphicFramePr>
        <p:xfrm>
          <a:off x="481645" y="1484784"/>
          <a:ext cx="8028310" cy="4270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3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9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9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38570" marR="3857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000" b="1" kern="1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</a:t>
                      </a:r>
                      <a:endParaRPr lang="en-GB" sz="2000" b="1" kern="1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38570" marR="3857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II</a:t>
                      </a: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45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38570" marR="3857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  and Testing. and Collaboration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6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0" marB="2571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1B4F249-5E91-BCA5-0B2C-A3914A452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563563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z="3600" dirty="0"/>
              <a:t>BOOTSTRAP</a:t>
            </a:r>
            <a:endParaRPr sz="3600" dirty="0"/>
          </a:p>
        </p:txBody>
      </p:sp>
      <p:sp>
        <p:nvSpPr>
          <p:cNvPr id="18435" name="Text Placeholder 1">
            <a:extLst>
              <a:ext uri="{FF2B5EF4-FFF2-40B4-BE49-F238E27FC236}">
                <a16:creationId xmlns:a16="http://schemas.microsoft.com/office/drawing/2014/main" id="{406C5117-B6D6-4382-5353-4411B6F23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  <p:transition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258895-71F4-7C0B-2299-06C33983ED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>
                <a:latin typeface="Arial"/>
                <a:cs typeface="Arial"/>
              </a:rPr>
              <a:t>What</a:t>
            </a:r>
            <a:r>
              <a:rPr spc="-38" dirty="0">
                <a:latin typeface="Arial"/>
                <a:cs typeface="Arial"/>
              </a:rPr>
              <a:t> </a:t>
            </a:r>
            <a:r>
              <a:rPr spc="-8" dirty="0">
                <a:latin typeface="Arial"/>
                <a:cs typeface="Arial"/>
              </a:rPr>
              <a:t>is</a:t>
            </a:r>
            <a:r>
              <a:rPr spc="-38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Bootstrap?</a:t>
            </a:r>
            <a:endParaRPr dirty="0">
              <a:latin typeface="Arial"/>
              <a:cs typeface="Arial"/>
            </a:endParaRPr>
          </a:p>
        </p:txBody>
      </p:sp>
      <p:sp>
        <p:nvSpPr>
          <p:cNvPr id="19459" name="object 3">
            <a:extLst>
              <a:ext uri="{FF2B5EF4-FFF2-40B4-BE49-F238E27FC236}">
                <a16:creationId xmlns:a16="http://schemas.microsoft.com/office/drawing/2014/main" id="{FA663B74-4100-D366-D85D-966F0A30E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68" y="1732798"/>
            <a:ext cx="8033171" cy="3460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8573" rIns="0" bIns="0">
            <a:spAutoFit/>
          </a:bodyPr>
          <a:lstStyle>
            <a:lvl1pPr marL="266700" indent="-257175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2425" indent="-342900" algn="just">
              <a:lnSpc>
                <a:spcPct val="150000"/>
              </a:lnSpc>
              <a:spcBef>
                <a:spcPts val="6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/>
                </a:solidFill>
                <a:cs typeface="Arial" panose="020B0604020202020204" pitchFamily="34" charset="0"/>
              </a:rPr>
              <a:t>Bootstrap</a:t>
            </a:r>
            <a:r>
              <a:rPr lang="en-US" altLang="en-US" b="1" dirty="0">
                <a:cs typeface="Arial" panose="020B0604020202020204" pitchFamily="34" charset="0"/>
              </a:rPr>
              <a:t> 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is a free, open-source software</a:t>
            </a:r>
          </a:p>
          <a:p>
            <a:pPr marL="352425" indent="-342900" algn="just">
              <a:lnSpc>
                <a:spcPct val="150000"/>
              </a:lnSpc>
              <a:spcBef>
                <a:spcPts val="6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Most popular HTML, CSS, and JavaScript framework</a:t>
            </a:r>
          </a:p>
          <a:p>
            <a:pPr marL="352425" indent="-342900" algn="just">
              <a:lnSpc>
                <a:spcPct val="150000"/>
              </a:lnSpc>
              <a:spcBef>
                <a:spcPts val="6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Developed by twitter</a:t>
            </a:r>
          </a:p>
          <a:p>
            <a:pPr marL="352425" indent="-342900" algn="just">
              <a:lnSpc>
                <a:spcPct val="150000"/>
              </a:lnSpc>
              <a:spcBef>
                <a:spcPts val="6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Used for creating </a:t>
            </a:r>
            <a:r>
              <a:rPr lang="en-US" altLang="en-US" b="1" dirty="0">
                <a:solidFill>
                  <a:srgbClr val="002060"/>
                </a:solidFill>
                <a:ea typeface="Arial MT"/>
                <a:cs typeface="Arial" panose="020B0604020202020204" pitchFamily="34" charset="0"/>
              </a:rPr>
              <a:t>responsive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 web applications</a:t>
            </a:r>
          </a:p>
          <a:p>
            <a:pPr marL="352425" indent="-342900" algn="just">
              <a:lnSpc>
                <a:spcPct val="150000"/>
              </a:lnSpc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Widely used to create a web application built with any server-side technologies like ASP.NET, JAVA,  PHP etc.</a:t>
            </a:r>
          </a:p>
        </p:txBody>
      </p:sp>
    </p:spTree>
  </p:cSld>
  <p:clrMapOvr>
    <a:masterClrMapping/>
  </p:clrMapOvr>
  <p:transition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10BABD-1F56-67BE-924E-C6B889F3F0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Why</a:t>
            </a:r>
            <a:r>
              <a:rPr spc="-26" dirty="0"/>
              <a:t> </a:t>
            </a:r>
            <a:r>
              <a:rPr spc="-4" dirty="0"/>
              <a:t>use</a:t>
            </a:r>
            <a:r>
              <a:rPr spc="-15" dirty="0"/>
              <a:t> </a:t>
            </a:r>
            <a:r>
              <a:rPr spc="-4" dirty="0"/>
              <a:t>Bootstrap?</a:t>
            </a:r>
            <a:endParaRPr dirty="0"/>
          </a:p>
        </p:txBody>
      </p:sp>
      <p:sp>
        <p:nvSpPr>
          <p:cNvPr id="20483" name="object 3">
            <a:extLst>
              <a:ext uri="{FF2B5EF4-FFF2-40B4-BE49-F238E27FC236}">
                <a16:creationId xmlns:a16="http://schemas.microsoft.com/office/drawing/2014/main" id="{B1B42A6C-D425-FCFE-52FA-6DCA6429C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97025"/>
            <a:ext cx="8208963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390" rIns="0" bIns="0">
            <a:spAutoFit/>
          </a:bodyPr>
          <a:lstStyle>
            <a:lvl1pPr marL="352425" indent="-3429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8675" indent="-3429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5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Mobile first approach:</a:t>
            </a:r>
          </a:p>
          <a:p>
            <a:pPr lvl="1">
              <a:lnSpc>
                <a:spcPct val="90000"/>
              </a:lnSpc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>
                <a:ea typeface="Arial MT"/>
                <a:cs typeface="Arial" panose="020B0604020202020204" pitchFamily="34" charset="0"/>
              </a:rPr>
              <a:t>The framework consists	 of </a:t>
            </a:r>
            <a:r>
              <a:rPr lang="en-US" altLang="en-US" sz="21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Mobile-first </a:t>
            </a:r>
            <a:r>
              <a:rPr lang="en-US" altLang="en-US" sz="2100" dirty="0">
                <a:ea typeface="Arial MT"/>
                <a:cs typeface="Arial" panose="020B0604020202020204" pitchFamily="34" charset="0"/>
              </a:rPr>
              <a:t>styles</a:t>
            </a:r>
          </a:p>
          <a:p>
            <a:pPr lvl="1">
              <a:lnSpc>
                <a:spcPct val="90000"/>
              </a:lnSpc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2100" dirty="0">
              <a:ea typeface="Arial MT"/>
              <a:cs typeface="Arial" panose="020B0604020202020204" pitchFamily="34" charset="0"/>
            </a:endParaRPr>
          </a:p>
          <a:p>
            <a:pPr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Browser Support:</a:t>
            </a:r>
          </a:p>
          <a:p>
            <a:pPr lvl="1">
              <a:spcBef>
                <a:spcPts val="48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>
                <a:ea typeface="Arial MT"/>
                <a:cs typeface="Arial" panose="020B0604020202020204" pitchFamily="34" charset="0"/>
              </a:rPr>
              <a:t>It is supported by all popular browsers</a:t>
            </a:r>
          </a:p>
          <a:p>
            <a:pPr lvl="1">
              <a:spcBef>
                <a:spcPts val="48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2100" dirty="0">
              <a:ea typeface="Arial MT"/>
              <a:cs typeface="Arial" panose="020B0604020202020204" pitchFamily="34" charset="0"/>
            </a:endParaRPr>
          </a:p>
          <a:p>
            <a:pPr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Easy learning curve:</a:t>
            </a:r>
          </a:p>
          <a:p>
            <a:pPr lvl="1">
              <a:lnSpc>
                <a:spcPts val="2275"/>
              </a:lnSpc>
              <a:spcBef>
                <a:spcPts val="7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>
                <a:ea typeface="Arial MT"/>
                <a:cs typeface="Arial" panose="020B0604020202020204" pitchFamily="34" charset="0"/>
              </a:rPr>
              <a:t>Requires knowledge of HTML and CSS</a:t>
            </a:r>
          </a:p>
          <a:p>
            <a:pPr lvl="1">
              <a:lnSpc>
                <a:spcPts val="2275"/>
              </a:lnSpc>
              <a:spcBef>
                <a:spcPts val="7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2100" dirty="0">
              <a:ea typeface="Arial MT"/>
              <a:cs typeface="Arial" panose="020B0604020202020204" pitchFamily="34" charset="0"/>
            </a:endParaRPr>
          </a:p>
          <a:p>
            <a:pPr>
              <a:spcBef>
                <a:spcPts val="46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Responsive design:</a:t>
            </a:r>
          </a:p>
          <a:p>
            <a:pPr lvl="1">
              <a:lnSpc>
                <a:spcPts val="2275"/>
              </a:lnSpc>
              <a:spcBef>
                <a:spcPts val="7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>
                <a:ea typeface="Arial MT"/>
                <a:cs typeface="Arial" panose="020B0604020202020204" pitchFamily="34" charset="0"/>
              </a:rPr>
              <a:t>Responsive CSS adjusts to desktops, tablets and mobiles</a:t>
            </a:r>
          </a:p>
        </p:txBody>
      </p:sp>
    </p:spTree>
  </p:cSld>
  <p:clrMapOvr>
    <a:masterClrMapping/>
  </p:clrMapOvr>
  <p:transition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D92240-B7CD-7809-9BFB-BAFBF4D1B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Bootstrap</a:t>
            </a:r>
            <a:r>
              <a:rPr spc="-15" dirty="0"/>
              <a:t> </a:t>
            </a:r>
            <a:r>
              <a:rPr lang="en-US" spc="-4" dirty="0"/>
              <a:t>Features</a:t>
            </a:r>
            <a:endParaRPr dirty="0"/>
          </a:p>
        </p:txBody>
      </p:sp>
      <p:sp>
        <p:nvSpPr>
          <p:cNvPr id="21507" name="object 3">
            <a:extLst>
              <a:ext uri="{FF2B5EF4-FFF2-40B4-BE49-F238E27FC236}">
                <a16:creationId xmlns:a16="http://schemas.microsoft.com/office/drawing/2014/main" id="{67B21736-0835-AB74-D5C8-EBAE28E3B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1557338"/>
            <a:ext cx="9005887" cy="459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352425" indent="-3429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8675" indent="-3429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28725" indent="-3429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Scaffolding</a:t>
            </a:r>
            <a:r>
              <a:rPr lang="en-US" altLang="en-US" sz="1800" b="1" u="sng" dirty="0">
                <a:cs typeface="Arial" panose="020B0604020202020204" pitchFamily="34" charset="0"/>
              </a:rPr>
              <a:t>:</a:t>
            </a:r>
            <a:r>
              <a:rPr lang="en-US" altLang="en-US" sz="1800" b="1" dirty="0">
                <a:cs typeface="Arial" panose="020B0604020202020204" pitchFamily="34" charset="0"/>
              </a:rPr>
              <a:t> </a:t>
            </a:r>
          </a:p>
          <a:p>
            <a:pPr marL="771525" lvl="1" indent="-285750"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Bootstrap provides a basic structure with Grid System, link styles, background.</a:t>
            </a:r>
          </a:p>
          <a:p>
            <a:pPr marL="295275" indent="-2857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CSS</a:t>
            </a:r>
            <a:r>
              <a:rPr lang="en-US" altLang="en-US" sz="1800" b="1" u="sng" dirty="0">
                <a:solidFill>
                  <a:schemeClr val="accent2"/>
                </a:solidFill>
                <a:cs typeface="Arial" panose="020B0604020202020204" pitchFamily="34" charset="0"/>
              </a:rPr>
              <a:t>:</a:t>
            </a:r>
            <a:r>
              <a:rPr lang="en-US" altLang="en-US" sz="1800" b="1" dirty="0">
                <a:cs typeface="Arial" panose="020B0604020202020204" pitchFamily="34" charset="0"/>
              </a:rPr>
              <a:t> </a:t>
            </a:r>
          </a:p>
          <a:p>
            <a:pPr marL="771525" lvl="1" indent="-2857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 MT"/>
              </a:rPr>
              <a:t>Provides global CSS settings</a:t>
            </a:r>
          </a:p>
          <a:p>
            <a:pPr marL="771525" lvl="1" indent="-2857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 MT"/>
              </a:rPr>
              <a:t>HTML elements enhanced with extensible classes</a:t>
            </a:r>
          </a:p>
          <a:p>
            <a:pPr marL="771525" lvl="1" indent="-2857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 MT"/>
              </a:rPr>
              <a:t>An advanced grid system.</a:t>
            </a:r>
          </a:p>
          <a:p>
            <a:pPr marL="295275" indent="-2857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Components</a:t>
            </a:r>
            <a:r>
              <a:rPr lang="en-US" altLang="en-US" sz="1800" b="1" u="sng" dirty="0">
                <a:solidFill>
                  <a:schemeClr val="accent2"/>
                </a:solidFill>
                <a:cs typeface="Arial" panose="020B0604020202020204" pitchFamily="34" charset="0"/>
              </a:rPr>
              <a:t>:</a:t>
            </a: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</a:p>
          <a:p>
            <a:pPr marL="771525" lvl="1" indent="-2857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 MT"/>
              </a:rPr>
              <a:t>Bootstrap contains reusable components that provides:</a:t>
            </a:r>
          </a:p>
          <a:p>
            <a:pPr marL="1057275" lvl="2" indent="-1714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ea typeface="Arial MT"/>
                <a:cs typeface="Arial MT"/>
              </a:rPr>
              <a:t>Iconography</a:t>
            </a:r>
          </a:p>
          <a:p>
            <a:pPr marL="1057275" lvl="2" indent="-1714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ea typeface="Arial MT"/>
                <a:cs typeface="Arial MT"/>
              </a:rPr>
              <a:t>Dropdowns</a:t>
            </a:r>
          </a:p>
          <a:p>
            <a:pPr marL="1057275" lvl="2" indent="-1714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ea typeface="Arial MT"/>
                <a:cs typeface="Arial MT"/>
              </a:rPr>
              <a:t>Navigation</a:t>
            </a:r>
          </a:p>
          <a:p>
            <a:pPr marL="1057275" lvl="2" indent="-1714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ea typeface="Arial MT"/>
                <a:cs typeface="Arial MT"/>
              </a:rPr>
              <a:t>Alerts</a:t>
            </a:r>
          </a:p>
          <a:p>
            <a:pPr marL="1057275" lvl="2" indent="-171450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ea typeface="Arial MT"/>
                <a:cs typeface="Arial MT"/>
              </a:rPr>
              <a:t>Popovers, and much more.</a:t>
            </a:r>
          </a:p>
        </p:txBody>
      </p:sp>
    </p:spTree>
  </p:cSld>
  <p:clrMapOvr>
    <a:masterClrMapping/>
  </p:clrMapOvr>
  <p:transition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9E14A9-0AC9-5E26-B9B9-27AA0DAE7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dirty="0">
                <a:latin typeface="Arial"/>
                <a:cs typeface="Arial"/>
              </a:rPr>
              <a:t>Bootstrap</a:t>
            </a:r>
            <a:r>
              <a:rPr spc="-19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Features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22531" name="object 3">
            <a:extLst>
              <a:ext uri="{FF2B5EF4-FFF2-40B4-BE49-F238E27FC236}">
                <a16:creationId xmlns:a16="http://schemas.microsoft.com/office/drawing/2014/main" id="{CAFB111D-D210-3624-277A-E75BFE6DF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03400"/>
            <a:ext cx="8528050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352425" indent="-3429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8675" indent="-3429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JavaScript Plugins</a:t>
            </a:r>
            <a:r>
              <a:rPr lang="en-US" altLang="en-US" sz="2100" b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 </a:t>
            </a:r>
          </a:p>
          <a:p>
            <a:pPr lvl="1"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Bootstrap contains a variety of  customized jQuery plugins</a:t>
            </a:r>
          </a:p>
          <a:p>
            <a:pPr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Flexibility:</a:t>
            </a:r>
          </a:p>
          <a:p>
            <a:pPr lvl="1" algn="just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 err="1">
                <a:latin typeface="Arial MT"/>
                <a:ea typeface="Arial MT"/>
                <a:cs typeface="Arial MT"/>
              </a:rPr>
              <a:t>Customise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 Bootstrap's components and jQuery plugins to create own customized version</a:t>
            </a:r>
          </a:p>
        </p:txBody>
      </p:sp>
      <p:sp>
        <p:nvSpPr>
          <p:cNvPr id="22532" name="object 5">
            <a:extLst>
              <a:ext uri="{FF2B5EF4-FFF2-40B4-BE49-F238E27FC236}">
                <a16:creationId xmlns:a16="http://schemas.microsoft.com/office/drawing/2014/main" id="{72E9A401-8669-9E2C-6BC0-DBC5B2A52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789040"/>
            <a:ext cx="6973887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4770" rIns="0" bIns="0">
            <a:spAutoFit/>
          </a:bodyPr>
          <a:lstStyle>
            <a:lvl1pPr marL="352425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8585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51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Download Bootstrap</a:t>
            </a:r>
            <a:endParaRPr lang="en-US" altLang="en-US" sz="20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 lvl="1">
              <a:spcBef>
                <a:spcPts val="38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Download at:  </a:t>
            </a:r>
            <a:r>
              <a:rPr lang="en-US" altLang="en-US" sz="2100" dirty="0">
                <a:solidFill>
                  <a:srgbClr val="0066FF"/>
                </a:solidFill>
                <a:latin typeface="Arial MT"/>
                <a:ea typeface="Arial MT"/>
                <a:cs typeface="Arial MT"/>
                <a:hlinkClick r:id="rId2"/>
              </a:rPr>
              <a:t>http://getbootstrap.com/</a:t>
            </a:r>
            <a:r>
              <a:rPr lang="en-US" altLang="en-US" sz="21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.</a:t>
            </a:r>
            <a:endParaRPr lang="en-US" altLang="en-US" sz="2100" dirty="0">
              <a:latin typeface="Arial MT"/>
              <a:ea typeface="Arial MT"/>
              <a:cs typeface="Arial MT"/>
            </a:endParaRPr>
          </a:p>
        </p:txBody>
      </p:sp>
    </p:spTree>
  </p:cSld>
  <p:clrMapOvr>
    <a:masterClrMapping/>
  </p:clrMapOvr>
  <p:transition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2D7F3241-02E1-050C-1097-E051F36AF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Quiz - 1</a:t>
            </a:r>
            <a:endParaRPr lang="en-GB" alt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F5E89F-D42B-230F-DAE3-30DE64298A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556792"/>
            <a:ext cx="8856663" cy="4319587"/>
          </a:xfrm>
        </p:spPr>
        <p:txBody>
          <a:bodyPr/>
          <a:lstStyle/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Which of the following is a key feature of Bootstrap?</a:t>
            </a:r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Requires deep knowledge of JavaScript to use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Mobile-first design approach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Only offers grid system</a:t>
            </a:r>
          </a:p>
          <a:p>
            <a:pPr algn="l"/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Bootstrap's grid system is based on how many columns?</a:t>
            </a:r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6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12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24</a:t>
            </a:r>
          </a:p>
          <a:p>
            <a:pPr algn="l"/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Which component is NOT a part of Bootstrap's components?</a:t>
            </a:r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Carousel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Accordion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Tooltip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Vector Graphics</a:t>
            </a:r>
          </a:p>
          <a:p>
            <a:endParaRPr lang="en-GB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1CA815-2B2E-298B-96D9-040F4224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containers</a:t>
            </a: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F065AB-15B7-FA67-C021-B8EB2425C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>
                <a:solidFill>
                  <a:schemeClr val="accent3"/>
                </a:solidFill>
              </a:rPr>
              <a:t>Containers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F43476-152E-6337-57E4-CB9802ACA664}"/>
              </a:ext>
            </a:extLst>
          </p:cNvPr>
          <p:cNvSpPr txBox="1"/>
          <p:nvPr/>
        </p:nvSpPr>
        <p:spPr>
          <a:xfrm>
            <a:off x="684213" y="1609725"/>
            <a:ext cx="7704137" cy="4151313"/>
          </a:xfrm>
          <a:prstGeom prst="rect">
            <a:avLst/>
          </a:prstGeom>
        </p:spPr>
        <p:txBody>
          <a:bodyPr lIns="0" tIns="103823" rIns="0" bIns="0">
            <a:spAutoFit/>
          </a:bodyPr>
          <a:lstStyle/>
          <a:p>
            <a:pPr marL="9525">
              <a:spcBef>
                <a:spcPts val="818"/>
              </a:spcBef>
              <a:defRPr/>
            </a:pPr>
            <a:r>
              <a:rPr sz="1800" b="1" spc="-4" dirty="0">
                <a:solidFill>
                  <a:schemeClr val="accent2"/>
                </a:solidFill>
                <a:cs typeface="Arial" panose="020B0604020202020204" pitchFamily="34" charset="0"/>
              </a:rPr>
              <a:t>.container</a:t>
            </a:r>
            <a:r>
              <a:rPr sz="1800" b="1" spc="8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class</a:t>
            </a:r>
            <a:r>
              <a:rPr sz="1800" spc="-8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used</a:t>
            </a:r>
            <a:r>
              <a:rPr sz="1800" spc="-11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for</a:t>
            </a:r>
            <a:r>
              <a:rPr sz="1800" dirty="0">
                <a:cs typeface="Arial" panose="020B0604020202020204" pitchFamily="34" charset="0"/>
              </a:rPr>
              <a:t> a</a:t>
            </a:r>
            <a:r>
              <a:rPr sz="1800" spc="-8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responsive</a:t>
            </a:r>
            <a:r>
              <a:rPr sz="1800" spc="-8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fixed-width.</a:t>
            </a:r>
            <a:endParaRPr sz="1800" dirty="0">
              <a:cs typeface="Arial" panose="020B0604020202020204" pitchFamily="34" charset="0"/>
            </a:endParaRPr>
          </a:p>
          <a:p>
            <a:pPr marL="9525">
              <a:spcBef>
                <a:spcPts val="743"/>
              </a:spcBef>
              <a:defRPr/>
            </a:pPr>
            <a:r>
              <a:rPr sz="1800" b="1" u="heavy" spc="-8" dirty="0">
                <a:uFill>
                  <a:solidFill>
                    <a:srgbClr val="000000"/>
                  </a:solidFill>
                </a:uFill>
                <a:cs typeface="Arial" panose="020B0604020202020204" pitchFamily="34" charset="0"/>
              </a:rPr>
              <a:t>Syntax:</a:t>
            </a:r>
            <a:endParaRPr sz="1800" dirty="0">
              <a:cs typeface="Arial" panose="020B0604020202020204" pitchFamily="34" charset="0"/>
            </a:endParaRPr>
          </a:p>
          <a:p>
            <a:pPr marL="466725" lvl="1">
              <a:spcBef>
                <a:spcPts val="750"/>
              </a:spcBef>
              <a:defRPr/>
            </a:pPr>
            <a:r>
              <a:rPr sz="1800" spc="-4" dirty="0">
                <a:cs typeface="Arial" panose="020B0604020202020204" pitchFamily="34" charset="0"/>
              </a:rPr>
              <a:t>&lt;div</a:t>
            </a:r>
            <a:r>
              <a:rPr sz="1800" spc="-30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class="container"&gt;</a:t>
            </a:r>
            <a:endParaRPr sz="1800" dirty="0">
              <a:cs typeface="Arial" panose="020B0604020202020204" pitchFamily="34" charset="0"/>
            </a:endParaRPr>
          </a:p>
          <a:p>
            <a:pPr marL="530066" lvl="1">
              <a:spcBef>
                <a:spcPts val="750"/>
              </a:spcBef>
              <a:defRPr/>
            </a:pPr>
            <a:r>
              <a:rPr sz="1800" dirty="0">
                <a:cs typeface="Arial" panose="020B0604020202020204" pitchFamily="34" charset="0"/>
              </a:rPr>
              <a:t>…..</a:t>
            </a:r>
          </a:p>
          <a:p>
            <a:pPr marL="466725" lvl="1">
              <a:spcBef>
                <a:spcPts val="750"/>
              </a:spcBef>
              <a:defRPr/>
            </a:pPr>
            <a:r>
              <a:rPr sz="1800" spc="-4" dirty="0">
                <a:cs typeface="Arial" panose="020B0604020202020204" pitchFamily="34" charset="0"/>
              </a:rPr>
              <a:t>&lt;/div&gt;</a:t>
            </a:r>
            <a:endParaRPr lang="en-US" sz="1800" spc="-4" dirty="0">
              <a:cs typeface="Arial" panose="020B0604020202020204" pitchFamily="34" charset="0"/>
            </a:endParaRPr>
          </a:p>
          <a:p>
            <a:pPr marL="466725" lvl="1">
              <a:spcBef>
                <a:spcPts val="750"/>
              </a:spcBef>
              <a:defRPr/>
            </a:pPr>
            <a:endParaRPr sz="1800" dirty="0">
              <a:cs typeface="Arial" panose="020B0604020202020204" pitchFamily="34" charset="0"/>
            </a:endParaRPr>
          </a:p>
          <a:p>
            <a:pPr marL="9525">
              <a:spcBef>
                <a:spcPts val="750"/>
              </a:spcBef>
              <a:defRPr/>
            </a:pPr>
            <a:r>
              <a:rPr sz="1800" b="1" spc="-4" dirty="0">
                <a:solidFill>
                  <a:schemeClr val="accent2"/>
                </a:solidFill>
                <a:cs typeface="Arial" panose="020B0604020202020204" pitchFamily="34" charset="0"/>
              </a:rPr>
              <a:t>.container-fluid</a:t>
            </a:r>
            <a:r>
              <a:rPr sz="1800" b="1" spc="1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for</a:t>
            </a:r>
            <a:r>
              <a:rPr sz="1800" spc="4" dirty="0">
                <a:cs typeface="Arial" panose="020B0604020202020204" pitchFamily="34" charset="0"/>
              </a:rPr>
              <a:t> </a:t>
            </a:r>
            <a:r>
              <a:rPr sz="1800" dirty="0">
                <a:cs typeface="Arial" panose="020B0604020202020204" pitchFamily="34" charset="0"/>
              </a:rPr>
              <a:t>a</a:t>
            </a:r>
            <a:r>
              <a:rPr sz="1800" spc="-8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full-width</a:t>
            </a:r>
            <a:r>
              <a:rPr sz="1800" spc="-8" dirty="0">
                <a:cs typeface="Arial" panose="020B0604020202020204" pitchFamily="34" charset="0"/>
              </a:rPr>
              <a:t> </a:t>
            </a:r>
            <a:r>
              <a:rPr sz="1800" spc="-15" dirty="0">
                <a:cs typeface="Arial" panose="020B0604020202020204" pitchFamily="34" charset="0"/>
              </a:rPr>
              <a:t>container.</a:t>
            </a:r>
            <a:endParaRPr sz="1800" dirty="0">
              <a:cs typeface="Arial" panose="020B0604020202020204" pitchFamily="34" charset="0"/>
            </a:endParaRPr>
          </a:p>
          <a:p>
            <a:pPr marL="9525">
              <a:spcBef>
                <a:spcPts val="743"/>
              </a:spcBef>
              <a:defRPr/>
            </a:pPr>
            <a:r>
              <a:rPr sz="1800" b="1" u="heavy" spc="-8" dirty="0">
                <a:uFill>
                  <a:solidFill>
                    <a:srgbClr val="000000"/>
                  </a:solidFill>
                </a:uFill>
                <a:cs typeface="Arial" panose="020B0604020202020204" pitchFamily="34" charset="0"/>
              </a:rPr>
              <a:t>Syntax:</a:t>
            </a:r>
            <a:endParaRPr sz="1800" dirty="0">
              <a:cs typeface="Arial" panose="020B0604020202020204" pitchFamily="34" charset="0"/>
            </a:endParaRPr>
          </a:p>
          <a:p>
            <a:pPr marL="466725" lvl="1">
              <a:spcBef>
                <a:spcPts val="750"/>
              </a:spcBef>
              <a:defRPr/>
            </a:pPr>
            <a:r>
              <a:rPr sz="1800" spc="-4" dirty="0">
                <a:cs typeface="Arial" panose="020B0604020202020204" pitchFamily="34" charset="0"/>
              </a:rPr>
              <a:t>&lt;div</a:t>
            </a:r>
            <a:r>
              <a:rPr sz="1800" spc="-30" dirty="0">
                <a:cs typeface="Arial" panose="020B0604020202020204" pitchFamily="34" charset="0"/>
              </a:rPr>
              <a:t> </a:t>
            </a:r>
            <a:r>
              <a:rPr sz="1800" spc="-4" dirty="0">
                <a:cs typeface="Arial" panose="020B0604020202020204" pitchFamily="34" charset="0"/>
              </a:rPr>
              <a:t>class="container-fluid"&gt;</a:t>
            </a:r>
            <a:endParaRPr sz="1800" dirty="0">
              <a:cs typeface="Arial" panose="020B0604020202020204" pitchFamily="34" charset="0"/>
            </a:endParaRPr>
          </a:p>
          <a:p>
            <a:pPr marL="530066" lvl="1">
              <a:spcBef>
                <a:spcPts val="750"/>
              </a:spcBef>
              <a:defRPr/>
            </a:pPr>
            <a:r>
              <a:rPr sz="1800" dirty="0">
                <a:cs typeface="Arial" panose="020B0604020202020204" pitchFamily="34" charset="0"/>
              </a:rPr>
              <a:t>...</a:t>
            </a:r>
          </a:p>
          <a:p>
            <a:pPr marL="466725" lvl="1">
              <a:spcBef>
                <a:spcPts val="750"/>
              </a:spcBef>
              <a:defRPr/>
            </a:pPr>
            <a:r>
              <a:rPr sz="1800" spc="-4" dirty="0">
                <a:cs typeface="Arial" panose="020B0604020202020204" pitchFamily="34" charset="0"/>
              </a:rPr>
              <a:t>&lt;/div&gt;</a:t>
            </a:r>
            <a:endParaRPr sz="1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>
            <a:extLst>
              <a:ext uri="{FF2B5EF4-FFF2-40B4-BE49-F238E27FC236}">
                <a16:creationId xmlns:a16="http://schemas.microsoft.com/office/drawing/2014/main" id="{240E8FAD-4563-E6E3-0F4B-A93A67EBD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742"/>
            <a:ext cx="8785225" cy="689291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GB" spc="-4" dirty="0">
                <a:solidFill>
                  <a:srgbClr val="FFFFFF"/>
                </a:solidFill>
              </a:rPr>
              <a:t>Containers</a:t>
            </a:r>
            <a:endParaRPr lang="en-GB" spc="-150" dirty="0"/>
          </a:p>
        </p:txBody>
      </p:sp>
      <p:sp>
        <p:nvSpPr>
          <p:cNvPr id="26627" name="Content Placeholder 4">
            <a:extLst>
              <a:ext uri="{FF2B5EF4-FFF2-40B4-BE49-F238E27FC236}">
                <a16:creationId xmlns:a16="http://schemas.microsoft.com/office/drawing/2014/main" id="{FE66083D-4E17-19E2-1FE3-14AD6E7CF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412875"/>
            <a:ext cx="8856663" cy="43195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</a:p>
          <a:p>
            <a:pPr marL="787400" lvl="1" indent="-342900"/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wrap and centre site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Responsiveness: </a:t>
            </a:r>
          </a:p>
          <a:p>
            <a:pPr marL="787400" lvl="1" indent="-342900"/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Adapts to various screen sizes with different container classes (container, container-fluid, container-</a:t>
            </a:r>
            <a:r>
              <a:rPr lang="en-GB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</a:t>
            </a: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/md/</a:t>
            </a:r>
            <a:r>
              <a:rPr lang="en-GB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</a:t>
            </a: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/xl/</a:t>
            </a:r>
            <a:r>
              <a:rPr lang="en-GB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xxl</a:t>
            </a: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Fixed-width: </a:t>
            </a:r>
          </a:p>
          <a:p>
            <a:pPr marL="787400" lvl="1" indent="-342900"/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 for container-fluid, all containers have a maximum width for each breakpoint.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Margins: </a:t>
            </a:r>
          </a:p>
          <a:p>
            <a:pPr marL="787400" lvl="1" indent="-342900"/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adds horizontal padding for content inside.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object 24">
            <a:extLst>
              <a:ext uri="{FF2B5EF4-FFF2-40B4-BE49-F238E27FC236}">
                <a16:creationId xmlns:a16="http://schemas.microsoft.com/office/drawing/2014/main" id="{5D01433B-083A-C215-DB65-658064EFF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363" y="2373313"/>
            <a:ext cx="3416300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object 25">
            <a:extLst>
              <a:ext uri="{FF2B5EF4-FFF2-40B4-BE49-F238E27FC236}">
                <a16:creationId xmlns:a16="http://schemas.microsoft.com/office/drawing/2014/main" id="{8CDA146D-8197-6463-5349-EBC95B4C5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585026"/>
            <a:ext cx="3816350" cy="148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341313" indent="-330200"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Responsive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Fixed-width Container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Max-width changes at each  breakpoint</a:t>
            </a: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CA9AB7C-6007-D93C-8C45-A44D3C349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380" dirty="0"/>
              <a:t>D</a:t>
            </a:r>
            <a:r>
              <a:rPr spc="-290" dirty="0"/>
              <a:t>e</a:t>
            </a:r>
            <a:r>
              <a:rPr spc="-75" dirty="0"/>
              <a:t>fault</a:t>
            </a:r>
            <a:r>
              <a:rPr spc="-260" dirty="0"/>
              <a:t> </a:t>
            </a:r>
            <a:r>
              <a:rPr spc="-170" dirty="0"/>
              <a:t>Contain</a:t>
            </a:r>
            <a:r>
              <a:rPr spc="-180" dirty="0"/>
              <a:t>e</a:t>
            </a:r>
            <a:r>
              <a:rPr spc="65" dirty="0"/>
              <a:t>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>
            <a:extLst>
              <a:ext uri="{FF2B5EF4-FFF2-40B4-BE49-F238E27FC236}">
                <a16:creationId xmlns:a16="http://schemas.microsoft.com/office/drawing/2014/main" id="{A15D8580-5F60-AFAE-1FB4-224DEF15B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10" dirty="0"/>
              <a:t>Flui</a:t>
            </a:r>
            <a:r>
              <a:rPr spc="-150" dirty="0"/>
              <a:t>d</a:t>
            </a:r>
            <a:r>
              <a:rPr spc="-254" dirty="0"/>
              <a:t> </a:t>
            </a:r>
            <a:r>
              <a:rPr spc="-170" dirty="0"/>
              <a:t>Contain</a:t>
            </a:r>
            <a:r>
              <a:rPr spc="-180" dirty="0"/>
              <a:t>e</a:t>
            </a:r>
            <a:r>
              <a:rPr spc="65" dirty="0"/>
              <a:t>r</a:t>
            </a:r>
          </a:p>
        </p:txBody>
      </p:sp>
      <p:sp>
        <p:nvSpPr>
          <p:cNvPr id="28675" name="object 30">
            <a:extLst>
              <a:ext uri="{FF2B5EF4-FFF2-40B4-BE49-F238E27FC236}">
                <a16:creationId xmlns:a16="http://schemas.microsoft.com/office/drawing/2014/main" id="{C5F1FCBE-72F3-0B4F-8C91-B0E1FE701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55863"/>
            <a:ext cx="3960813" cy="111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342900" indent="-3302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>
              <a:spcBef>
                <a:spcPts val="1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Full width container</a:t>
            </a:r>
          </a:p>
          <a:p>
            <a:pPr marL="3556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Spans the entire width of the  viewport</a:t>
            </a:r>
          </a:p>
        </p:txBody>
      </p:sp>
      <p:pic>
        <p:nvPicPr>
          <p:cNvPr id="28676" name="object 31">
            <a:extLst>
              <a:ext uri="{FF2B5EF4-FFF2-40B4-BE49-F238E27FC236}">
                <a16:creationId xmlns:a16="http://schemas.microsoft.com/office/drawing/2014/main" id="{4F87ED9A-9780-E956-A197-4F8E8591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2068513"/>
            <a:ext cx="4346575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object 30">
            <a:extLst>
              <a:ext uri="{FF2B5EF4-FFF2-40B4-BE49-F238E27FC236}">
                <a16:creationId xmlns:a16="http://schemas.microsoft.com/office/drawing/2014/main" id="{0AAE37E3-D81F-763F-D4ED-60CAFC2F8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2852738"/>
            <a:ext cx="8045450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F1BDD19B-B1AA-0474-4F54-8E055D2546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75" dirty="0"/>
              <a:t>Respons</a:t>
            </a:r>
            <a:r>
              <a:rPr spc="-85" dirty="0"/>
              <a:t>i</a:t>
            </a:r>
            <a:r>
              <a:rPr spc="-210" dirty="0"/>
              <a:t>ve</a:t>
            </a:r>
            <a:r>
              <a:rPr spc="-220" dirty="0"/>
              <a:t> </a:t>
            </a:r>
            <a:r>
              <a:rPr spc="-180" dirty="0"/>
              <a:t>Conta</a:t>
            </a:r>
            <a:r>
              <a:rPr spc="-90" dirty="0"/>
              <a:t>i</a:t>
            </a:r>
            <a:r>
              <a:rPr spc="-114" dirty="0"/>
              <a:t>ner</a:t>
            </a:r>
          </a:p>
        </p:txBody>
      </p:sp>
      <p:sp>
        <p:nvSpPr>
          <p:cNvPr id="29700" name="object 32">
            <a:extLst>
              <a:ext uri="{FF2B5EF4-FFF2-40B4-BE49-F238E27FC236}">
                <a16:creationId xmlns:a16="http://schemas.microsoft.com/office/drawing/2014/main" id="{62A5F8B5-D997-4F38-6FEC-8EDBED13B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916832"/>
            <a:ext cx="8045450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342900" indent="-3302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2700" indent="0">
              <a:spcBef>
                <a:spcPts val="100"/>
              </a:spcBef>
              <a:buClr>
                <a:srgbClr val="77C5FB"/>
              </a:buClr>
            </a:pPr>
            <a:r>
              <a:rPr lang="en-US" altLang="en-US" dirty="0">
                <a:cs typeface="Arial" panose="020B0604020202020204" pitchFamily="34" charset="0"/>
              </a:rPr>
              <a:t>100% width until the specified breakpoint is reached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>
            <a:extLst>
              <a:ext uri="{FF2B5EF4-FFF2-40B4-BE49-F238E27FC236}">
                <a16:creationId xmlns:a16="http://schemas.microsoft.com/office/drawing/2014/main" id="{14A1C3C8-2121-22E6-D210-154C914358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80" dirty="0"/>
              <a:t>Conta</a:t>
            </a:r>
            <a:r>
              <a:rPr spc="-90" dirty="0"/>
              <a:t>i</a:t>
            </a:r>
            <a:r>
              <a:rPr spc="-125" dirty="0"/>
              <a:t>ne</a:t>
            </a:r>
            <a:r>
              <a:rPr spc="-80" dirty="0"/>
              <a:t>r</a:t>
            </a:r>
            <a:r>
              <a:rPr spc="-250" dirty="0"/>
              <a:t> </a:t>
            </a:r>
            <a:r>
              <a:rPr spc="-130" dirty="0"/>
              <a:t>Breakpoints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8BD5C-08FE-024E-438C-EACA580BB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961871"/>
              </p:ext>
            </p:extLst>
          </p:nvPr>
        </p:nvGraphicFramePr>
        <p:xfrm>
          <a:off x="1187624" y="1700808"/>
          <a:ext cx="7062789" cy="4297764"/>
        </p:xfrm>
        <a:graphic>
          <a:graphicData uri="http://schemas.openxmlformats.org/drawingml/2006/table">
            <a:tbl>
              <a:tblPr/>
              <a:tblGrid>
                <a:gridCol w="2354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889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 Prefix</a:t>
                      </a:r>
                    </a:p>
                  </a:txBody>
                  <a:tcPr marL="91438" marR="91438" marT="45726" marB="4572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Min-Width</a:t>
                      </a:r>
                    </a:p>
                  </a:txBody>
                  <a:tcPr marL="91438" marR="91438" marT="45726" marB="4572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91438" marR="91438" marT="45726" marB="4572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59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.container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 adjusts based on the viewport.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59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.container-sm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576px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smartphones (landscape).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92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.container-md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768px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tablets.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59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.container-lg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992px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laptops and desktops.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92"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.container-xl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1200px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large desktops.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359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.container-xxl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1400px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extra large screens.</a:t>
                      </a:r>
                    </a:p>
                  </a:txBody>
                  <a:tcPr marL="91438" marR="91438"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757" name="Rectangle 43">
            <a:extLst>
              <a:ext uri="{FF2B5EF4-FFF2-40B4-BE49-F238E27FC236}">
                <a16:creationId xmlns:a16="http://schemas.microsoft.com/office/drawing/2014/main" id="{45A1E24F-A430-D8BF-F445-8529E1766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2176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AE8630A5-6392-26E6-1E70-73102737D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Quiz - 2</a:t>
            </a:r>
            <a:endParaRPr lang="en-GB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11D999-97C1-C6B9-FEED-7E86556229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28" y="1484784"/>
            <a:ext cx="8136904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Which class is used to create a fixed-width container in Bootstrap?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.container-fixed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.container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.container-fluid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To create a full-width container that spans the entire width of the viewport, which class should be used?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.container-full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.container-fluid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.container-wide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Which statement is true about Bootstrap containers?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Containers can be nested inside each other.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You cannot use more than one container in a webpage.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.container and .container-fluid provide the same fixed width to the container.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99926F-A7B6-9808-162D-D14CF386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grid system</a:t>
            </a:r>
            <a:endParaRPr lang="en-GB" dirty="0"/>
          </a:p>
        </p:txBody>
      </p:sp>
      <p:sp>
        <p:nvSpPr>
          <p:cNvPr id="32771" name="Text Placeholder 4">
            <a:extLst>
              <a:ext uri="{FF2B5EF4-FFF2-40B4-BE49-F238E27FC236}">
                <a16:creationId xmlns:a16="http://schemas.microsoft.com/office/drawing/2014/main" id="{F1A24C2C-5E5F-ED07-812D-D5CB77E45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347522-C984-A194-CAED-1D65FBBE5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8" dirty="0"/>
              <a:t>Recap - </a:t>
            </a:r>
            <a:r>
              <a:rPr spc="-8" dirty="0"/>
              <a:t>What</a:t>
            </a:r>
            <a:r>
              <a:rPr spc="-34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19" dirty="0"/>
              <a:t> </a:t>
            </a:r>
            <a:r>
              <a:rPr spc="-4" dirty="0"/>
              <a:t>Grid?</a:t>
            </a:r>
            <a:endParaRPr dirty="0"/>
          </a:p>
        </p:txBody>
      </p:sp>
      <p:sp>
        <p:nvSpPr>
          <p:cNvPr id="33795" name="object 3">
            <a:extLst>
              <a:ext uri="{FF2B5EF4-FFF2-40B4-BE49-F238E27FC236}">
                <a16:creationId xmlns:a16="http://schemas.microsoft.com/office/drawing/2014/main" id="{8F0FD7CC-CCBA-141A-C53B-1A549BC85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69" y="1844675"/>
            <a:ext cx="4595164" cy="358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66700" indent="-257175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Grid is a structure made up of a  series of intersecting straight (vertical, horizontal) lines to  structure the content.</a:t>
            </a:r>
          </a:p>
          <a:p>
            <a:pPr marL="295275" indent="-285750">
              <a:spcBef>
                <a:spcPts val="738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In web design, it is a very effective method to create a  consistent layout rapidly and effectively using HTML and CSS.</a:t>
            </a:r>
          </a:p>
          <a:p>
            <a:pPr marL="295275" indent="-285750">
              <a:spcBef>
                <a:spcPts val="763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Allows to </a:t>
            </a:r>
            <a:r>
              <a:rPr lang="en-US" altLang="en-US" sz="2000" dirty="0" err="1">
                <a:ea typeface="Arial MT"/>
                <a:cs typeface="Arial" panose="020B0604020202020204" pitchFamily="34" charset="0"/>
              </a:rPr>
              <a:t>organise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 and structure content, makes the websites easy to  scan and reduces the load on users.</a:t>
            </a:r>
          </a:p>
        </p:txBody>
      </p:sp>
      <p:pic>
        <p:nvPicPr>
          <p:cNvPr id="33796" name="Picture 6" descr="CSS Grid Layout">
            <a:extLst>
              <a:ext uri="{FF2B5EF4-FFF2-40B4-BE49-F238E27FC236}">
                <a16:creationId xmlns:a16="http://schemas.microsoft.com/office/drawing/2014/main" id="{A39F91D0-B175-F56F-EBAC-28A8BBD42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38" y="1844675"/>
            <a:ext cx="3851275" cy="32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3F67E27-B67D-96E6-82BA-928D486DE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4" dirty="0"/>
              <a:t>Recap - </a:t>
            </a:r>
            <a:r>
              <a:rPr spc="-4" dirty="0"/>
              <a:t>Grid</a:t>
            </a:r>
            <a:r>
              <a:rPr spc="-34" dirty="0"/>
              <a:t> </a:t>
            </a:r>
            <a:r>
              <a:rPr spc="-4" dirty="0"/>
              <a:t>System</a:t>
            </a:r>
            <a:r>
              <a:rPr spc="-30" dirty="0"/>
              <a:t> </a:t>
            </a:r>
            <a:r>
              <a:rPr spc="-4" dirty="0"/>
              <a:t>Description</a:t>
            </a:r>
            <a:endParaRPr dirty="0"/>
          </a:p>
        </p:txBody>
      </p:sp>
      <p:sp>
        <p:nvSpPr>
          <p:cNvPr id="34819" name="object 3">
            <a:extLst>
              <a:ext uri="{FF2B5EF4-FFF2-40B4-BE49-F238E27FC236}">
                <a16:creationId xmlns:a16="http://schemas.microsoft.com/office/drawing/2014/main" id="{2E5CC788-E5FE-1BC7-4409-19A996ABA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12913"/>
            <a:ext cx="8497888" cy="382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4775" rIns="0" bIns="0">
            <a:spAutoFit/>
          </a:bodyPr>
          <a:lstStyle>
            <a:lvl1pPr marL="352425" indent="-3429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25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Grid System consists of 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12 columns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Creates 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page layouts  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through a series of rows and columns.</a:t>
            </a:r>
          </a:p>
          <a:p>
            <a:pPr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Rows must be placed with a 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.container (fixed –width) 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.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container –fluid (full-width) 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for proper alignment and  padding.</a:t>
            </a:r>
          </a:p>
          <a:p>
            <a:pPr>
              <a:spcBef>
                <a:spcPts val="738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Use rows to create horizontal group of columns.</a:t>
            </a:r>
          </a:p>
          <a:p>
            <a:pPr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Content should be placed within columns, and only  columns may be immediate children of rows.</a:t>
            </a:r>
          </a:p>
        </p:txBody>
      </p:sp>
    </p:spTree>
  </p:cSld>
  <p:clrMapOvr>
    <a:masterClrMapping/>
  </p:clrMapOvr>
  <p:transition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7" descr="Here's the Difference Between Flexbox, CSS Grid &amp; Bootstrap">
            <a:extLst>
              <a:ext uri="{FF2B5EF4-FFF2-40B4-BE49-F238E27FC236}">
                <a16:creationId xmlns:a16="http://schemas.microsoft.com/office/drawing/2014/main" id="{C5037D89-FE78-9FD2-140B-9160469D5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91" y="4157361"/>
            <a:ext cx="3363913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F70CA90-F28F-56A7-6123-711DF5C23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>
                <a:solidFill>
                  <a:schemeClr val="accent3"/>
                </a:solidFill>
                <a:latin typeface="Arial"/>
                <a:cs typeface="Arial"/>
              </a:rPr>
              <a:t>Bootstrap</a:t>
            </a:r>
            <a:r>
              <a:rPr spc="-15" dirty="0">
                <a:solidFill>
                  <a:schemeClr val="accent3"/>
                </a:solidFill>
                <a:latin typeface="Arial"/>
                <a:cs typeface="Arial"/>
              </a:rPr>
              <a:t> </a:t>
            </a:r>
            <a:r>
              <a:rPr spc="-8" dirty="0">
                <a:solidFill>
                  <a:schemeClr val="accent3"/>
                </a:solidFill>
                <a:latin typeface="Arial"/>
                <a:cs typeface="Arial"/>
              </a:rPr>
              <a:t>Grid</a:t>
            </a:r>
            <a:r>
              <a:rPr spc="-11" dirty="0">
                <a:solidFill>
                  <a:schemeClr val="accent3"/>
                </a:solidFill>
                <a:latin typeface="Arial"/>
                <a:cs typeface="Arial"/>
              </a:rPr>
              <a:t> </a:t>
            </a:r>
            <a:r>
              <a:rPr spc="-8" dirty="0">
                <a:solidFill>
                  <a:schemeClr val="accent3"/>
                </a:solidFill>
                <a:latin typeface="Arial"/>
                <a:cs typeface="Arial"/>
              </a:rPr>
              <a:t>System</a:t>
            </a:r>
            <a:endParaRPr dirty="0">
              <a:solidFill>
                <a:schemeClr val="accent3"/>
              </a:solidFill>
              <a:latin typeface="Arial"/>
              <a:cs typeface="Arial"/>
            </a:endParaRPr>
          </a:p>
        </p:txBody>
      </p:sp>
      <p:sp>
        <p:nvSpPr>
          <p:cNvPr id="35843" name="object 3">
            <a:extLst>
              <a:ext uri="{FF2B5EF4-FFF2-40B4-BE49-F238E27FC236}">
                <a16:creationId xmlns:a16="http://schemas.microsoft.com/office/drawing/2014/main" id="{D0BFA942-F25F-C143-F8A4-E26484418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21" y="1377477"/>
            <a:ext cx="8698592" cy="382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95275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42875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indent="0">
              <a:spcBef>
                <a:spcPts val="600"/>
              </a:spcBef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Bootstrap grid system works with following considerations:</a:t>
            </a:r>
          </a:p>
          <a:p>
            <a:pPr marL="72000"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Rows &amp; Columns: </a:t>
            </a:r>
          </a:p>
          <a:p>
            <a:pPr marL="7200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Built on a flexible 12-column grid layout.</a:t>
            </a:r>
          </a:p>
          <a:p>
            <a:pPr marL="72000"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Responsiveness: </a:t>
            </a:r>
          </a:p>
          <a:p>
            <a:pPr marL="7200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Use breakpoints to determine column width &amp; stacking.</a:t>
            </a:r>
          </a:p>
          <a:p>
            <a:pPr marL="72000"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Classes:</a:t>
            </a:r>
          </a:p>
          <a:p>
            <a:pPr marL="7200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 Prefix like .col-md-4 means "Use 4 columns out of 12 on medium devices".</a:t>
            </a:r>
          </a:p>
          <a:p>
            <a:pPr marL="72000"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Nesting:</a:t>
            </a:r>
          </a:p>
          <a:p>
            <a:pPr marL="7200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 Place rows within columns for more granular layouts.</a:t>
            </a:r>
          </a:p>
          <a:p>
            <a:pPr marL="72000"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Gutters:</a:t>
            </a:r>
          </a:p>
          <a:p>
            <a:pPr marL="7200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 Spacing between columns, adjustable with .g* utilities.</a:t>
            </a:r>
          </a:p>
        </p:txBody>
      </p:sp>
    </p:spTree>
  </p:cSld>
  <p:clrMapOvr>
    <a:masterClrMapping/>
  </p:clrMapOvr>
  <p:transition>
    <p:blinds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361E1E-C178-B3E2-B662-7E75353D0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Grid</a:t>
            </a:r>
            <a:r>
              <a:rPr spc="-71" dirty="0"/>
              <a:t> </a:t>
            </a:r>
            <a:r>
              <a:rPr dirty="0"/>
              <a:t>Classes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A3542A-CCD7-6C27-2295-F4CE68641243}"/>
              </a:ext>
            </a:extLst>
          </p:cNvPr>
          <p:cNvSpPr txBox="1"/>
          <p:nvPr/>
        </p:nvSpPr>
        <p:spPr>
          <a:xfrm>
            <a:off x="814159" y="1412776"/>
            <a:ext cx="6996633" cy="2350002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dirty="0">
                <a:cs typeface="Arial" panose="020B0604020202020204" pitchFamily="34" charset="0"/>
              </a:rPr>
              <a:t>The</a:t>
            </a:r>
            <a:r>
              <a:rPr spc="-8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Bootstrap grid</a:t>
            </a:r>
            <a:r>
              <a:rPr spc="-8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system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has four</a:t>
            </a:r>
            <a:r>
              <a:rPr spc="4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classes:</a:t>
            </a:r>
            <a:endParaRPr dirty="0">
              <a:cs typeface="Arial" panose="020B0604020202020204" pitchFamily="34" charset="0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90488" algn="l"/>
              </a:tabLst>
              <a:defRPr/>
            </a:pPr>
            <a:r>
              <a:rPr spc="-4" dirty="0">
                <a:cs typeface="Arial" panose="020B0604020202020204" pitchFamily="34" charset="0"/>
              </a:rPr>
              <a:t>xs</a:t>
            </a:r>
            <a:r>
              <a:rPr spc="-38" dirty="0">
                <a:cs typeface="Arial" panose="020B0604020202020204" pitchFamily="34" charset="0"/>
              </a:rPr>
              <a:t> </a:t>
            </a:r>
            <a:r>
              <a:rPr dirty="0">
                <a:cs typeface="Arial" panose="020B0604020202020204" pitchFamily="34" charset="0"/>
              </a:rPr>
              <a:t>(for</a:t>
            </a:r>
            <a:r>
              <a:rPr spc="-38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phones)</a:t>
            </a:r>
            <a:endParaRPr dirty="0">
              <a:cs typeface="Arial" panose="020B0604020202020204" pitchFamily="34" charset="0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90488" algn="l"/>
              </a:tabLst>
              <a:defRPr/>
            </a:pPr>
            <a:r>
              <a:rPr dirty="0">
                <a:cs typeface="Arial" panose="020B0604020202020204" pitchFamily="34" charset="0"/>
              </a:rPr>
              <a:t>sm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dirty="0">
                <a:cs typeface="Arial" panose="020B0604020202020204" pitchFamily="34" charset="0"/>
              </a:rPr>
              <a:t>(for</a:t>
            </a:r>
            <a:r>
              <a:rPr spc="-30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tablets)</a:t>
            </a:r>
            <a:endParaRPr dirty="0">
              <a:cs typeface="Arial" panose="020B0604020202020204" pitchFamily="34" charset="0"/>
            </a:endParaRPr>
          </a:p>
          <a:p>
            <a:pPr marL="809148" lvl="1" indent="-342900">
              <a:spcBef>
                <a:spcPts val="743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90488" algn="l"/>
              </a:tabLst>
              <a:defRPr/>
            </a:pPr>
            <a:r>
              <a:rPr spc="8" dirty="0">
                <a:cs typeface="Arial" panose="020B0604020202020204" pitchFamily="34" charset="0"/>
              </a:rPr>
              <a:t>md</a:t>
            </a:r>
            <a:r>
              <a:rPr spc="-23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(for</a:t>
            </a:r>
            <a:r>
              <a:rPr spc="-11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desktops)</a:t>
            </a:r>
            <a:endParaRPr dirty="0">
              <a:cs typeface="Arial" panose="020B0604020202020204" pitchFamily="34" charset="0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90488" algn="l"/>
              </a:tabLst>
              <a:defRPr/>
            </a:pPr>
            <a:r>
              <a:rPr spc="-4" dirty="0">
                <a:cs typeface="Arial" panose="020B0604020202020204" pitchFamily="34" charset="0"/>
              </a:rPr>
              <a:t>lg</a:t>
            </a:r>
            <a:r>
              <a:rPr spc="-19" dirty="0">
                <a:cs typeface="Arial" panose="020B0604020202020204" pitchFamily="34" charset="0"/>
              </a:rPr>
              <a:t> </a:t>
            </a:r>
            <a:r>
              <a:rPr spc="-4" dirty="0">
                <a:cs typeface="Arial" panose="020B0604020202020204" pitchFamily="34" charset="0"/>
              </a:rPr>
              <a:t>(for larger desktops)</a:t>
            </a:r>
            <a:endParaRPr dirty="0">
              <a:cs typeface="Arial" panose="020B0604020202020204" pitchFamily="34" charset="0"/>
            </a:endParaRPr>
          </a:p>
        </p:txBody>
      </p:sp>
      <p:pic>
        <p:nvPicPr>
          <p:cNvPr id="36868" name="object 4">
            <a:extLst>
              <a:ext uri="{FF2B5EF4-FFF2-40B4-BE49-F238E27FC236}">
                <a16:creationId xmlns:a16="http://schemas.microsoft.com/office/drawing/2014/main" id="{85322A52-69EE-799B-7264-1472DC62C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59" y="3933056"/>
            <a:ext cx="7534952" cy="1993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D43E0B86-C577-CE08-AD94-715A4E434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8" y="115888"/>
            <a:ext cx="8785225" cy="648816"/>
          </a:xfrm>
        </p:spPr>
        <p:txBody>
          <a:bodyPr/>
          <a:lstStyle/>
          <a:p>
            <a:r>
              <a:rPr lang="en-GB" altLang="en-US" sz="3200" dirty="0"/>
              <a:t>Bootstrap Grid System: Device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84A362-5218-0C10-F44A-287388367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532347"/>
              </p:ext>
            </p:extLst>
          </p:nvPr>
        </p:nvGraphicFramePr>
        <p:xfrm>
          <a:off x="0" y="764704"/>
          <a:ext cx="9143999" cy="5432084"/>
        </p:xfrm>
        <a:graphic>
          <a:graphicData uri="http://schemas.openxmlformats.org/drawingml/2006/table">
            <a:tbl>
              <a:tblPr/>
              <a:tblGrid>
                <a:gridCol w="13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1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19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539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Feature/Device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 Small &lt;576px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≥576px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 ≥768px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≥992px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 Large ≥1200px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XXL ≥1400px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397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Container Width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1320px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342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Gutters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16px (default)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16px (default)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24px (default)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24px (default)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24px (default)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24px (default)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342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 Prefix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.col-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.col-sm-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.col-md-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.col-</a:t>
                      </a:r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</a:t>
                      </a:r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.col-xl-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.col-xxl-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870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Columns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5397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Column Width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110px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870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Nestable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870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Offsets</a:t>
                      </a:r>
                      <a:endParaRPr lang="en-GB" sz="18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9114">
                <a:tc>
                  <a:txBody>
                    <a:bodyPr/>
                    <a:lstStyle/>
                    <a:p>
                      <a:pPr fontAlgn="base"/>
                      <a:r>
                        <a:rPr lang="en-GB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 Behaviour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 to stacked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49647" marR="49647" marT="24820" marB="2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973" name="Rectangle 1">
            <a:extLst>
              <a:ext uri="{FF2B5EF4-FFF2-40B4-BE49-F238E27FC236}">
                <a16:creationId xmlns:a16="http://schemas.microsoft.com/office/drawing/2014/main" id="{D915E4F5-59A3-045B-3CC7-47F7B1FCE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628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4">
            <a:extLst>
              <a:ext uri="{FF2B5EF4-FFF2-40B4-BE49-F238E27FC236}">
                <a16:creationId xmlns:a16="http://schemas.microsoft.com/office/drawing/2014/main" id="{BF8B707F-F18A-23E9-4116-288EAD01F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Bootstrap Grid Example</a:t>
            </a:r>
            <a:endParaRPr lang="en-GB" altLang="en-US" dirty="0"/>
          </a:p>
        </p:txBody>
      </p:sp>
      <p:pic>
        <p:nvPicPr>
          <p:cNvPr id="38915" name="Picture 4">
            <a:extLst>
              <a:ext uri="{FF2B5EF4-FFF2-40B4-BE49-F238E27FC236}">
                <a16:creationId xmlns:a16="http://schemas.microsoft.com/office/drawing/2014/main" id="{93386741-BEE1-D7F3-3783-88095D10D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05609"/>
            <a:ext cx="5313088" cy="3096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TextBox 7">
            <a:extLst>
              <a:ext uri="{FF2B5EF4-FFF2-40B4-BE49-F238E27FC236}">
                <a16:creationId xmlns:a16="http://schemas.microsoft.com/office/drawing/2014/main" id="{DFF4561B-E0BE-E182-B4DD-E4220E58D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324" y="1535949"/>
            <a:ext cx="856895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2"/>
                </a:solidFill>
              </a:rPr>
              <a:t>.container </a:t>
            </a:r>
            <a:r>
              <a:rPr lang="en-US" altLang="en-US" dirty="0"/>
              <a:t>class is used to wrap the site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2"/>
                </a:solidFill>
              </a:rPr>
              <a:t>.row </a:t>
            </a:r>
            <a:r>
              <a:rPr lang="en-US" altLang="en-US" dirty="0"/>
              <a:t>class denotes a new row.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2"/>
                </a:solidFill>
              </a:rPr>
              <a:t>.col-md-4 </a:t>
            </a:r>
            <a:r>
              <a:rPr lang="en-US" altLang="en-US" dirty="0"/>
              <a:t>classes divide the row into three equal columns on medium-sized devices (like tablets).</a:t>
            </a:r>
            <a:endParaRPr lang="en-GB" altLang="en-US" dirty="0"/>
          </a:p>
        </p:txBody>
      </p:sp>
    </p:spTree>
  </p:cSld>
  <p:clrMapOvr>
    <a:masterClrMapping/>
  </p:clrMapOvr>
  <p:transition>
    <p:blinds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61440ADC-2E13-24F5-C766-E80943996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Bootstrap Grid Characteristics</a:t>
            </a:r>
            <a:endParaRPr lang="en-GB" altLang="en-US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5CCF6C82-6579-22CA-A734-08E9C8F098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340768"/>
            <a:ext cx="9004746" cy="4319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Column-wrapping:</a:t>
            </a:r>
          </a:p>
          <a:p>
            <a:pPr marL="730250" lvl="1" indent="-285750"/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than 12 columns are placed within a single row, Each group of extra columns will wrap onto a  new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below:</a:t>
            </a:r>
          </a:p>
          <a:p>
            <a:pPr marL="730250" lvl="1" indent="-285750"/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.row contains four .col-md-4 columns, totaling 16 columns.</a:t>
            </a:r>
          </a:p>
          <a:p>
            <a:pPr marL="730250" lvl="1" indent="-285750"/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medium screens and larger (md), columns will total up to 12 in one row. The extra column(s) will wrap onto the next line, which means "Column 4 (wrapped)" will appear on the next line by itself.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altLang="en-US" sz="16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188AA4FF-C543-A5E3-2844-DDEF86E33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789040"/>
            <a:ext cx="5430837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6CEB314-6051-540B-08E7-252A60A08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Bootstrap Grid Characteristics</a:t>
            </a:r>
            <a:endParaRPr lang="en-GB" altLang="en-US" dirty="0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549C2E39-B783-284E-FE63-60F677CE8A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175" y="1484313"/>
            <a:ext cx="8856663" cy="43195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Offsetting columns </a:t>
            </a:r>
            <a:r>
              <a:rPr lang="en-US" altLang="en-US" sz="200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Bootstrap allows you to create space (empty columns) before a column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below:</a:t>
            </a:r>
          </a:p>
          <a:p>
            <a:pPr marL="787400" lvl="1" indent="-34290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Column 1 occupies 4 grid spaces on medium (md) screens.</a:t>
            </a:r>
          </a:p>
          <a:p>
            <a:pPr marL="787400" lvl="1" indent="-342900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Column 2 is offset by 4 grid spaces, creating a visible gap between the two columns, and then occupies the next 4 grid spaces on medium (md) screens.</a:t>
            </a:r>
            <a:endParaRPr lang="en-GB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952C21FC-19BC-88D1-48B4-922DF8C8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49" y="4149080"/>
            <a:ext cx="5612855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2F4022A-A98B-014A-253A-56AA5139F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Bootstrap Grid Characteristics</a:t>
            </a:r>
            <a:endParaRPr lang="en-GB" altLang="en-US" dirty="0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67D5BE03-6E51-535B-95B8-632C9AF642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41438"/>
            <a:ext cx="5436096" cy="44640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18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clearfix</a:t>
            </a: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utility in Bootstrap is used to clear floats.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useful when columns aren't of equal height, and you want to ensure that columns in the next "row" start on a new 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below: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have two sets of columns.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first set contains four columns each of col-md-3 which together take up the full width of 12 columns.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then use .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clearfix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the class d-md-none. This ensures that the clear fix is applied only up to medium screens (md), making it invisible on md and larger screens.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that the next set of columns will start on a new line despite unequal column heights.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second set contains two columns each of col-md-6.</a:t>
            </a:r>
            <a:endParaRPr lang="en-GB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988" name="Picture 7">
            <a:extLst>
              <a:ext uri="{FF2B5EF4-FFF2-40B4-BE49-F238E27FC236}">
                <a16:creationId xmlns:a16="http://schemas.microsoft.com/office/drawing/2014/main" id="{94D6BE4D-9FD2-05C6-CF70-6AC1B2D75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576" y="2492374"/>
            <a:ext cx="3816424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017AAE81-1E8D-BFC2-5DC8-286B14331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Bootstrap Grid Characteristics</a:t>
            </a:r>
            <a:endParaRPr lang="en-GB" altLang="en-US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09090E2C-3A41-11DA-ACA8-937B7DE9ED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41438"/>
            <a:ext cx="4355976" cy="44640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Nesting</a:t>
            </a: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columns in the Bootstrap grid system means placing a set of columns inside another column.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below: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main row that contains two </a:t>
            </a: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col-md-6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columns.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 the first </a:t>
            </a: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col-md-6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(Parent Column), there's another row, which represents our nested grid. Within this nested row, we have two </a:t>
            </a: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col-md-6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nested columns will each take up half the width of their parent column when the viewport is at least md in size.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second </a:t>
            </a: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col-md-6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(Sibling Column) sits alongside the parent column and is not part of the nesting.</a:t>
            </a: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D152261F-59E4-A2D2-4C4F-6B0183BCC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794" y="2273300"/>
            <a:ext cx="4676701" cy="288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4E1358AF-4342-CB12-286C-0B0EA266D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Bootstrap Grid Characteristics</a:t>
            </a:r>
            <a:endParaRPr lang="en-GB" altLang="en-US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2FA15CC7-B249-C334-D2C2-E162BD36D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41438"/>
            <a:ext cx="8532813" cy="44640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.order-*</a:t>
            </a: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classes in Bootstrap 4 and later are used to control the visual ordering of columns within a row.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manipulating the .order-* classes, you can control the visual ordering of columns regardless of their sequence in the HTML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below: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though Column 1 is defined first in the HTML, the order-md-2 class ensures it visually appears second on medium (md) screens and larger.</a:t>
            </a:r>
          </a:p>
          <a:p>
            <a:pPr marL="730250" lvl="1" indent="-28575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2, due to the order-md-1 class, will visually appear before Column 1 on medium (md) screens and larger.</a:t>
            </a:r>
          </a:p>
        </p:txBody>
      </p:sp>
      <p:pic>
        <p:nvPicPr>
          <p:cNvPr id="44036" name="Picture 7">
            <a:extLst>
              <a:ext uri="{FF2B5EF4-FFF2-40B4-BE49-F238E27FC236}">
                <a16:creationId xmlns:a16="http://schemas.microsoft.com/office/drawing/2014/main" id="{6D3A85AB-6FBB-B527-3F31-FEF863EF4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4138613"/>
            <a:ext cx="4857750" cy="1594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9AA9941-7539-097F-AB5F-6717EB003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4" dirty="0"/>
              <a:t>Quiz - 3</a:t>
            </a:r>
            <a:endParaRPr dirty="0"/>
          </a:p>
        </p:txBody>
      </p:sp>
      <p:sp>
        <p:nvSpPr>
          <p:cNvPr id="45059" name="Content Placeholder 4">
            <a:extLst>
              <a:ext uri="{FF2B5EF4-FFF2-40B4-BE49-F238E27FC236}">
                <a16:creationId xmlns:a16="http://schemas.microsoft.com/office/drawing/2014/main" id="{7D243E4B-F668-408E-075B-F1BAE4C56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856662" cy="4319587"/>
          </a:xfrm>
        </p:spPr>
        <p:txBody>
          <a:bodyPr/>
          <a:lstStyle/>
          <a:p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the </a:t>
            </a:r>
            <a:r>
              <a:rPr lang="en-US" altLang="en-US" sz="2400" i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.col-md 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of the row</a:t>
            </a:r>
            <a:endParaRPr lang="en-GB" altLang="en-US" sz="24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060" name="object 4">
            <a:extLst>
              <a:ext uri="{FF2B5EF4-FFF2-40B4-BE49-F238E27FC236}">
                <a16:creationId xmlns:a16="http://schemas.microsoft.com/office/drawing/2014/main" id="{A469991F-92B2-EDC2-FB06-98232BA33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4" y="1700808"/>
            <a:ext cx="8844560" cy="423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CE4389-3CEE-1924-739D-CBE0E484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contents</a:t>
            </a:r>
            <a:endParaRPr lang="en-GB" dirty="0"/>
          </a:p>
        </p:txBody>
      </p:sp>
      <p:sp>
        <p:nvSpPr>
          <p:cNvPr id="46083" name="Text Placeholder 4">
            <a:extLst>
              <a:ext uri="{FF2B5EF4-FFF2-40B4-BE49-F238E27FC236}">
                <a16:creationId xmlns:a16="http://schemas.microsoft.com/office/drawing/2014/main" id="{527AEC97-5C67-4688-F871-3D6907766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88DA4D-BD26-F4FD-54B8-4752CE5A7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19" dirty="0"/>
              <a:t>Typography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8018179-31EB-A4BC-27AE-71C8FC189B3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1560" y="2997900"/>
            <a:ext cx="8156575" cy="3119438"/>
          </a:xfrm>
        </p:spPr>
        <p:txBody>
          <a:bodyPr wrap="square" lIns="0" tIns="104775" rIns="0" bIns="0" rtlCol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sz="2000" b="1" i="0" spc="-4" dirty="0">
                <a:latin typeface="Arial" panose="020B0604020202020204" pitchFamily="34" charset="0"/>
                <a:cs typeface="Arial" panose="020B0604020202020204" pitchFamily="34" charset="0"/>
              </a:rPr>
              <a:t>Headings:</a:t>
            </a:r>
          </a:p>
          <a:p>
            <a:pPr marL="266700">
              <a:spcBef>
                <a:spcPts val="750"/>
              </a:spcBef>
              <a:defRPr/>
            </a:pPr>
            <a:r>
              <a:rPr sz="2000" i="0" spc="-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sz="2000" i="0" spc="-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sz="2000" i="0" spc="-56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headings</a:t>
            </a:r>
            <a:r>
              <a:rPr sz="2000" i="0" spc="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(h1</a:t>
            </a:r>
            <a:r>
              <a:rPr sz="2000" i="0" spc="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i="0" spc="-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000" i="0" spc="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h6) are </a:t>
            </a:r>
            <a:r>
              <a:rPr sz="2000" i="0" spc="-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styled </a:t>
            </a:r>
            <a:r>
              <a:rPr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i="0" spc="-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Bootstrap</a:t>
            </a:r>
          </a:p>
          <a:p>
            <a:pPr marL="711200" lvl="1">
              <a:spcBef>
                <a:spcPts val="750"/>
              </a:spcBef>
              <a:defRPr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&lt;h1&gt;I'm</a:t>
            </a:r>
            <a:r>
              <a:rPr sz="18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Heading1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h1&lt;/h1&gt;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4" dirty="0">
                <a:latin typeface="Arial" panose="020B0604020202020204" pitchFamily="34" charset="0"/>
                <a:cs typeface="Arial" panose="020B0604020202020204" pitchFamily="34" charset="0"/>
              </a:rPr>
              <a:t>Semibold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36px</a:t>
            </a:r>
          </a:p>
          <a:p>
            <a:pPr marL="711200" lvl="1">
              <a:spcBef>
                <a:spcPts val="750"/>
              </a:spcBef>
              <a:defRPr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&lt;h2&gt;I'm</a:t>
            </a:r>
            <a:r>
              <a:rPr sz="18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Heading2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h2&lt;/h2&gt;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4" dirty="0">
                <a:latin typeface="Arial" panose="020B0604020202020204" pitchFamily="34" charset="0"/>
                <a:cs typeface="Arial" panose="020B0604020202020204" pitchFamily="34" charset="0"/>
              </a:rPr>
              <a:t>Semibold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30px</a:t>
            </a:r>
          </a:p>
          <a:p>
            <a:pPr marL="711200" lvl="1">
              <a:spcBef>
                <a:spcPts val="750"/>
              </a:spcBef>
              <a:defRPr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&lt;h3&gt;I'm</a:t>
            </a:r>
            <a:r>
              <a:rPr sz="18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Heading3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h3&lt;/h3&gt;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4" dirty="0">
                <a:latin typeface="Arial" panose="020B0604020202020204" pitchFamily="34" charset="0"/>
                <a:cs typeface="Arial" panose="020B0604020202020204" pitchFamily="34" charset="0"/>
              </a:rPr>
              <a:t>Semibold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24px</a:t>
            </a:r>
          </a:p>
          <a:p>
            <a:pPr marL="711200" lvl="1">
              <a:spcBef>
                <a:spcPts val="750"/>
              </a:spcBef>
              <a:defRPr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&lt;h4&gt;I'm</a:t>
            </a:r>
            <a:r>
              <a:rPr sz="18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Heading4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h4&lt;/h4&gt;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4" dirty="0">
                <a:latin typeface="Arial" panose="020B0604020202020204" pitchFamily="34" charset="0"/>
                <a:cs typeface="Arial" panose="020B0604020202020204" pitchFamily="34" charset="0"/>
              </a:rPr>
              <a:t>Semibold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18px</a:t>
            </a:r>
          </a:p>
          <a:p>
            <a:pPr marL="711200" lvl="1">
              <a:spcBef>
                <a:spcPts val="750"/>
              </a:spcBef>
              <a:defRPr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&lt;h5&gt;I'm</a:t>
            </a:r>
            <a:r>
              <a:rPr sz="18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Heading5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h5&lt;/h5&gt;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4" dirty="0">
                <a:latin typeface="Arial" panose="020B0604020202020204" pitchFamily="34" charset="0"/>
                <a:cs typeface="Arial" panose="020B0604020202020204" pitchFamily="34" charset="0"/>
              </a:rPr>
              <a:t>Semibold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14px</a:t>
            </a:r>
          </a:p>
          <a:p>
            <a:pPr marL="711200" lvl="1">
              <a:spcBef>
                <a:spcPts val="743"/>
              </a:spcBef>
              <a:defRPr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&lt;h6&gt;I'm</a:t>
            </a:r>
            <a:r>
              <a:rPr sz="18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Heading6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h6&lt;/h6&gt;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4" dirty="0">
                <a:latin typeface="Arial" panose="020B0604020202020204" pitchFamily="34" charset="0"/>
                <a:cs typeface="Arial" panose="020B0604020202020204" pitchFamily="34" charset="0"/>
              </a:rPr>
              <a:t>Semibold</a:t>
            </a:r>
            <a:r>
              <a:rPr sz="18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12px</a:t>
            </a:r>
          </a:p>
        </p:txBody>
      </p:sp>
      <p:sp>
        <p:nvSpPr>
          <p:cNvPr id="47108" name="object 5">
            <a:extLst>
              <a:ext uri="{FF2B5EF4-FFF2-40B4-BE49-F238E27FC236}">
                <a16:creationId xmlns:a16="http://schemas.microsoft.com/office/drawing/2014/main" id="{DF237FD7-CBC3-B0DF-82D0-55D780F7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1412875"/>
            <a:ext cx="8398768" cy="1574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95275" indent="-28575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2425" indent="-342900"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Default font stock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- Helvetica Neue, Helvetica, Arial, and sans-serif</a:t>
            </a:r>
          </a:p>
          <a:p>
            <a:pPr marL="352425" indent="-342900"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Typography feature of Bootstrap allows to create headings, paragraphs, lists and  other inline elements.</a:t>
            </a:r>
          </a:p>
          <a:p>
            <a:pPr marL="352425" indent="-342900" algn="just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Default font-size is 14px. with a line –height of 1.428.(Applied to &lt;body&gt; and all  paragraphs).</a:t>
            </a:r>
          </a:p>
        </p:txBody>
      </p:sp>
    </p:spTree>
  </p:cSld>
  <p:clrMapOvr>
    <a:masterClrMapping/>
  </p:clrMapOvr>
  <p:transition>
    <p:blinds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AA1580-70C1-8362-3E81-065C935C39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19" dirty="0"/>
              <a:t>Typography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6FE98F-C30C-CC91-FFEE-B12513934C4F}"/>
              </a:ext>
            </a:extLst>
          </p:cNvPr>
          <p:cNvSpPr txBox="1"/>
          <p:nvPr/>
        </p:nvSpPr>
        <p:spPr>
          <a:xfrm>
            <a:off x="287524" y="1628800"/>
            <a:ext cx="8568952" cy="3168175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25"/>
              </a:spcBef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INLINE SUBHEADINGS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inline subheading can be added to any of the headings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Use &lt;small&gt;  around any of the elements or add .small class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Generates smaller text  in a lighter color as shown in the example below:</a:t>
            </a:r>
          </a:p>
          <a:p>
            <a:pPr marL="295275" indent="-285750">
              <a:spcBef>
                <a:spcPts val="25"/>
              </a:spcBef>
              <a:buFont typeface="Wingdings" panose="05000000000000000000" pitchFamily="2" charset="2"/>
              <a:buChar char="q"/>
              <a:defRPr/>
            </a:pPr>
            <a:endParaRPr lang="en-US" altLang="en-US" sz="1500" dirty="0">
              <a:latin typeface="Arial MT"/>
              <a:ea typeface="Arial MT"/>
              <a:cs typeface="Arial MT"/>
            </a:endParaRPr>
          </a:p>
          <a:p>
            <a:pPr lvl="1">
              <a:defRPr/>
            </a:pPr>
            <a:r>
              <a:rPr lang="en-US" altLang="en-US" sz="1800" dirty="0">
                <a:latin typeface="Arial MT"/>
                <a:ea typeface="Arial MT"/>
                <a:cs typeface="Arial MT"/>
              </a:rPr>
              <a:t>&lt;h1&gt;I'm Heading1 h1. &lt;small&gt;I'm secondary Heading1 h1&lt;/small&gt;&lt;/h1&gt;</a:t>
            </a:r>
          </a:p>
          <a:p>
            <a:pPr lvl="1">
              <a:spcBef>
                <a:spcPts val="13"/>
              </a:spcBef>
              <a:defRPr/>
            </a:pPr>
            <a:endParaRPr lang="en-US" altLang="en-US" sz="1500" dirty="0">
              <a:latin typeface="Arial MT"/>
              <a:ea typeface="Arial MT"/>
              <a:cs typeface="Arial MT"/>
            </a:endParaRPr>
          </a:p>
          <a:p>
            <a:pPr lvl="1">
              <a:defRPr/>
            </a:pPr>
            <a:r>
              <a:rPr lang="en-US" altLang="en-US" sz="1800" dirty="0">
                <a:latin typeface="Arial MT"/>
                <a:ea typeface="Arial MT"/>
                <a:cs typeface="Arial MT"/>
              </a:rPr>
              <a:t>&lt;h2&gt;I'm Heading2 h2. &lt;small&gt;I'm secondary Heading2 h2&lt;/small&gt;&lt;/h2&gt;</a:t>
            </a:r>
          </a:p>
          <a:p>
            <a:pPr lvl="1">
              <a:spcBef>
                <a:spcPts val="25"/>
              </a:spcBef>
              <a:defRPr/>
            </a:pPr>
            <a:endParaRPr lang="en-US" altLang="en-US" sz="1500" dirty="0">
              <a:latin typeface="Arial MT"/>
              <a:ea typeface="Arial MT"/>
              <a:cs typeface="Arial MT"/>
            </a:endParaRPr>
          </a:p>
          <a:p>
            <a:pPr lvl="1">
              <a:defRPr/>
            </a:pPr>
            <a:r>
              <a:rPr lang="en-US" altLang="en-US" sz="1800" dirty="0">
                <a:latin typeface="Arial MT"/>
                <a:ea typeface="Arial MT"/>
                <a:cs typeface="Arial MT"/>
              </a:rPr>
              <a:t>&lt;h3&gt;I'm Heading3 h3. &lt;small&gt;I'm secondary Heading3 h3&lt;/small&gt;&lt;/h3&gt;</a:t>
            </a:r>
          </a:p>
        </p:txBody>
      </p:sp>
    </p:spTree>
  </p:cSld>
  <p:clrMapOvr>
    <a:masterClrMapping/>
  </p:clrMapOvr>
  <p:transition>
    <p:blinds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79928D-71F7-70E3-34C4-04E23DEA4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Inline</a:t>
            </a:r>
            <a:r>
              <a:rPr spc="-30" dirty="0"/>
              <a:t> </a:t>
            </a:r>
            <a:r>
              <a:rPr lang="en-GB" spc="-8" dirty="0"/>
              <a:t>Text Elements</a:t>
            </a:r>
            <a:endParaRPr dirty="0"/>
          </a:p>
        </p:txBody>
      </p:sp>
      <p:sp>
        <p:nvSpPr>
          <p:cNvPr id="49155" name="object 3">
            <a:extLst>
              <a:ext uri="{FF2B5EF4-FFF2-40B4-BE49-F238E27FC236}">
                <a16:creationId xmlns:a16="http://schemas.microsoft.com/office/drawing/2014/main" id="{2EFE8779-9CE0-B796-B458-0202DB338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003" y="1484784"/>
            <a:ext cx="8547993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3823" rIns="0" bIns="0">
            <a:spAutoFit/>
          </a:bodyPr>
          <a:lstStyle>
            <a:lvl1pPr marL="352425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13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Marked Text</a:t>
            </a: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Highlight the text using &lt;mark&gt; tag.</a:t>
            </a:r>
          </a:p>
          <a:p>
            <a:pPr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Deleted Text: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Blocks of text have been deleted using &lt;del&gt; tag.</a:t>
            </a:r>
          </a:p>
          <a:p>
            <a:pPr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Strikethrough Text: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Blocks of text that are no longer relevant  using the &lt;s&gt; tag.</a:t>
            </a:r>
          </a:p>
          <a:p>
            <a:pPr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Inserted text: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The &lt;ins&gt; tag defines a text that has been  inserted into a document.</a:t>
            </a:r>
          </a:p>
          <a:p>
            <a:pPr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Underline Text: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The &lt;u&gt;tag defines a underline text.</a:t>
            </a:r>
          </a:p>
          <a:p>
            <a:pPr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Small Text: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Use the &lt;small&gt; tag to set the text at 85% the size  of the parent.</a:t>
            </a:r>
          </a:p>
          <a:p>
            <a:pPr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Bold: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Text with a heavier font-weight can be done by &lt;strong&gt;  tag.</a:t>
            </a:r>
          </a:p>
          <a:p>
            <a:pPr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Italics</a:t>
            </a: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For Emphasizing of text with italics done by &lt;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em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&gt; tag.</a:t>
            </a:r>
          </a:p>
        </p:txBody>
      </p:sp>
    </p:spTree>
  </p:cSld>
  <p:clrMapOvr>
    <a:masterClrMapping/>
  </p:clrMapOvr>
  <p:transition>
    <p:blinds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DF850B-9333-F15B-E85D-8C05AF0D2A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Alignment</a:t>
            </a:r>
            <a:r>
              <a:rPr spc="-53" dirty="0"/>
              <a:t> </a:t>
            </a:r>
            <a:r>
              <a:rPr lang="en-GB" spc="-53" dirty="0"/>
              <a:t>C</a:t>
            </a:r>
            <a:r>
              <a:rPr spc="-4" dirty="0"/>
              <a:t>lasses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7B0F18-F74F-4FC1-047F-9C7932B64305}"/>
              </a:ext>
            </a:extLst>
          </p:cNvPr>
          <p:cNvSpPr txBox="1"/>
          <p:nvPr/>
        </p:nvSpPr>
        <p:spPr>
          <a:xfrm>
            <a:off x="539750" y="1751013"/>
            <a:ext cx="7776666" cy="2821926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spc="-4" dirty="0">
                <a:latin typeface="Arial MT"/>
                <a:cs typeface="Arial MT"/>
              </a:rPr>
              <a:t>Realign</a:t>
            </a:r>
            <a:r>
              <a:rPr spc="-8" dirty="0">
                <a:latin typeface="Arial MT"/>
                <a:cs typeface="Arial MT"/>
              </a:rPr>
              <a:t> text</a:t>
            </a:r>
            <a:r>
              <a:rPr dirty="0">
                <a:latin typeface="Arial MT"/>
                <a:cs typeface="Arial MT"/>
              </a:rPr>
              <a:t> can</a:t>
            </a:r>
            <a:r>
              <a:rPr spc="-4" dirty="0">
                <a:latin typeface="Arial MT"/>
                <a:cs typeface="Arial MT"/>
              </a:rPr>
              <a:t> be done </a:t>
            </a:r>
            <a:r>
              <a:rPr spc="-8" dirty="0">
                <a:latin typeface="Arial MT"/>
                <a:cs typeface="Arial MT"/>
              </a:rPr>
              <a:t>with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text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alignment</a:t>
            </a:r>
            <a:r>
              <a:rPr spc="8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classes.</a:t>
            </a: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  <a:tab pos="1125379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text-left	</a:t>
            </a:r>
            <a:r>
              <a:rPr spc="-4" dirty="0">
                <a:latin typeface="Arial MT"/>
                <a:cs typeface="Arial MT"/>
              </a:rPr>
              <a:t>class used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for </a:t>
            </a:r>
            <a:r>
              <a:rPr dirty="0">
                <a:latin typeface="Arial MT"/>
                <a:cs typeface="Arial MT"/>
              </a:rPr>
              <a:t>Left</a:t>
            </a:r>
            <a:r>
              <a:rPr spc="-8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aligned</a:t>
            </a:r>
            <a:r>
              <a:rPr spc="-8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  <a:tab pos="1288256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text-right</a:t>
            </a:r>
            <a:r>
              <a:rPr lang="en-US" spc="-4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class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Right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aligned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43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  <a:tab pos="1511141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text-center</a:t>
            </a:r>
            <a:r>
              <a:rPr lang="en-US" spc="-4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class used</a:t>
            </a:r>
            <a:r>
              <a:rPr spc="-8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for Center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aligned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text-justify</a:t>
            </a:r>
            <a:r>
              <a:rPr spc="4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class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used for Justified text.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  <a:tab pos="1642586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</a:t>
            </a:r>
            <a:r>
              <a:rPr spc="-4" dirty="0" err="1">
                <a:solidFill>
                  <a:srgbClr val="91268E"/>
                </a:solidFill>
                <a:latin typeface="Arial MT"/>
                <a:cs typeface="Arial MT"/>
              </a:rPr>
              <a:t>nowrap</a:t>
            </a:r>
            <a:r>
              <a:rPr lang="en-US" spc="-4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class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used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for No</a:t>
            </a:r>
            <a:r>
              <a:rPr spc="-8" dirty="0">
                <a:latin typeface="Arial MT"/>
                <a:cs typeface="Arial MT"/>
              </a:rPr>
              <a:t> wrap </a:t>
            </a:r>
            <a:r>
              <a:rPr spc="-4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blinds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9A6DEF-7144-223C-B426-9F50DFC93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/>
              <a:t>Transformation</a:t>
            </a:r>
            <a:r>
              <a:rPr spc="-49" dirty="0"/>
              <a:t> </a:t>
            </a:r>
            <a:r>
              <a:rPr spc="-4" dirty="0"/>
              <a:t>classes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75D652-6FA2-AD91-0064-E149519862BF}"/>
              </a:ext>
            </a:extLst>
          </p:cNvPr>
          <p:cNvSpPr txBox="1"/>
          <p:nvPr/>
        </p:nvSpPr>
        <p:spPr>
          <a:xfrm>
            <a:off x="611560" y="1628775"/>
            <a:ext cx="7921253" cy="1878078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spc="-11" dirty="0">
                <a:latin typeface="Arial MT"/>
                <a:cs typeface="Arial MT"/>
              </a:rPr>
              <a:t>Transform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text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4" dirty="0">
                <a:latin typeface="Arial MT"/>
                <a:cs typeface="Arial MT"/>
              </a:rPr>
              <a:t>by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using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text</a:t>
            </a:r>
            <a:r>
              <a:rPr spc="-4" dirty="0">
                <a:latin typeface="Arial MT"/>
                <a:cs typeface="Arial MT"/>
              </a:rPr>
              <a:t> capitalization </a:t>
            </a:r>
            <a:r>
              <a:rPr spc="8" dirty="0">
                <a:latin typeface="Arial MT"/>
                <a:cs typeface="Arial MT"/>
              </a:rPr>
              <a:t>classes</a:t>
            </a:r>
            <a:r>
              <a:rPr spc="8" dirty="0">
                <a:solidFill>
                  <a:srgbClr val="3F3F3F"/>
                </a:solidFill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  <a:tab pos="1970246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text-lowercase</a:t>
            </a:r>
            <a:r>
              <a:rPr lang="en-US" spc="-4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class</a:t>
            </a:r>
            <a:r>
              <a:rPr spc="-8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used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for Lowercased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43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text-uppercase</a:t>
            </a:r>
            <a:r>
              <a:rPr spc="19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class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used</a:t>
            </a:r>
            <a:r>
              <a:rPr spc="-8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for</a:t>
            </a:r>
            <a:r>
              <a:rPr spc="4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Uppercased</a:t>
            </a:r>
            <a:r>
              <a:rPr spc="-8" dirty="0">
                <a:latin typeface="Arial MT"/>
                <a:cs typeface="Arial MT"/>
              </a:rPr>
              <a:t> </a:t>
            </a:r>
            <a:r>
              <a:rPr spc="4" dirty="0">
                <a:latin typeface="Arial MT"/>
                <a:cs typeface="Arial MT"/>
              </a:rPr>
              <a:t>text</a:t>
            </a:r>
            <a:r>
              <a:rPr spc="4" dirty="0">
                <a:solidFill>
                  <a:srgbClr val="3F3F3F"/>
                </a:solidFill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809148" lvl="1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03823" algn="l"/>
              </a:tabLst>
              <a:defRPr/>
            </a:pPr>
            <a:r>
              <a:rPr spc="-4" dirty="0">
                <a:solidFill>
                  <a:srgbClr val="91268E"/>
                </a:solidFill>
                <a:latin typeface="Arial MT"/>
                <a:cs typeface="Arial MT"/>
              </a:rPr>
              <a:t>text-capitalize</a:t>
            </a:r>
            <a:r>
              <a:rPr spc="23" dirty="0">
                <a:solidFill>
                  <a:srgbClr val="91268E"/>
                </a:solidFill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class </a:t>
            </a:r>
            <a:r>
              <a:rPr spc="-4" dirty="0">
                <a:latin typeface="Arial MT"/>
                <a:cs typeface="Arial MT"/>
              </a:rPr>
              <a:t>used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for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4" dirty="0" err="1">
                <a:latin typeface="Arial MT"/>
                <a:cs typeface="Arial MT"/>
              </a:rPr>
              <a:t>Capitali</a:t>
            </a:r>
            <a:r>
              <a:rPr lang="en-GB" spc="-4" dirty="0">
                <a:latin typeface="Arial MT"/>
                <a:cs typeface="Arial MT"/>
              </a:rPr>
              <a:t>s</a:t>
            </a:r>
            <a:r>
              <a:rPr spc="-4" dirty="0">
                <a:latin typeface="Arial MT"/>
                <a:cs typeface="Arial MT"/>
              </a:rPr>
              <a:t>ed</a:t>
            </a:r>
            <a:r>
              <a:rPr spc="11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blinds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F70131-676A-A522-213C-B13931758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Abbreviations</a:t>
            </a:r>
            <a:endParaRPr dirty="0"/>
          </a:p>
        </p:txBody>
      </p:sp>
      <p:sp>
        <p:nvSpPr>
          <p:cNvPr id="52227" name="object 3">
            <a:extLst>
              <a:ext uri="{FF2B5EF4-FFF2-40B4-BE49-F238E27FC236}">
                <a16:creationId xmlns:a16="http://schemas.microsoft.com/office/drawing/2014/main" id="{B1F09BCB-B0E9-D464-5A4B-78AC4024D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25575"/>
            <a:ext cx="8280400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Basic Abbreviation</a:t>
            </a: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</a:t>
            </a:r>
          </a:p>
          <a:p>
            <a:pPr>
              <a:spcBef>
                <a:spcPts val="75"/>
              </a:spcBef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An abbreviation of the word attribute is  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attr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.</a:t>
            </a:r>
          </a:p>
          <a:p>
            <a:pPr lvl="4">
              <a:spcBef>
                <a:spcPts val="750"/>
              </a:spcBef>
            </a:pP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Syntax:</a:t>
            </a:r>
          </a:p>
          <a:p>
            <a:pPr lvl="4">
              <a:spcBef>
                <a:spcPts val="750"/>
              </a:spcBef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&lt;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abbr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 title="attribute"&gt;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attr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&lt;/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abbr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&gt;</a:t>
            </a:r>
          </a:p>
          <a:p>
            <a:pPr lvl="4">
              <a:spcBef>
                <a:spcPts val="750"/>
              </a:spcBef>
            </a:pPr>
            <a:endParaRPr lang="en-US" altLang="en-US" sz="21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738"/>
              </a:spcBef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Initialism</a:t>
            </a: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 </a:t>
            </a:r>
          </a:p>
          <a:p>
            <a:pPr>
              <a:spcBef>
                <a:spcPts val="738"/>
              </a:spcBef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Add .Initialism to an abbreviation for a slightly  smaller font-size.</a:t>
            </a:r>
          </a:p>
          <a:p>
            <a:pPr lvl="4">
              <a:spcBef>
                <a:spcPts val="750"/>
              </a:spcBef>
            </a:pP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Syntax: </a:t>
            </a:r>
          </a:p>
          <a:p>
            <a:pPr lvl="4">
              <a:spcBef>
                <a:spcPts val="750"/>
              </a:spcBef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&lt;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abbr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 title="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HyperText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 Markup Language“ class="initialism"&gt;HTML&lt;/</a:t>
            </a:r>
            <a:r>
              <a:rPr lang="en-US" altLang="en-US" sz="2100" dirty="0" err="1">
                <a:latin typeface="Arial MT"/>
                <a:ea typeface="Arial MT"/>
                <a:cs typeface="Arial MT"/>
              </a:rPr>
              <a:t>abbr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&gt;</a:t>
            </a:r>
          </a:p>
        </p:txBody>
      </p:sp>
    </p:spTree>
  </p:cSld>
  <p:clrMapOvr>
    <a:masterClrMapping/>
  </p:clrMapOvr>
  <p:transition>
    <p:blinds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16B10D-B175-1F7E-8E72-E0FE2B0BB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dirty="0"/>
              <a:t>L</a:t>
            </a:r>
            <a:r>
              <a:rPr spc="-4" dirty="0"/>
              <a:t>ists</a:t>
            </a:r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75A7072-B754-5E69-26E7-5ACE118B8D08}"/>
              </a:ext>
            </a:extLst>
          </p:cNvPr>
          <p:cNvSpPr txBox="1"/>
          <p:nvPr/>
        </p:nvSpPr>
        <p:spPr>
          <a:xfrm>
            <a:off x="323527" y="1484784"/>
            <a:ext cx="8564885" cy="4642938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>
            <a:lvl1pPr marL="266700" indent="-257175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>
              <a:spcBef>
                <a:spcPts val="825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Unordered: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A list of items in which the order does </a:t>
            </a:r>
            <a:r>
              <a:rPr lang="en-US" altLang="en-US" sz="2000" i="1" dirty="0">
                <a:cs typeface="Arial" panose="020B0604020202020204" pitchFamily="34" charset="0"/>
              </a:rPr>
              <a:t>not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explicitly matter.</a:t>
            </a:r>
          </a:p>
          <a:p>
            <a:pPr lvl="5">
              <a:spcBef>
                <a:spcPts val="750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ul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&gt;</a:t>
            </a:r>
          </a:p>
          <a:p>
            <a:pPr lvl="5">
              <a:spcBef>
                <a:spcPts val="750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&lt;li&gt;...&lt;/li&gt;</a:t>
            </a:r>
          </a:p>
          <a:p>
            <a:pPr lvl="5">
              <a:spcBef>
                <a:spcPts val="738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&lt;/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ul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&gt;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Ordered: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A list of items in which the order </a:t>
            </a:r>
            <a:r>
              <a:rPr lang="en-US" altLang="en-US" sz="2000" i="1" dirty="0">
                <a:cs typeface="Arial" panose="020B0604020202020204" pitchFamily="34" charset="0"/>
              </a:rPr>
              <a:t>does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explicitly matter.</a:t>
            </a:r>
          </a:p>
          <a:p>
            <a:pPr lvl="5">
              <a:spcBef>
                <a:spcPts val="750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ol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&gt;</a:t>
            </a:r>
          </a:p>
          <a:p>
            <a:pPr lvl="5">
              <a:spcBef>
                <a:spcPts val="750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&lt;li&gt;...&lt;/li&gt;</a:t>
            </a:r>
          </a:p>
          <a:p>
            <a:pPr lvl="5">
              <a:spcBef>
                <a:spcPts val="738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&lt;/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ol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&gt;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 err="1">
                <a:solidFill>
                  <a:schemeClr val="accent2"/>
                </a:solidFill>
                <a:cs typeface="Arial" panose="020B0604020202020204" pitchFamily="34" charset="0"/>
              </a:rPr>
              <a:t>Unstyled</a:t>
            </a: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Removes the Default list-style and left margin for list items. It  only applies to immediate children of list items.</a:t>
            </a:r>
          </a:p>
          <a:p>
            <a:pPr lvl="5">
              <a:spcBef>
                <a:spcPts val="738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ul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 class="list-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unstyled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"&gt;</a:t>
            </a:r>
          </a:p>
          <a:p>
            <a:pPr lvl="5">
              <a:spcBef>
                <a:spcPts val="750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&lt;li&gt;...&lt;/li&gt;</a:t>
            </a:r>
          </a:p>
          <a:p>
            <a:pPr lvl="5">
              <a:spcBef>
                <a:spcPts val="750"/>
              </a:spcBef>
              <a:defRPr/>
            </a:pPr>
            <a:r>
              <a:rPr lang="en-US" altLang="en-US" sz="1600" dirty="0">
                <a:ea typeface="Arial MT"/>
                <a:cs typeface="Arial" panose="020B0604020202020204" pitchFamily="34" charset="0"/>
              </a:rPr>
              <a:t>&lt;/</a:t>
            </a:r>
            <a:r>
              <a:rPr lang="en-US" altLang="en-US" sz="1600" dirty="0" err="1">
                <a:ea typeface="Arial MT"/>
                <a:cs typeface="Arial" panose="020B0604020202020204" pitchFamily="34" charset="0"/>
              </a:rPr>
              <a:t>ul</a:t>
            </a:r>
            <a:r>
              <a:rPr lang="en-US" altLang="en-US" sz="1600" dirty="0">
                <a:ea typeface="Arial MT"/>
                <a:cs typeface="Arial" panose="020B0604020202020204" pitchFamily="34" charset="0"/>
              </a:rPr>
              <a:t>&gt;</a:t>
            </a:r>
          </a:p>
        </p:txBody>
      </p:sp>
    </p:spTree>
  </p:cSld>
  <p:clrMapOvr>
    <a:masterClrMapping/>
  </p:clrMapOvr>
  <p:transition>
    <p:blinds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78FC24-200B-6C70-F613-740906F1F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285" dirty="0"/>
              <a:t>T</a:t>
            </a:r>
            <a:r>
              <a:rPr dirty="0"/>
              <a:t>a</a:t>
            </a:r>
            <a:r>
              <a:rPr spc="-4" dirty="0"/>
              <a:t>b</a:t>
            </a:r>
            <a:r>
              <a:rPr spc="4" dirty="0"/>
              <a:t>l</a:t>
            </a:r>
            <a:r>
              <a:rPr spc="-4" dirty="0"/>
              <a:t>es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EDC57D2-79DF-3FEB-3C35-60C5C9343EB5}"/>
              </a:ext>
            </a:extLst>
          </p:cNvPr>
          <p:cNvSpPr txBox="1"/>
          <p:nvPr/>
        </p:nvSpPr>
        <p:spPr>
          <a:xfrm>
            <a:off x="288925" y="1468438"/>
            <a:ext cx="4283075" cy="4568558"/>
          </a:xfrm>
          <a:prstGeom prst="rect">
            <a:avLst/>
          </a:prstGeom>
        </p:spPr>
        <p:txBody>
          <a:bodyPr lIns="0" tIns="10477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ts val="750"/>
              </a:spcBef>
              <a:defRPr/>
            </a:pPr>
            <a:r>
              <a:rPr lang="en-US" altLang="en-US" sz="18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Example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: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We've wrapped our table in a container for proper centering and padding.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The .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table class 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is applied to style the table with Bootstrap's default table styles.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The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.table-bordered 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class adds borders on all sides of the table and cells.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The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.table-hover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 class adds a hover effect on table rows.</a:t>
            </a:r>
          </a:p>
          <a:p>
            <a:pPr marL="295275" indent="-28575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The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.table-dark 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class is applied to the table header to give it a dark background for better contrast.</a:t>
            </a:r>
          </a:p>
          <a:p>
            <a:pPr algn="just">
              <a:spcBef>
                <a:spcPts val="750"/>
              </a:spcBef>
              <a:defRPr/>
            </a:pPr>
            <a:endParaRPr lang="en-US" altLang="en-US" sz="1600" dirty="0">
              <a:ea typeface="Arial MT"/>
              <a:cs typeface="Arial" panose="020B0604020202020204" pitchFamily="34" charset="0"/>
            </a:endParaRPr>
          </a:p>
        </p:txBody>
      </p:sp>
      <p:pic>
        <p:nvPicPr>
          <p:cNvPr id="54276" name="Picture 4">
            <a:extLst>
              <a:ext uri="{FF2B5EF4-FFF2-40B4-BE49-F238E27FC236}">
                <a16:creationId xmlns:a16="http://schemas.microsoft.com/office/drawing/2014/main" id="{B29C399D-A105-1044-F3C6-EBCB4537F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341438"/>
            <a:ext cx="4183062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972D86-8320-930B-8C03-E1305E467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GB" spc="-285" dirty="0">
                <a:solidFill>
                  <a:srgbClr val="FFFFFF"/>
                </a:solidFill>
              </a:rPr>
              <a:t>T</a:t>
            </a:r>
            <a:r>
              <a:rPr lang="en-GB" dirty="0">
                <a:solidFill>
                  <a:srgbClr val="FFFFFF"/>
                </a:solidFill>
              </a:rPr>
              <a:t>a</a:t>
            </a:r>
            <a:r>
              <a:rPr lang="en-GB" spc="-4" dirty="0">
                <a:solidFill>
                  <a:srgbClr val="FFFFFF"/>
                </a:solidFill>
              </a:rPr>
              <a:t>b</a:t>
            </a:r>
            <a:r>
              <a:rPr lang="en-GB" spc="4" dirty="0">
                <a:solidFill>
                  <a:srgbClr val="FFFFFF"/>
                </a:solidFill>
              </a:rPr>
              <a:t>l</a:t>
            </a:r>
            <a:r>
              <a:rPr lang="en-GB" spc="-4" dirty="0">
                <a:solidFill>
                  <a:srgbClr val="FFFFFF"/>
                </a:solidFill>
              </a:rPr>
              <a:t>es</a:t>
            </a:r>
            <a:endParaRPr sz="2700" dirty="0"/>
          </a:p>
        </p:txBody>
      </p:sp>
      <p:sp>
        <p:nvSpPr>
          <p:cNvPr id="55299" name="object 3">
            <a:extLst>
              <a:ext uri="{FF2B5EF4-FFF2-40B4-BE49-F238E27FC236}">
                <a16:creationId xmlns:a16="http://schemas.microsoft.com/office/drawing/2014/main" id="{A9D1D344-4DA4-CC24-4261-67E62D62F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11288"/>
            <a:ext cx="8280400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477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25"/>
              </a:spcBef>
            </a:pPr>
            <a:r>
              <a:rPr lang="en-US" altLang="en-US" sz="2100" b="1">
                <a:solidFill>
                  <a:schemeClr val="accent2"/>
                </a:solidFill>
                <a:cs typeface="Arial" panose="020B0604020202020204" pitchFamily="34" charset="0"/>
              </a:rPr>
              <a:t>STRIPED TABLE </a:t>
            </a:r>
            <a:r>
              <a:rPr lang="en-US" altLang="en-US" sz="210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:</a:t>
            </a:r>
          </a:p>
          <a:p>
            <a:pPr>
              <a:lnSpc>
                <a:spcPts val="2513"/>
              </a:lnSpc>
              <a:spcBef>
                <a:spcPts val="838"/>
              </a:spcBef>
            </a:pPr>
            <a:r>
              <a:rPr lang="en-US" altLang="en-US" sz="2100">
                <a:ea typeface="Arial MT"/>
                <a:cs typeface="Arial" panose="020B0604020202020204" pitchFamily="34" charset="0"/>
              </a:rPr>
              <a:t>The </a:t>
            </a:r>
            <a:r>
              <a:rPr lang="en-US" altLang="en-US" sz="2100">
                <a:solidFill>
                  <a:srgbClr val="91268E"/>
                </a:solidFill>
                <a:ea typeface="Arial MT"/>
                <a:cs typeface="Arial" panose="020B0604020202020204" pitchFamily="34" charset="0"/>
              </a:rPr>
              <a:t>.table-striped </a:t>
            </a:r>
            <a:r>
              <a:rPr lang="en-US" altLang="en-US" sz="2100">
                <a:ea typeface="Arial MT"/>
                <a:cs typeface="Arial" panose="020B0604020202020204" pitchFamily="34" charset="0"/>
              </a:rPr>
              <a:t>class allows zebra-striping to any rows within the &lt;tbody&gt;.</a:t>
            </a:r>
          </a:p>
          <a:p>
            <a:pPr>
              <a:lnSpc>
                <a:spcPts val="2513"/>
              </a:lnSpc>
              <a:spcBef>
                <a:spcPts val="838"/>
              </a:spcBef>
            </a:pPr>
            <a:endParaRPr lang="en-US" altLang="en-US" sz="2100">
              <a:ea typeface="Arial MT"/>
              <a:cs typeface="Arial" panose="020B0604020202020204" pitchFamily="34" charset="0"/>
            </a:endParaRPr>
          </a:p>
          <a:p>
            <a:pPr lvl="4">
              <a:spcBef>
                <a:spcPts val="663"/>
              </a:spcBef>
            </a:pPr>
            <a:endParaRPr lang="en-US" altLang="en-US" sz="2100">
              <a:cs typeface="Arial" panose="020B0604020202020204" pitchFamily="34" charset="0"/>
            </a:endParaRPr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86B4137A-9B4C-2D4D-97F7-C2C6BD300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068638"/>
            <a:ext cx="79375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6">
            <a:extLst>
              <a:ext uri="{FF2B5EF4-FFF2-40B4-BE49-F238E27FC236}">
                <a16:creationId xmlns:a16="http://schemas.microsoft.com/office/drawing/2014/main" id="{0C928BB0-73FE-0F10-BFC8-F181556B1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25" y="2662238"/>
            <a:ext cx="27241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4E8D78-5D5C-9A0B-49D7-56B941A1E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285" dirty="0"/>
              <a:t>T</a:t>
            </a:r>
            <a:r>
              <a:rPr dirty="0"/>
              <a:t>a</a:t>
            </a:r>
            <a:r>
              <a:rPr spc="-4" dirty="0"/>
              <a:t>b</a:t>
            </a:r>
            <a:r>
              <a:rPr spc="4" dirty="0"/>
              <a:t>l</a:t>
            </a:r>
            <a:r>
              <a:rPr spc="-4" dirty="0"/>
              <a:t>es</a:t>
            </a:r>
            <a:endParaRPr dirty="0"/>
          </a:p>
        </p:txBody>
      </p:sp>
      <p:sp>
        <p:nvSpPr>
          <p:cNvPr id="56323" name="object 3">
            <a:extLst>
              <a:ext uri="{FF2B5EF4-FFF2-40B4-BE49-F238E27FC236}">
                <a16:creationId xmlns:a16="http://schemas.microsoft.com/office/drawing/2014/main" id="{C2577BB5-3191-20CC-EB73-1DD9A58D3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89088"/>
            <a:ext cx="813752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110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925"/>
              </a:spcBef>
            </a:pPr>
            <a:r>
              <a:rPr lang="en-US" altLang="en-US" b="1" u="sng" dirty="0">
                <a:cs typeface="Arial" panose="020B0604020202020204" pitchFamily="34" charset="0"/>
              </a:rPr>
              <a:t>Condensed table</a:t>
            </a:r>
            <a:endParaRPr lang="en-US" altLang="en-US" dirty="0">
              <a:cs typeface="Arial" panose="020B0604020202020204" pitchFamily="34" charset="0"/>
            </a:endParaRPr>
          </a:p>
          <a:p>
            <a:pPr>
              <a:spcBef>
                <a:spcPts val="750"/>
              </a:spcBef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the </a:t>
            </a:r>
            <a:r>
              <a:rPr lang="en-US" altLang="en-US" sz="21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.table-</a:t>
            </a:r>
            <a:r>
              <a:rPr lang="en-US" altLang="en-US" sz="2100" dirty="0" err="1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condesend</a:t>
            </a:r>
            <a:r>
              <a:rPr lang="en-US" altLang="en-US" sz="21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100" dirty="0">
                <a:latin typeface="Arial MT"/>
                <a:ea typeface="Arial MT"/>
                <a:cs typeface="Arial MT"/>
              </a:rPr>
              <a:t>class makes the table more compact by cutting the cell padding in half.</a:t>
            </a:r>
          </a:p>
          <a:p>
            <a:pPr lvl="4">
              <a:spcBef>
                <a:spcPts val="738"/>
              </a:spcBef>
            </a:pPr>
            <a:r>
              <a:rPr lang="en-US" altLang="en-US" sz="2100" b="1" u="sng" dirty="0">
                <a:cs typeface="Arial" panose="020B0604020202020204" pitchFamily="34" charset="0"/>
              </a:rPr>
              <a:t>Syntax: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4">
              <a:spcBef>
                <a:spcPts val="750"/>
              </a:spcBef>
            </a:pPr>
            <a:r>
              <a:rPr lang="en-US" altLang="en-US" sz="2100" b="1" dirty="0">
                <a:cs typeface="Arial" panose="020B0604020202020204" pitchFamily="34" charset="0"/>
              </a:rPr>
              <a:t>&lt;table class="table table-condensed"&gt;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4">
              <a:spcBef>
                <a:spcPts val="750"/>
              </a:spcBef>
            </a:pPr>
            <a:r>
              <a:rPr lang="en-US" altLang="en-US" sz="2100" b="1" dirty="0">
                <a:cs typeface="Arial" panose="020B0604020202020204" pitchFamily="34" charset="0"/>
              </a:rPr>
              <a:t>…………….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4">
              <a:spcBef>
                <a:spcPts val="738"/>
              </a:spcBef>
            </a:pPr>
            <a:r>
              <a:rPr lang="en-US" altLang="en-US" sz="2100" b="1" dirty="0">
                <a:cs typeface="Arial" panose="020B0604020202020204" pitchFamily="34" charset="0"/>
              </a:rPr>
              <a:t>&lt;/table&gt;</a:t>
            </a:r>
            <a:endParaRPr lang="en-US" altLang="en-US" sz="2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06EA4D-6600-A22D-4BF6-9D1682D267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4" dirty="0">
                <a:latin typeface="Arial"/>
                <a:cs typeface="Arial"/>
              </a:rPr>
              <a:t>Tables - </a:t>
            </a:r>
            <a:r>
              <a:rPr spc="-4" dirty="0">
                <a:latin typeface="Arial"/>
                <a:cs typeface="Arial"/>
              </a:rPr>
              <a:t>Contextual</a:t>
            </a:r>
            <a:r>
              <a:rPr spc="-64" dirty="0">
                <a:latin typeface="Arial"/>
                <a:cs typeface="Arial"/>
              </a:rPr>
              <a:t> </a:t>
            </a:r>
            <a:r>
              <a:rPr lang="en-GB" spc="-4" dirty="0">
                <a:latin typeface="Arial"/>
                <a:cs typeface="Arial"/>
              </a:rPr>
              <a:t>C</a:t>
            </a:r>
            <a:r>
              <a:rPr spc="-4" dirty="0">
                <a:latin typeface="Arial"/>
                <a:cs typeface="Arial"/>
              </a:rPr>
              <a:t>lasses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664B192-57C4-491D-9BFD-DC91330A6E21}"/>
              </a:ext>
            </a:extLst>
          </p:cNvPr>
          <p:cNvSpPr txBox="1"/>
          <p:nvPr/>
        </p:nvSpPr>
        <p:spPr>
          <a:xfrm>
            <a:off x="712706" y="1464138"/>
            <a:ext cx="8208912" cy="378950"/>
          </a:xfrm>
          <a:prstGeom prst="rect">
            <a:avLst/>
          </a:prstGeom>
        </p:spPr>
        <p:txBody>
          <a:bodyPr wrap="square" lIns="0" tIns="9525" rIns="0" bIns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>
                <a:latin typeface="Arial MT"/>
                <a:cs typeface="Arial MT"/>
              </a:rPr>
              <a:t>Use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contextual classes</a:t>
            </a:r>
            <a:r>
              <a:rPr dirty="0">
                <a:latin typeface="Arial MT"/>
                <a:cs typeface="Arial MT"/>
              </a:rPr>
              <a:t> to</a:t>
            </a:r>
            <a:r>
              <a:rPr spc="-4" dirty="0">
                <a:latin typeface="Arial MT"/>
                <a:cs typeface="Arial MT"/>
              </a:rPr>
              <a:t> color</a:t>
            </a:r>
            <a:r>
              <a:rPr spc="8" dirty="0">
                <a:latin typeface="Arial MT"/>
                <a:cs typeface="Arial MT"/>
              </a:rPr>
              <a:t> </a:t>
            </a:r>
            <a:r>
              <a:rPr spc="-4" dirty="0">
                <a:latin typeface="Arial MT"/>
                <a:cs typeface="Arial MT"/>
              </a:rPr>
              <a:t>table rows or</a:t>
            </a:r>
            <a:r>
              <a:rPr spc="8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individual</a:t>
            </a:r>
            <a:r>
              <a:rPr spc="-4" dirty="0">
                <a:latin typeface="Arial MT"/>
                <a:cs typeface="Arial MT"/>
              </a:rPr>
              <a:t> cells.</a:t>
            </a:r>
            <a:endParaRPr dirty="0">
              <a:latin typeface="Arial MT"/>
              <a:cs typeface="Arial M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7042F5-4903-6C4A-4649-E669BCBCE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92734"/>
              </p:ext>
            </p:extLst>
          </p:nvPr>
        </p:nvGraphicFramePr>
        <p:xfrm>
          <a:off x="1524000" y="2091862"/>
          <a:ext cx="6096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840">
                  <a:extLst>
                    <a:ext uri="{9D8B030D-6E8A-4147-A177-3AD203B41FA5}">
                      <a16:colId xmlns:a16="http://schemas.microsoft.com/office/drawing/2014/main" val="2651583351"/>
                    </a:ext>
                  </a:extLst>
                </a:gridCol>
                <a:gridCol w="4488160">
                  <a:extLst>
                    <a:ext uri="{9D8B030D-6E8A-4147-A177-3AD203B41FA5}">
                      <a16:colId xmlns:a16="http://schemas.microsoft.com/office/drawing/2014/main" val="1050046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97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r>
                        <a:rPr lang="en-GB" sz="1800" spc="-8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ct</a:t>
                      </a:r>
                      <a:r>
                        <a:rPr lang="en-GB" sz="1800" spc="-4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lang="en-GB" sz="1800" spc="-8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Arial MT"/>
                          <a:ea typeface="Arial MT"/>
                          <a:cs typeface="Arial MT"/>
                        </a:rPr>
                        <a:t>Applies the hover color to a particular row or cell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28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.s</a:t>
                      </a:r>
                      <a:r>
                        <a:rPr lang="en-GB" sz="1800" spc="-4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r>
                        <a:rPr lang="en-GB" sz="1800" spc="-4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Arial MT"/>
                          <a:ea typeface="Arial MT"/>
                          <a:cs typeface="Arial MT"/>
                        </a:rPr>
                        <a:t>Indicates a successful or positive 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97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r>
                        <a:rPr lang="en-GB" sz="1800" spc="-4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lang="en-GB" sz="1800" spc="-8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fo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Arial MT"/>
                          <a:ea typeface="Arial MT"/>
                          <a:cs typeface="Arial MT"/>
                        </a:rPr>
                        <a:t>Indicates a neutral informative change or 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70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.w</a:t>
                      </a:r>
                      <a:r>
                        <a:rPr lang="en-GB" sz="1800" spc="-8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rn</a:t>
                      </a:r>
                      <a:r>
                        <a:rPr lang="en-GB" sz="1800" spc="-4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lang="en-GB" sz="1800" spc="-8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lang="en-GB" sz="1800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Arial MT"/>
                          <a:ea typeface="Arial MT"/>
                          <a:cs typeface="Arial MT"/>
                        </a:rPr>
                        <a:t>Indicates a warning that might need attention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839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spc="-8" dirty="0">
                          <a:solidFill>
                            <a:schemeClr val="accent2"/>
                          </a:solidFill>
                          <a:latin typeface="Arial MT"/>
                          <a:cs typeface="Arial MT"/>
                        </a:rPr>
                        <a:t>.danger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Arial MT"/>
                          <a:ea typeface="Arial MT"/>
                          <a:cs typeface="Arial MT"/>
                        </a:rPr>
                        <a:t>Indicates a dangerous or  potentially negative 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438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743311"/>
      </p:ext>
    </p:extLst>
  </p:cSld>
  <p:clrMapOvr>
    <a:masterClrMapping/>
  </p:clrMapOvr>
  <p:transition>
    <p:blinds dir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6EA736-3AF8-92AD-F6AA-EC827CB0E9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285" dirty="0"/>
              <a:t>T</a:t>
            </a:r>
            <a:r>
              <a:rPr lang="en-US" dirty="0"/>
              <a:t>a</a:t>
            </a:r>
            <a:r>
              <a:rPr lang="en-US" spc="-4" dirty="0"/>
              <a:t>b</a:t>
            </a:r>
            <a:r>
              <a:rPr lang="en-US" spc="4" dirty="0"/>
              <a:t>l</a:t>
            </a:r>
            <a:r>
              <a:rPr lang="en-US" spc="-4" dirty="0"/>
              <a:t>es – Responsive Tables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13866F4-608B-D10C-142A-27D9CE2725F7}"/>
              </a:ext>
            </a:extLst>
          </p:cNvPr>
          <p:cNvSpPr txBox="1"/>
          <p:nvPr/>
        </p:nvSpPr>
        <p:spPr>
          <a:xfrm>
            <a:off x="323529" y="1411288"/>
            <a:ext cx="8299772" cy="4778872"/>
          </a:xfrm>
          <a:prstGeom prst="rect">
            <a:avLst/>
          </a:prstGeom>
        </p:spPr>
        <p:txBody>
          <a:bodyPr lIns="0" tIns="10477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25"/>
              </a:spcBef>
              <a:defRPr/>
            </a:pPr>
            <a:r>
              <a:rPr lang="en-US" altLang="en-US" sz="2100" b="1" dirty="0">
                <a:solidFill>
                  <a:schemeClr val="accent2"/>
                </a:solidFill>
                <a:cs typeface="Arial" panose="020B0604020202020204" pitchFamily="34" charset="0"/>
              </a:rPr>
              <a:t>RESPONSIVE TABLES</a:t>
            </a:r>
            <a:r>
              <a:rPr lang="en-US" altLang="en-US" sz="21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</a:t>
            </a:r>
          </a:p>
          <a:p>
            <a:pPr marL="352425" indent="-34290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By wrapping any .table in .table-responsive class, it makes the tables more responsive to screen sizes</a:t>
            </a:r>
          </a:p>
          <a:p>
            <a:pPr marL="352425" indent="-342900" algn="just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100" dirty="0">
                <a:latin typeface="Arial MT"/>
                <a:ea typeface="Arial MT"/>
                <a:cs typeface="Arial MT"/>
              </a:rPr>
              <a:t>The table scrolls horizontally up to small devices (under  768px). When viewing on anything larger than 768px wide, no difference will be seen.</a:t>
            </a:r>
          </a:p>
          <a:p>
            <a:pPr lvl="5">
              <a:spcBef>
                <a:spcPts val="738"/>
              </a:spcBef>
              <a:defRPr/>
            </a:pPr>
            <a:r>
              <a:rPr lang="en-US" altLang="en-US" sz="2100" b="1" u="sng" dirty="0">
                <a:cs typeface="Arial" panose="020B0604020202020204" pitchFamily="34" charset="0"/>
              </a:rPr>
              <a:t>Syntax: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5">
              <a:spcBef>
                <a:spcPts val="750"/>
              </a:spcBef>
              <a:defRPr/>
            </a:pPr>
            <a:r>
              <a:rPr lang="en-US" altLang="en-US" sz="2100" b="1" dirty="0">
                <a:cs typeface="Arial" panose="020B0604020202020204" pitchFamily="34" charset="0"/>
              </a:rPr>
              <a:t>&lt;div class="table-responsive"&gt;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5">
              <a:spcBef>
                <a:spcPts val="750"/>
              </a:spcBef>
              <a:defRPr/>
            </a:pPr>
            <a:r>
              <a:rPr lang="en-US" altLang="en-US" sz="2100" b="1" dirty="0">
                <a:cs typeface="Arial" panose="020B0604020202020204" pitchFamily="34" charset="0"/>
              </a:rPr>
              <a:t>&lt;table class="table"&gt;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5">
              <a:spcBef>
                <a:spcPts val="738"/>
              </a:spcBef>
              <a:defRPr/>
            </a:pPr>
            <a:r>
              <a:rPr lang="en-US" altLang="en-US" sz="2100" b="1" dirty="0">
                <a:cs typeface="Arial" panose="020B0604020202020204" pitchFamily="34" charset="0"/>
              </a:rPr>
              <a:t>………….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5">
              <a:spcBef>
                <a:spcPts val="750"/>
              </a:spcBef>
              <a:defRPr/>
            </a:pPr>
            <a:r>
              <a:rPr lang="en-US" altLang="en-US" sz="2100" b="1" dirty="0">
                <a:cs typeface="Arial" panose="020B0604020202020204" pitchFamily="34" charset="0"/>
              </a:rPr>
              <a:t>&lt;/table&gt;</a:t>
            </a:r>
            <a:endParaRPr lang="en-US" altLang="en-US" sz="2100" dirty="0">
              <a:cs typeface="Arial" panose="020B0604020202020204" pitchFamily="34" charset="0"/>
            </a:endParaRPr>
          </a:p>
          <a:p>
            <a:pPr lvl="5">
              <a:spcBef>
                <a:spcPts val="750"/>
              </a:spcBef>
              <a:defRPr/>
            </a:pPr>
            <a:r>
              <a:rPr lang="en-US" altLang="en-US" sz="2100" b="1" dirty="0">
                <a:cs typeface="Arial" panose="020B0604020202020204" pitchFamily="34" charset="0"/>
              </a:rPr>
              <a:t>&lt;/div&gt;</a:t>
            </a:r>
            <a:endParaRPr lang="en-US" altLang="en-US" sz="2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6E5600FE-9ECB-7D0D-0C2A-9BF267F68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Quiz - 4</a:t>
            </a:r>
            <a:endParaRPr lang="en-GB" alt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BAF134-8AB8-9618-CFE8-A035DD3FC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158" y="1556792"/>
            <a:ext cx="8613255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How do you make a table responsive in Bootstrap?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Wrap the table with &lt;div class="table-responsive"&gt;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Add .table-responsive class directly to the &lt;table&gt;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It is automatically responsive; no additional class is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Which class adds zebra-stripes to a table in Bootstrap?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.table-striped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.table-zebra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.striped-table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To add a hover effect over table rows in Bootstrap, which class is used?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.table-hover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.hover-rows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.row-hover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>
            <a:extLst>
              <a:ext uri="{FF2B5EF4-FFF2-40B4-BE49-F238E27FC236}">
                <a16:creationId xmlns:a16="http://schemas.microsoft.com/office/drawing/2014/main" id="{F53FF557-7980-51B3-1A66-588D4F57E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6A3357E-32DA-D300-FC01-2266F73FDF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84784"/>
            <a:ext cx="8856663" cy="4319587"/>
          </a:xfrm>
        </p:spPr>
        <p:txBody>
          <a:bodyPr/>
          <a:lstStyle/>
          <a:p>
            <a:pPr algn="l"/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Syed, M. A. (2020).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5 By Example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Packt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Publishing.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Spurgeon, B. (2017).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 Bootstrap 4, Second Edition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Packt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Publishing.</a:t>
            </a:r>
          </a:p>
          <a:p>
            <a:pPr algn="l">
              <a:buFont typeface="+mj-lt"/>
              <a:buAutoNum type="arabicPeriod"/>
            </a:pPr>
            <a:endParaRPr lang="en-GB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Resources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Documentation.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https://getbootstrap.com/docs/5.0/getting-started/introduction/</a:t>
            </a:r>
            <a:endParaRPr lang="en-GB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4 Tutorial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https://www.w3schools.com/bootstrap4/</a:t>
            </a:r>
            <a:endParaRPr lang="en-GB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sz="2000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MDBootstrap</a:t>
            </a: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5 Tutorial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https://mdbootstrap.com/education/bootstrap/</a:t>
            </a:r>
            <a:endParaRPr lang="en-GB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7D9CD3D-4752-F086-ED8F-2DD2A41DDC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9 – Responsive CSS Framework Bootstrap -I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AD4A24E-77B0-0959-F528-850855EFC2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Any Questions?</a:t>
            </a:r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3" ma:contentTypeDescription="Create a new document." ma:contentTypeScope="" ma:versionID="d9bbfaea230637e7c1669398b1eed2f4">
  <xsd:schema xmlns:xsd="http://www.w3.org/2001/XMLSchema" xmlns:xs="http://www.w3.org/2001/XMLSchema" xmlns:p="http://schemas.microsoft.com/office/2006/metadata/properties" xmlns:ns2="b7ca8b93-ffab-4a3f-973d-e2dcd4ec99d7" targetNamespace="http://schemas.microsoft.com/office/2006/metadata/properties" ma:root="true" ma:fieldsID="78ca82ca745a94011efef898cb6160cc" ns2:_="">
    <xsd:import namespace="b7ca8b93-ffab-4a3f-973d-e2dcd4ec99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ca8b93-ffab-4a3f-973d-e2dcd4ec99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88C434-4966-4665-8226-07BDBB824E8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bdeceafc-5c0f-406d-b95f-35e6593d664b"/>
    <ds:schemaRef ds:uri="dbeaa6b5-7a21-43b8-ab59-31e7cbf2c187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4CAE49-AEA0-4D47-836B-EB21C8C06589}"/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339</TotalTime>
  <Words>2857</Words>
  <Application>Microsoft Office PowerPoint</Application>
  <PresentationFormat>On-screen Show (4:3)</PresentationFormat>
  <Paragraphs>455</Paragraphs>
  <Slides>47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 MT</vt:lpstr>
      <vt:lpstr>Gill Sans</vt:lpstr>
      <vt:lpstr>Söhne</vt:lpstr>
      <vt:lpstr>Arial</vt:lpstr>
      <vt:lpstr>Wingdings</vt:lpstr>
      <vt:lpstr>Blank Presentation</vt:lpstr>
      <vt:lpstr>1_test 2</vt:lpstr>
      <vt:lpstr>PowerPoint Presentation</vt:lpstr>
      <vt:lpstr>Scope and Coverage</vt:lpstr>
      <vt:lpstr>Learning Outcomes</vt:lpstr>
      <vt:lpstr>Unit Roadmap</vt:lpstr>
      <vt:lpstr>BOOTSTRAP</vt:lpstr>
      <vt:lpstr>What is Bootstrap?</vt:lpstr>
      <vt:lpstr>Why use Bootstrap?</vt:lpstr>
      <vt:lpstr>Bootstrap Features</vt:lpstr>
      <vt:lpstr>Bootstrap Features</vt:lpstr>
      <vt:lpstr>Quiz - 1</vt:lpstr>
      <vt:lpstr>Bootstrap containers</vt:lpstr>
      <vt:lpstr>Containers</vt:lpstr>
      <vt:lpstr>Containers</vt:lpstr>
      <vt:lpstr>Default Container</vt:lpstr>
      <vt:lpstr>Fluid Container</vt:lpstr>
      <vt:lpstr>Responsive Container</vt:lpstr>
      <vt:lpstr>Container Breakpoints</vt:lpstr>
      <vt:lpstr>Quiz - 2</vt:lpstr>
      <vt:lpstr>Bootstrap grid system</vt:lpstr>
      <vt:lpstr>Recap - What is a Grid?</vt:lpstr>
      <vt:lpstr>Recap - Grid System Description</vt:lpstr>
      <vt:lpstr>Bootstrap Grid System</vt:lpstr>
      <vt:lpstr>Grid Classes</vt:lpstr>
      <vt:lpstr>Bootstrap Grid System: Device Comparison</vt:lpstr>
      <vt:lpstr>Bootstrap Grid Example</vt:lpstr>
      <vt:lpstr>Bootstrap Grid Characteristics</vt:lpstr>
      <vt:lpstr>Bootstrap Grid Characteristics</vt:lpstr>
      <vt:lpstr>Bootstrap Grid Characteristics</vt:lpstr>
      <vt:lpstr>Bootstrap Grid Characteristics</vt:lpstr>
      <vt:lpstr>Bootstrap Grid Characteristics</vt:lpstr>
      <vt:lpstr>Quiz - 3</vt:lpstr>
      <vt:lpstr>Bootstrap contents</vt:lpstr>
      <vt:lpstr>Typography</vt:lpstr>
      <vt:lpstr>Typography</vt:lpstr>
      <vt:lpstr>Inline Text Elements</vt:lpstr>
      <vt:lpstr>Alignment Classes</vt:lpstr>
      <vt:lpstr>Transformation classes</vt:lpstr>
      <vt:lpstr>Abbreviations</vt:lpstr>
      <vt:lpstr>Lists</vt:lpstr>
      <vt:lpstr>Tables</vt:lpstr>
      <vt:lpstr>Tables</vt:lpstr>
      <vt:lpstr>Tables</vt:lpstr>
      <vt:lpstr>Tables - Contextual Classes</vt:lpstr>
      <vt:lpstr>Tables – Responsive Tables</vt:lpstr>
      <vt:lpstr>Quiz - 4</vt:lpstr>
      <vt:lpstr>References</vt:lpstr>
      <vt:lpstr>Topic 9 – Responsive CSS Framework Bootstrap -I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99</cp:revision>
  <dcterms:created xsi:type="dcterms:W3CDTF">2008-01-18T13:21:43Z</dcterms:created>
  <dcterms:modified xsi:type="dcterms:W3CDTF">2024-03-07T05:57:27Z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