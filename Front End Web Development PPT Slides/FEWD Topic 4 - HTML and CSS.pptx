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49"/>
  </p:notesMasterIdLst>
  <p:handoutMasterIdLst>
    <p:handoutMasterId r:id="rId50"/>
  </p:handoutMasterIdLst>
  <p:sldIdLst>
    <p:sldId id="261" r:id="rId6"/>
    <p:sldId id="263" r:id="rId7"/>
    <p:sldId id="264" r:id="rId8"/>
    <p:sldId id="343" r:id="rId9"/>
    <p:sldId id="278" r:id="rId10"/>
    <p:sldId id="257" r:id="rId11"/>
    <p:sldId id="258" r:id="rId12"/>
    <p:sldId id="279" r:id="rId13"/>
    <p:sldId id="259" r:id="rId14"/>
    <p:sldId id="260" r:id="rId15"/>
    <p:sldId id="280" r:id="rId16"/>
    <p:sldId id="275" r:id="rId17"/>
    <p:sldId id="276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344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45" r:id="rId46"/>
    <p:sldId id="268" r:id="rId47"/>
    <p:sldId id="262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DAF8D-4D1C-4AB4-BF44-FBB102CD2457}" v="12" dt="2024-03-07T07:06:20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1"/>
    <p:restoredTop sz="81646" autoAdjust="0"/>
  </p:normalViewPr>
  <p:slideViewPr>
    <p:cSldViewPr>
      <p:cViewPr varScale="1">
        <p:scale>
          <a:sx n="69" d="100"/>
          <a:sy n="69" d="100"/>
        </p:scale>
        <p:origin x="2064" y="72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2D6DAF8D-4D1C-4AB4-BF44-FBB102CD2457}"/>
    <pc:docChg chg="undo custSel addSld delSld modSld modMainMaster">
      <pc:chgData name="Liew Pei Ling" userId="c3090c8e-0726-43ba-95b9-123e980a216d" providerId="ADAL" clId="{2D6DAF8D-4D1C-4AB4-BF44-FBB102CD2457}" dt="2024-03-07T07:14:32.817" v="118" actId="20577"/>
      <pc:docMkLst>
        <pc:docMk/>
      </pc:docMkLst>
      <pc:sldChg chg="modSp mod">
        <pc:chgData name="Liew Pei Ling" userId="c3090c8e-0726-43ba-95b9-123e980a216d" providerId="ADAL" clId="{2D6DAF8D-4D1C-4AB4-BF44-FBB102CD2457}" dt="2024-03-07T07:07:27.658" v="75" actId="20577"/>
        <pc:sldMkLst>
          <pc:docMk/>
          <pc:sldMk cId="0" sldId="262"/>
        </pc:sldMkLst>
        <pc:spChg chg="mod">
          <ac:chgData name="Liew Pei Ling" userId="c3090c8e-0726-43ba-95b9-123e980a216d" providerId="ADAL" clId="{2D6DAF8D-4D1C-4AB4-BF44-FBB102CD2457}" dt="2024-03-07T07:07:27.658" v="75" actId="20577"/>
          <ac:spMkLst>
            <pc:docMk/>
            <pc:sldMk cId="0" sldId="262"/>
            <ac:spMk id="21506" creationId="{30256145-B1CB-6CD2-F24D-CE752DBF88F7}"/>
          </ac:spMkLst>
        </pc:spChg>
      </pc:sldChg>
      <pc:sldChg chg="addSp delSp modSp mod">
        <pc:chgData name="Liew Pei Ling" userId="c3090c8e-0726-43ba-95b9-123e980a216d" providerId="ADAL" clId="{2D6DAF8D-4D1C-4AB4-BF44-FBB102CD2457}" dt="2024-03-07T07:07:01.299" v="53" actId="255"/>
        <pc:sldMkLst>
          <pc:docMk/>
          <pc:sldMk cId="0" sldId="268"/>
        </pc:sldMkLst>
        <pc:spChg chg="add del mod">
          <ac:chgData name="Liew Pei Ling" userId="c3090c8e-0726-43ba-95b9-123e980a216d" providerId="ADAL" clId="{2D6DAF8D-4D1C-4AB4-BF44-FBB102CD2457}" dt="2024-03-07T07:06:05.228" v="41" actId="478"/>
          <ac:spMkLst>
            <pc:docMk/>
            <pc:sldMk cId="0" sldId="268"/>
            <ac:spMk id="2" creationId="{0F1040B4-8E9F-DF21-469A-6958E2E2EFA4}"/>
          </ac:spMkLst>
        </pc:spChg>
        <pc:spChg chg="add mod">
          <ac:chgData name="Liew Pei Ling" userId="c3090c8e-0726-43ba-95b9-123e980a216d" providerId="ADAL" clId="{2D6DAF8D-4D1C-4AB4-BF44-FBB102CD2457}" dt="2024-03-07T07:07:01.299" v="53" actId="255"/>
          <ac:spMkLst>
            <pc:docMk/>
            <pc:sldMk cId="0" sldId="268"/>
            <ac:spMk id="3" creationId="{D886E8CE-5521-8AB5-7BA7-C3E4AB15B1D8}"/>
          </ac:spMkLst>
        </pc:spChg>
        <pc:spChg chg="del">
          <ac:chgData name="Liew Pei Ling" userId="c3090c8e-0726-43ba-95b9-123e980a216d" providerId="ADAL" clId="{2D6DAF8D-4D1C-4AB4-BF44-FBB102CD2457}" dt="2024-03-07T07:06:02.392" v="40" actId="478"/>
          <ac:spMkLst>
            <pc:docMk/>
            <pc:sldMk cId="0" sldId="268"/>
            <ac:spMk id="20483" creationId="{00792D34-A813-B251-0B61-CF5DB6F017B9}"/>
          </ac:spMkLst>
        </pc:spChg>
      </pc:sldChg>
      <pc:sldChg chg="del">
        <pc:chgData name="Liew Pei Ling" userId="c3090c8e-0726-43ba-95b9-123e980a216d" providerId="ADAL" clId="{2D6DAF8D-4D1C-4AB4-BF44-FBB102CD2457}" dt="2024-03-07T07:05:50.649" v="39" actId="47"/>
        <pc:sldMkLst>
          <pc:docMk/>
          <pc:sldMk cId="0" sldId="270"/>
        </pc:sldMkLst>
      </pc:sldChg>
      <pc:sldChg chg="del">
        <pc:chgData name="Liew Pei Ling" userId="c3090c8e-0726-43ba-95b9-123e980a216d" providerId="ADAL" clId="{2D6DAF8D-4D1C-4AB4-BF44-FBB102CD2457}" dt="2024-03-07T07:04:42.998" v="22" actId="47"/>
        <pc:sldMkLst>
          <pc:docMk/>
          <pc:sldMk cId="2735383602" sldId="307"/>
        </pc:sldMkLst>
      </pc:sldChg>
      <pc:sldChg chg="del">
        <pc:chgData name="Liew Pei Ling" userId="c3090c8e-0726-43ba-95b9-123e980a216d" providerId="ADAL" clId="{2D6DAF8D-4D1C-4AB4-BF44-FBB102CD2457}" dt="2024-03-07T07:05:20.019" v="28" actId="47"/>
        <pc:sldMkLst>
          <pc:docMk/>
          <pc:sldMk cId="1122148803" sldId="308"/>
        </pc:sldMkLst>
      </pc:sldChg>
      <pc:sldChg chg="modSp mod">
        <pc:chgData name="Liew Pei Ling" userId="c3090c8e-0726-43ba-95b9-123e980a216d" providerId="ADAL" clId="{2D6DAF8D-4D1C-4AB4-BF44-FBB102CD2457}" dt="2024-03-07T07:13:30.094" v="81" actId="20577"/>
        <pc:sldMkLst>
          <pc:docMk/>
          <pc:sldMk cId="3459152918" sldId="343"/>
        </pc:sldMkLst>
        <pc:graphicFrameChg chg="mod modGraphic">
          <ac:chgData name="Liew Pei Ling" userId="c3090c8e-0726-43ba-95b9-123e980a216d" providerId="ADAL" clId="{2D6DAF8D-4D1C-4AB4-BF44-FBB102CD2457}" dt="2024-03-07T07:13:30.094" v="81" actId="20577"/>
          <ac:graphicFrameMkLst>
            <pc:docMk/>
            <pc:sldMk cId="3459152918" sldId="343"/>
            <ac:graphicFrameMk id="4" creationId="{8FD64872-AB8B-372F-97B6-899200497D77}"/>
          </ac:graphicFrameMkLst>
        </pc:graphicFrameChg>
      </pc:sldChg>
      <pc:sldChg chg="modSp add mod">
        <pc:chgData name="Liew Pei Ling" userId="c3090c8e-0726-43ba-95b9-123e980a216d" providerId="ADAL" clId="{2D6DAF8D-4D1C-4AB4-BF44-FBB102CD2457}" dt="2024-03-07T07:04:51.849" v="26" actId="20577"/>
        <pc:sldMkLst>
          <pc:docMk/>
          <pc:sldMk cId="2188588729" sldId="344"/>
        </pc:sldMkLst>
        <pc:spChg chg="mod">
          <ac:chgData name="Liew Pei Ling" userId="c3090c8e-0726-43ba-95b9-123e980a216d" providerId="ADAL" clId="{2D6DAF8D-4D1C-4AB4-BF44-FBB102CD2457}" dt="2024-03-07T07:04:51.849" v="26" actId="20577"/>
          <ac:spMkLst>
            <pc:docMk/>
            <pc:sldMk cId="2188588729" sldId="344"/>
            <ac:spMk id="2" creationId="{A3EE79C0-8F26-93F3-A118-EB024BEAF457}"/>
          </ac:spMkLst>
        </pc:spChg>
      </pc:sldChg>
      <pc:sldChg chg="del">
        <pc:chgData name="Liew Pei Ling" userId="c3090c8e-0726-43ba-95b9-123e980a216d" providerId="ADAL" clId="{2D6DAF8D-4D1C-4AB4-BF44-FBB102CD2457}" dt="2024-03-07T07:02:30.073" v="0" actId="47"/>
        <pc:sldMkLst>
          <pc:docMk/>
          <pc:sldMk cId="2714280893" sldId="344"/>
        </pc:sldMkLst>
      </pc:sldChg>
      <pc:sldChg chg="modSp add mod">
        <pc:chgData name="Liew Pei Ling" userId="c3090c8e-0726-43ba-95b9-123e980a216d" providerId="ADAL" clId="{2D6DAF8D-4D1C-4AB4-BF44-FBB102CD2457}" dt="2024-03-07T07:05:46.599" v="38" actId="1076"/>
        <pc:sldMkLst>
          <pc:docMk/>
          <pc:sldMk cId="3157778713" sldId="345"/>
        </pc:sldMkLst>
        <pc:spChg chg="mod">
          <ac:chgData name="Liew Pei Ling" userId="c3090c8e-0726-43ba-95b9-123e980a216d" providerId="ADAL" clId="{2D6DAF8D-4D1C-4AB4-BF44-FBB102CD2457}" dt="2024-03-07T07:05:26.921" v="31" actId="113"/>
          <ac:spMkLst>
            <pc:docMk/>
            <pc:sldMk cId="3157778713" sldId="345"/>
            <ac:spMk id="2" creationId="{5F92F45D-25DA-2327-F76F-4C7CE450BDD0}"/>
          </ac:spMkLst>
        </pc:spChg>
        <pc:spChg chg="mod">
          <ac:chgData name="Liew Pei Ling" userId="c3090c8e-0726-43ba-95b9-123e980a216d" providerId="ADAL" clId="{2D6DAF8D-4D1C-4AB4-BF44-FBB102CD2457}" dt="2024-03-07T07:05:46.599" v="38" actId="1076"/>
          <ac:spMkLst>
            <pc:docMk/>
            <pc:sldMk cId="3157778713" sldId="345"/>
            <ac:spMk id="4" creationId="{8A261D23-7AA1-8092-05BD-02D10589CD6E}"/>
          </ac:spMkLst>
        </pc:spChg>
      </pc:sldChg>
      <pc:sldMasterChg chg="modSp mod">
        <pc:chgData name="Liew Pei Ling" userId="c3090c8e-0726-43ba-95b9-123e980a216d" providerId="ADAL" clId="{2D6DAF8D-4D1C-4AB4-BF44-FBB102CD2457}" dt="2024-03-07T07:14:32.817" v="118" actId="20577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2D6DAF8D-4D1C-4AB4-BF44-FBB102CD2457}" dt="2024-03-07T07:14:32.817" v="118" actId="20577"/>
          <ac:spMkLst>
            <pc:docMk/>
            <pc:sldMasterMk cId="0" sldId="2147483648"/>
            <ac:spMk id="2" creationId="{A32EA3CA-39D1-9FA4-95C0-680AD8C68823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1FFDCA6-01BF-AC42-CC2E-309F75C526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BEB2E91-903B-C4E1-4997-C06992EB58E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C897D01C-7A42-5732-F81B-F750EAD4F8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1F0F990F-B103-5F36-2D48-40776D5669D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BBC9CE6D-33F3-4164-A4AE-B249B179104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94C446F-A002-69B2-5BEA-021C3EA03F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CAAFFE8-DB0E-216C-F6B6-994E59E8941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A17F65F-36D2-1227-EF2A-F7AE0D9C91E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B43C3DD-22F9-9DDE-7C71-B226280DBC7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C3073034-D7B7-1004-65F6-A46DDE9FBB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CECE9F70-DB43-5018-E061-72EBA6B0A6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EE66288-329D-47AD-9316-C6AC0021FB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1CA06EB-B6F8-CA41-D1B3-8CA220E84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BFC1352-4EA6-4788-A354-E835FC47ACCC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BB5A5FE-BC3E-4478-46BC-FB489E5706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E1A8156-58AB-2C06-DC3D-956F6B552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35DB168-626A-6D56-7A35-8912C78639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E73005A-BEF1-4BC5-900C-D1161F4FC69A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8291206-2FC0-A685-FAEC-5B8D27740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13A948A3-375B-915E-770C-8E5370346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An ID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div p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.example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66288-329D-47AD-9316-C6AC0021FBB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894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&lt;link&gt;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D) Grid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background-repeat: no-repeat;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E66288-329D-47AD-9316-C6AC0021FBB4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314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3C4197B-7098-CDBD-49CF-B18798102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B8378A-10B2-41F7-9156-A66724F83E8C}" type="slidenum">
              <a:rPr lang="en-US" altLang="en-US" sz="1200" smtClean="0"/>
              <a:pPr/>
              <a:t>43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EAB0316-0CFF-D6A9-42A7-2D397973F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6C7AA60-1778-5A3C-4C7B-35D8AABC4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064F9CC9-E9ED-2BC8-4803-7B0C8BA493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774FBCB5-8757-7929-EF22-207962FD644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75C2D338-CDB0-8539-AC86-76C4CC46F0C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45FD4046-D8CB-80F6-CE09-84944D87F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9865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11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170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2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5793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9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20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2103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265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871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300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5286" y="1012063"/>
            <a:ext cx="7253427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0594" y="4656835"/>
            <a:ext cx="6242811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2045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744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69287ECC-C4F9-E3B1-E1AD-8F1FDF3AB23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E8E9ADA4-41EE-BA8E-5CA4-B46D8294D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A32EA3CA-39D1-9FA4-95C0-680AD8C688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35700" y="0"/>
            <a:ext cx="2908300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HTML and CSS Topic 4 - 4.</a:t>
            </a:r>
            <a:fld id="{C4901199-B3BE-4C27-8FF7-80CD682CFB6E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007A8355-B92E-B552-C4E8-AE56819DA2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9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1307C051-04B2-C1CC-84C4-B1E3A35498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1E3492E7-2B12-6934-EB5B-5355D872C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69BE2D06-7578-46D5-B610-A7F16DF08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B6E61FDB-3069-88A9-D974-C53535D73E5C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779838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18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18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4: </a:t>
            </a:r>
          </a:p>
          <a:p>
            <a:pPr algn="ctr" eaLnBrk="1" hangingPunct="1"/>
            <a:r>
              <a:rPr lang="en-GB" altLang="en-US" sz="1800" b="1" i="0" dirty="0">
                <a:solidFill>
                  <a:schemeClr val="bg1"/>
                </a:solidFill>
                <a:latin typeface="Arial" panose="020B0604020202020204" pitchFamily="34" charset="0"/>
              </a:rPr>
              <a:t>HTML and CSS</a:t>
            </a:r>
            <a:endParaRPr lang="en-US" altLang="en-US" sz="1800" b="1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87E9B9A2-1F82-F921-DA48-B12E030C0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EF907155-1B72-30BA-DC50-110C2FC6EB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DIV element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SPAN element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CSS Selectors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Coding with HTML and CSS</a:t>
            </a:r>
          </a:p>
          <a:p>
            <a:pPr lvl="1" eaLnBrk="1" hangingPunct="1"/>
            <a:endParaRPr lang="en-GB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4BAC1D84-7128-A8C8-89EB-AC8484F2F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9387478F-1F28-DECE-E28D-5CFBED8368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i="0" dirty="0"/>
              <a:t>By the end of this topic students will be able to: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Explain the concepts of SPAN and DIV element in HTML and CSS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Differentiate between SPAN and DIV element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Identify different type of CSS selectors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Demonstrate the ability to write </a:t>
            </a:r>
            <a:r>
              <a:rPr lang="en-GB" altLang="en-US" dirty="0" smtClean="0">
                <a:latin typeface="Arial" panose="020B0604020202020204" pitchFamily="34" charset="0"/>
              </a:rPr>
              <a:t>code </a:t>
            </a:r>
            <a:r>
              <a:rPr lang="en-GB" altLang="en-US" dirty="0">
                <a:latin typeface="Arial" panose="020B0604020202020204" pitchFamily="34" charset="0"/>
              </a:rPr>
              <a:t>for front end web development using HTML and CSS</a:t>
            </a:r>
          </a:p>
          <a:p>
            <a:pPr eaLnBrk="1" hangingPunct="1"/>
            <a:endParaRPr lang="en-US" altLang="en-US" i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3371-3DB6-E845-CCEB-080031A8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Roadmap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FD64872-AB8B-372F-97B6-899200497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993263"/>
              </p:ext>
            </p:extLst>
          </p:nvPr>
        </p:nvGraphicFramePr>
        <p:xfrm>
          <a:off x="323528" y="1700808"/>
          <a:ext cx="8352929" cy="384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20">
                  <a:extLst>
                    <a:ext uri="{9D8B030D-6E8A-4147-A177-3AD203B41FA5}">
                      <a16:colId xmlns:a16="http://schemas.microsoft.com/office/drawing/2014/main" val="18378162"/>
                    </a:ext>
                  </a:extLst>
                </a:gridCol>
                <a:gridCol w="2843841">
                  <a:extLst>
                    <a:ext uri="{9D8B030D-6E8A-4147-A177-3AD203B41FA5}">
                      <a16:colId xmlns:a16="http://schemas.microsoft.com/office/drawing/2014/main" val="3377387048"/>
                    </a:ext>
                  </a:extLst>
                </a:gridCol>
                <a:gridCol w="582772">
                  <a:extLst>
                    <a:ext uri="{9D8B030D-6E8A-4147-A177-3AD203B41FA5}">
                      <a16:colId xmlns:a16="http://schemas.microsoft.com/office/drawing/2014/main" val="751228994"/>
                    </a:ext>
                  </a:extLst>
                </a:gridCol>
                <a:gridCol w="3983496">
                  <a:extLst>
                    <a:ext uri="{9D8B030D-6E8A-4147-A177-3AD203B41FA5}">
                      <a16:colId xmlns:a16="http://schemas.microsoft.com/office/drawing/2014/main" val="152595518"/>
                    </a:ext>
                  </a:extLst>
                </a:gridCol>
              </a:tblGrid>
              <a:tr h="36280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extLst>
                  <a:ext uri="{0D108BD9-81ED-4DB2-BD59-A6C34878D82A}">
                    <a16:rowId xmlns:a16="http://schemas.microsoft.com/office/drawing/2014/main" val="421551709"/>
                  </a:ext>
                </a:extLst>
              </a:tr>
              <a:tr h="728807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extLst>
                  <a:ext uri="{0D108BD9-81ED-4DB2-BD59-A6C34878D82A}">
                    <a16:rowId xmlns:a16="http://schemas.microsoft.com/office/drawing/2014/main" val="1785122313"/>
                  </a:ext>
                </a:extLst>
              </a:tr>
              <a:tr h="50938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extLst>
                  <a:ext uri="{0D108BD9-81ED-4DB2-BD59-A6C34878D82A}">
                    <a16:rowId xmlns:a16="http://schemas.microsoft.com/office/drawing/2014/main" val="3861668370"/>
                  </a:ext>
                </a:extLst>
              </a:tr>
              <a:tr h="4726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38576" marR="38576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6" marR="38576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I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6" marR="38576" marT="0" marB="0" anchor="ctr"/>
                </a:tc>
                <a:extLst>
                  <a:ext uri="{0D108BD9-81ED-4DB2-BD59-A6C34878D82A}">
                    <a16:rowId xmlns:a16="http://schemas.microsoft.com/office/drawing/2014/main" val="787970438"/>
                  </a:ext>
                </a:extLst>
              </a:tr>
              <a:tr h="3628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18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1800" b="1" kern="100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38576" marR="38576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6" marR="38576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I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6" marR="38576" marT="0" marB="0" anchor="ctr"/>
                </a:tc>
                <a:extLst>
                  <a:ext uri="{0D108BD9-81ED-4DB2-BD59-A6C34878D82A}">
                    <a16:rowId xmlns:a16="http://schemas.microsoft.com/office/drawing/2014/main" val="2301344130"/>
                  </a:ext>
                </a:extLst>
              </a:tr>
              <a:tr h="441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38576" marR="38576" marT="0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6" marR="38576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Review, Testing and Collaboration</a:t>
                      </a:r>
                      <a:endParaRPr lang="en-GB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38576" marR="38576" marT="0" marB="0" anchor="ctr"/>
                </a:tc>
                <a:extLst>
                  <a:ext uri="{0D108BD9-81ED-4DB2-BD59-A6C34878D82A}">
                    <a16:rowId xmlns:a16="http://schemas.microsoft.com/office/drawing/2014/main" val="2005109633"/>
                  </a:ext>
                </a:extLst>
              </a:tr>
              <a:tr h="36280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1435" marR="51435" marT="25718" marB="25718" anchor="ctr"/>
                </a:tc>
                <a:extLst>
                  <a:ext uri="{0D108BD9-81ED-4DB2-BD59-A6C34878D82A}">
                    <a16:rowId xmlns:a16="http://schemas.microsoft.com/office/drawing/2014/main" val="4705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15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2B543F-C4F9-FFB6-B023-DBF8DF87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 and div – HTML/</a:t>
            </a:r>
            <a:r>
              <a:rPr lang="en-US" dirty="0" err="1"/>
              <a:t>css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35C8E-4949-207D-E066-0D6597F5F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31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3420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/>
              <a:t>What are SPAN and DIV</a:t>
            </a:r>
            <a:endParaRPr b="1"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" y="1846263"/>
            <a:ext cx="8856663" cy="32957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b="0" i="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C00000"/>
                </a:solidFill>
                <a:latin typeface="Calibri"/>
                <a:cs typeface="Calibri"/>
              </a:rPr>
              <a:t>&lt;span&gt;</a:t>
            </a:r>
            <a:r>
              <a:rPr b="0" i="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b="0" i="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rgbClr val="C00000"/>
                </a:solidFill>
                <a:latin typeface="Calibri"/>
                <a:cs typeface="Calibri"/>
              </a:rPr>
              <a:t>&lt;div&gt;</a:t>
            </a:r>
            <a:r>
              <a:rPr b="0" i="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tags</a:t>
            </a:r>
            <a:r>
              <a:rPr b="0" i="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b="0" i="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b="0" i="0" spc="-50" dirty="0">
                <a:solidFill>
                  <a:schemeClr val="tx1"/>
                </a:solidFill>
                <a:latin typeface="Calibri"/>
                <a:cs typeface="Calibri"/>
              </a:rPr>
              <a:t>extensively used with CSS</a:t>
            </a:r>
          </a:p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i="0" spc="-50" dirty="0">
                <a:solidFill>
                  <a:schemeClr val="tx1"/>
                </a:solidFill>
                <a:latin typeface="Calibri"/>
                <a:cs typeface="Calibri"/>
              </a:rPr>
              <a:t>Both are used</a:t>
            </a:r>
            <a:r>
              <a:rPr b="0" i="0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b="0" i="0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b="0" i="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similar</a:t>
            </a:r>
            <a:r>
              <a:rPr b="0" i="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chemeClr val="tx1"/>
                </a:solidFill>
                <a:latin typeface="Calibri"/>
                <a:cs typeface="Calibri"/>
              </a:rPr>
              <a:t>fashion,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but</a:t>
            </a:r>
            <a:r>
              <a:rPr b="0" i="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they</a:t>
            </a:r>
            <a:r>
              <a:rPr b="0" i="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serve</a:t>
            </a:r>
            <a:r>
              <a:rPr b="0" i="0" spc="-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dirty="0">
                <a:solidFill>
                  <a:schemeClr val="tx1"/>
                </a:solidFill>
                <a:latin typeface="Calibri"/>
                <a:cs typeface="Calibri"/>
              </a:rPr>
              <a:t>different</a:t>
            </a:r>
            <a:r>
              <a:rPr b="0" i="0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b="0" i="0" spc="-10" dirty="0">
                <a:solidFill>
                  <a:schemeClr val="tx1"/>
                </a:solidFill>
                <a:latin typeface="Calibri"/>
                <a:cs typeface="Calibri"/>
              </a:rPr>
              <a:t>purposes</a:t>
            </a:r>
            <a:endParaRPr lang="en-US" b="0" i="0" spc="-1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b="1" i="0" spc="-10" dirty="0">
                <a:solidFill>
                  <a:schemeClr val="accent2"/>
                </a:solidFill>
                <a:latin typeface="Calibri"/>
                <a:cs typeface="Calibri"/>
              </a:rPr>
              <a:t>div: </a:t>
            </a:r>
            <a:r>
              <a:rPr lang="en-US" b="0" i="0" spc="-10" dirty="0">
                <a:solidFill>
                  <a:schemeClr val="tx1"/>
                </a:solidFill>
                <a:latin typeface="Calibri"/>
                <a:cs typeface="Calibri"/>
              </a:rPr>
              <a:t>A block-level container element.</a:t>
            </a:r>
          </a:p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lang="en-US" b="1" i="0" spc="-10" dirty="0">
                <a:solidFill>
                  <a:schemeClr val="accent2"/>
                </a:solidFill>
                <a:latin typeface="Calibri"/>
                <a:cs typeface="Calibri"/>
              </a:rPr>
              <a:t>span: </a:t>
            </a:r>
            <a:r>
              <a:rPr lang="en-US" b="0" i="0" spc="-10" dirty="0">
                <a:solidFill>
                  <a:schemeClr val="tx1"/>
                </a:solidFill>
                <a:latin typeface="Calibri"/>
                <a:cs typeface="Calibri"/>
              </a:rPr>
              <a:t>An inline container element.</a:t>
            </a:r>
          </a:p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endParaRPr b="0" i="0" spc="-1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0" algn="ctr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&lt;DIV&gt;</a:t>
            </a:r>
            <a:r>
              <a:rPr lang="en-US" b="1" spc="-10" dirty="0"/>
              <a:t> Tag</a:t>
            </a:r>
            <a:endParaRPr b="1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83690"/>
            <a:ext cx="7898765" cy="432028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69900" marR="62230" indent="-457200">
              <a:lnSpc>
                <a:spcPct val="89900"/>
              </a:lnSpc>
              <a:spcBef>
                <a:spcPts val="484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3200" b="1" dirty="0">
                <a:solidFill>
                  <a:schemeClr val="accent2"/>
                </a:solidFill>
                <a:latin typeface="Calibri"/>
                <a:cs typeface="Calibri"/>
              </a:rPr>
              <a:t>&lt;div&gt;</a:t>
            </a:r>
            <a:r>
              <a:rPr sz="3200" b="1" spc="-5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defines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logical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divisions </a:t>
            </a:r>
            <a:r>
              <a:rPr lang="en-US" sz="3200" spc="-10" dirty="0">
                <a:latin typeface="Calibri"/>
                <a:cs typeface="Calibri"/>
              </a:rPr>
              <a:t>in the w</a:t>
            </a:r>
            <a:r>
              <a:rPr sz="3200" dirty="0">
                <a:latin typeface="Calibri"/>
                <a:cs typeface="Calibri"/>
              </a:rPr>
              <a:t>ebpage.</a:t>
            </a:r>
            <a:endParaRPr lang="en-US" sz="3200" dirty="0">
              <a:latin typeface="Calibri"/>
              <a:cs typeface="Calibri"/>
            </a:endParaRPr>
          </a:p>
          <a:p>
            <a:pPr marL="469900" marR="62230" indent="-457200">
              <a:lnSpc>
                <a:spcPct val="89900"/>
              </a:lnSpc>
              <a:spcBef>
                <a:spcPts val="484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3200" spc="-40" dirty="0">
                <a:latin typeface="Calibri"/>
                <a:cs typeface="Calibri"/>
              </a:rPr>
              <a:t>Like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a </a:t>
            </a:r>
            <a:r>
              <a:rPr sz="3200" dirty="0">
                <a:latin typeface="Calibri"/>
                <a:cs typeface="Calibri"/>
              </a:rPr>
              <a:t>paragraph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but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divides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up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 </a:t>
            </a:r>
            <a:r>
              <a:rPr sz="3200" dirty="0">
                <a:latin typeface="Calibri"/>
                <a:cs typeface="Calibri"/>
              </a:rPr>
              <a:t>larger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sections.</a:t>
            </a:r>
            <a:endParaRPr sz="3200" dirty="0">
              <a:latin typeface="Calibri"/>
              <a:cs typeface="Calibri"/>
            </a:endParaRPr>
          </a:p>
          <a:p>
            <a:pPr marL="469900" marR="5080" indent="-457200">
              <a:lnSpc>
                <a:spcPct val="89900"/>
              </a:lnSpc>
              <a:spcBef>
                <a:spcPts val="80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3200" b="1" dirty="0">
                <a:solidFill>
                  <a:schemeClr val="accent2"/>
                </a:solidFill>
                <a:latin typeface="Calibri"/>
                <a:cs typeface="Calibri"/>
              </a:rPr>
              <a:t>&lt;div&gt;</a:t>
            </a:r>
            <a:r>
              <a:rPr sz="3200" b="1" spc="-6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allows </a:t>
            </a:r>
            <a:r>
              <a:rPr sz="3200" dirty="0">
                <a:latin typeface="Calibri"/>
                <a:cs typeface="Calibri"/>
              </a:rPr>
              <a:t>defin</a:t>
            </a:r>
            <a:r>
              <a:rPr lang="en-US" sz="3200" dirty="0">
                <a:latin typeface="Calibri"/>
                <a:cs typeface="Calibri"/>
              </a:rPr>
              <a:t>ing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style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whole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sections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HTML</a:t>
            </a:r>
            <a:endParaRPr lang="en-US" sz="3200" dirty="0">
              <a:latin typeface="Calibri"/>
              <a:cs typeface="Calibri"/>
            </a:endParaRPr>
          </a:p>
          <a:p>
            <a:pPr marL="469900" marR="5080" indent="-457200">
              <a:lnSpc>
                <a:spcPct val="89900"/>
              </a:lnSpc>
              <a:spcBef>
                <a:spcPts val="80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GB" sz="3200" spc="-45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page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lang="en-US" sz="3200" spc="-35" dirty="0">
                <a:latin typeface="Calibri"/>
                <a:cs typeface="Calibri"/>
              </a:rPr>
              <a:t>can be used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call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dirty="0">
                <a:latin typeface="Calibri"/>
                <a:cs typeface="Calibri"/>
              </a:rPr>
              <a:t>give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section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different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style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surrounding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71D23-4E41-EBE4-ADE8-61AEB3FC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&lt;DIV&gt; Tag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F182C-DED3-DD99-21E8-CEA4004CB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div element in </a:t>
            </a:r>
            <a:r>
              <a:rPr lang="en-US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generic container for flow content, which does not inherently represent anything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styled with </a:t>
            </a:r>
            <a:r>
              <a:rPr lang="en-US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any </a:t>
            </a:r>
            <a:r>
              <a:rPr lang="en-US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property can be applied to a div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tag doesn't have any "special" properties of its own; it's simply a block-level element by default.</a:t>
            </a:r>
            <a:endParaRPr lang="en-GB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871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 algn="ctr">
              <a:lnSpc>
                <a:spcPct val="100000"/>
              </a:lnSpc>
              <a:spcBef>
                <a:spcPts val="100"/>
              </a:spcBef>
            </a:pPr>
            <a:r>
              <a:rPr lang="en-GB" b="1" spc="-10" dirty="0"/>
              <a:t>&lt;DIV&gt; Tag</a:t>
            </a:r>
            <a:endParaRPr lang="en-GB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3881" y="1412776"/>
            <a:ext cx="8284532" cy="451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9179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chemeClr val="accent2"/>
                </a:solidFill>
                <a:latin typeface="Calibri"/>
                <a:cs typeface="Calibri"/>
              </a:rPr>
              <a:t>&lt;div&gt;</a:t>
            </a:r>
            <a:r>
              <a:rPr sz="3200" b="1" spc="-5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gives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ability</a:t>
            </a:r>
            <a:r>
              <a:rPr sz="32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32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C00000"/>
                </a:solidFill>
                <a:latin typeface="Calibri"/>
                <a:cs typeface="Calibri"/>
              </a:rPr>
              <a:t>name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certain</a:t>
            </a:r>
            <a:r>
              <a:rPr sz="32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sections</a:t>
            </a:r>
            <a:r>
              <a:rPr sz="32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32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your</a:t>
            </a:r>
            <a:r>
              <a:rPr sz="32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C00000"/>
                </a:solidFill>
                <a:latin typeface="Calibri"/>
                <a:cs typeface="Calibri"/>
              </a:rPr>
              <a:t>documents</a:t>
            </a:r>
            <a:r>
              <a:rPr sz="32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that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affect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them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style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sheets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or </a:t>
            </a:r>
            <a:r>
              <a:rPr sz="3200" dirty="0">
                <a:latin typeface="Calibri"/>
                <a:cs typeface="Calibri"/>
              </a:rPr>
              <a:t>Dynamic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HTML.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One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keep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</a:t>
            </a:r>
            <a:endParaRPr sz="3200" dirty="0">
              <a:latin typeface="Calibri"/>
              <a:cs typeface="Calibri"/>
            </a:endParaRPr>
          </a:p>
          <a:p>
            <a:pPr marL="355600" marR="5080">
              <a:lnSpc>
                <a:spcPct val="99900"/>
              </a:lnSpc>
            </a:pPr>
            <a:r>
              <a:rPr sz="3200" b="1" dirty="0">
                <a:solidFill>
                  <a:schemeClr val="accent2"/>
                </a:solidFill>
                <a:latin typeface="Calibri"/>
                <a:cs typeface="Calibri"/>
              </a:rPr>
              <a:t>&lt;div&gt;</a:t>
            </a:r>
            <a:r>
              <a:rPr sz="3200" b="1" spc="-65" dirty="0">
                <a:solidFill>
                  <a:schemeClr val="accent2"/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breaks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paragraphs.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acts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paragraph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end/beginning,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you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paragraphs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&lt;div&gt;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can't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&lt;div&gt;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inside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paragraph.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dirty="0"/>
              <a:t>Attributes</a:t>
            </a:r>
            <a:r>
              <a:rPr b="1" spc="-100" dirty="0"/>
              <a:t> </a:t>
            </a:r>
            <a:r>
              <a:rPr b="1" dirty="0"/>
              <a:t>in</a:t>
            </a:r>
            <a:r>
              <a:rPr b="1" spc="-100" dirty="0"/>
              <a:t> </a:t>
            </a:r>
            <a:r>
              <a:rPr b="1" spc="-10" dirty="0"/>
              <a:t>&lt;div&gt;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741235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90"/>
              </a:spcBef>
              <a:buFont typeface="Wingdings" panose="05000000000000000000" pitchFamily="2" charset="2"/>
              <a:buChar char="q"/>
            </a:pPr>
            <a:r>
              <a:rPr sz="2800" dirty="0">
                <a:cs typeface="Arial" panose="020B0604020202020204" pitchFamily="34" charset="0"/>
              </a:rPr>
              <a:t>The</a:t>
            </a:r>
            <a:r>
              <a:rPr sz="2800" spc="-4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primary</a:t>
            </a:r>
            <a:r>
              <a:rPr sz="2800" spc="-4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attributes</a:t>
            </a:r>
            <a:r>
              <a:rPr sz="2800" spc="-50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of</a:t>
            </a:r>
            <a:r>
              <a:rPr sz="2800" spc="-4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the</a:t>
            </a:r>
            <a:r>
              <a:rPr sz="2800" spc="-40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&lt;div&gt;</a:t>
            </a:r>
            <a:r>
              <a:rPr sz="2800" spc="-4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tag</a:t>
            </a:r>
            <a:r>
              <a:rPr sz="2800" spc="-45" dirty="0">
                <a:cs typeface="Arial" panose="020B0604020202020204" pitchFamily="34" charset="0"/>
              </a:rPr>
              <a:t> </a:t>
            </a:r>
            <a:r>
              <a:rPr sz="2800" spc="-20" dirty="0">
                <a:cs typeface="Arial" panose="020B0604020202020204" pitchFamily="34" charset="0"/>
              </a:rPr>
              <a:t>are:</a:t>
            </a:r>
            <a:endParaRPr sz="2800" dirty="0"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7624" y="2204864"/>
            <a:ext cx="1728192" cy="15546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 algn="just">
              <a:lnSpc>
                <a:spcPct val="1207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lang="en-GB" sz="2800" spc="-10" dirty="0">
                <a:cs typeface="Arial" panose="020B0604020202020204" pitchFamily="34" charset="0"/>
              </a:rPr>
              <a:t>S</a:t>
            </a:r>
            <a:r>
              <a:rPr sz="2800" spc="-10" dirty="0">
                <a:cs typeface="Arial" panose="020B0604020202020204" pitchFamily="34" charset="0"/>
              </a:rPr>
              <a:t>tyle</a:t>
            </a:r>
            <a:endParaRPr lang="en-US" sz="2800" spc="-10" dirty="0">
              <a:cs typeface="Arial" panose="020B0604020202020204" pitchFamily="34" charset="0"/>
            </a:endParaRPr>
          </a:p>
          <a:p>
            <a:pPr marL="469900" marR="5080" indent="-457200" algn="just">
              <a:lnSpc>
                <a:spcPct val="1207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lang="en-GB" sz="2800" spc="-10" dirty="0">
                <a:cs typeface="Arial" panose="020B0604020202020204" pitchFamily="34" charset="0"/>
              </a:rPr>
              <a:t>C</a:t>
            </a:r>
            <a:r>
              <a:rPr sz="2800" spc="-10" dirty="0">
                <a:cs typeface="Arial" panose="020B0604020202020204" pitchFamily="34" charset="0"/>
              </a:rPr>
              <a:t>lass</a:t>
            </a:r>
            <a:endParaRPr lang="en-US" sz="2800" spc="-10" dirty="0">
              <a:cs typeface="Arial" panose="020B0604020202020204" pitchFamily="34" charset="0"/>
            </a:endParaRPr>
          </a:p>
          <a:p>
            <a:pPr marL="469900" marR="5080" indent="-457200" algn="just">
              <a:lnSpc>
                <a:spcPct val="1207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2800" spc="-10" dirty="0">
                <a:cs typeface="Arial" panose="020B0604020202020204" pitchFamily="34" charset="0"/>
              </a:rPr>
              <a:t> </a:t>
            </a:r>
            <a:r>
              <a:rPr sz="2800" spc="-25" dirty="0">
                <a:cs typeface="Arial" panose="020B0604020202020204" pitchFamily="34" charset="0"/>
              </a:rPr>
              <a:t>id</a:t>
            </a:r>
            <a:endParaRPr sz="2800" dirty="0"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5536" y="4191818"/>
            <a:ext cx="8280920" cy="176202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cs typeface="Arial" panose="020B0604020202020204" pitchFamily="34" charset="0"/>
              </a:rPr>
              <a:t>&lt;div</a:t>
            </a:r>
            <a:r>
              <a:rPr sz="2800" spc="-60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id="scissors</a:t>
            </a:r>
            <a:r>
              <a:rPr sz="2800" spc="-10" dirty="0" smtClean="0">
                <a:cs typeface="Arial" panose="020B0604020202020204" pitchFamily="34" charset="0"/>
              </a:rPr>
              <a:t>"&gt;</a:t>
            </a:r>
            <a:endParaRPr lang="en-GB" sz="2800" spc="-10" dirty="0" smtClean="0">
              <a:cs typeface="Arial" panose="020B0604020202020204" pitchFamily="34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lang="en-GB" sz="2800" spc="-10" dirty="0">
                <a:cs typeface="Arial" panose="020B0604020202020204" pitchFamily="34" charset="0"/>
              </a:rPr>
              <a:t>	</a:t>
            </a:r>
            <a:r>
              <a:rPr sz="2800" dirty="0" smtClean="0">
                <a:cs typeface="Arial" panose="020B0604020202020204" pitchFamily="34" charset="0"/>
              </a:rPr>
              <a:t>&lt;</a:t>
            </a:r>
            <a:r>
              <a:rPr sz="2800" dirty="0">
                <a:cs typeface="Arial" panose="020B0604020202020204" pitchFamily="34" charset="0"/>
              </a:rPr>
              <a:t>p&gt;This</a:t>
            </a:r>
            <a:r>
              <a:rPr sz="2800" spc="-65" dirty="0">
                <a:cs typeface="Arial" panose="020B0604020202020204" pitchFamily="34" charset="0"/>
              </a:rPr>
              <a:t> </a:t>
            </a:r>
            <a:r>
              <a:rPr sz="2800" dirty="0">
                <a:cs typeface="Arial" panose="020B0604020202020204" pitchFamily="34" charset="0"/>
              </a:rPr>
              <a:t>is</a:t>
            </a:r>
            <a:r>
              <a:rPr sz="2800" spc="-55" dirty="0">
                <a:cs typeface="Arial" panose="020B0604020202020204" pitchFamily="34" charset="0"/>
              </a:rPr>
              <a:t> </a:t>
            </a:r>
            <a:r>
              <a:rPr sz="2800" spc="-10" dirty="0">
                <a:cs typeface="Arial" panose="020B0604020202020204" pitchFamily="34" charset="0"/>
              </a:rPr>
              <a:t>&lt;strong </a:t>
            </a:r>
            <a:r>
              <a:rPr lang="en-GB" sz="2800" spc="-10" dirty="0" smtClean="0">
                <a:cs typeface="Arial" panose="020B0604020202020204" pitchFamily="34" charset="0"/>
              </a:rPr>
              <a:t>c</a:t>
            </a:r>
            <a:r>
              <a:rPr sz="2800" spc="-10" dirty="0" smtClean="0">
                <a:cs typeface="Arial" panose="020B0604020202020204" pitchFamily="34" charset="0"/>
              </a:rPr>
              <a:t>lass</a:t>
            </a:r>
            <a:r>
              <a:rPr sz="2800" spc="-10" dirty="0">
                <a:cs typeface="Arial" panose="020B0604020202020204" pitchFamily="34" charset="0"/>
              </a:rPr>
              <a:t>="paper</a:t>
            </a:r>
            <a:r>
              <a:rPr sz="2800" spc="-10" dirty="0" smtClean="0">
                <a:cs typeface="Arial" panose="020B0604020202020204" pitchFamily="34" charset="0"/>
              </a:rPr>
              <a:t>"&gt;</a:t>
            </a:r>
            <a:r>
              <a:rPr lang="en-GB" sz="2800" spc="-10" dirty="0" smtClean="0">
                <a:cs typeface="Arial" panose="020B0604020202020204" pitchFamily="34" charset="0"/>
              </a:rPr>
              <a:t> </a:t>
            </a:r>
            <a:r>
              <a:rPr sz="2800" spc="-10" dirty="0" smtClean="0">
                <a:cs typeface="Arial" panose="020B0604020202020204" pitchFamily="34" charset="0"/>
              </a:rPr>
              <a:t>crazy</a:t>
            </a:r>
            <a:r>
              <a:rPr sz="2800" spc="-10" dirty="0">
                <a:cs typeface="Arial" panose="020B0604020202020204" pitchFamily="34" charset="0"/>
              </a:rPr>
              <a:t>&lt;/strong</a:t>
            </a:r>
            <a:r>
              <a:rPr sz="2800" spc="-10" dirty="0" smtClean="0">
                <a:cs typeface="Arial" panose="020B0604020202020204" pitchFamily="34" charset="0"/>
              </a:rPr>
              <a:t>&gt;</a:t>
            </a:r>
            <a:r>
              <a:rPr lang="en-GB" sz="2800" spc="-10" dirty="0" smtClean="0">
                <a:cs typeface="Arial" panose="020B0604020202020204" pitchFamily="34" charset="0"/>
              </a:rPr>
              <a:t>  </a:t>
            </a:r>
            <a:r>
              <a:rPr sz="2800" spc="-10" dirty="0" smtClean="0">
                <a:cs typeface="Arial" panose="020B0604020202020204" pitchFamily="34" charset="0"/>
              </a:rPr>
              <a:t>&lt;/</a:t>
            </a:r>
            <a:r>
              <a:rPr sz="2800" spc="-10" dirty="0">
                <a:cs typeface="Arial" panose="020B0604020202020204" pitchFamily="34" charset="0"/>
              </a:rPr>
              <a:t>p&gt;</a:t>
            </a:r>
            <a:r>
              <a:rPr sz="2800" spc="-114" dirty="0">
                <a:cs typeface="Arial" panose="020B0604020202020204" pitchFamily="34" charset="0"/>
              </a:rPr>
              <a:t> </a:t>
            </a:r>
            <a:endParaRPr lang="en-GB" sz="2800" spc="-114" dirty="0" smtClean="0">
              <a:cs typeface="Arial" panose="020B0604020202020204" pitchFamily="34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2800" spc="-10" dirty="0" smtClean="0">
                <a:cs typeface="Arial" panose="020B0604020202020204" pitchFamily="34" charset="0"/>
              </a:rPr>
              <a:t>&lt;/</a:t>
            </a:r>
            <a:r>
              <a:rPr sz="2800" spc="-10" dirty="0">
                <a:cs typeface="Arial" panose="020B0604020202020204" pitchFamily="34" charset="0"/>
              </a:rPr>
              <a:t>div&gt;</a:t>
            </a:r>
            <a:endParaRPr sz="28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8AFA-271D-D12B-C3E4-60A75F37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&lt;DIV&gt; Tag</a:t>
            </a:r>
            <a:endParaRPr lang="en-GB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" y="1286866"/>
            <a:ext cx="7945704" cy="45183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439896"/>
            <a:ext cx="4259386" cy="370335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31831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0" algn="ctr">
              <a:lnSpc>
                <a:spcPct val="100000"/>
              </a:lnSpc>
              <a:spcBef>
                <a:spcPts val="100"/>
              </a:spcBef>
            </a:pPr>
            <a:r>
              <a:rPr b="1" spc="-20" dirty="0"/>
              <a:t>SPAN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3220"/>
            <a:ext cx="7778115" cy="31726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&lt;span&gt;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very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similar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properties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&lt;div&gt;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changes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style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text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encloses</a:t>
            </a:r>
            <a:endParaRPr lang="en-US" sz="3200" dirty="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3200" dirty="0">
                <a:latin typeface="Calibri"/>
                <a:cs typeface="Calibri"/>
              </a:rPr>
              <a:t>W</a:t>
            </a:r>
            <a:r>
              <a:rPr sz="3200" dirty="0">
                <a:latin typeface="Calibri"/>
                <a:cs typeface="Calibri"/>
              </a:rPr>
              <a:t>ithout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style attributes,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&lt;span&gt;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won't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change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enclosed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items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all.</a:t>
            </a:r>
            <a:endParaRPr sz="3200" dirty="0">
              <a:latin typeface="Calibri"/>
              <a:cs typeface="Calibri"/>
            </a:endParaRPr>
          </a:p>
          <a:p>
            <a:pPr marL="457200" indent="-457200">
              <a:lnSpc>
                <a:spcPct val="100000"/>
              </a:lnSpc>
              <a:spcBef>
                <a:spcPts val="1520"/>
              </a:spcBef>
              <a:buFont typeface="Wingdings" panose="05000000000000000000" pitchFamily="2" charset="2"/>
              <a:buChar char="q"/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224-F2EB-A334-05C1-E044DED8FE24}"/>
              </a:ext>
            </a:extLst>
          </p:cNvPr>
          <p:cNvSpPr txBox="1"/>
          <p:nvPr/>
        </p:nvSpPr>
        <p:spPr>
          <a:xfrm>
            <a:off x="971600" y="4437112"/>
            <a:ext cx="7165976" cy="15696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2700" marR="636270">
              <a:lnSpc>
                <a:spcPct val="100000"/>
              </a:lnSpc>
              <a:tabLst>
                <a:tab pos="355600" algn="l"/>
              </a:tabLst>
            </a:pPr>
            <a:r>
              <a:rPr lang="en-US" sz="2400" b="1" dirty="0">
                <a:latin typeface="Calibri"/>
                <a:cs typeface="Calibri"/>
              </a:rPr>
              <a:t>&lt;div</a:t>
            </a:r>
            <a:r>
              <a:rPr lang="en-US" sz="2400" b="1" spc="-4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id="scissors"&gt;</a:t>
            </a:r>
            <a:r>
              <a:rPr lang="en-US" sz="2400" b="1" spc="-45" dirty="0">
                <a:latin typeface="Calibri"/>
                <a:cs typeface="Calibri"/>
              </a:rPr>
              <a:t> </a:t>
            </a:r>
            <a:endParaRPr lang="en-US" sz="2400" b="1" spc="-45" dirty="0" smtClean="0">
              <a:latin typeface="Calibri"/>
              <a:cs typeface="Calibri"/>
            </a:endParaRPr>
          </a:p>
          <a:p>
            <a:pPr marL="12700" marR="636270">
              <a:lnSpc>
                <a:spcPct val="100000"/>
              </a:lnSpc>
              <a:tabLst>
                <a:tab pos="355600" algn="l"/>
              </a:tabLst>
            </a:pPr>
            <a:r>
              <a:rPr lang="en-US" sz="2400" b="1" dirty="0" smtClean="0">
                <a:latin typeface="Calibri"/>
                <a:cs typeface="Calibri"/>
              </a:rPr>
              <a:t>	&lt;</a:t>
            </a:r>
            <a:r>
              <a:rPr lang="en-US" sz="2400" b="1" dirty="0">
                <a:latin typeface="Calibri"/>
                <a:cs typeface="Calibri"/>
              </a:rPr>
              <a:t>p&gt;This</a:t>
            </a:r>
            <a:r>
              <a:rPr lang="en-US" sz="2400" b="1" spc="-3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is</a:t>
            </a:r>
            <a:r>
              <a:rPr lang="en-US" sz="2400" b="1" spc="-30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&lt;span </a:t>
            </a:r>
            <a:r>
              <a:rPr lang="en-US" sz="2400" b="1" dirty="0">
                <a:latin typeface="Calibri"/>
                <a:cs typeface="Calibri"/>
              </a:rPr>
              <a:t>class="paper</a:t>
            </a:r>
            <a:r>
              <a:rPr lang="en-US" sz="2400" b="1" dirty="0" smtClean="0">
                <a:latin typeface="Calibri"/>
                <a:cs typeface="Calibri"/>
              </a:rPr>
              <a:t>"&gt; crazy</a:t>
            </a:r>
            <a:r>
              <a:rPr lang="en-US" sz="2400" b="1" dirty="0">
                <a:latin typeface="Calibri"/>
                <a:cs typeface="Calibri"/>
              </a:rPr>
              <a:t>&lt;/span</a:t>
            </a:r>
            <a:r>
              <a:rPr lang="en-US" sz="2400" b="1" dirty="0" smtClean="0">
                <a:latin typeface="Calibri"/>
                <a:cs typeface="Calibri"/>
              </a:rPr>
              <a:t>&gt; 	&lt;/</a:t>
            </a:r>
            <a:r>
              <a:rPr lang="en-US" sz="2400" b="1" dirty="0">
                <a:latin typeface="Calibri"/>
                <a:cs typeface="Calibri"/>
              </a:rPr>
              <a:t>p&gt;</a:t>
            </a:r>
            <a:r>
              <a:rPr lang="en-US" sz="2400" b="1" spc="-160" dirty="0">
                <a:latin typeface="Calibri"/>
                <a:cs typeface="Calibri"/>
              </a:rPr>
              <a:t> </a:t>
            </a:r>
            <a:endParaRPr lang="en-US" sz="2400" b="1" spc="-160" dirty="0" smtClean="0">
              <a:latin typeface="Calibri"/>
              <a:cs typeface="Calibri"/>
            </a:endParaRPr>
          </a:p>
          <a:p>
            <a:pPr marL="12700" marR="636270">
              <a:lnSpc>
                <a:spcPct val="100000"/>
              </a:lnSpc>
              <a:tabLst>
                <a:tab pos="355600" algn="l"/>
              </a:tabLst>
            </a:pPr>
            <a:r>
              <a:rPr lang="en-US" sz="2400" b="1" spc="-10" dirty="0" smtClean="0">
                <a:latin typeface="Calibri"/>
                <a:cs typeface="Calibri"/>
              </a:rPr>
              <a:t>&lt;/</a:t>
            </a:r>
            <a:r>
              <a:rPr lang="en-US" sz="2400" b="1" spc="-10" dirty="0">
                <a:latin typeface="Calibri"/>
                <a:cs typeface="Calibri"/>
              </a:rPr>
              <a:t>div&gt;</a:t>
            </a:r>
            <a:endParaRPr lang="en-US"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8" y="342422"/>
            <a:ext cx="87852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 algn="ctr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SPAN vs DIV</a:t>
            </a:r>
            <a:endParaRPr b="1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668655" y="1633220"/>
            <a:ext cx="7865109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556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&lt;span&gt;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&lt;div&gt;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&lt;span&gt;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doesn't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formatting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it's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endParaRPr lang="en-US" sz="2400" dirty="0">
              <a:latin typeface="Calibri"/>
              <a:cs typeface="Calibri"/>
            </a:endParaRPr>
          </a:p>
          <a:p>
            <a:pPr marL="355600" marR="7556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&lt;div&gt; </a:t>
            </a:r>
            <a:r>
              <a:rPr sz="2400" dirty="0">
                <a:latin typeface="Calibri"/>
                <a:cs typeface="Calibri"/>
              </a:rPr>
              <a:t>tag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paragraph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break,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logical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document</a:t>
            </a:r>
            <a:endParaRPr lang="en-US" sz="2400" dirty="0">
              <a:latin typeface="Calibri"/>
              <a:cs typeface="Calibri"/>
            </a:endParaRPr>
          </a:p>
          <a:p>
            <a:pPr marL="355600" marR="75565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q"/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&lt;span&gt;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tells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browser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style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whatever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sz="2400" spc="-10" dirty="0">
                <a:latin typeface="Calibri"/>
                <a:cs typeface="Calibri"/>
              </a:rPr>
              <a:t>&lt;span&gt;</a:t>
            </a:r>
            <a:endParaRPr lang="en-US" sz="2400" spc="-1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GB" spc="-1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in-</a:t>
            </a:r>
            <a:r>
              <a:rPr sz="2400" dirty="0">
                <a:latin typeface="Calibri"/>
                <a:cs typeface="Calibri"/>
              </a:rPr>
              <a:t>line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usually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chunk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in-</a:t>
            </a:r>
            <a:r>
              <a:rPr sz="2400" dirty="0">
                <a:latin typeface="Calibri"/>
                <a:cs typeface="Calibri"/>
              </a:rPr>
              <a:t>line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HTML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(division)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block-</a:t>
            </a:r>
            <a:r>
              <a:rPr sz="2400" spc="-20" dirty="0">
                <a:latin typeface="Calibri"/>
                <a:cs typeface="Calibri"/>
              </a:rPr>
              <a:t>line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chunks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code.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B686-35DB-8E3F-D7D7-B8A38EFB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SPAN Element</a:t>
            </a:r>
            <a:endParaRPr lang="en-GB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" y="1258888"/>
            <a:ext cx="6799065" cy="2962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3769113"/>
            <a:ext cx="4764583" cy="239926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83263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844906-0328-0880-C6CC-2A8348BB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selectors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FEE8E-421E-C541-32B7-1C0CA2C56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1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CSS Selectors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6 types of selectors: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Generic 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Universal 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 Classes</a:t>
            </a:r>
          </a:p>
          <a:p>
            <a:endParaRPr lang="en-GB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602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Simple Selector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Simple Selector form is a single element to which the property and value is applied</a:t>
            </a:r>
          </a:p>
          <a:p>
            <a:endParaRPr lang="en-GB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3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Selector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Class Selector we can assign different styles to the same element. </a:t>
            </a:r>
            <a:endParaRPr lang="en-US" i="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endParaRPr lang="en-US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US" i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styles appear on different occurrences of that element.</a:t>
            </a:r>
          </a:p>
        </p:txBody>
      </p:sp>
    </p:spTree>
    <p:extLst>
      <p:ext uri="{BB962C8B-B14F-4D97-AF65-F5344CB8AC3E}">
        <p14:creationId xmlns:p14="http://schemas.microsoft.com/office/powerpoint/2010/main" val="268105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Generic Selector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the class in generalized form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defined class can be applied to any tag.</a:t>
            </a:r>
          </a:p>
        </p:txBody>
      </p:sp>
    </p:spTree>
    <p:extLst>
      <p:ext uri="{BB962C8B-B14F-4D97-AF65-F5344CB8AC3E}">
        <p14:creationId xmlns:p14="http://schemas.microsoft.com/office/powerpoint/2010/main" val="2229611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ID Selector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a special style for special element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id Selector is like the Class </a:t>
            </a:r>
            <a:r>
              <a:rPr lang="en-US" i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4500" lvl="1" indent="0"/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Syntax:- #name_of_id{property:value list;}</a:t>
            </a:r>
          </a:p>
        </p:txBody>
      </p:sp>
    </p:spTree>
    <p:extLst>
      <p:ext uri="{BB962C8B-B14F-4D97-AF65-F5344CB8AC3E}">
        <p14:creationId xmlns:p14="http://schemas.microsoft.com/office/powerpoint/2010/main" val="243372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Universal Selector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Selector is denoted by </a:t>
            </a:r>
            <a:r>
              <a:rPr lang="en-US" sz="3600" i="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3600" i="0" dirty="0" smtClean="0">
                <a:latin typeface="Arial" panose="020B0604020202020204" pitchFamily="34" charset="0"/>
                <a:cs typeface="Arial" panose="020B0604020202020204" pitchFamily="34" charset="0"/>
              </a:rPr>
              <a:t>*”</a:t>
            </a:r>
            <a:endParaRPr lang="en-US" sz="36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selector applied to all the elements in the document.</a:t>
            </a:r>
          </a:p>
        </p:txBody>
      </p:sp>
    </p:spTree>
    <p:extLst>
      <p:ext uri="{BB962C8B-B14F-4D97-AF65-F5344CB8AC3E}">
        <p14:creationId xmlns:p14="http://schemas.microsoft.com/office/powerpoint/2010/main" val="4131850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4A124-CC64-B4F3-2FDC-EEAC1FF32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Pseudo Classes</a:t>
            </a:r>
            <a:endParaRPr lang="en-GB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C0CDFF-5184-F0BD-6877-6E1DF250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Pseudo classes gives special effects on the selector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Commonly used pseudo classes:</a:t>
            </a:r>
          </a:p>
          <a:p>
            <a:pPr marL="1436688" lvl="2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</a:p>
          <a:p>
            <a:pPr marL="1436688" lvl="2" indent="-457200">
              <a:buFont typeface="Wingdings" panose="05000000000000000000" pitchFamily="2" charset="2"/>
              <a:buChar char="q"/>
            </a:pPr>
            <a:r>
              <a:rPr lang="en-US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Hover</a:t>
            </a:r>
          </a:p>
          <a:p>
            <a:pPr marL="1436688" lvl="2" indent="-457200">
              <a:buFont typeface="Wingdings" panose="05000000000000000000" pitchFamily="2" charset="2"/>
              <a:buChar char="q"/>
            </a:pPr>
            <a:r>
              <a:rPr lang="en-US" i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Hyperlink</a:t>
            </a:r>
          </a:p>
          <a:p>
            <a:pPr marL="1436688" lvl="2" indent="-45720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79488" lvl="2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Syntax:- 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selector:pseudo-class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n-U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property:value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list;}</a:t>
            </a:r>
          </a:p>
          <a:p>
            <a:pPr marL="1436688" lvl="2" indent="-457200"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35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79C0-8F26-93F3-A118-EB024BEA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- 1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9EC83D-1F08-A056-0B5F-3CDC646066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28" y="1338148"/>
            <a:ext cx="7863050" cy="4755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does the # symbol specify in CSS?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A class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An ID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An element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A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Which selector targets all &lt;p&gt; elements inside a &lt;div&gt; element?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div p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div + p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div &gt; p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div, 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How do you select elements with the class name "example"?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#example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.example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example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*example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58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59C26D-DD28-69FF-156A-10CD98E7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+ </a:t>
            </a:r>
            <a:r>
              <a:rPr lang="en-US" dirty="0" err="1"/>
              <a:t>css</a:t>
            </a:r>
            <a:r>
              <a:rPr lang="en-US" dirty="0"/>
              <a:t> example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6159D-4AFD-5C9B-752D-43EAD7EC6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85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04" y="332656"/>
            <a:ext cx="838842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b="1" dirty="0"/>
              <a:t>Website Specifications</a:t>
            </a:r>
            <a:endParaRPr b="1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632" y="1880883"/>
            <a:ext cx="7384496" cy="4284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FDCF55-2614-E40D-1224-82B51A1D0013}"/>
              </a:ext>
            </a:extLst>
          </p:cNvPr>
          <p:cNvSpPr txBox="1"/>
          <p:nvPr/>
        </p:nvSpPr>
        <p:spPr>
          <a:xfrm>
            <a:off x="887676" y="1340768"/>
            <a:ext cx="8256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Goal: </a:t>
            </a:r>
            <a:r>
              <a:rPr lang="en-US" dirty="0"/>
              <a:t>Create a website to meet </a:t>
            </a:r>
            <a:r>
              <a:rPr lang="en-US" dirty="0" smtClean="0"/>
              <a:t>following specification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624" y="420988"/>
            <a:ext cx="7515146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EBEBEB"/>
                </a:solidFill>
              </a:rPr>
              <a:t>STEP</a:t>
            </a:r>
            <a:r>
              <a:rPr sz="3600" b="1" spc="-40" dirty="0">
                <a:solidFill>
                  <a:srgbClr val="EBEBEB"/>
                </a:solidFill>
              </a:rPr>
              <a:t> </a:t>
            </a:r>
            <a:r>
              <a:rPr sz="3600" b="1" spc="-5" dirty="0">
                <a:solidFill>
                  <a:srgbClr val="EBEBEB"/>
                </a:solidFill>
              </a:rPr>
              <a:t>1:</a:t>
            </a:r>
            <a:r>
              <a:rPr sz="3600" b="1" spc="-10" dirty="0">
                <a:solidFill>
                  <a:srgbClr val="EBEBEB"/>
                </a:solidFill>
              </a:rPr>
              <a:t> </a:t>
            </a:r>
            <a:r>
              <a:rPr sz="3600" b="1" spc="-5" dirty="0">
                <a:solidFill>
                  <a:srgbClr val="EBEBEB"/>
                </a:solidFill>
              </a:rPr>
              <a:t>The</a:t>
            </a:r>
            <a:r>
              <a:rPr sz="3600" b="1" spc="-35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site</a:t>
            </a:r>
            <a:r>
              <a:rPr sz="3600" b="1" spc="-35" dirty="0">
                <a:solidFill>
                  <a:srgbClr val="EBEBEB"/>
                </a:solidFill>
              </a:rPr>
              <a:t> </a:t>
            </a:r>
            <a:r>
              <a:rPr sz="3600" b="1" spc="-5" dirty="0">
                <a:solidFill>
                  <a:srgbClr val="EBEBEB"/>
                </a:solidFill>
              </a:rPr>
              <a:t>HTML</a:t>
            </a:r>
            <a:r>
              <a:rPr sz="3600" b="1" spc="-4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structure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2123728" y="1844824"/>
            <a:ext cx="3201035" cy="35401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400" b="1" spc="-40" dirty="0">
                <a:solidFill>
                  <a:srgbClr val="404040"/>
                </a:solidFill>
                <a:latin typeface="Tahoma"/>
                <a:cs typeface="Tahoma"/>
              </a:rPr>
              <a:t>Container</a:t>
            </a:r>
            <a:endParaRPr sz="2400" dirty="0">
              <a:latin typeface="Tahoma"/>
              <a:cs typeface="Tahoma"/>
            </a:endParaRPr>
          </a:p>
          <a:p>
            <a:pPr marL="414655">
              <a:lnSpc>
                <a:spcPct val="100000"/>
              </a:lnSpc>
              <a:spcBef>
                <a:spcPts val="215"/>
              </a:spcBef>
            </a:pPr>
            <a:r>
              <a:rPr sz="175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750" spc="85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2200" b="1" spc="-15" dirty="0">
                <a:solidFill>
                  <a:srgbClr val="404040"/>
                </a:solidFill>
                <a:latin typeface="Tahoma"/>
                <a:cs typeface="Tahoma"/>
              </a:rPr>
              <a:t>Header</a:t>
            </a:r>
            <a:endParaRPr sz="2200" dirty="0">
              <a:latin typeface="Tahoma"/>
              <a:cs typeface="Tahoma"/>
            </a:endParaRPr>
          </a:p>
          <a:p>
            <a:pPr marL="744220">
              <a:lnSpc>
                <a:spcPct val="100000"/>
              </a:lnSpc>
              <a:spcBef>
                <a:spcPts val="285"/>
              </a:spcBef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600" spc="-110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H</a:t>
            </a:r>
            <a:r>
              <a:rPr sz="2000" b="1" spc="-155" dirty="0">
                <a:solidFill>
                  <a:srgbClr val="404040"/>
                </a:solidFill>
                <a:latin typeface="Tahoma"/>
                <a:cs typeface="Tahoma"/>
              </a:rPr>
              <a:t>1</a:t>
            </a:r>
            <a:endParaRPr sz="2000" dirty="0">
              <a:latin typeface="Tahoma"/>
              <a:cs typeface="Tahoma"/>
            </a:endParaRPr>
          </a:p>
          <a:p>
            <a:pPr marL="414655">
              <a:lnSpc>
                <a:spcPct val="100000"/>
              </a:lnSpc>
              <a:spcBef>
                <a:spcPts val="204"/>
              </a:spcBef>
            </a:pPr>
            <a:r>
              <a:rPr sz="175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750" spc="95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2200" b="1" spc="-40" dirty="0">
                <a:solidFill>
                  <a:srgbClr val="404040"/>
                </a:solidFill>
                <a:latin typeface="Tahoma"/>
                <a:cs typeface="Tahoma"/>
              </a:rPr>
              <a:t>Navigation</a:t>
            </a:r>
            <a:endParaRPr sz="2200" dirty="0">
              <a:latin typeface="Tahoma"/>
              <a:cs typeface="Tahoma"/>
            </a:endParaRPr>
          </a:p>
          <a:p>
            <a:pPr marL="744220">
              <a:lnSpc>
                <a:spcPct val="100000"/>
              </a:lnSpc>
              <a:spcBef>
                <a:spcPts val="275"/>
              </a:spcBef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600" spc="-110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2000" b="1" spc="-105" dirty="0">
                <a:solidFill>
                  <a:srgbClr val="404040"/>
                </a:solidFill>
                <a:latin typeface="Tahoma"/>
                <a:cs typeface="Tahoma"/>
              </a:rPr>
              <a:t>ul</a:t>
            </a:r>
            <a:endParaRPr sz="2000" dirty="0">
              <a:latin typeface="Tahoma"/>
              <a:cs typeface="Tahoma"/>
            </a:endParaRPr>
          </a:p>
          <a:p>
            <a:pPr marL="414655">
              <a:lnSpc>
                <a:spcPct val="100000"/>
              </a:lnSpc>
              <a:spcBef>
                <a:spcPts val="210"/>
              </a:spcBef>
            </a:pPr>
            <a:r>
              <a:rPr sz="175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750" spc="70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2200" b="1" spc="-40" dirty="0">
                <a:solidFill>
                  <a:srgbClr val="404040"/>
                </a:solidFill>
                <a:latin typeface="Tahoma"/>
                <a:cs typeface="Tahoma"/>
              </a:rPr>
              <a:t>Content-container</a:t>
            </a:r>
            <a:endParaRPr sz="2200" dirty="0">
              <a:latin typeface="Tahoma"/>
              <a:cs typeface="Tahoma"/>
            </a:endParaRPr>
          </a:p>
          <a:p>
            <a:pPr marL="744220">
              <a:lnSpc>
                <a:spcPct val="100000"/>
              </a:lnSpc>
              <a:spcBef>
                <a:spcPts val="325"/>
              </a:spcBef>
            </a:pPr>
            <a:r>
              <a:rPr sz="1500" spc="-13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500" spc="-15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1900" b="1" spc="-15" dirty="0">
                <a:solidFill>
                  <a:srgbClr val="404040"/>
                </a:solidFill>
                <a:latin typeface="Tahoma"/>
                <a:cs typeface="Tahoma"/>
              </a:rPr>
              <a:t>Con</a:t>
            </a:r>
            <a:r>
              <a:rPr sz="1900" b="1" spc="-20" dirty="0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sz="1900" b="1" spc="-80" dirty="0">
                <a:solidFill>
                  <a:srgbClr val="404040"/>
                </a:solidFill>
                <a:latin typeface="Tahoma"/>
                <a:cs typeface="Tahoma"/>
              </a:rPr>
              <a:t>ent</a:t>
            </a:r>
            <a:endParaRPr sz="1900" dirty="0">
              <a:latin typeface="Tahoma"/>
              <a:cs typeface="Tahoma"/>
            </a:endParaRPr>
          </a:p>
          <a:p>
            <a:pPr marL="1018540">
              <a:lnSpc>
                <a:spcPct val="100000"/>
              </a:lnSpc>
              <a:spcBef>
                <a:spcPts val="310"/>
              </a:spcBef>
            </a:pPr>
            <a:r>
              <a:rPr sz="1500" spc="-13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500" spc="-15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1900" b="1" spc="-175" dirty="0">
                <a:solidFill>
                  <a:srgbClr val="404040"/>
                </a:solidFill>
                <a:latin typeface="Tahoma"/>
                <a:cs typeface="Tahoma"/>
              </a:rPr>
              <a:t>H</a:t>
            </a:r>
            <a:r>
              <a:rPr sz="1900" b="1" spc="-150" dirty="0">
                <a:solidFill>
                  <a:srgbClr val="404040"/>
                </a:solidFill>
                <a:latin typeface="Tahoma"/>
                <a:cs typeface="Tahoma"/>
              </a:rPr>
              <a:t>2</a:t>
            </a:r>
            <a:endParaRPr sz="1900" dirty="0">
              <a:latin typeface="Tahoma"/>
              <a:cs typeface="Tahoma"/>
            </a:endParaRPr>
          </a:p>
          <a:p>
            <a:pPr marL="1018540">
              <a:lnSpc>
                <a:spcPct val="100000"/>
              </a:lnSpc>
              <a:spcBef>
                <a:spcPts val="310"/>
              </a:spcBef>
            </a:pPr>
            <a:r>
              <a:rPr sz="1500" spc="-13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500" spc="-15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1900" b="1" spc="-190" dirty="0">
                <a:solidFill>
                  <a:srgbClr val="404040"/>
                </a:solidFill>
                <a:latin typeface="Tahoma"/>
                <a:cs typeface="Tahoma"/>
              </a:rPr>
              <a:t>P</a:t>
            </a:r>
            <a:endParaRPr sz="1900" dirty="0">
              <a:latin typeface="Tahoma"/>
              <a:cs typeface="Tahoma"/>
            </a:endParaRPr>
          </a:p>
          <a:p>
            <a:pPr marL="414655">
              <a:lnSpc>
                <a:spcPct val="100000"/>
              </a:lnSpc>
              <a:spcBef>
                <a:spcPts val="219"/>
              </a:spcBef>
            </a:pPr>
            <a:r>
              <a:rPr sz="175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</a:t>
            </a:r>
            <a:r>
              <a:rPr sz="1750" spc="70" dirty="0">
                <a:solidFill>
                  <a:srgbClr val="ACD333"/>
                </a:solidFill>
                <a:latin typeface="Lucida Sans Unicode"/>
                <a:cs typeface="Lucida Sans Unicode"/>
              </a:rPr>
              <a:t> </a:t>
            </a:r>
            <a:r>
              <a:rPr sz="2200" b="1" spc="-90" dirty="0">
                <a:solidFill>
                  <a:srgbClr val="404040"/>
                </a:solidFill>
                <a:latin typeface="Tahoma"/>
                <a:cs typeface="Tahoma"/>
              </a:rPr>
              <a:t>Footer</a:t>
            </a:r>
            <a:endParaRPr sz="22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286" y="408655"/>
            <a:ext cx="7947194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EBEBEB"/>
                </a:solidFill>
              </a:rPr>
              <a:t>STEP</a:t>
            </a:r>
            <a:r>
              <a:rPr sz="4000" b="1" spc="-30" dirty="0">
                <a:solidFill>
                  <a:srgbClr val="EBEBEB"/>
                </a:solidFill>
              </a:rPr>
              <a:t> </a:t>
            </a:r>
            <a:r>
              <a:rPr sz="4000" b="1" dirty="0">
                <a:solidFill>
                  <a:srgbClr val="EBEBEB"/>
                </a:solidFill>
              </a:rPr>
              <a:t>2:</a:t>
            </a:r>
            <a:r>
              <a:rPr sz="4000" b="1" spc="-25" dirty="0">
                <a:solidFill>
                  <a:srgbClr val="EBEBEB"/>
                </a:solidFill>
              </a:rPr>
              <a:t> </a:t>
            </a:r>
            <a:r>
              <a:rPr sz="4000" b="1" dirty="0">
                <a:solidFill>
                  <a:srgbClr val="EBEBEB"/>
                </a:solidFill>
              </a:rPr>
              <a:t>WRITING</a:t>
            </a:r>
            <a:r>
              <a:rPr sz="4000" b="1" spc="-40" dirty="0">
                <a:solidFill>
                  <a:srgbClr val="EBEBEB"/>
                </a:solidFill>
              </a:rPr>
              <a:t> </a:t>
            </a:r>
            <a:r>
              <a:rPr sz="4000" b="1" dirty="0">
                <a:solidFill>
                  <a:srgbClr val="EBEBEB"/>
                </a:solidFill>
              </a:rPr>
              <a:t>THE</a:t>
            </a:r>
            <a:r>
              <a:rPr sz="4000" b="1" spc="-15" dirty="0">
                <a:solidFill>
                  <a:srgbClr val="EBEBEB"/>
                </a:solidFill>
              </a:rPr>
              <a:t> </a:t>
            </a:r>
            <a:r>
              <a:rPr sz="4000" b="1" spc="-5" dirty="0">
                <a:solidFill>
                  <a:srgbClr val="EBEBEB"/>
                </a:solidFill>
              </a:rPr>
              <a:t>HTML</a:t>
            </a:r>
            <a:endParaRPr sz="4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71600" y="1575895"/>
            <a:ext cx="146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400" b="1" spc="-10" dirty="0">
                <a:solidFill>
                  <a:srgbClr val="404040"/>
                </a:solidFill>
                <a:latin typeface="Tahoma"/>
                <a:cs typeface="Tahoma"/>
              </a:rPr>
              <a:t>Header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600" y="3687574"/>
            <a:ext cx="1132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197" y="2132856"/>
            <a:ext cx="6644187" cy="15003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7864" y="4221088"/>
            <a:ext cx="2913888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0411" y="377877"/>
            <a:ext cx="780317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EBEBEB"/>
                </a:solidFill>
              </a:rPr>
              <a:t>STEP</a:t>
            </a:r>
            <a:r>
              <a:rPr b="1" spc="-30" dirty="0">
                <a:solidFill>
                  <a:srgbClr val="EBEBEB"/>
                </a:solidFill>
              </a:rPr>
              <a:t> </a:t>
            </a:r>
            <a:r>
              <a:rPr b="1" dirty="0">
                <a:solidFill>
                  <a:srgbClr val="EBEBEB"/>
                </a:solidFill>
              </a:rPr>
              <a:t>2:</a:t>
            </a:r>
            <a:r>
              <a:rPr b="1" spc="-25" dirty="0">
                <a:solidFill>
                  <a:srgbClr val="EBEBEB"/>
                </a:solidFill>
              </a:rPr>
              <a:t> </a:t>
            </a:r>
            <a:r>
              <a:rPr b="1" dirty="0">
                <a:solidFill>
                  <a:srgbClr val="EBEBEB"/>
                </a:solidFill>
              </a:rPr>
              <a:t>WRITING</a:t>
            </a:r>
            <a:r>
              <a:rPr b="1" spc="-40" dirty="0">
                <a:solidFill>
                  <a:srgbClr val="EBEBEB"/>
                </a:solidFill>
              </a:rPr>
              <a:t> </a:t>
            </a:r>
            <a:r>
              <a:rPr b="1" dirty="0">
                <a:solidFill>
                  <a:srgbClr val="EBEBEB"/>
                </a:solidFill>
              </a:rPr>
              <a:t>THE</a:t>
            </a:r>
            <a:r>
              <a:rPr b="1" spc="-15" dirty="0">
                <a:solidFill>
                  <a:srgbClr val="EBEBEB"/>
                </a:solidFill>
              </a:rPr>
              <a:t> </a:t>
            </a:r>
            <a:r>
              <a:rPr b="1" spc="-5" dirty="0">
                <a:solidFill>
                  <a:srgbClr val="EBEBEB"/>
                </a:solidFill>
              </a:rPr>
              <a:t>HTML</a:t>
            </a:r>
            <a:endParaRPr b="1" dirty="0"/>
          </a:p>
        </p:txBody>
      </p:sp>
      <p:sp>
        <p:nvSpPr>
          <p:cNvPr id="3" name="object 3"/>
          <p:cNvSpPr txBox="1"/>
          <p:nvPr/>
        </p:nvSpPr>
        <p:spPr>
          <a:xfrm>
            <a:off x="827584" y="1568488"/>
            <a:ext cx="19850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400" b="1" spc="-40" dirty="0">
                <a:solidFill>
                  <a:srgbClr val="404040"/>
                </a:solidFill>
                <a:latin typeface="Tahoma"/>
                <a:cs typeface="Tahoma"/>
              </a:rPr>
              <a:t>Navigation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584" y="3680167"/>
            <a:ext cx="1132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411" y="2204864"/>
            <a:ext cx="7569503" cy="7061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7784" y="3319284"/>
            <a:ext cx="6120680" cy="2485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28" y="2492896"/>
            <a:ext cx="6984776" cy="36004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286" y="256991"/>
            <a:ext cx="773117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dirty="0">
                <a:solidFill>
                  <a:srgbClr val="EBEBEB"/>
                </a:solidFill>
              </a:rPr>
              <a:t>STEP</a:t>
            </a:r>
            <a:r>
              <a:rPr sz="4000" b="1" spc="-30" dirty="0">
                <a:solidFill>
                  <a:srgbClr val="EBEBEB"/>
                </a:solidFill>
              </a:rPr>
              <a:t> </a:t>
            </a:r>
            <a:r>
              <a:rPr sz="4000" b="1" dirty="0">
                <a:solidFill>
                  <a:srgbClr val="EBEBEB"/>
                </a:solidFill>
              </a:rPr>
              <a:t>2:</a:t>
            </a:r>
            <a:r>
              <a:rPr sz="4000" b="1" spc="-25" dirty="0">
                <a:solidFill>
                  <a:srgbClr val="EBEBEB"/>
                </a:solidFill>
              </a:rPr>
              <a:t> </a:t>
            </a:r>
            <a:r>
              <a:rPr sz="4000" b="1" dirty="0">
                <a:solidFill>
                  <a:srgbClr val="EBEBEB"/>
                </a:solidFill>
              </a:rPr>
              <a:t>WRITING</a:t>
            </a:r>
            <a:r>
              <a:rPr sz="4000" b="1" spc="-40" dirty="0">
                <a:solidFill>
                  <a:srgbClr val="EBEBEB"/>
                </a:solidFill>
              </a:rPr>
              <a:t> </a:t>
            </a:r>
            <a:r>
              <a:rPr sz="4000" b="1" dirty="0">
                <a:solidFill>
                  <a:srgbClr val="EBEBEB"/>
                </a:solidFill>
              </a:rPr>
              <a:t>THE</a:t>
            </a:r>
            <a:r>
              <a:rPr sz="4000" b="1" spc="-15" dirty="0">
                <a:solidFill>
                  <a:srgbClr val="EBEBEB"/>
                </a:solidFill>
              </a:rPr>
              <a:t> </a:t>
            </a:r>
            <a:r>
              <a:rPr sz="4000" b="1" spc="-5" dirty="0">
                <a:solidFill>
                  <a:srgbClr val="EBEBEB"/>
                </a:solidFill>
              </a:rPr>
              <a:t>HTML</a:t>
            </a:r>
            <a:endParaRPr sz="4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07504" y="1340768"/>
            <a:ext cx="3087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400" b="1" spc="-45" dirty="0">
                <a:solidFill>
                  <a:srgbClr val="404040"/>
                </a:solidFill>
                <a:latin typeface="Tahoma"/>
                <a:cs typeface="Tahoma"/>
              </a:rPr>
              <a:t>Content-container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504" y="2040058"/>
            <a:ext cx="1132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1340768"/>
            <a:ext cx="4680520" cy="159593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4368" y="466306"/>
            <a:ext cx="7659162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EBEBEB"/>
                </a:solidFill>
              </a:rPr>
              <a:t>STEP</a:t>
            </a:r>
            <a:r>
              <a:rPr sz="3200" b="1" spc="-30" dirty="0">
                <a:solidFill>
                  <a:srgbClr val="EBEBEB"/>
                </a:solidFill>
              </a:rPr>
              <a:t> </a:t>
            </a:r>
            <a:r>
              <a:rPr sz="3200" b="1" dirty="0">
                <a:solidFill>
                  <a:srgbClr val="EBEBEB"/>
                </a:solidFill>
              </a:rPr>
              <a:t>2:</a:t>
            </a:r>
            <a:r>
              <a:rPr sz="3200" b="1" spc="-25" dirty="0">
                <a:solidFill>
                  <a:srgbClr val="EBEBEB"/>
                </a:solidFill>
              </a:rPr>
              <a:t> </a:t>
            </a:r>
            <a:r>
              <a:rPr sz="3200" b="1" dirty="0">
                <a:solidFill>
                  <a:srgbClr val="EBEBEB"/>
                </a:solidFill>
              </a:rPr>
              <a:t>WRITING</a:t>
            </a:r>
            <a:r>
              <a:rPr sz="3200" b="1" spc="-40" dirty="0">
                <a:solidFill>
                  <a:srgbClr val="EBEBEB"/>
                </a:solidFill>
              </a:rPr>
              <a:t> </a:t>
            </a:r>
            <a:r>
              <a:rPr sz="3200" b="1" dirty="0">
                <a:solidFill>
                  <a:srgbClr val="EBEBEB"/>
                </a:solidFill>
              </a:rPr>
              <a:t>THE</a:t>
            </a:r>
            <a:r>
              <a:rPr sz="3200" b="1" spc="-15" dirty="0">
                <a:solidFill>
                  <a:srgbClr val="EBEBEB"/>
                </a:solidFill>
              </a:rPr>
              <a:t> </a:t>
            </a:r>
            <a:r>
              <a:rPr sz="3200" b="1" spc="-5" dirty="0">
                <a:solidFill>
                  <a:srgbClr val="EBEBEB"/>
                </a:solidFill>
              </a:rPr>
              <a:t>HTML</a:t>
            </a:r>
            <a:endParaRPr sz="32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86851" y="1481420"/>
            <a:ext cx="1289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-17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400" b="1" spc="-100" dirty="0">
                <a:solidFill>
                  <a:srgbClr val="404040"/>
                </a:solidFill>
                <a:latin typeface="Tahoma"/>
                <a:cs typeface="Tahoma"/>
              </a:rPr>
              <a:t>Footer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6851" y="3593099"/>
            <a:ext cx="1132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696" y="4221088"/>
            <a:ext cx="5616624" cy="14227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7704" y="2170369"/>
            <a:ext cx="5991604" cy="1011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632" y="251621"/>
            <a:ext cx="722711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EBEBEB"/>
                </a:solidFill>
              </a:rPr>
              <a:t>STEP</a:t>
            </a:r>
            <a:r>
              <a:rPr b="1" spc="-35" dirty="0">
                <a:solidFill>
                  <a:srgbClr val="EBEBEB"/>
                </a:solidFill>
              </a:rPr>
              <a:t> </a:t>
            </a:r>
            <a:r>
              <a:rPr b="1" dirty="0">
                <a:solidFill>
                  <a:srgbClr val="EBEBEB"/>
                </a:solidFill>
              </a:rPr>
              <a:t>3:</a:t>
            </a:r>
            <a:r>
              <a:rPr b="1" spc="-20" dirty="0">
                <a:solidFill>
                  <a:srgbClr val="EBEBEB"/>
                </a:solidFill>
              </a:rPr>
              <a:t> </a:t>
            </a:r>
            <a:r>
              <a:rPr b="1" spc="-5" dirty="0">
                <a:solidFill>
                  <a:srgbClr val="EBEBEB"/>
                </a:solidFill>
              </a:rPr>
              <a:t>HTML</a:t>
            </a:r>
            <a:r>
              <a:rPr b="1" spc="-25" dirty="0">
                <a:solidFill>
                  <a:srgbClr val="EBEBEB"/>
                </a:solidFill>
              </a:rPr>
              <a:t> </a:t>
            </a:r>
            <a:r>
              <a:rPr b="1" dirty="0">
                <a:solidFill>
                  <a:srgbClr val="EBEBEB"/>
                </a:solidFill>
              </a:rPr>
              <a:t>Webpage</a:t>
            </a:r>
            <a:endParaRPr b="1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600" y="1484784"/>
            <a:ext cx="6891520" cy="4536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3528" y="1484784"/>
            <a:ext cx="11322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114" dirty="0">
                <a:solidFill>
                  <a:srgbClr val="404040"/>
                </a:solidFill>
                <a:latin typeface="Tahoma"/>
                <a:cs typeface="Tahoma"/>
              </a:rPr>
              <a:t>Co</a:t>
            </a:r>
            <a:r>
              <a:rPr sz="2000" b="1" spc="100" dirty="0">
                <a:solidFill>
                  <a:srgbClr val="404040"/>
                </a:solidFill>
                <a:latin typeface="Tahoma"/>
                <a:cs typeface="Tahoma"/>
              </a:rPr>
              <a:t>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752" y="1340768"/>
            <a:ext cx="6624736" cy="4824535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F121978F-0880-97EB-8C1F-A87379CA24DE}"/>
              </a:ext>
            </a:extLst>
          </p:cNvPr>
          <p:cNvSpPr txBox="1">
            <a:spLocks/>
          </p:cNvSpPr>
          <p:nvPr/>
        </p:nvSpPr>
        <p:spPr bwMode="auto">
          <a:xfrm>
            <a:off x="1259632" y="251621"/>
            <a:ext cx="7227114" cy="69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3335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pPr marL="12700">
              <a:spcBef>
                <a:spcPts val="105"/>
              </a:spcBef>
            </a:pPr>
            <a:r>
              <a:rPr lang="en-GB" b="1" kern="0">
                <a:solidFill>
                  <a:srgbClr val="EBEBEB"/>
                </a:solidFill>
              </a:rPr>
              <a:t>STEP</a:t>
            </a:r>
            <a:r>
              <a:rPr lang="en-GB" b="1" kern="0" spc="-35">
                <a:solidFill>
                  <a:srgbClr val="EBEBEB"/>
                </a:solidFill>
              </a:rPr>
              <a:t> </a:t>
            </a:r>
            <a:r>
              <a:rPr lang="en-GB" b="1" kern="0">
                <a:solidFill>
                  <a:srgbClr val="EBEBEB"/>
                </a:solidFill>
              </a:rPr>
              <a:t>3:</a:t>
            </a:r>
            <a:r>
              <a:rPr lang="en-GB" b="1" kern="0" spc="-20">
                <a:solidFill>
                  <a:srgbClr val="EBEBEB"/>
                </a:solidFill>
              </a:rPr>
              <a:t> </a:t>
            </a:r>
            <a:r>
              <a:rPr lang="en-GB" b="1" kern="0" spc="-5">
                <a:solidFill>
                  <a:srgbClr val="EBEBEB"/>
                </a:solidFill>
              </a:rPr>
              <a:t>HTML</a:t>
            </a:r>
            <a:r>
              <a:rPr lang="en-GB" b="1" kern="0" spc="-25">
                <a:solidFill>
                  <a:srgbClr val="EBEBEB"/>
                </a:solidFill>
              </a:rPr>
              <a:t> </a:t>
            </a:r>
            <a:r>
              <a:rPr lang="en-GB" b="1" kern="0">
                <a:solidFill>
                  <a:srgbClr val="EBEBEB"/>
                </a:solidFill>
              </a:rPr>
              <a:t>Webpage</a:t>
            </a:r>
            <a:endParaRPr lang="en-GB" b="1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128" y="332656"/>
            <a:ext cx="784887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EBEBEB"/>
                </a:solidFill>
                <a:cs typeface="Arial" panose="020B0604020202020204" pitchFamily="34" charset="0"/>
              </a:rPr>
              <a:t>STEP</a:t>
            </a:r>
            <a:r>
              <a:rPr sz="3200" b="1" spc="-20" dirty="0">
                <a:solidFill>
                  <a:srgbClr val="EBEBEB"/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rgbClr val="EBEBEB"/>
                </a:solidFill>
                <a:cs typeface="Arial" panose="020B0604020202020204" pitchFamily="34" charset="0"/>
              </a:rPr>
              <a:t>4:</a:t>
            </a:r>
            <a:r>
              <a:rPr sz="3200" b="1" spc="-20" dirty="0">
                <a:solidFill>
                  <a:srgbClr val="EBEBEB"/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rgbClr val="EBEBEB"/>
                </a:solidFill>
                <a:cs typeface="Arial" panose="020B0604020202020204" pitchFamily="34" charset="0"/>
              </a:rPr>
              <a:t>Link</a:t>
            </a:r>
            <a:r>
              <a:rPr sz="3200" b="1" spc="-20" dirty="0">
                <a:solidFill>
                  <a:srgbClr val="EBEBEB"/>
                </a:solidFill>
                <a:cs typeface="Arial" panose="020B0604020202020204" pitchFamily="34" charset="0"/>
              </a:rPr>
              <a:t> </a:t>
            </a:r>
            <a:r>
              <a:rPr sz="3200" b="1" spc="-5" dirty="0">
                <a:solidFill>
                  <a:srgbClr val="EBEBEB"/>
                </a:solidFill>
                <a:cs typeface="Arial" panose="020B0604020202020204" pitchFamily="34" charset="0"/>
              </a:rPr>
              <a:t>CSS</a:t>
            </a:r>
            <a:r>
              <a:rPr sz="3200" b="1" spc="-20" dirty="0">
                <a:solidFill>
                  <a:srgbClr val="EBEBEB"/>
                </a:solidFill>
                <a:cs typeface="Arial" panose="020B0604020202020204" pitchFamily="34" charset="0"/>
              </a:rPr>
              <a:t> </a:t>
            </a:r>
            <a:r>
              <a:rPr sz="3200" b="1" spc="-5" dirty="0">
                <a:solidFill>
                  <a:srgbClr val="EBEBEB"/>
                </a:solidFill>
                <a:cs typeface="Arial" panose="020B0604020202020204" pitchFamily="34" charset="0"/>
              </a:rPr>
              <a:t>with</a:t>
            </a:r>
            <a:r>
              <a:rPr sz="3200" b="1" spc="-10" dirty="0">
                <a:solidFill>
                  <a:srgbClr val="EBEBEB"/>
                </a:solidFill>
                <a:cs typeface="Arial" panose="020B0604020202020204" pitchFamily="34" charset="0"/>
              </a:rPr>
              <a:t> </a:t>
            </a:r>
            <a:r>
              <a:rPr sz="3200" b="1" spc="-5" dirty="0">
                <a:solidFill>
                  <a:srgbClr val="EBEBEB"/>
                </a:solidFill>
                <a:cs typeface="Arial" panose="020B0604020202020204" pitchFamily="34" charset="0"/>
              </a:rPr>
              <a:t>HTML</a:t>
            </a:r>
            <a:endParaRPr sz="3200" b="1" dirty="0"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5286" y="2456764"/>
            <a:ext cx="11322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114" dirty="0">
                <a:solidFill>
                  <a:srgbClr val="404040"/>
                </a:solidFill>
                <a:latin typeface="Tahoma"/>
                <a:cs typeface="Tahoma"/>
              </a:rPr>
              <a:t>Co</a:t>
            </a:r>
            <a:r>
              <a:rPr sz="2000" b="1" spc="100" dirty="0">
                <a:solidFill>
                  <a:srgbClr val="404040"/>
                </a:solidFill>
                <a:latin typeface="Tahoma"/>
                <a:cs typeface="Tahoma"/>
              </a:rPr>
              <a:t>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955" y="3214116"/>
            <a:ext cx="6304788" cy="371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370" y="282923"/>
            <a:ext cx="7515146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EBEBEB"/>
                </a:solidFill>
              </a:rPr>
              <a:t>STEP</a:t>
            </a:r>
            <a:r>
              <a:rPr sz="3600" b="1" spc="-4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5:</a:t>
            </a:r>
            <a:r>
              <a:rPr sz="3600" b="1" spc="-25" dirty="0">
                <a:solidFill>
                  <a:srgbClr val="EBEBEB"/>
                </a:solidFill>
              </a:rPr>
              <a:t> </a:t>
            </a:r>
            <a:r>
              <a:rPr sz="3600" b="1" spc="-5" dirty="0">
                <a:solidFill>
                  <a:srgbClr val="EBEBEB"/>
                </a:solidFill>
              </a:rPr>
              <a:t>Adding</a:t>
            </a:r>
            <a:r>
              <a:rPr sz="3600" b="1" spc="-25" dirty="0">
                <a:solidFill>
                  <a:srgbClr val="EBEBEB"/>
                </a:solidFill>
              </a:rPr>
              <a:t> </a:t>
            </a:r>
            <a:r>
              <a:rPr lang="en-US" sz="3600" b="1" spc="-5" dirty="0">
                <a:solidFill>
                  <a:srgbClr val="EBEBEB"/>
                </a:solidFill>
              </a:rPr>
              <a:t>CSS</a:t>
            </a:r>
            <a:r>
              <a:rPr sz="3600" b="1" spc="-4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style</a:t>
            </a:r>
            <a:r>
              <a:rPr sz="3600" b="1" spc="-3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sheet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882295" y="1412776"/>
            <a:ext cx="1654810" cy="7677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45" dirty="0">
                <a:solidFill>
                  <a:srgbClr val="404040"/>
                </a:solidFill>
                <a:latin typeface="Tahoma"/>
                <a:cs typeface="Tahoma"/>
              </a:rPr>
              <a:t>Container: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140" dirty="0">
                <a:solidFill>
                  <a:srgbClr val="404040"/>
                </a:solidFill>
                <a:latin typeface="Tahoma"/>
                <a:cs typeface="Tahoma"/>
              </a:rPr>
              <a:t>Result: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05062" y="1772816"/>
            <a:ext cx="78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088" y="2873905"/>
            <a:ext cx="3315263" cy="177923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392" y="2378704"/>
            <a:ext cx="4099560" cy="32857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608" y="354931"/>
            <a:ext cx="7515146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dirty="0">
                <a:solidFill>
                  <a:srgbClr val="EBEBEB"/>
                </a:solidFill>
              </a:rPr>
              <a:t>STEP</a:t>
            </a:r>
            <a:r>
              <a:rPr sz="3600" b="1" spc="-4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5:</a:t>
            </a:r>
            <a:r>
              <a:rPr sz="3600" b="1" spc="-25" dirty="0">
                <a:solidFill>
                  <a:srgbClr val="EBEBEB"/>
                </a:solidFill>
              </a:rPr>
              <a:t> </a:t>
            </a:r>
            <a:r>
              <a:rPr sz="3600" b="1" spc="-5" dirty="0">
                <a:solidFill>
                  <a:srgbClr val="EBEBEB"/>
                </a:solidFill>
              </a:rPr>
              <a:t>Adding</a:t>
            </a:r>
            <a:r>
              <a:rPr sz="3600" b="1" spc="-25" dirty="0">
                <a:solidFill>
                  <a:srgbClr val="EBEBEB"/>
                </a:solidFill>
              </a:rPr>
              <a:t> </a:t>
            </a:r>
            <a:r>
              <a:rPr lang="en-US" sz="3600" b="1" spc="-5" dirty="0">
                <a:solidFill>
                  <a:srgbClr val="EBEBEB"/>
                </a:solidFill>
              </a:rPr>
              <a:t>CSS</a:t>
            </a:r>
            <a:r>
              <a:rPr sz="3600" b="1" spc="-4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style</a:t>
            </a:r>
            <a:r>
              <a:rPr sz="3600" b="1" spc="-30" dirty="0">
                <a:solidFill>
                  <a:srgbClr val="EBEBEB"/>
                </a:solidFill>
              </a:rPr>
              <a:t> </a:t>
            </a:r>
            <a:r>
              <a:rPr sz="3600" b="1" dirty="0">
                <a:solidFill>
                  <a:srgbClr val="EBEBEB"/>
                </a:solidFill>
              </a:rPr>
              <a:t>sheet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911818" y="1416083"/>
            <a:ext cx="1426210" cy="7677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5" dirty="0">
                <a:solidFill>
                  <a:srgbClr val="404040"/>
                </a:solidFill>
                <a:latin typeface="Tahoma"/>
                <a:cs typeface="Tahoma"/>
              </a:rPr>
              <a:t>Header</a:t>
            </a:r>
            <a:r>
              <a:rPr sz="2000" b="1" spc="-1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140" dirty="0">
                <a:solidFill>
                  <a:srgbClr val="404040"/>
                </a:solidFill>
                <a:latin typeface="Tahoma"/>
                <a:cs typeface="Tahoma"/>
              </a:rPr>
              <a:t>Result: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9123" y="1967490"/>
            <a:ext cx="78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6096" y="2996952"/>
            <a:ext cx="3454061" cy="2016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520" y="2525268"/>
            <a:ext cx="493014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9810" y="1310942"/>
            <a:ext cx="1426210" cy="7677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5" dirty="0">
                <a:solidFill>
                  <a:srgbClr val="404040"/>
                </a:solidFill>
                <a:latin typeface="Tahoma"/>
                <a:cs typeface="Tahoma"/>
              </a:rPr>
              <a:t>Header</a:t>
            </a:r>
            <a:r>
              <a:rPr sz="2000" b="1" spc="-1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140" dirty="0">
                <a:solidFill>
                  <a:srgbClr val="404040"/>
                </a:solidFill>
                <a:latin typeface="Tahoma"/>
                <a:cs typeface="Tahoma"/>
              </a:rPr>
              <a:t>Result: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182" y="1412776"/>
            <a:ext cx="78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5474" y="1412776"/>
            <a:ext cx="5191022" cy="475252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27B9905-4DD4-01CA-1D35-C458458C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Adding CSS Stylesheet</a:t>
            </a:r>
            <a:endParaRPr lang="en-GB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8" y="2068960"/>
            <a:ext cx="3445664" cy="359228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81922" y="1598976"/>
            <a:ext cx="1421765" cy="7677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65" dirty="0">
                <a:solidFill>
                  <a:srgbClr val="404040"/>
                </a:solidFill>
                <a:latin typeface="Tahoma"/>
                <a:cs typeface="Tahoma"/>
              </a:rPr>
              <a:t>Co</a:t>
            </a:r>
            <a:r>
              <a:rPr sz="2000" b="1" spc="55" dirty="0">
                <a:solidFill>
                  <a:srgbClr val="404040"/>
                </a:solidFill>
                <a:latin typeface="Tahoma"/>
                <a:cs typeface="Tahoma"/>
              </a:rPr>
              <a:t>n</a:t>
            </a:r>
            <a:r>
              <a:rPr sz="2000" b="1" spc="-120" dirty="0">
                <a:solidFill>
                  <a:srgbClr val="404040"/>
                </a:solidFill>
                <a:latin typeface="Tahoma"/>
                <a:cs typeface="Tahoma"/>
              </a:rPr>
              <a:t>ten</a:t>
            </a:r>
            <a:r>
              <a:rPr sz="2000" b="1" spc="-100" dirty="0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140" dirty="0">
                <a:solidFill>
                  <a:srgbClr val="404040"/>
                </a:solidFill>
                <a:latin typeface="Tahoma"/>
                <a:cs typeface="Tahoma"/>
              </a:rPr>
              <a:t>Result: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7379" y="1632445"/>
            <a:ext cx="78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902" y="2090405"/>
            <a:ext cx="3334511" cy="34960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520" y="2564904"/>
            <a:ext cx="5000244" cy="318820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16F472E-796D-0BEC-CAEC-05149B52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Adding CSS Stylesheet</a:t>
            </a:r>
            <a:endParaRPr lang="en-GB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83820" y="1382191"/>
            <a:ext cx="1208405" cy="76771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354965" algn="l"/>
              </a:tabLst>
            </a:pPr>
            <a:r>
              <a:rPr sz="1600" spc="-155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95" dirty="0">
                <a:solidFill>
                  <a:srgbClr val="404040"/>
                </a:solidFill>
                <a:latin typeface="Tahoma"/>
                <a:cs typeface="Tahoma"/>
              </a:rPr>
              <a:t>Footer: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ACD333"/>
                </a:solidFill>
                <a:latin typeface="Lucida Sans Unicode"/>
                <a:cs typeface="Lucida Sans Unicode"/>
              </a:rPr>
              <a:t>▶	</a:t>
            </a:r>
            <a:r>
              <a:rPr sz="2000" b="1" spc="-140" dirty="0">
                <a:solidFill>
                  <a:srgbClr val="404040"/>
                </a:solidFill>
                <a:latin typeface="Tahoma"/>
                <a:cs typeface="Tahoma"/>
              </a:rPr>
              <a:t>Result: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2200" y="1566458"/>
            <a:ext cx="788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10" dirty="0">
                <a:solidFill>
                  <a:srgbClr val="404040"/>
                </a:solidFill>
                <a:latin typeface="Tahoma"/>
                <a:cs typeface="Tahoma"/>
              </a:rPr>
              <a:t>Cod</a:t>
            </a:r>
            <a:r>
              <a:rPr sz="2000" b="1" spc="9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2000" b="1" spc="-170" dirty="0">
                <a:solidFill>
                  <a:srgbClr val="404040"/>
                </a:solidFill>
                <a:latin typeface="Tahoma"/>
                <a:cs typeface="Tahoma"/>
              </a:rPr>
              <a:t>:</a:t>
            </a:r>
            <a:endParaRPr sz="2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2251" y="2564904"/>
            <a:ext cx="3561588" cy="2057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61" y="2204864"/>
            <a:ext cx="5286756" cy="350062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E22CF67-90F7-A20C-A313-D692E558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Adding CSS Stylesheet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512" y="1340768"/>
            <a:ext cx="3672408" cy="48245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340768"/>
            <a:ext cx="4316413" cy="475252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10541E0-4B4D-0225-664B-82AD90AC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Final CSS File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60" y="1484784"/>
            <a:ext cx="8072628" cy="43403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BD40F3F-7C9C-3D35-99FF-9B851A40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EBEBEB"/>
                </a:solidFill>
              </a:rPr>
              <a:t>STEP</a:t>
            </a:r>
            <a:r>
              <a:rPr lang="en-US" sz="3600" b="1" spc="-35" dirty="0">
                <a:solidFill>
                  <a:srgbClr val="EBEBEB"/>
                </a:solidFill>
              </a:rPr>
              <a:t> </a:t>
            </a:r>
            <a:r>
              <a:rPr lang="en-US" sz="3600" b="1" spc="-5" dirty="0">
                <a:solidFill>
                  <a:srgbClr val="EBEBEB"/>
                </a:solidFill>
              </a:rPr>
              <a:t>7:</a:t>
            </a:r>
            <a:r>
              <a:rPr lang="en-US" sz="3600" b="1" spc="-20" dirty="0">
                <a:solidFill>
                  <a:srgbClr val="EBEBEB"/>
                </a:solidFill>
              </a:rPr>
              <a:t> </a:t>
            </a:r>
            <a:r>
              <a:rPr lang="en-US" sz="3600" b="1" dirty="0">
                <a:solidFill>
                  <a:srgbClr val="EBEBEB"/>
                </a:solidFill>
              </a:rPr>
              <a:t>Website</a:t>
            </a:r>
            <a:r>
              <a:rPr lang="en-US" sz="3600" b="1" spc="-50" dirty="0">
                <a:solidFill>
                  <a:srgbClr val="EBEBEB"/>
                </a:solidFill>
              </a:rPr>
              <a:t> </a:t>
            </a:r>
            <a:r>
              <a:rPr lang="en-US" sz="3600" b="1" dirty="0">
                <a:solidFill>
                  <a:srgbClr val="EBEBEB"/>
                </a:solidFill>
              </a:rPr>
              <a:t>with</a:t>
            </a:r>
            <a:r>
              <a:rPr lang="en-US" sz="3600" b="1" spc="-25" dirty="0">
                <a:solidFill>
                  <a:srgbClr val="EBEBEB"/>
                </a:solidFill>
              </a:rPr>
              <a:t> </a:t>
            </a:r>
            <a:r>
              <a:rPr lang="en-US" sz="3600" b="1" spc="-5" dirty="0">
                <a:solidFill>
                  <a:srgbClr val="EBEBEB"/>
                </a:solidFill>
              </a:rPr>
              <a:t>HTML</a:t>
            </a:r>
            <a:r>
              <a:rPr lang="en-US" sz="3600" b="1" spc="-30" dirty="0">
                <a:solidFill>
                  <a:srgbClr val="EBEBEB"/>
                </a:solidFill>
              </a:rPr>
              <a:t> </a:t>
            </a:r>
            <a:r>
              <a:rPr lang="en-US" sz="3600" b="1" dirty="0">
                <a:solidFill>
                  <a:srgbClr val="EBEBEB"/>
                </a:solidFill>
              </a:rPr>
              <a:t>and</a:t>
            </a:r>
            <a:r>
              <a:rPr lang="en-US" sz="3600" b="1" spc="-20" dirty="0">
                <a:solidFill>
                  <a:srgbClr val="EBEBEB"/>
                </a:solidFill>
              </a:rPr>
              <a:t> </a:t>
            </a:r>
            <a:r>
              <a:rPr lang="en-US" sz="3600" b="1" spc="-5" dirty="0">
                <a:solidFill>
                  <a:srgbClr val="EBEBEB"/>
                </a:solidFill>
              </a:rPr>
              <a:t>CSS</a:t>
            </a:r>
            <a:endParaRPr lang="en-GB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2F45D-25DA-2327-F76F-4C7CE450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- 2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261D23-7AA1-8092-05BD-02D10589C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387" y="1268760"/>
            <a:ext cx="8785225" cy="48782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Which HTML element is used to link an external CSS file?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&lt;script&gt;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&lt;link&gt;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css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&lt;style&gt;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To layout a web page with a header, footer, left sidebar, main content area, and right sidebar, which CSS layout technique could be most effective?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Flexbox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Floats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Position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Grid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How do you make a background image not repeat in CSS?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background-repeat: no-repeat;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background-repeat: none;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background-no-repeat;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D)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background: no-repeat;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77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2A8E6F5B-41E3-C5E7-640E-E5DA7092D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886E8CE-5521-8AB5-7BA7-C3E4AB15B1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40768"/>
            <a:ext cx="8856663" cy="4680520"/>
          </a:xfrm>
        </p:spPr>
        <p:txBody>
          <a:bodyPr/>
          <a:lstStyle/>
          <a:p>
            <a:pPr marL="268287" lvl="1" indent="0" eaLnBrk="1" hangingPunct="1"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DIV element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Mozilla Developer Network (MDN). (n.d.). &lt;div&gt;: The Content Division element - HTML: </a:t>
            </a:r>
            <a:r>
              <a:rPr lang="en-US" altLang="en-US" sz="1200" dirty="0" err="1">
                <a:latin typeface="Arial" panose="020B0604020202020204" pitchFamily="34" charset="0"/>
              </a:rPr>
              <a:t>HyperText</a:t>
            </a:r>
            <a:r>
              <a:rPr lang="en-US" altLang="en-US" sz="1200" dirty="0">
                <a:latin typeface="Arial" panose="020B0604020202020204" pitchFamily="34" charset="0"/>
              </a:rPr>
              <a:t> Markup Language. Available at: https://developer.mozilla.org/en-US/docs/Web/HTML/Element/div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Duckett, J. (2011</a:t>
            </a:r>
            <a:r>
              <a:rPr lang="en-US" altLang="en-US" sz="1200" i="1" dirty="0">
                <a:latin typeface="Arial" panose="020B0604020202020204" pitchFamily="34" charset="0"/>
              </a:rPr>
              <a:t>). HTML &amp; CSS: Design and Build Websites</a:t>
            </a:r>
            <a:r>
              <a:rPr lang="en-US" altLang="en-US" sz="1200" dirty="0">
                <a:latin typeface="Arial" panose="020B0604020202020204" pitchFamily="34" charset="0"/>
              </a:rPr>
              <a:t>. John Wiley &amp; Sons. This book provides a comprehensive guide on HTML and CSS, including the use of &lt;div&gt; elements for structuring content on the web.</a:t>
            </a:r>
          </a:p>
          <a:p>
            <a:pPr lvl="1" eaLnBrk="1" hangingPunct="1"/>
            <a:endParaRPr lang="en-US" altLang="en-US" sz="1200" dirty="0">
              <a:latin typeface="Arial" panose="020B0604020202020204" pitchFamily="34" charset="0"/>
            </a:endParaRPr>
          </a:p>
          <a:p>
            <a:pPr marL="268287" lvl="1" indent="0" eaLnBrk="1" hangingPunct="1"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SPAN element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Mozilla Developer Network (MDN). (n.d.). </a:t>
            </a:r>
            <a:r>
              <a:rPr lang="en-US" altLang="en-US" sz="1200" i="1" dirty="0">
                <a:latin typeface="Arial" panose="020B0604020202020204" pitchFamily="34" charset="0"/>
              </a:rPr>
              <a:t>&lt;span&gt;: The Content Span element - HTML: </a:t>
            </a:r>
            <a:r>
              <a:rPr lang="en-US" altLang="en-US" sz="1200" i="1" dirty="0" err="1">
                <a:latin typeface="Arial" panose="020B0604020202020204" pitchFamily="34" charset="0"/>
              </a:rPr>
              <a:t>HyperText</a:t>
            </a:r>
            <a:r>
              <a:rPr lang="en-US" altLang="en-US" sz="1200" i="1" dirty="0">
                <a:latin typeface="Arial" panose="020B0604020202020204" pitchFamily="34" charset="0"/>
              </a:rPr>
              <a:t> Markup Language</a:t>
            </a:r>
            <a:r>
              <a:rPr lang="en-US" altLang="en-US" sz="1200" dirty="0">
                <a:latin typeface="Arial" panose="020B0604020202020204" pitchFamily="34" charset="0"/>
              </a:rPr>
              <a:t>. Available at: https://developer.mozilla.org/en-US/docs/Web/HTML/Element/span</a:t>
            </a:r>
          </a:p>
          <a:p>
            <a:pPr lvl="1" eaLnBrk="1" hangingPunct="1"/>
            <a:r>
              <a:rPr lang="en-US" altLang="en-US" sz="1200" dirty="0" err="1">
                <a:latin typeface="Arial" panose="020B0604020202020204" pitchFamily="34" charset="0"/>
              </a:rPr>
              <a:t>FreeCodeCamp</a:t>
            </a:r>
            <a:r>
              <a:rPr lang="en-US" altLang="en-US" sz="1200" dirty="0">
                <a:latin typeface="Arial" panose="020B0604020202020204" pitchFamily="34" charset="0"/>
              </a:rPr>
              <a:t>. (2021). </a:t>
            </a:r>
            <a:r>
              <a:rPr lang="en-US" altLang="en-US" sz="1200" i="1" dirty="0">
                <a:latin typeface="Arial" panose="020B0604020202020204" pitchFamily="34" charset="0"/>
              </a:rPr>
              <a:t>Span HTML – How to Use the Span Tag with CSS</a:t>
            </a:r>
            <a:r>
              <a:rPr lang="en-US" altLang="en-US" sz="1200" dirty="0">
                <a:latin typeface="Arial" panose="020B0604020202020204" pitchFamily="34" charset="0"/>
              </a:rPr>
              <a:t>. Available at: https://www.freecodecamp.org/news/span-html-how-to-use-the-span-tag-with-css/</a:t>
            </a:r>
          </a:p>
          <a:p>
            <a:pPr lvl="1" eaLnBrk="1" hangingPunct="1"/>
            <a:endParaRPr lang="en-US" altLang="en-US" sz="1200" dirty="0">
              <a:latin typeface="Arial" panose="020B0604020202020204" pitchFamily="34" charset="0"/>
            </a:endParaRPr>
          </a:p>
          <a:p>
            <a:pPr marL="268287" lvl="1" indent="0" eaLnBrk="1" hangingPunct="1"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CSS Selectors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Mozilla Developer Network (MDN). (n.d.). </a:t>
            </a:r>
            <a:r>
              <a:rPr lang="en-US" altLang="en-US" sz="1200" i="1" dirty="0">
                <a:latin typeface="Arial" panose="020B0604020202020204" pitchFamily="34" charset="0"/>
              </a:rPr>
              <a:t>CSS Selectors</a:t>
            </a:r>
            <a:r>
              <a:rPr lang="en-US" altLang="en-US" sz="1200" dirty="0">
                <a:latin typeface="Arial" panose="020B0604020202020204" pitchFamily="34" charset="0"/>
              </a:rPr>
              <a:t>. Available at: https://developer.mozilla.org/en-US/docs/Web/CSS/CSS_Selectors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Meyer, E. A. (2012). </a:t>
            </a:r>
            <a:r>
              <a:rPr lang="en-US" altLang="en-US" sz="1200" i="1" dirty="0">
                <a:latin typeface="Arial" panose="020B0604020202020204" pitchFamily="34" charset="0"/>
              </a:rPr>
              <a:t>CSS: The Definitive Guide.</a:t>
            </a:r>
            <a:r>
              <a:rPr lang="en-US" altLang="en-US" sz="1200" dirty="0">
                <a:latin typeface="Arial" panose="020B0604020202020204" pitchFamily="34" charset="0"/>
              </a:rPr>
              <a:t> O'Reilly Media. This book covers detailed explanations of CSS selectors among other CSS properties.</a:t>
            </a:r>
          </a:p>
          <a:p>
            <a:pPr lvl="1" eaLnBrk="1" hangingPunct="1"/>
            <a:endParaRPr lang="en-US" altLang="en-US" sz="1200" dirty="0">
              <a:latin typeface="Arial" panose="020B0604020202020204" pitchFamily="34" charset="0"/>
            </a:endParaRPr>
          </a:p>
          <a:p>
            <a:pPr marL="268287" lvl="1" indent="0" eaLnBrk="1" hangingPunct="1">
              <a:buNone/>
            </a:pPr>
            <a:r>
              <a:rPr lang="en-US" altLang="en-US" sz="1200" dirty="0">
                <a:latin typeface="Arial" panose="020B0604020202020204" pitchFamily="34" charset="0"/>
              </a:rPr>
              <a:t>Coding with HTML and CSS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Duckett, J. (2011). </a:t>
            </a:r>
            <a:r>
              <a:rPr lang="en-US" altLang="en-US" sz="1200" i="1" dirty="0">
                <a:latin typeface="Arial" panose="020B0604020202020204" pitchFamily="34" charset="0"/>
              </a:rPr>
              <a:t>HTML &amp; CSS: Design and Build Websites</a:t>
            </a:r>
            <a:r>
              <a:rPr lang="en-US" altLang="en-US" sz="1200" dirty="0">
                <a:latin typeface="Arial" panose="020B0604020202020204" pitchFamily="34" charset="0"/>
              </a:rPr>
              <a:t>. John Wiley &amp; Sons. This book is a beginner-friendly guide that covers the basics of coding with HTML and CSS to build websites.</a:t>
            </a:r>
          </a:p>
          <a:p>
            <a:pPr lvl="1" eaLnBrk="1" hangingPunct="1"/>
            <a:r>
              <a:rPr lang="en-US" altLang="en-US" sz="1200" dirty="0">
                <a:latin typeface="Arial" panose="020B0604020202020204" pitchFamily="34" charset="0"/>
              </a:rPr>
              <a:t>McFarland, D. (2015). </a:t>
            </a:r>
            <a:r>
              <a:rPr lang="en-US" altLang="en-US" sz="1200" i="1" dirty="0">
                <a:latin typeface="Arial" panose="020B0604020202020204" pitchFamily="34" charset="0"/>
              </a:rPr>
              <a:t>CSS: The Missing Manual</a:t>
            </a:r>
            <a:r>
              <a:rPr lang="en-US" altLang="en-US" sz="1200" dirty="0">
                <a:latin typeface="Arial" panose="020B0604020202020204" pitchFamily="34" charset="0"/>
              </a:rPr>
              <a:t>. O'Reilly Media. This book provides an in-depth look at CSS and how it can be used in conjunction with HTML to create professional and polished websites.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0256145-B1CB-6CD2-F24D-CE752DBF88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/>
              <a:t>Topic 4:  HTML and CSS</a:t>
            </a:r>
            <a:endParaRPr lang="en-GB" altLang="en-US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B6BFF25-0859-0712-830F-3DE5CC611E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Any Questions?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1FE2B8-874B-46EB-A3AF-001C00F0E1FB}">
  <ds:schemaRefs>
    <ds:schemaRef ds:uri="http://schemas.openxmlformats.org/package/2006/metadata/core-properties"/>
    <ds:schemaRef ds:uri="http://schemas.microsoft.com/office/2006/documentManagement/types"/>
    <ds:schemaRef ds:uri="dbeaa6b5-7a21-43b8-ab59-31e7cbf2c187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  <ds:schemaRef ds:uri="bdeceafc-5c0f-406d-b95f-35e6593d664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4B472D-704B-4460-9015-BDFBF1247DAF}"/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59</TotalTime>
  <Words>1566</Words>
  <Application>Microsoft Office PowerPoint</Application>
  <PresentationFormat>On-screen Show (4:3)</PresentationFormat>
  <Paragraphs>240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ＭＳ Ｐゴシック</vt:lpstr>
      <vt:lpstr>Arial</vt:lpstr>
      <vt:lpstr>Arial MT</vt:lpstr>
      <vt:lpstr>Calibri</vt:lpstr>
      <vt:lpstr>Gill Sans</vt:lpstr>
      <vt:lpstr>Lucida Sans Unicode</vt:lpstr>
      <vt:lpstr>Tahoma</vt:lpstr>
      <vt:lpstr>Times New Roman</vt:lpstr>
      <vt:lpstr>Wingdings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Span and div – HTML/css</vt:lpstr>
      <vt:lpstr>What are SPAN and DIV</vt:lpstr>
      <vt:lpstr>&lt;DIV&gt; Tag</vt:lpstr>
      <vt:lpstr>&lt;DIV&gt; Tag</vt:lpstr>
      <vt:lpstr>&lt;DIV&gt; Tag</vt:lpstr>
      <vt:lpstr>Attributes in &lt;div&gt;</vt:lpstr>
      <vt:lpstr>&lt;DIV&gt; Tag</vt:lpstr>
      <vt:lpstr>SPAN</vt:lpstr>
      <vt:lpstr>SPAN vs DIV</vt:lpstr>
      <vt:lpstr>SPAN Element</vt:lpstr>
      <vt:lpstr>Css selectors</vt:lpstr>
      <vt:lpstr>CSS Selectors</vt:lpstr>
      <vt:lpstr>Simple Selector</vt:lpstr>
      <vt:lpstr>Class Selector</vt:lpstr>
      <vt:lpstr>Generic Selector</vt:lpstr>
      <vt:lpstr>ID Selector</vt:lpstr>
      <vt:lpstr>Universal Selector</vt:lpstr>
      <vt:lpstr>Pseudo Classes</vt:lpstr>
      <vt:lpstr>Quiz - 1</vt:lpstr>
      <vt:lpstr>HTML + css example</vt:lpstr>
      <vt:lpstr>Website Specifications</vt:lpstr>
      <vt:lpstr>STEP 1: The site HTML structure</vt:lpstr>
      <vt:lpstr>STEP 2: WRITING THE HTML</vt:lpstr>
      <vt:lpstr>STEP 2: WRITING THE HTML</vt:lpstr>
      <vt:lpstr>STEP 2: WRITING THE HTML</vt:lpstr>
      <vt:lpstr>STEP 2: WRITING THE HTML</vt:lpstr>
      <vt:lpstr>STEP 3: HTML Webpage</vt:lpstr>
      <vt:lpstr>PowerPoint Presentation</vt:lpstr>
      <vt:lpstr>PowerPoint Presentation</vt:lpstr>
      <vt:lpstr>STEP 5: Adding CSS style sheet</vt:lpstr>
      <vt:lpstr>STEP 5: Adding CSS style sheet</vt:lpstr>
      <vt:lpstr>STEP 5: Adding CSS Stylesheet</vt:lpstr>
      <vt:lpstr>STEP 5: Adding CSS Stylesheet</vt:lpstr>
      <vt:lpstr>STEP 5: Adding CSS Stylesheet</vt:lpstr>
      <vt:lpstr>STEP 6: Final CSS File</vt:lpstr>
      <vt:lpstr>STEP 7: Website with HTML and CSS</vt:lpstr>
      <vt:lpstr>Quiz - 2</vt:lpstr>
      <vt:lpstr>References</vt:lpstr>
      <vt:lpstr>Topic 4:  HTML and CSS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Chris Beaumont</cp:lastModifiedBy>
  <cp:revision>95</cp:revision>
  <dcterms:created xsi:type="dcterms:W3CDTF">2008-01-18T13:21:43Z</dcterms:created>
  <dcterms:modified xsi:type="dcterms:W3CDTF">2024-03-07T10:40:10Z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