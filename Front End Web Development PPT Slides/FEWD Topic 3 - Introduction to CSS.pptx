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62"/>
  </p:notesMasterIdLst>
  <p:handoutMasterIdLst>
    <p:handoutMasterId r:id="rId63"/>
  </p:handoutMasterIdLst>
  <p:sldIdLst>
    <p:sldId id="261" r:id="rId6"/>
    <p:sldId id="263" r:id="rId7"/>
    <p:sldId id="264" r:id="rId8"/>
    <p:sldId id="343" r:id="rId9"/>
    <p:sldId id="345" r:id="rId10"/>
    <p:sldId id="257" r:id="rId11"/>
    <p:sldId id="259" r:id="rId12"/>
    <p:sldId id="275" r:id="rId13"/>
    <p:sldId id="276" r:id="rId14"/>
    <p:sldId id="277" r:id="rId15"/>
    <p:sldId id="278" r:id="rId16"/>
    <p:sldId id="346" r:id="rId17"/>
    <p:sldId id="347" r:id="rId18"/>
    <p:sldId id="280" r:id="rId19"/>
    <p:sldId id="281" r:id="rId20"/>
    <p:sldId id="282" r:id="rId21"/>
    <p:sldId id="283" r:id="rId22"/>
    <p:sldId id="284" r:id="rId23"/>
    <p:sldId id="287" r:id="rId24"/>
    <p:sldId id="349" r:id="rId25"/>
    <p:sldId id="348" r:id="rId26"/>
    <p:sldId id="290" r:id="rId27"/>
    <p:sldId id="291" r:id="rId28"/>
    <p:sldId id="293" r:id="rId29"/>
    <p:sldId id="296" r:id="rId30"/>
    <p:sldId id="350" r:id="rId31"/>
    <p:sldId id="304" r:id="rId32"/>
    <p:sldId id="300" r:id="rId33"/>
    <p:sldId id="302" r:id="rId34"/>
    <p:sldId id="299" r:id="rId35"/>
    <p:sldId id="305" r:id="rId36"/>
    <p:sldId id="307" r:id="rId37"/>
    <p:sldId id="351" r:id="rId38"/>
    <p:sldId id="308" r:id="rId39"/>
    <p:sldId id="309" r:id="rId40"/>
    <p:sldId id="310" r:id="rId41"/>
    <p:sldId id="354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52" r:id="rId50"/>
    <p:sldId id="318" r:id="rId51"/>
    <p:sldId id="319" r:id="rId52"/>
    <p:sldId id="320" r:id="rId53"/>
    <p:sldId id="322" r:id="rId54"/>
    <p:sldId id="353" r:id="rId55"/>
    <p:sldId id="323" r:id="rId56"/>
    <p:sldId id="324" r:id="rId57"/>
    <p:sldId id="355" r:id="rId58"/>
    <p:sldId id="325" r:id="rId59"/>
    <p:sldId id="356" r:id="rId60"/>
    <p:sldId id="262" r:id="rId6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2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12BE"/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A75C8-F253-4BB1-BD5E-A1AD1E2F2EF9}" v="11" dt="2024-03-07T07:17:05.592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381"/>
    <p:restoredTop sz="94648"/>
  </p:normalViewPr>
  <p:slideViewPr>
    <p:cSldViewPr>
      <p:cViewPr varScale="1">
        <p:scale>
          <a:sx n="90" d="100"/>
          <a:sy n="90" d="100"/>
        </p:scale>
        <p:origin x="606" y="114"/>
      </p:cViewPr>
      <p:guideLst>
        <p:guide orient="horz" pos="2160"/>
        <p:guide pos="3840"/>
        <p:guide pos="12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36EA75C8-F253-4BB1-BD5E-A1AD1E2F2EF9}"/>
    <pc:docChg chg="custSel addSld delSld modSld modMainMaster">
      <pc:chgData name="Liew Pei Ling" userId="c3090c8e-0726-43ba-95b9-123e980a216d" providerId="ADAL" clId="{36EA75C8-F253-4BB1-BD5E-A1AD1E2F2EF9}" dt="2024-03-07T07:17:36.512" v="49" actId="20577"/>
      <pc:docMkLst>
        <pc:docMk/>
      </pc:docMkLst>
      <pc:sldChg chg="addSp modSp mod">
        <pc:chgData name="Liew Pei Ling" userId="c3090c8e-0726-43ba-95b9-123e980a216d" providerId="ADAL" clId="{36EA75C8-F253-4BB1-BD5E-A1AD1E2F2EF9}" dt="2024-03-04T12:34:40.276" v="18"/>
        <pc:sldMkLst>
          <pc:docMk/>
          <pc:sldMk cId="0" sldId="305"/>
        </pc:sldMkLst>
        <pc:spChg chg="mod">
          <ac:chgData name="Liew Pei Ling" userId="c3090c8e-0726-43ba-95b9-123e980a216d" providerId="ADAL" clId="{36EA75C8-F253-4BB1-BD5E-A1AD1E2F2EF9}" dt="2024-03-04T12:34:38.124" v="17" actId="20577"/>
          <ac:spMkLst>
            <pc:docMk/>
            <pc:sldMk cId="0" sldId="305"/>
            <ac:spMk id="3" creationId="{88382AFF-F526-0543-65F8-60FC3A82EEFC}"/>
          </ac:spMkLst>
        </pc:spChg>
        <pc:spChg chg="mod">
          <ac:chgData name="Liew Pei Ling" userId="c3090c8e-0726-43ba-95b9-123e980a216d" providerId="ADAL" clId="{36EA75C8-F253-4BB1-BD5E-A1AD1E2F2EF9}" dt="2024-03-04T12:34:22.177" v="16" actId="255"/>
          <ac:spMkLst>
            <pc:docMk/>
            <pc:sldMk cId="0" sldId="305"/>
            <ac:spMk id="8" creationId="{F91F0115-E7D1-5E8F-8341-FAAC3D418708}"/>
          </ac:spMkLst>
        </pc:spChg>
        <pc:picChg chg="add mod">
          <ac:chgData name="Liew Pei Ling" userId="c3090c8e-0726-43ba-95b9-123e980a216d" providerId="ADAL" clId="{36EA75C8-F253-4BB1-BD5E-A1AD1E2F2EF9}" dt="2024-03-04T12:34:40.276" v="18"/>
          <ac:picMkLst>
            <pc:docMk/>
            <pc:sldMk cId="0" sldId="305"/>
            <ac:picMk id="4" creationId="{A96384A4-E28A-1876-7534-88EDF13E348F}"/>
          </ac:picMkLst>
        </pc:picChg>
      </pc:sldChg>
      <pc:sldChg chg="modSp mod">
        <pc:chgData name="Liew Pei Ling" userId="c3090c8e-0726-43ba-95b9-123e980a216d" providerId="ADAL" clId="{36EA75C8-F253-4BB1-BD5E-A1AD1E2F2EF9}" dt="2024-03-07T07:17:12.376" v="25" actId="1076"/>
        <pc:sldMkLst>
          <pc:docMk/>
          <pc:sldMk cId="3459152918" sldId="343"/>
        </pc:sldMkLst>
        <pc:graphicFrameChg chg="mod modGraphic">
          <ac:chgData name="Liew Pei Ling" userId="c3090c8e-0726-43ba-95b9-123e980a216d" providerId="ADAL" clId="{36EA75C8-F253-4BB1-BD5E-A1AD1E2F2EF9}" dt="2024-03-07T07:17:12.376" v="25" actId="1076"/>
          <ac:graphicFrameMkLst>
            <pc:docMk/>
            <pc:sldMk cId="3459152918" sldId="343"/>
            <ac:graphicFrameMk id="4" creationId="{8FD64872-AB8B-372F-97B6-899200497D77}"/>
          </ac:graphicFrameMkLst>
        </pc:graphicFrameChg>
      </pc:sldChg>
      <pc:sldChg chg="del">
        <pc:chgData name="Liew Pei Ling" userId="c3090c8e-0726-43ba-95b9-123e980a216d" providerId="ADAL" clId="{36EA75C8-F253-4BB1-BD5E-A1AD1E2F2EF9}" dt="2024-03-04T12:29:11.583" v="2" actId="47"/>
        <pc:sldMkLst>
          <pc:docMk/>
          <pc:sldMk cId="4245260754" sldId="344"/>
        </pc:sldMkLst>
      </pc:sldChg>
      <pc:sldChg chg="addSp delSp modSp mod modNotesTx">
        <pc:chgData name="Liew Pei Ling" userId="c3090c8e-0726-43ba-95b9-123e980a216d" providerId="ADAL" clId="{36EA75C8-F253-4BB1-BD5E-A1AD1E2F2EF9}" dt="2024-03-04T12:30:41.705" v="8"/>
        <pc:sldMkLst>
          <pc:docMk/>
          <pc:sldMk cId="1195722701" sldId="346"/>
        </pc:sldMkLst>
        <pc:spChg chg="del">
          <ac:chgData name="Liew Pei Ling" userId="c3090c8e-0726-43ba-95b9-123e980a216d" providerId="ADAL" clId="{36EA75C8-F253-4BB1-BD5E-A1AD1E2F2EF9}" dt="2024-03-04T12:30:18.826" v="3" actId="478"/>
          <ac:spMkLst>
            <pc:docMk/>
            <pc:sldMk cId="1195722701" sldId="346"/>
            <ac:spMk id="3" creationId="{009A4E18-D587-2D42-EB83-BD1D1C2C1BFD}"/>
          </ac:spMkLst>
        </pc:spChg>
        <pc:spChg chg="add mod">
          <ac:chgData name="Liew Pei Ling" userId="c3090c8e-0726-43ba-95b9-123e980a216d" providerId="ADAL" clId="{36EA75C8-F253-4BB1-BD5E-A1AD1E2F2EF9}" dt="2024-03-04T12:30:33.607" v="7" actId="1076"/>
          <ac:spMkLst>
            <pc:docMk/>
            <pc:sldMk cId="1195722701" sldId="346"/>
            <ac:spMk id="4" creationId="{38D88E56-4116-40B4-79CD-B17E2A7B7A07}"/>
          </ac:spMkLst>
        </pc:spChg>
      </pc:sldChg>
      <pc:sldChg chg="addSp delSp modSp mod modNotesTx">
        <pc:chgData name="Liew Pei Ling" userId="c3090c8e-0726-43ba-95b9-123e980a216d" providerId="ADAL" clId="{36EA75C8-F253-4BB1-BD5E-A1AD1E2F2EF9}" dt="2024-03-04T12:32:12.965" v="14"/>
        <pc:sldMkLst>
          <pc:docMk/>
          <pc:sldMk cId="366707271" sldId="349"/>
        </pc:sldMkLst>
        <pc:spChg chg="del">
          <ac:chgData name="Liew Pei Ling" userId="c3090c8e-0726-43ba-95b9-123e980a216d" providerId="ADAL" clId="{36EA75C8-F253-4BB1-BD5E-A1AD1E2F2EF9}" dt="2024-03-04T12:31:52.058" v="9" actId="478"/>
          <ac:spMkLst>
            <pc:docMk/>
            <pc:sldMk cId="366707271" sldId="349"/>
            <ac:spMk id="3" creationId="{A0DADBD6-E65C-3ECC-7881-852F477AA4BB}"/>
          </ac:spMkLst>
        </pc:spChg>
        <pc:spChg chg="add mod">
          <ac:chgData name="Liew Pei Ling" userId="c3090c8e-0726-43ba-95b9-123e980a216d" providerId="ADAL" clId="{36EA75C8-F253-4BB1-BD5E-A1AD1E2F2EF9}" dt="2024-03-04T12:32:05.626" v="13" actId="1076"/>
          <ac:spMkLst>
            <pc:docMk/>
            <pc:sldMk cId="366707271" sldId="349"/>
            <ac:spMk id="4" creationId="{B311EF27-9A44-0DA0-3422-6F8284A0D7B7}"/>
          </ac:spMkLst>
        </pc:spChg>
      </pc:sldChg>
      <pc:sldChg chg="modSp add mod">
        <pc:chgData name="Liew Pei Ling" userId="c3090c8e-0726-43ba-95b9-123e980a216d" providerId="ADAL" clId="{36EA75C8-F253-4BB1-BD5E-A1AD1E2F2EF9}" dt="2024-03-04T12:38:37.848" v="20" actId="2711"/>
        <pc:sldMkLst>
          <pc:docMk/>
          <pc:sldMk cId="1211861321" sldId="356"/>
        </pc:sldMkLst>
        <pc:spChg chg="mod">
          <ac:chgData name="Liew Pei Ling" userId="c3090c8e-0726-43ba-95b9-123e980a216d" providerId="ADAL" clId="{36EA75C8-F253-4BB1-BD5E-A1AD1E2F2EF9}" dt="2024-03-04T12:38:37.848" v="20" actId="2711"/>
          <ac:spMkLst>
            <pc:docMk/>
            <pc:sldMk cId="1211861321" sldId="356"/>
            <ac:spMk id="3" creationId="{B1232599-82A4-FF63-2206-6B85EC494C16}"/>
          </ac:spMkLst>
        </pc:spChg>
      </pc:sldChg>
      <pc:sldMasterChg chg="modSp mod">
        <pc:chgData name="Liew Pei Ling" userId="c3090c8e-0726-43ba-95b9-123e980a216d" providerId="ADAL" clId="{36EA75C8-F253-4BB1-BD5E-A1AD1E2F2EF9}" dt="2024-03-07T07:17:36.512" v="49" actId="20577"/>
        <pc:sldMasterMkLst>
          <pc:docMk/>
          <pc:sldMasterMk cId="0" sldId="2147483648"/>
        </pc:sldMasterMkLst>
        <pc:spChg chg="mod">
          <ac:chgData name="Liew Pei Ling" userId="c3090c8e-0726-43ba-95b9-123e980a216d" providerId="ADAL" clId="{36EA75C8-F253-4BB1-BD5E-A1AD1E2F2EF9}" dt="2024-03-07T07:17:36.512" v="49" actId="20577"/>
          <ac:spMkLst>
            <pc:docMk/>
            <pc:sldMasterMk cId="0" sldId="2147483648"/>
            <ac:spMk id="2" creationId="{50593481-12FE-824B-CF01-C5B3A7D8901C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E8C2EAC-1F65-E4D4-082C-3D5DBB77F5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2D9213F-13F6-DE02-D4CA-979A6C3334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C8D50CCD-8DCD-2481-7212-BC506B63FF3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6FF3221E-4C81-EC93-89DD-430EAA07F16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F0807DDC-F03B-464C-8B2D-94C11B0E678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1021708-9929-D6A0-2A3C-2A03A417BA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B113FC0-3551-DBFD-CF85-E4AFB14110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F33A60E-C371-7A9C-A0A9-8492DB7C8C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0C1CB40-F39A-D906-F705-56A3EF3A2E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0E7D657-DC28-F4FE-EC8C-59E9B4B591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ECD7BBFF-D19D-3BFF-EC59-1363CA65B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5C9A9E7-D4C6-417C-9FD1-BCA5E603CF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10856F35-FD96-471E-8797-00C8D52128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C64579C-EBB2-4067-81F4-88D7B1B8655F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184E9D2-7B0B-378A-9784-69837A6F39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59A29F6-AC43-4357-0C04-4BE7E9E66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2DD7589E-557C-1680-270B-F7BC655E8C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4F79DC6-8E84-419C-BA8B-1E107DF8CACC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DAAA1A5-8823-0274-F36A-1CD336AC99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0E3350E-61B8-3FBB-01EB-26B34860A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C) Cascading Style Sheets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By specifying the element name, followed by curly brackets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{}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containing the style properties and values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background-color: blue;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C9A9E7-D4C6-417C-9FD1-BCA5E603CF4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080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A separate CSS file linked from an HTML document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&lt;link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rel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="stylesheet" type="text/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css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"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href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="style.css"&gt;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D) Inline style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C9A9E7-D4C6-417C-9FD1-BCA5E603CF4D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3779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0012A00-A1BD-FC63-E825-279A424E26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A2BE48D-9ED0-49FF-82DC-FBA129B9A71F}" type="slidenum">
              <a:rPr lang="en-US" altLang="en-US" sz="1200" smtClean="0"/>
              <a:pPr/>
              <a:t>56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03CCD038-5B90-E41C-C72C-2DB1A7A958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2E835AF0-6C9D-6143-E2BF-01423CB77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4085A836-146C-1BAD-B1D4-A2EB7822A4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918699" y="6616700"/>
            <a:ext cx="1742017" cy="242888"/>
            <a:chOff x="4513" y="4156"/>
            <a:chExt cx="823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4D13FB8C-61DC-C927-43D0-CB8B2E63FE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3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D7E8B0F6-F13F-6D2C-06B6-E8B840725C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713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97F182D1-C8C9-C4C8-667F-C03243C202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787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457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748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933" y="1845718"/>
            <a:ext cx="5801784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8918" y="1845718"/>
            <a:ext cx="5803900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214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485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02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3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844824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844825"/>
            <a:ext cx="6815667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3019277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396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804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00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00067" y="404813"/>
            <a:ext cx="2952751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584" y="404813"/>
            <a:ext cx="8659283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3738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47898" y="2054097"/>
            <a:ext cx="3811693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2151690A-F69F-FE83-4828-A9FB07B678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342DFF56-9E68-F454-D59D-EED83A7E788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7D787B5-94A4-4630-8CF1-F09F4C0EE7C2}" type="datetimeFigureOut">
              <a:rPr lang="en-US"/>
              <a:pPr>
                <a:defRPr/>
              </a:pPr>
              <a:t>3/7/2024</a:t>
            </a:fld>
            <a:endParaRPr lang="en-US"/>
          </a:p>
        </p:txBody>
      </p:sp>
      <p:sp>
        <p:nvSpPr>
          <p:cNvPr id="7" name="Holder 7">
            <a:extLst>
              <a:ext uri="{FF2B5EF4-FFF2-40B4-BE49-F238E27FC236}">
                <a16:creationId xmlns:a16="http://schemas.microsoft.com/office/drawing/2014/main" id="{B96C67A6-A823-7A4F-DEDC-85080C86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FEE633D-4415-4307-892D-E0EA0A62EE2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905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33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F75EE615-0073-520F-754A-76FBE29A31F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4491B31C-92FD-224C-042F-ACF4DFA0F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585" y="115888"/>
            <a:ext cx="1171363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50593481-12FE-824B-CF01-C5B3A7D890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14267" y="0"/>
            <a:ext cx="3877733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Introduction </a:t>
            </a:r>
            <a:r>
              <a:rPr lang="en-GB" altLang="en-US" sz="1000">
                <a:solidFill>
                  <a:schemeClr val="bg1"/>
                </a:solidFill>
                <a:latin typeface="Gill Sans" charset="0"/>
              </a:rPr>
              <a:t>to CSS Topic </a:t>
            </a: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3</a:t>
            </a:r>
            <a:r>
              <a:rPr lang="en-GB" altLang="en-US" sz="1000">
                <a:solidFill>
                  <a:schemeClr val="bg1"/>
                </a:solidFill>
                <a:latin typeface="Gill Sans" charset="0"/>
              </a:rPr>
              <a:t> - 3.</a:t>
            </a:r>
            <a:fld id="{340D4BDC-682D-499D-972B-9341F56B5FF2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5EBE3511-8CD0-2AB3-B796-6DA43B337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4" y="1846263"/>
            <a:ext cx="11808884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2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7D25DBEC-E96A-2CBD-2049-92E6D551F6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DE76FEE6-8F3F-41E8-45EE-675E718F5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2798763"/>
            <a:ext cx="7315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3C61E10E-667F-7941-3FCB-B5373B94E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46867" y="3794125"/>
            <a:ext cx="7315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" TargetMode="External"/><Relationship Id="rId2" Type="http://schemas.openxmlformats.org/officeDocument/2006/relationships/hyperlink" Target="https://developer.mozilla.org/en-US/docs/Learn/CSS/First_steps/What_is_CS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css/css_intro.asp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F5552BBD-BDCE-F8B2-76E3-6B23F1D56A5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4367808" y="4437112"/>
            <a:ext cx="6120680" cy="1656185"/>
          </a:xfrm>
        </p:spPr>
        <p:txBody>
          <a:bodyPr/>
          <a:lstStyle/>
          <a:p>
            <a:pPr algn="ctr" eaLnBrk="1" hangingPunct="1"/>
            <a:r>
              <a:rPr lang="en-GB" altLang="en-US" sz="28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2800" b="1" i="0">
                <a:solidFill>
                  <a:schemeClr val="bg1"/>
                </a:solidFill>
                <a:latin typeface="Arial" panose="020B0604020202020204" pitchFamily="34" charset="0"/>
              </a:rPr>
              <a:t>Topic 3: </a:t>
            </a:r>
            <a:endParaRPr lang="en-GB" altLang="en-US" sz="2800" b="1" i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en-US" sz="2800" b="1" i="0" dirty="0">
                <a:solidFill>
                  <a:schemeClr val="bg1"/>
                </a:solidFill>
                <a:latin typeface="Arial" panose="020B0604020202020204" pitchFamily="34" charset="0"/>
              </a:rPr>
              <a:t>Introduction to CSS</a:t>
            </a:r>
            <a:endParaRPr lang="en-US" altLang="en-US" sz="2800" b="1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B9444793-43FE-E755-A3DC-E896BBA9A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9219" name="Rectangle 7">
            <a:extLst>
              <a:ext uri="{FF2B5EF4-FFF2-40B4-BE49-F238E27FC236}">
                <a16:creationId xmlns:a16="http://schemas.microsoft.com/office/drawing/2014/main" id="{2F5689B4-7651-C973-C121-158C90590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556792"/>
            <a:ext cx="8856663" cy="4319587"/>
          </a:xfrm>
        </p:spPr>
        <p:txBody>
          <a:bodyPr/>
          <a:lstStyle/>
          <a:p>
            <a:pPr eaLnBrk="1" hangingPunct="1"/>
            <a:r>
              <a:rPr lang="en-GB" alt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This topic will cover: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CSS Definition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CSS Syntax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CSS Class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CSS Style Sheets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CSS Background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CSS Box model</a:t>
            </a:r>
          </a:p>
          <a:p>
            <a:pPr lvl="1" eaLnBrk="1" hangingPunct="1"/>
            <a:endParaRPr lang="en-GB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7B8C9F8E-076C-E010-8FCF-C7879EF2F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F835D1CD-0D88-8737-F8CC-B8A3548C3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By the end of this topic students will be able to: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Describe the role of CSS in front end web development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Understand the syntax used in CSS coding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Explain concepts of CSS Class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Differentiate between CSS stylesheets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Identify the box structure of CSS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3371-3DB6-E845-CCEB-080031A8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Roadmap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FD64872-AB8B-372F-97B6-899200497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49437"/>
              </p:ext>
            </p:extLst>
          </p:nvPr>
        </p:nvGraphicFramePr>
        <p:xfrm>
          <a:off x="623392" y="1412776"/>
          <a:ext cx="10945216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420">
                  <a:extLst>
                    <a:ext uri="{9D8B030D-6E8A-4147-A177-3AD203B41FA5}">
                      <a16:colId xmlns:a16="http://schemas.microsoft.com/office/drawing/2014/main" val="18378162"/>
                    </a:ext>
                  </a:extLst>
                </a:gridCol>
                <a:gridCol w="3566816">
                  <a:extLst>
                    <a:ext uri="{9D8B030D-6E8A-4147-A177-3AD203B41FA5}">
                      <a16:colId xmlns:a16="http://schemas.microsoft.com/office/drawing/2014/main" val="3377387048"/>
                    </a:ext>
                  </a:extLst>
                </a:gridCol>
                <a:gridCol w="1295842">
                  <a:extLst>
                    <a:ext uri="{9D8B030D-6E8A-4147-A177-3AD203B41FA5}">
                      <a16:colId xmlns:a16="http://schemas.microsoft.com/office/drawing/2014/main" val="751228994"/>
                    </a:ext>
                  </a:extLst>
                </a:gridCol>
                <a:gridCol w="4847138">
                  <a:extLst>
                    <a:ext uri="{9D8B030D-6E8A-4147-A177-3AD203B41FA5}">
                      <a16:colId xmlns:a16="http://schemas.microsoft.com/office/drawing/2014/main" val="152595518"/>
                    </a:ext>
                  </a:extLst>
                </a:gridCol>
              </a:tblGrid>
              <a:tr h="4679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1551709"/>
                  </a:ext>
                </a:extLst>
              </a:tr>
              <a:tr h="94001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85122313"/>
                  </a:ext>
                </a:extLst>
              </a:tr>
              <a:tr h="65699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61668370"/>
                  </a:ext>
                </a:extLst>
              </a:tr>
              <a:tr h="60960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400" b="1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b="1" kern="100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I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787970438"/>
                  </a:ext>
                </a:extLst>
              </a:tr>
              <a:tr h="4679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II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301344130"/>
                  </a:ext>
                </a:extLst>
              </a:tr>
              <a:tr h="5660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  and Testing. and Collaboration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005109633"/>
                  </a:ext>
                </a:extLst>
              </a:tr>
              <a:tr h="4679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705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15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97C088-2092-CB0A-179D-0CF4B0A1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1"/>
            <a:ext cx="3548740" cy="1362075"/>
          </a:xfrm>
        </p:spPr>
        <p:txBody>
          <a:bodyPr/>
          <a:lstStyle/>
          <a:p>
            <a:r>
              <a:rPr lang="en-US" dirty="0"/>
              <a:t>CSS Basics</a:t>
            </a:r>
            <a:endParaRPr lang="en-GB" dirty="0"/>
          </a:p>
        </p:txBody>
      </p:sp>
      <p:pic>
        <p:nvPicPr>
          <p:cNvPr id="1028" name="Picture 4" descr="Free photo programming background collage">
            <a:extLst>
              <a:ext uri="{FF2B5EF4-FFF2-40B4-BE49-F238E27FC236}">
                <a16:creationId xmlns:a16="http://schemas.microsoft.com/office/drawing/2014/main" id="{F3D47B57-0741-6A3C-F18F-C47552CFA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676" y="1268760"/>
            <a:ext cx="6081323" cy="4896544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96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3D2807-03BF-B725-276B-477EB9686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332656"/>
            <a:ext cx="10945216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dirty="0">
                <a:latin typeface="Arial MT"/>
                <a:cs typeface="Arial MT"/>
              </a:rPr>
              <a:t>Cascading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Style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Sheets</a:t>
            </a:r>
            <a:r>
              <a:rPr lang="en-US" dirty="0">
                <a:latin typeface="Arial MT"/>
                <a:cs typeface="Arial MT"/>
              </a:rPr>
              <a:t> (CSS)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13315" name="object 3">
            <a:extLst>
              <a:ext uri="{FF2B5EF4-FFF2-40B4-BE49-F238E27FC236}">
                <a16:creationId xmlns:a16="http://schemas.microsoft.com/office/drawing/2014/main" id="{D7FAA73E-887B-3B08-65E3-675683866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1624660"/>
            <a:ext cx="11089232" cy="360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1600" rIns="0" bIns="0">
            <a:spAutoFit/>
          </a:bodyPr>
          <a:lstStyle>
            <a:lvl1pPr marL="331788" indent="-320675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4013" indent="-342900">
              <a:spcBef>
                <a:spcPts val="8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 key tool in web design. </a:t>
            </a:r>
          </a:p>
          <a:p>
            <a:pPr marL="354013" indent="-3429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CSS is the sister technology to HTML.</a:t>
            </a:r>
          </a:p>
          <a:p>
            <a:pPr marL="354013" indent="-3429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Helps to style web pages.</a:t>
            </a:r>
          </a:p>
          <a:p>
            <a:pPr marL="354013" indent="-3429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Control the style and layout of  multiple Web pages simultaneously.</a:t>
            </a:r>
          </a:p>
          <a:p>
            <a:pPr marL="354013" indent="-3429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CSS defines </a:t>
            </a:r>
            <a:r>
              <a:rPr lang="en-US" altLang="en-US" sz="2800" b="1" dirty="0">
                <a:ea typeface="Arial MT"/>
                <a:cs typeface="Arial" panose="020B0604020202020204" pitchFamily="34" charset="0"/>
              </a:rPr>
              <a:t>HOW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 HTML elements are to be displayed.</a:t>
            </a:r>
          </a:p>
          <a:p>
            <a:pPr marL="354013" indent="-342900">
              <a:spcBef>
                <a:spcPts val="8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Styles are normally saved in external .</a:t>
            </a:r>
            <a:r>
              <a:rPr lang="en-US" altLang="en-US" sz="2800" dirty="0" err="1">
                <a:ea typeface="Arial MT"/>
                <a:cs typeface="Arial" panose="020B0604020202020204" pitchFamily="34" charset="0"/>
              </a:rPr>
              <a:t>css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 files.</a:t>
            </a:r>
          </a:p>
          <a:p>
            <a:pPr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"/>
            </a:pPr>
            <a:endParaRPr lang="en-US" altLang="en-US" dirty="0">
              <a:latin typeface="Arial MT"/>
              <a:ea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CDE27F-7E73-956A-9649-2A66403BD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352" y="260648"/>
            <a:ext cx="8775700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dirty="0">
                <a:latin typeface="Arial MT"/>
                <a:cs typeface="Arial MT"/>
              </a:rPr>
              <a:t>CSS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Syntax</a:t>
            </a:r>
          </a:p>
        </p:txBody>
      </p:sp>
      <p:sp>
        <p:nvSpPr>
          <p:cNvPr id="14339" name="object 3">
            <a:extLst>
              <a:ext uri="{FF2B5EF4-FFF2-40B4-BE49-F238E27FC236}">
                <a16:creationId xmlns:a16="http://schemas.microsoft.com/office/drawing/2014/main" id="{6686E9E8-D9A5-206D-6A9F-49A1BDA9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88" y="1772816"/>
            <a:ext cx="11017224" cy="13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3335" rIns="0" bIns="0">
            <a:spAutoFit/>
          </a:bodyPr>
          <a:lstStyle>
            <a:lvl1pPr marL="331788" indent="-320675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1113" indent="0">
              <a:spcBef>
                <a:spcPts val="100"/>
              </a:spcBef>
              <a:buSzPct val="100000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 CSS rule has two main parts: </a:t>
            </a:r>
          </a:p>
          <a:p>
            <a:pPr marL="879475" lvl="1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 selector</a:t>
            </a:r>
          </a:p>
          <a:p>
            <a:pPr marL="879475" lvl="1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one or more declarations</a:t>
            </a:r>
          </a:p>
        </p:txBody>
      </p:sp>
      <p:pic>
        <p:nvPicPr>
          <p:cNvPr id="14340" name="object 2">
            <a:extLst>
              <a:ext uri="{FF2B5EF4-FFF2-40B4-BE49-F238E27FC236}">
                <a16:creationId xmlns:a16="http://schemas.microsoft.com/office/drawing/2014/main" id="{30C9558E-DE30-8BB5-E367-80F3E3BCB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3645024"/>
            <a:ext cx="7159268" cy="149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F0664C-7297-8821-B857-CEF610CA6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288" y="318288"/>
            <a:ext cx="7480300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dirty="0"/>
              <a:t>CSS</a:t>
            </a:r>
            <a:r>
              <a:rPr spc="-75" dirty="0"/>
              <a:t> </a:t>
            </a:r>
            <a:r>
              <a:rPr dirty="0"/>
              <a:t>Syntax</a:t>
            </a:r>
          </a:p>
        </p:txBody>
      </p:sp>
      <p:sp>
        <p:nvSpPr>
          <p:cNvPr id="15363" name="object 3">
            <a:extLst>
              <a:ext uri="{FF2B5EF4-FFF2-40B4-BE49-F238E27FC236}">
                <a16:creationId xmlns:a16="http://schemas.microsoft.com/office/drawing/2014/main" id="{6DB67D8A-AA85-B024-7659-AA0E5C62D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772816"/>
            <a:ext cx="9433422" cy="1432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7150" rIns="0" bIns="0">
            <a:spAutoFit/>
          </a:bodyPr>
          <a:lstStyle>
            <a:lvl1pPr marL="331788" indent="-320675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8313" indent="-457200" algn="just">
              <a:lnSpc>
                <a:spcPct val="90000"/>
              </a:lnSpc>
              <a:spcBef>
                <a:spcPts val="45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 CSS declaration always ends with a  semicolon.</a:t>
            </a:r>
          </a:p>
          <a:p>
            <a:pPr marL="468313" indent="-457200" algn="just">
              <a:lnSpc>
                <a:spcPct val="90000"/>
              </a:lnSpc>
              <a:spcBef>
                <a:spcPts val="45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Declaration groups are surrounded by curly brackets. </a:t>
            </a:r>
          </a:p>
          <a:p>
            <a:pPr>
              <a:spcBef>
                <a:spcPts val="38"/>
              </a:spcBef>
              <a:buClr>
                <a:srgbClr val="DD8046"/>
              </a:buClr>
              <a:buFont typeface="Wingdings" panose="05000000000000000000" pitchFamily="2" charset="2"/>
              <a:buChar char=""/>
            </a:pPr>
            <a:endParaRPr lang="en-US" altLang="en-US" sz="3300" dirty="0">
              <a:latin typeface="Arial MT"/>
              <a:ea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26C35-6E2A-21F6-FC63-4B6502CCA4BF}"/>
              </a:ext>
            </a:extLst>
          </p:cNvPr>
          <p:cNvSpPr txBox="1"/>
          <p:nvPr/>
        </p:nvSpPr>
        <p:spPr>
          <a:xfrm>
            <a:off x="3719736" y="3068960"/>
            <a:ext cx="4391818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p {</a:t>
            </a:r>
          </a:p>
          <a:p>
            <a:pPr>
              <a:defRPr/>
            </a:pPr>
            <a:r>
              <a:rPr lang="en-GB" dirty="0" err="1"/>
              <a:t>color:red</a:t>
            </a:r>
            <a:r>
              <a:rPr lang="en-GB" dirty="0"/>
              <a:t>;</a:t>
            </a:r>
          </a:p>
          <a:p>
            <a:pPr>
              <a:defRPr/>
            </a:pPr>
            <a:r>
              <a:rPr lang="en-GB" dirty="0" err="1"/>
              <a:t>text-align:center</a:t>
            </a:r>
            <a:r>
              <a:rPr lang="en-GB" dirty="0"/>
              <a:t>;</a:t>
            </a:r>
          </a:p>
          <a:p>
            <a:pPr>
              <a:defRPr/>
            </a:pPr>
            <a:r>
              <a:rPr lang="en-GB" dirty="0"/>
              <a:t>}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4063F5-1E71-21C3-BF6B-A02132A229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94471"/>
            <a:ext cx="8128000" cy="750888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dirty="0"/>
              <a:t>CSS</a:t>
            </a:r>
            <a:r>
              <a:rPr sz="4800" spc="-75" dirty="0"/>
              <a:t> </a:t>
            </a:r>
            <a:r>
              <a:rPr sz="4800" dirty="0"/>
              <a:t>Comment</a:t>
            </a:r>
          </a:p>
        </p:txBody>
      </p:sp>
      <p:sp>
        <p:nvSpPr>
          <p:cNvPr id="16387" name="object 3">
            <a:extLst>
              <a:ext uri="{FF2B5EF4-FFF2-40B4-BE49-F238E27FC236}">
                <a16:creationId xmlns:a16="http://schemas.microsoft.com/office/drawing/2014/main" id="{0B67F649-4C57-E0E6-7970-07F4689CC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1575287"/>
            <a:ext cx="10513168" cy="185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34925" rIns="0" bIns="0">
            <a:spAutoFit/>
          </a:bodyPr>
          <a:lstStyle>
            <a:lvl1pPr marL="331788" indent="-320675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4013" indent="-342900">
              <a:spcBef>
                <a:spcPts val="275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Comments are used to explain the code.</a:t>
            </a:r>
          </a:p>
          <a:p>
            <a:pPr marL="354013" indent="-342900">
              <a:spcBef>
                <a:spcPts val="175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Comments are ignored by browsers.</a:t>
            </a:r>
          </a:p>
          <a:p>
            <a:pPr marL="354013" indent="-342900">
              <a:spcBef>
                <a:spcPts val="175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 CSS comment begins with /* and ends with */, for example:</a:t>
            </a:r>
          </a:p>
          <a:p>
            <a:pPr>
              <a:spcBef>
                <a:spcPts val="50"/>
              </a:spcBef>
            </a:pPr>
            <a:endParaRPr lang="en-US" altLang="en-US" sz="3000" dirty="0">
              <a:latin typeface="Arial MT"/>
              <a:ea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3E0F7-7BBA-D0AA-F768-E6E42034E5E3}"/>
              </a:ext>
            </a:extLst>
          </p:cNvPr>
          <p:cNvSpPr txBox="1"/>
          <p:nvPr/>
        </p:nvSpPr>
        <p:spPr>
          <a:xfrm>
            <a:off x="3853707" y="3212976"/>
            <a:ext cx="4465637" cy="2554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B050"/>
                </a:solidFill>
              </a:rPr>
              <a:t>/*This is a comment*/  </a:t>
            </a:r>
          </a:p>
          <a:p>
            <a:pPr>
              <a:defRPr/>
            </a:pPr>
            <a:r>
              <a:rPr lang="en-US" sz="2000" dirty="0"/>
              <a:t>p {</a:t>
            </a:r>
          </a:p>
          <a:p>
            <a:pPr>
              <a:defRPr/>
            </a:pPr>
            <a:r>
              <a:rPr lang="en-US" sz="2000" dirty="0" err="1"/>
              <a:t>text-align:center</a:t>
            </a:r>
            <a:r>
              <a:rPr lang="en-US" sz="2000" dirty="0"/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B050"/>
                </a:solidFill>
              </a:rPr>
              <a:t>/*This is another comment*/  </a:t>
            </a:r>
            <a:r>
              <a:rPr lang="en-US" sz="2000" dirty="0" err="1"/>
              <a:t>color:black</a:t>
            </a:r>
            <a:r>
              <a:rPr lang="en-US" sz="2000" dirty="0"/>
              <a:t>;</a:t>
            </a:r>
          </a:p>
          <a:p>
            <a:pPr>
              <a:defRPr/>
            </a:pPr>
            <a:r>
              <a:rPr lang="en-US" sz="2000" dirty="0" err="1"/>
              <a:t>font-family:arial</a:t>
            </a:r>
            <a:r>
              <a:rPr lang="en-US" sz="2000" dirty="0"/>
              <a:t>;</a:t>
            </a:r>
          </a:p>
          <a:p>
            <a:pPr>
              <a:defRPr/>
            </a:pPr>
            <a:r>
              <a:rPr lang="en-US" sz="2000" dirty="0"/>
              <a:t>}</a:t>
            </a:r>
          </a:p>
          <a:p>
            <a:pPr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B1D5FB-5A86-B47F-BD49-F2F7C3414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332656"/>
            <a:ext cx="8272463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dirty="0"/>
              <a:t>CSS</a:t>
            </a:r>
            <a:r>
              <a:rPr spc="-25" dirty="0"/>
              <a:t> </a:t>
            </a:r>
            <a:r>
              <a:rPr dirty="0"/>
              <a:t>id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class</a:t>
            </a:r>
          </a:p>
        </p:txBody>
      </p:sp>
      <p:sp>
        <p:nvSpPr>
          <p:cNvPr id="17411" name="object 3">
            <a:extLst>
              <a:ext uri="{FF2B5EF4-FFF2-40B4-BE49-F238E27FC236}">
                <a16:creationId xmlns:a16="http://schemas.microsoft.com/office/drawing/2014/main" id="{55256EF4-3E71-2A14-4F40-319279283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24" y="1421606"/>
            <a:ext cx="11008976" cy="2744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4615" rIns="0" bIns="0">
            <a:spAutoFit/>
          </a:bodyPr>
          <a:lstStyle>
            <a:lvl1pPr marL="331788" indent="-320675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8313" indent="-457200">
              <a:lnSpc>
                <a:spcPct val="80000"/>
              </a:lnSpc>
              <a:spcBef>
                <a:spcPts val="75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The id selector is used to specify a style for a single, unique element.</a:t>
            </a:r>
          </a:p>
          <a:p>
            <a:pPr marL="468313" indent="-457200">
              <a:lnSpc>
                <a:spcPts val="2588"/>
              </a:lnSpc>
              <a:spcBef>
                <a:spcPts val="675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The id selector uses the id attribute of the HTML element, and is defined with a "#".</a:t>
            </a:r>
          </a:p>
          <a:p>
            <a:pPr marL="468313" indent="-457200">
              <a:lnSpc>
                <a:spcPts val="2588"/>
              </a:lnSpc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The style rule below will be applied to the element  with id="para1":</a:t>
            </a:r>
          </a:p>
          <a:p>
            <a:pPr>
              <a:spcBef>
                <a:spcPts val="38"/>
              </a:spcBef>
            </a:pPr>
            <a:endParaRPr lang="en-US" altLang="en-US" sz="2900" dirty="0">
              <a:latin typeface="Arial MT"/>
              <a:ea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62FDB-8BDD-9C50-43AA-52CF6D3D20B4}"/>
              </a:ext>
            </a:extLst>
          </p:cNvPr>
          <p:cNvSpPr txBox="1"/>
          <p:nvPr/>
        </p:nvSpPr>
        <p:spPr>
          <a:xfrm>
            <a:off x="4335464" y="4076700"/>
            <a:ext cx="4033837" cy="1873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lnSpc>
                <a:spcPts val="2913"/>
              </a:lnSpc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#para1</a:t>
            </a:r>
          </a:p>
          <a:p>
            <a:pPr>
              <a:lnSpc>
                <a:spcPts val="2588"/>
              </a:lnSpc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{</a:t>
            </a:r>
          </a:p>
          <a:p>
            <a:pPr>
              <a:lnSpc>
                <a:spcPts val="2588"/>
              </a:lnSpc>
              <a:spcBef>
                <a:spcPts val="300"/>
              </a:spcBef>
              <a:defRPr/>
            </a:pPr>
            <a:r>
              <a:rPr lang="en-US" altLang="en-US" dirty="0" err="1">
                <a:latin typeface="Arial MT"/>
                <a:ea typeface="Arial MT"/>
                <a:cs typeface="Arial MT"/>
              </a:rPr>
              <a:t>text-align:center</a:t>
            </a:r>
            <a:r>
              <a:rPr lang="en-US" altLang="en-US" dirty="0">
                <a:latin typeface="Arial MT"/>
                <a:ea typeface="Arial MT"/>
                <a:cs typeface="Arial MT"/>
              </a:rPr>
              <a:t>;  </a:t>
            </a:r>
            <a:r>
              <a:rPr lang="en-US" altLang="en-US" dirty="0" err="1">
                <a:latin typeface="Arial MT"/>
                <a:ea typeface="Arial MT"/>
                <a:cs typeface="Arial MT"/>
              </a:rPr>
              <a:t>color:red</a:t>
            </a:r>
            <a:r>
              <a:rPr lang="en-US" altLang="en-US" dirty="0">
                <a:latin typeface="Arial MT"/>
                <a:ea typeface="Arial MT"/>
                <a:cs typeface="Arial MT"/>
              </a:rPr>
              <a:t>;</a:t>
            </a:r>
          </a:p>
          <a:p>
            <a:pPr>
              <a:lnSpc>
                <a:spcPts val="2625"/>
              </a:lnSpc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}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3AB605-4AFE-AA2A-D902-6ADAB32C7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332656"/>
            <a:ext cx="8201025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dirty="0"/>
              <a:t>Class</a:t>
            </a:r>
            <a:r>
              <a:rPr spc="-80" dirty="0"/>
              <a:t> </a:t>
            </a:r>
            <a:r>
              <a:rPr lang="en-US" spc="-80" dirty="0"/>
              <a:t>S</a:t>
            </a:r>
            <a:r>
              <a:rPr dirty="0"/>
              <a:t>elector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AC8A87-D6A5-1AEE-9738-367ED4901583}"/>
              </a:ext>
            </a:extLst>
          </p:cNvPr>
          <p:cNvSpPr txBox="1"/>
          <p:nvPr/>
        </p:nvSpPr>
        <p:spPr>
          <a:xfrm>
            <a:off x="146339" y="1484784"/>
            <a:ext cx="11899322" cy="4268476"/>
          </a:xfrm>
          <a:prstGeom prst="rect">
            <a:avLst/>
          </a:prstGeom>
        </p:spPr>
        <p:txBody>
          <a:bodyPr wrap="square" lIns="0" tIns="94615" rIns="0" bIns="0">
            <a:spAutoFit/>
          </a:bodyPr>
          <a:lstStyle>
            <a:lvl1pPr marL="331788" indent="-320675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4013" indent="-342900">
              <a:lnSpc>
                <a:spcPct val="80000"/>
              </a:lnSpc>
              <a:spcBef>
                <a:spcPts val="75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Specifies a style for a group of elements. </a:t>
            </a:r>
          </a:p>
          <a:p>
            <a:pPr marL="354013" indent="-342900">
              <a:lnSpc>
                <a:spcPct val="80000"/>
              </a:lnSpc>
              <a:spcBef>
                <a:spcPts val="75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It is used on several elements.</a:t>
            </a:r>
          </a:p>
          <a:p>
            <a:pPr marL="354013" indent="-342900">
              <a:lnSpc>
                <a:spcPct val="80000"/>
              </a:lnSpc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 particular style can be set for multiple HTML elements with the same class.</a:t>
            </a:r>
          </a:p>
          <a:p>
            <a:pPr marL="354013" indent="-342900">
              <a:lnSpc>
                <a:spcPts val="2588"/>
              </a:lnSpc>
              <a:spcBef>
                <a:spcPts val="675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Class selector uses the HTML class attribute, and is defined with a "." </a:t>
            </a:r>
          </a:p>
          <a:p>
            <a:pPr marL="11113" indent="0">
              <a:lnSpc>
                <a:spcPct val="80000"/>
              </a:lnSpc>
              <a:spcBef>
                <a:spcPts val="738"/>
              </a:spcBef>
              <a:buClr>
                <a:srgbClr val="DD8046"/>
              </a:buClr>
              <a:buSzPct val="59000"/>
              <a:defRPr/>
            </a:pPr>
            <a:r>
              <a:rPr lang="en-US" altLang="en-US" b="1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    </a:t>
            </a:r>
            <a:r>
              <a:rPr lang="en-US" altLang="en-US" sz="2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Example 1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: all HTML elements with class="center“ will be center-aligned:</a:t>
            </a:r>
          </a:p>
          <a:p>
            <a:pPr algn="ctr">
              <a:spcBef>
                <a:spcPts val="50"/>
              </a:spcBef>
              <a:defRPr/>
            </a:pPr>
            <a:r>
              <a:rPr lang="en-US" altLang="en-US" sz="2200" dirty="0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.center {</a:t>
            </a:r>
            <a:r>
              <a:rPr lang="en-US" altLang="en-US" sz="2200" dirty="0" err="1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text-align:center</a:t>
            </a:r>
            <a:r>
              <a:rPr lang="en-US" altLang="en-US" sz="2200" dirty="0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;}</a:t>
            </a:r>
          </a:p>
          <a:p>
            <a:pPr marL="354013" indent="-3429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 specific set of HTML elements should be affected by a class.</a:t>
            </a:r>
          </a:p>
          <a:p>
            <a:pPr marL="11113" indent="0">
              <a:spcBef>
                <a:spcPts val="7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   Example 2: 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all p elements with  class="center" will be center-aligned: </a:t>
            </a:r>
          </a:p>
          <a:p>
            <a:pPr marL="11113" indent="0" algn="ctr">
              <a:spcBef>
                <a:spcPts val="7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200" dirty="0" err="1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p.center</a:t>
            </a:r>
            <a:r>
              <a:rPr lang="en-US" altLang="en-US" sz="2200" dirty="0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 {</a:t>
            </a:r>
            <a:r>
              <a:rPr lang="en-US" altLang="en-US" sz="2200" dirty="0" err="1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text-align:center</a:t>
            </a:r>
            <a:r>
              <a:rPr lang="en-US" altLang="en-US" sz="2200" dirty="0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;}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CC49-85B5-C714-70B2-53E28DFF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- 1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D88E56-4116-40B4-79CD-B17E2A7B7A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9183" y="1258888"/>
            <a:ext cx="11713633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What does CSS stand for?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Computer Style Sheets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Creative Style System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Cascading Style Sheets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Coding Style Sheets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How is a CSS style defined for an HTML element?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By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style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attribute inside the HTML element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By specifying the element name, followed by curly brackets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{}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containing the style properties and values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By including the element's ID or class in the HTML content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All of the above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Which of the following is the correct syntax for setting the background color of an element in CSS?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background-color: blue;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bgcolor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: blue;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color-background: blue;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set-background: blue;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72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90D233-7F63-C4E1-C564-12127E6C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4509120"/>
            <a:ext cx="5420948" cy="1362075"/>
          </a:xfrm>
        </p:spPr>
        <p:txBody>
          <a:bodyPr/>
          <a:lstStyle/>
          <a:p>
            <a:r>
              <a:rPr lang="en-US" dirty="0"/>
              <a:t>Ways to insert style sheets</a:t>
            </a:r>
            <a:endParaRPr lang="en-GB" dirty="0"/>
          </a:p>
        </p:txBody>
      </p:sp>
      <p:pic>
        <p:nvPicPr>
          <p:cNvPr id="7170" name="Picture 2" descr="Free photo programming background collage">
            <a:extLst>
              <a:ext uri="{FF2B5EF4-FFF2-40B4-BE49-F238E27FC236}">
                <a16:creationId xmlns:a16="http://schemas.microsoft.com/office/drawing/2014/main" id="{2892F2FE-2807-6112-60BE-48AF5937D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268760"/>
            <a:ext cx="6312024" cy="4896544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502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DE62D5-B711-5433-DECC-0E7703073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332656"/>
            <a:ext cx="7840663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dirty="0"/>
              <a:t>How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Insert</a:t>
            </a:r>
            <a:r>
              <a:rPr spc="-25" dirty="0"/>
              <a:t> </a:t>
            </a:r>
            <a:r>
              <a:rPr dirty="0"/>
              <a:t>CSS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541C021-619A-D2A9-1D1A-00C442A01CF8}"/>
              </a:ext>
            </a:extLst>
          </p:cNvPr>
          <p:cNvSpPr txBox="1"/>
          <p:nvPr/>
        </p:nvSpPr>
        <p:spPr>
          <a:xfrm>
            <a:off x="479376" y="1628800"/>
            <a:ext cx="9145016" cy="2157001"/>
          </a:xfrm>
          <a:prstGeom prst="rect">
            <a:avLst/>
          </a:prstGeom>
        </p:spPr>
        <p:txBody>
          <a:bodyPr wrap="square" lIns="0" tIns="101600" rIns="0" bIns="0">
            <a:spAutoFit/>
          </a:bodyPr>
          <a:lstStyle/>
          <a:p>
            <a:pPr marL="12700">
              <a:spcBef>
                <a:spcPts val="800"/>
              </a:spcBef>
              <a:defRPr/>
            </a:pPr>
            <a:r>
              <a:rPr sz="2900" b="1" dirty="0">
                <a:cs typeface="Arial" panose="020B0604020202020204" pitchFamily="34" charset="0"/>
              </a:rPr>
              <a:t>Three</a:t>
            </a:r>
            <a:r>
              <a:rPr sz="2900" b="1" spc="-35" dirty="0">
                <a:cs typeface="Arial" panose="020B0604020202020204" pitchFamily="34" charset="0"/>
              </a:rPr>
              <a:t> </a:t>
            </a:r>
            <a:r>
              <a:rPr sz="2900" b="1" spc="-40" dirty="0">
                <a:cs typeface="Arial" panose="020B0604020202020204" pitchFamily="34" charset="0"/>
              </a:rPr>
              <a:t>Ways</a:t>
            </a:r>
            <a:r>
              <a:rPr sz="2900" b="1" spc="15" dirty="0">
                <a:cs typeface="Arial" panose="020B0604020202020204" pitchFamily="34" charset="0"/>
              </a:rPr>
              <a:t> </a:t>
            </a:r>
            <a:r>
              <a:rPr sz="2900" b="1" dirty="0">
                <a:cs typeface="Arial" panose="020B0604020202020204" pitchFamily="34" charset="0"/>
              </a:rPr>
              <a:t>to</a:t>
            </a:r>
            <a:r>
              <a:rPr sz="2900" b="1" spc="-20" dirty="0">
                <a:cs typeface="Arial" panose="020B0604020202020204" pitchFamily="34" charset="0"/>
              </a:rPr>
              <a:t> </a:t>
            </a:r>
            <a:r>
              <a:rPr sz="2900" b="1" dirty="0">
                <a:cs typeface="Arial" panose="020B0604020202020204" pitchFamily="34" charset="0"/>
              </a:rPr>
              <a:t>Insert</a:t>
            </a:r>
            <a:r>
              <a:rPr sz="2900" b="1" spc="-40" dirty="0">
                <a:cs typeface="Arial" panose="020B0604020202020204" pitchFamily="34" charset="0"/>
              </a:rPr>
              <a:t> </a:t>
            </a:r>
            <a:r>
              <a:rPr sz="2900" b="1" dirty="0">
                <a:cs typeface="Arial" panose="020B0604020202020204" pitchFamily="34" charset="0"/>
              </a:rPr>
              <a:t>CSS</a:t>
            </a:r>
            <a:r>
              <a:rPr lang="en-US" sz="2900" b="1" dirty="0">
                <a:cs typeface="Arial" panose="020B0604020202020204" pitchFamily="34" charset="0"/>
              </a:rPr>
              <a:t> style sheet:</a:t>
            </a:r>
            <a:endParaRPr sz="2900" dirty="0">
              <a:cs typeface="Arial" panose="020B0604020202020204" pitchFamily="34" charset="0"/>
            </a:endParaRPr>
          </a:p>
          <a:p>
            <a:pPr marL="926465" lvl="1" indent="-457200">
              <a:spcBef>
                <a:spcPts val="705"/>
              </a:spcBef>
              <a:buSzPct val="100000"/>
              <a:buFont typeface="Arial" panose="020B0604020202020204" pitchFamily="34" charset="0"/>
              <a:buChar char="•"/>
              <a:tabLst>
                <a:tab pos="333375" algn="l"/>
              </a:tabLst>
              <a:defRPr/>
            </a:pPr>
            <a:r>
              <a:rPr sz="2900" dirty="0">
                <a:cs typeface="Arial" panose="020B0604020202020204" pitchFamily="34" charset="0"/>
              </a:rPr>
              <a:t>External</a:t>
            </a:r>
            <a:r>
              <a:rPr sz="2900" spc="-55" dirty="0">
                <a:cs typeface="Arial" panose="020B0604020202020204" pitchFamily="34" charset="0"/>
              </a:rPr>
              <a:t> </a:t>
            </a:r>
            <a:r>
              <a:rPr sz="2900" dirty="0">
                <a:cs typeface="Arial" panose="020B0604020202020204" pitchFamily="34" charset="0"/>
              </a:rPr>
              <a:t>style</a:t>
            </a:r>
            <a:r>
              <a:rPr sz="2900" spc="-30" dirty="0">
                <a:cs typeface="Arial" panose="020B0604020202020204" pitchFamily="34" charset="0"/>
              </a:rPr>
              <a:t> </a:t>
            </a:r>
            <a:r>
              <a:rPr sz="2900" dirty="0">
                <a:cs typeface="Arial" panose="020B0604020202020204" pitchFamily="34" charset="0"/>
              </a:rPr>
              <a:t>sheet</a:t>
            </a:r>
          </a:p>
          <a:p>
            <a:pPr marL="926465" lvl="1" indent="-457200">
              <a:spcBef>
                <a:spcPts val="695"/>
              </a:spcBef>
              <a:buSzPct val="100000"/>
              <a:buFont typeface="Arial" panose="020B0604020202020204" pitchFamily="34" charset="0"/>
              <a:buChar char="•"/>
              <a:tabLst>
                <a:tab pos="333375" algn="l"/>
              </a:tabLst>
              <a:defRPr/>
            </a:pPr>
            <a:r>
              <a:rPr sz="2900" dirty="0">
                <a:cs typeface="Arial" panose="020B0604020202020204" pitchFamily="34" charset="0"/>
              </a:rPr>
              <a:t>Internal</a:t>
            </a:r>
            <a:r>
              <a:rPr sz="2900" spc="-55" dirty="0">
                <a:cs typeface="Arial" panose="020B0604020202020204" pitchFamily="34" charset="0"/>
              </a:rPr>
              <a:t> </a:t>
            </a:r>
            <a:r>
              <a:rPr sz="2900" dirty="0">
                <a:cs typeface="Arial" panose="020B0604020202020204" pitchFamily="34" charset="0"/>
              </a:rPr>
              <a:t>style</a:t>
            </a:r>
            <a:r>
              <a:rPr sz="2900" spc="-40" dirty="0">
                <a:cs typeface="Arial" panose="020B0604020202020204" pitchFamily="34" charset="0"/>
              </a:rPr>
              <a:t> </a:t>
            </a:r>
            <a:r>
              <a:rPr sz="2900" dirty="0">
                <a:cs typeface="Arial" panose="020B0604020202020204" pitchFamily="34" charset="0"/>
              </a:rPr>
              <a:t>sheet</a:t>
            </a:r>
          </a:p>
          <a:p>
            <a:pPr marL="926465" lvl="1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  <a:tabLst>
                <a:tab pos="333375" algn="l"/>
              </a:tabLst>
              <a:defRPr/>
            </a:pPr>
            <a:r>
              <a:rPr sz="2900" dirty="0">
                <a:cs typeface="Arial" panose="020B0604020202020204" pitchFamily="34" charset="0"/>
              </a:rPr>
              <a:t>Inline</a:t>
            </a:r>
            <a:r>
              <a:rPr sz="2900" spc="-60" dirty="0">
                <a:cs typeface="Arial" panose="020B0604020202020204" pitchFamily="34" charset="0"/>
              </a:rPr>
              <a:t> </a:t>
            </a:r>
            <a:r>
              <a:rPr sz="2900" dirty="0">
                <a:cs typeface="Arial" panose="020B0604020202020204" pitchFamily="34" charset="0"/>
              </a:rPr>
              <a:t>style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2107CD-DBC1-C3F6-9534-16C9A2BAB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376" y="285533"/>
            <a:ext cx="7839075" cy="752475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dirty="0"/>
              <a:t>External</a:t>
            </a:r>
            <a:r>
              <a:rPr sz="4800" spc="-35" dirty="0"/>
              <a:t> </a:t>
            </a:r>
            <a:r>
              <a:rPr sz="4800" dirty="0"/>
              <a:t>Style</a:t>
            </a:r>
            <a:r>
              <a:rPr sz="4800" spc="-30" dirty="0"/>
              <a:t> </a:t>
            </a:r>
            <a:r>
              <a:rPr sz="4800" dirty="0"/>
              <a:t>Sheet</a:t>
            </a:r>
          </a:p>
        </p:txBody>
      </p:sp>
      <p:sp>
        <p:nvSpPr>
          <p:cNvPr id="20483" name="object 3">
            <a:extLst>
              <a:ext uri="{FF2B5EF4-FFF2-40B4-BE49-F238E27FC236}">
                <a16:creationId xmlns:a16="http://schemas.microsoft.com/office/drawing/2014/main" id="{34889209-D7D7-349D-07BA-C40DD08F6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517113"/>
            <a:ext cx="11377264" cy="159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4615" rIns="0" bIns="0">
            <a:spAutoFit/>
          </a:bodyPr>
          <a:lstStyle>
            <a:lvl1pPr marL="331788" indent="-320675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8313" indent="-457200">
              <a:lnSpc>
                <a:spcPct val="80000"/>
              </a:lnSpc>
              <a:spcBef>
                <a:spcPts val="75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An external style sheet is used when the style is  to be applied to multiple pages.</a:t>
            </a:r>
          </a:p>
          <a:p>
            <a:pPr marL="468313" indent="-457200">
              <a:lnSpc>
                <a:spcPts val="2588"/>
              </a:lnSpc>
              <a:spcBef>
                <a:spcPts val="675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Changes in one file reflects on multiple sheets.</a:t>
            </a:r>
          </a:p>
          <a:p>
            <a:pPr marL="468313" indent="-457200">
              <a:lnSpc>
                <a:spcPts val="2913"/>
              </a:lnSpc>
              <a:spcBef>
                <a:spcPts val="75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&lt;link&gt; 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tag is used to link webpages to the style sheet.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EDF7E-6C3E-D31D-2C9A-E9F92ECAEBD9}"/>
              </a:ext>
            </a:extLst>
          </p:cNvPr>
          <p:cNvSpPr txBox="1"/>
          <p:nvPr/>
        </p:nvSpPr>
        <p:spPr>
          <a:xfrm>
            <a:off x="3431704" y="3543837"/>
            <a:ext cx="4608512" cy="1797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913"/>
              </a:lnSpc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&lt;head&gt;</a:t>
            </a:r>
          </a:p>
          <a:p>
            <a:pPr>
              <a:lnSpc>
                <a:spcPts val="2588"/>
              </a:lnSpc>
              <a:spcBef>
                <a:spcPts val="300"/>
              </a:spcBef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&lt;link </a:t>
            </a:r>
            <a:r>
              <a:rPr lang="en-US" altLang="en-US" sz="2000" dirty="0" err="1">
                <a:latin typeface="Arial MT"/>
                <a:ea typeface="Arial MT"/>
                <a:cs typeface="Arial MT"/>
              </a:rPr>
              <a:t>rel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="stylesheet" type="text/</a:t>
            </a:r>
            <a:r>
              <a:rPr lang="en-US" altLang="en-US" sz="2000" dirty="0" err="1">
                <a:latin typeface="Arial MT"/>
                <a:ea typeface="Arial MT"/>
                <a:cs typeface="Arial MT"/>
              </a:rPr>
              <a:t>css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"                                          </a:t>
            </a:r>
            <a:r>
              <a:rPr lang="en-US" altLang="en-US" sz="2000" dirty="0" err="1">
                <a:latin typeface="Arial MT"/>
                <a:ea typeface="Arial MT"/>
                <a:cs typeface="Arial MT"/>
              </a:rPr>
              <a:t>href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=“samplestyle.css"&gt;</a:t>
            </a:r>
          </a:p>
          <a:p>
            <a:pPr>
              <a:spcBef>
                <a:spcPts val="75"/>
              </a:spcBef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&lt;/head&gt;</a:t>
            </a:r>
          </a:p>
          <a:p>
            <a:pPr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bject 2">
            <a:extLst>
              <a:ext uri="{FF2B5EF4-FFF2-40B4-BE49-F238E27FC236}">
                <a16:creationId xmlns:a16="http://schemas.microsoft.com/office/drawing/2014/main" id="{47ED30C9-1E59-8B4A-263B-C9B847611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617661"/>
            <a:ext cx="10441160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62230" rIns="0" bIns="0">
            <a:spAutoFit/>
          </a:bodyPr>
          <a:lstStyle>
            <a:lvl1pPr marL="331788" indent="-320675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8313" indent="-457200">
              <a:lnSpc>
                <a:spcPts val="3138"/>
              </a:lnSpc>
              <a:spcBef>
                <a:spcPts val="4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900" dirty="0">
                <a:ea typeface="Arial MT"/>
                <a:cs typeface="Arial" panose="020B0604020202020204" pitchFamily="34" charset="0"/>
              </a:rPr>
              <a:t>Any text editor can be used e.g. Notepad++.</a:t>
            </a:r>
          </a:p>
          <a:p>
            <a:pPr marL="468313" indent="-457200">
              <a:lnSpc>
                <a:spcPts val="3125"/>
              </a:lnSpc>
              <a:spcBef>
                <a:spcPts val="6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900" dirty="0">
                <a:ea typeface="Arial MT"/>
                <a:cs typeface="Arial" panose="020B0604020202020204" pitchFamily="34" charset="0"/>
              </a:rPr>
              <a:t>No html tags allowed.</a:t>
            </a:r>
          </a:p>
          <a:p>
            <a:pPr marL="468313" indent="-457200">
              <a:lnSpc>
                <a:spcPts val="3125"/>
              </a:lnSpc>
              <a:spcBef>
                <a:spcPts val="6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900" dirty="0">
                <a:ea typeface="Arial MT"/>
                <a:cs typeface="Arial" panose="020B0604020202020204" pitchFamily="34" charset="0"/>
              </a:rPr>
              <a:t>File is saved with a </a:t>
            </a:r>
            <a:r>
              <a:rPr lang="en-US" altLang="en-US" sz="29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</a:t>
            </a:r>
            <a:r>
              <a:rPr lang="en-US" altLang="en-US" sz="29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css</a:t>
            </a:r>
            <a:r>
              <a:rPr lang="en-US" altLang="en-US" sz="29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</a:t>
            </a:r>
            <a:r>
              <a:rPr lang="en-US" altLang="en-US" sz="2900" dirty="0">
                <a:ea typeface="Arial MT"/>
                <a:cs typeface="Arial" panose="020B0604020202020204" pitchFamily="34" charset="0"/>
              </a:rPr>
              <a:t>extension.</a:t>
            </a:r>
          </a:p>
          <a:p>
            <a:pPr marL="468313" indent="-457200">
              <a:spcBef>
                <a:spcPts val="38"/>
              </a:spcBef>
              <a:buFont typeface="Arial" panose="020B0604020202020204" pitchFamily="34" charset="0"/>
              <a:buChar char="•"/>
            </a:pPr>
            <a:endParaRPr lang="en-US" altLang="en-US" sz="2900" dirty="0">
              <a:latin typeface="Arial MT"/>
              <a:ea typeface="Arial MT"/>
              <a:cs typeface="Arial MT"/>
            </a:endParaRPr>
          </a:p>
          <a:p>
            <a:pPr marL="11113" indent="0">
              <a:spcBef>
                <a:spcPts val="38"/>
              </a:spcBef>
            </a:pPr>
            <a:r>
              <a:rPr lang="en-US" altLang="en-US" sz="2900" b="1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         Example:</a:t>
            </a:r>
            <a:endParaRPr lang="en-US" altLang="en-US" sz="3600" b="1" dirty="0">
              <a:solidFill>
                <a:schemeClr val="accent2"/>
              </a:solidFill>
              <a:latin typeface="Arial MT"/>
              <a:ea typeface="Arial MT"/>
              <a:cs typeface="Arial MT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7B16C6E-C21B-0545-A02B-9CEE85F68C8A}"/>
              </a:ext>
            </a:extLst>
          </p:cNvPr>
          <p:cNvSpPr txBox="1">
            <a:spLocks/>
          </p:cNvSpPr>
          <p:nvPr/>
        </p:nvSpPr>
        <p:spPr>
          <a:xfrm>
            <a:off x="335360" y="264781"/>
            <a:ext cx="7839075" cy="752475"/>
          </a:xfrm>
          <a:prstGeom prst="rect">
            <a:avLst/>
          </a:prstGeom>
        </p:spPr>
        <p:txBody>
          <a:bodyPr lIns="0" tIns="13335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12700">
              <a:spcBef>
                <a:spcPts val="105"/>
              </a:spcBef>
              <a:defRPr/>
            </a:pPr>
            <a:r>
              <a:rPr lang="en-GB" sz="4800" kern="0" dirty="0"/>
              <a:t>External</a:t>
            </a:r>
            <a:r>
              <a:rPr lang="en-GB" sz="4800" kern="0" spc="-35" dirty="0"/>
              <a:t> </a:t>
            </a:r>
            <a:r>
              <a:rPr lang="en-GB" sz="4800" kern="0" dirty="0"/>
              <a:t>Style</a:t>
            </a:r>
            <a:r>
              <a:rPr lang="en-GB" sz="4800" kern="0" spc="-30" dirty="0"/>
              <a:t> </a:t>
            </a:r>
            <a:r>
              <a:rPr lang="en-GB" sz="4800" kern="0" dirty="0"/>
              <a:t>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A5686-2219-032D-57DC-4EB94BE2DD05}"/>
              </a:ext>
            </a:extLst>
          </p:cNvPr>
          <p:cNvSpPr txBox="1"/>
          <p:nvPr/>
        </p:nvSpPr>
        <p:spPr>
          <a:xfrm>
            <a:off x="3443897" y="3516712"/>
            <a:ext cx="6624736" cy="1669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313"/>
              </a:lnSpc>
              <a:defRPr/>
            </a:pPr>
            <a:r>
              <a:rPr lang="en-US" altLang="en-US" sz="2000" dirty="0" err="1">
                <a:latin typeface="Arial MT"/>
                <a:ea typeface="Arial MT"/>
                <a:cs typeface="Arial MT"/>
              </a:rPr>
              <a:t>hr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 {</a:t>
            </a:r>
            <a:r>
              <a:rPr lang="en-US" altLang="en-US" sz="2000" dirty="0" err="1">
                <a:latin typeface="Arial MT"/>
                <a:ea typeface="Arial MT"/>
                <a:cs typeface="Arial MT"/>
              </a:rPr>
              <a:t>color:sienna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;}</a:t>
            </a:r>
          </a:p>
          <a:p>
            <a:pPr>
              <a:lnSpc>
                <a:spcPts val="3125"/>
              </a:lnSpc>
              <a:spcBef>
                <a:spcPts val="225"/>
              </a:spcBef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p {margin-left:20px;}  </a:t>
            </a:r>
          </a:p>
          <a:p>
            <a:pPr>
              <a:lnSpc>
                <a:spcPts val="3125"/>
              </a:lnSpc>
              <a:spcBef>
                <a:spcPts val="225"/>
              </a:spcBef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body {</a:t>
            </a:r>
            <a:r>
              <a:rPr lang="en-US" altLang="en-US" sz="2000" dirty="0" err="1">
                <a:latin typeface="Arial MT"/>
                <a:ea typeface="Arial MT"/>
                <a:cs typeface="Arial MT"/>
              </a:rPr>
              <a:t>background-image:url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("images/background.gif");}</a:t>
            </a:r>
          </a:p>
          <a:p>
            <a:pPr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B3AA85-865C-7C91-29C6-9CDFE4DD2C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368" y="260648"/>
            <a:ext cx="7839075" cy="750888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dirty="0"/>
              <a:t>Internal</a:t>
            </a:r>
            <a:r>
              <a:rPr sz="4800" spc="-35" dirty="0"/>
              <a:t> </a:t>
            </a:r>
            <a:r>
              <a:rPr sz="4800" dirty="0"/>
              <a:t>Style</a:t>
            </a:r>
            <a:r>
              <a:rPr sz="4800" spc="-30" dirty="0"/>
              <a:t> </a:t>
            </a:r>
            <a:r>
              <a:rPr sz="4800" dirty="0"/>
              <a:t>Sheet</a:t>
            </a:r>
          </a:p>
        </p:txBody>
      </p:sp>
      <p:sp>
        <p:nvSpPr>
          <p:cNvPr id="22531" name="object 3">
            <a:extLst>
              <a:ext uri="{FF2B5EF4-FFF2-40B4-BE49-F238E27FC236}">
                <a16:creationId xmlns:a16="http://schemas.microsoft.com/office/drawing/2014/main" id="{45E55E07-00C2-AC33-83BB-CD1CA0956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1772816"/>
            <a:ext cx="11377264" cy="135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8419" rIns="0" bIns="0">
            <a:spAutoFit/>
          </a:bodyPr>
          <a:lstStyle>
            <a:lvl1pPr marL="331788" indent="-320675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8313" indent="-457200">
              <a:lnSpc>
                <a:spcPts val="2925"/>
              </a:lnSpc>
              <a:spcBef>
                <a:spcPts val="463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Required for scenarios where a single document has a unique style.</a:t>
            </a:r>
          </a:p>
          <a:p>
            <a:pPr marL="354013" indent="-342900">
              <a:lnSpc>
                <a:spcPts val="2925"/>
              </a:lnSpc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&lt;style&gt; tag is used to define the styling for the page</a:t>
            </a:r>
          </a:p>
          <a:p>
            <a:pPr marL="11113" indent="0">
              <a:lnSpc>
                <a:spcPts val="2925"/>
              </a:lnSpc>
              <a:spcBef>
                <a:spcPts val="700"/>
              </a:spcBef>
              <a:buSzPct val="100000"/>
            </a:pPr>
            <a:r>
              <a:rPr lang="en-US" altLang="en-US" sz="2700" b="1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                Example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57AB5-31A8-0345-9A6F-9A19BA784E62}"/>
              </a:ext>
            </a:extLst>
          </p:cNvPr>
          <p:cNvSpPr txBox="1"/>
          <p:nvPr/>
        </p:nvSpPr>
        <p:spPr>
          <a:xfrm>
            <a:off x="3719736" y="2852936"/>
            <a:ext cx="7056784" cy="29803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075"/>
              </a:lnSpc>
              <a:spcBef>
                <a:spcPts val="325"/>
              </a:spcBef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&lt;head&gt;</a:t>
            </a:r>
          </a:p>
          <a:p>
            <a:pPr>
              <a:lnSpc>
                <a:spcPts val="2913"/>
              </a:lnSpc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&lt;style&gt;</a:t>
            </a:r>
          </a:p>
          <a:p>
            <a:pPr>
              <a:lnSpc>
                <a:spcPts val="2913"/>
              </a:lnSpc>
              <a:defRPr/>
            </a:pPr>
            <a:r>
              <a:rPr lang="en-US" altLang="en-US" sz="2000" dirty="0" err="1">
                <a:latin typeface="Arial MT"/>
                <a:ea typeface="Arial MT"/>
                <a:cs typeface="Arial MT"/>
              </a:rPr>
              <a:t>hr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 {</a:t>
            </a:r>
            <a:r>
              <a:rPr lang="en-US" altLang="en-US" sz="2000" dirty="0" err="1">
                <a:latin typeface="Arial MT"/>
                <a:ea typeface="Arial MT"/>
                <a:cs typeface="Arial MT"/>
              </a:rPr>
              <a:t>color:sienna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;}</a:t>
            </a:r>
          </a:p>
          <a:p>
            <a:pPr>
              <a:lnSpc>
                <a:spcPts val="2913"/>
              </a:lnSpc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p {margin-left:20px;}</a:t>
            </a:r>
          </a:p>
          <a:p>
            <a:pPr>
              <a:lnSpc>
                <a:spcPts val="2913"/>
              </a:lnSpc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body {</a:t>
            </a:r>
            <a:r>
              <a:rPr lang="en-US" altLang="en-US" sz="2000" dirty="0" err="1">
                <a:latin typeface="Arial MT"/>
                <a:ea typeface="Arial MT"/>
                <a:cs typeface="Arial MT"/>
              </a:rPr>
              <a:t>background-image:url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("images/back.gif");}</a:t>
            </a:r>
          </a:p>
          <a:p>
            <a:pPr>
              <a:lnSpc>
                <a:spcPts val="3075"/>
              </a:lnSpc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&lt;/style&gt;</a:t>
            </a:r>
          </a:p>
          <a:p>
            <a:pPr>
              <a:spcBef>
                <a:spcPts val="388"/>
              </a:spcBef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&lt;/head&gt;</a:t>
            </a:r>
          </a:p>
          <a:p>
            <a:pPr>
              <a:defRPr/>
            </a:pPr>
            <a:endParaRPr lang="en-GB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F403EF-54CD-A250-9C13-CA4F44C1C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368" y="280193"/>
            <a:ext cx="4987925" cy="750888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dirty="0"/>
              <a:t>Inline</a:t>
            </a:r>
            <a:r>
              <a:rPr sz="4800" spc="-70" dirty="0"/>
              <a:t> </a:t>
            </a:r>
            <a:r>
              <a:rPr sz="4800" dirty="0"/>
              <a:t>Styles</a:t>
            </a:r>
          </a:p>
        </p:txBody>
      </p:sp>
      <p:sp>
        <p:nvSpPr>
          <p:cNvPr id="23555" name="object 3">
            <a:extLst>
              <a:ext uri="{FF2B5EF4-FFF2-40B4-BE49-F238E27FC236}">
                <a16:creationId xmlns:a16="http://schemas.microsoft.com/office/drawing/2014/main" id="{FE744CE7-9774-EF1E-1BF1-769E82719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542653"/>
            <a:ext cx="7983538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331788" indent="-320675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8313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Style property is used in-line of the HTML tag.</a:t>
            </a:r>
          </a:p>
          <a:p>
            <a:pPr marL="468313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Can  contain any CSS property.</a:t>
            </a:r>
          </a:p>
          <a:p>
            <a:pPr marL="11113" indent="0">
              <a:spcBef>
                <a:spcPts val="100"/>
              </a:spcBef>
              <a:buClr>
                <a:srgbClr val="DD8046"/>
              </a:buClr>
              <a:buSzPct val="60000"/>
            </a:pPr>
            <a:r>
              <a:rPr lang="en-US" altLang="en-US" sz="2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          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07A8C-57B9-80C2-501B-793AAC67A74A}"/>
              </a:ext>
            </a:extLst>
          </p:cNvPr>
          <p:cNvSpPr txBox="1"/>
          <p:nvPr/>
        </p:nvSpPr>
        <p:spPr>
          <a:xfrm>
            <a:off x="3215680" y="2564904"/>
            <a:ext cx="6048375" cy="15700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&lt;p style="color:sienna;margin-left:20px;"&gt;</a:t>
            </a:r>
          </a:p>
          <a:p>
            <a:pPr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This  is a paragraph.</a:t>
            </a:r>
          </a:p>
          <a:p>
            <a:pPr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&lt;/p&gt;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188B59-6A34-FCC5-312B-71E9FFDC33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260648"/>
            <a:ext cx="7840663" cy="752475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dirty="0"/>
              <a:t>Cascading</a:t>
            </a:r>
            <a:r>
              <a:rPr sz="4800" spc="-95" dirty="0"/>
              <a:t> </a:t>
            </a:r>
            <a:r>
              <a:rPr sz="4800" dirty="0"/>
              <a:t>Order</a:t>
            </a:r>
          </a:p>
        </p:txBody>
      </p:sp>
      <p:sp>
        <p:nvSpPr>
          <p:cNvPr id="24579" name="object 3">
            <a:extLst>
              <a:ext uri="{FF2B5EF4-FFF2-40B4-BE49-F238E27FC236}">
                <a16:creationId xmlns:a16="http://schemas.microsoft.com/office/drawing/2014/main" id="{6262284B-AB74-D15F-D444-2FD253475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62" y="1556792"/>
            <a:ext cx="12000656" cy="4095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331788" indent="-320675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1788" algn="l"/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8313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When multiple styles are used – HTML uses an order of priority.</a:t>
            </a:r>
          </a:p>
          <a:p>
            <a:pPr marL="468313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The priority order from </a:t>
            </a:r>
            <a:r>
              <a:rPr lang="en-US" altLang="en-US" sz="2800" b="1" dirty="0">
                <a:solidFill>
                  <a:srgbClr val="C00000"/>
                </a:solidFill>
                <a:ea typeface="Arial MT"/>
                <a:cs typeface="Arial" panose="020B0604020202020204" pitchFamily="34" charset="0"/>
              </a:rPr>
              <a:t>low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 to </a:t>
            </a:r>
            <a:r>
              <a:rPr lang="en-US" altLang="en-US" sz="2800" b="1" dirty="0">
                <a:solidFill>
                  <a:srgbClr val="C00000"/>
                </a:solidFill>
                <a:ea typeface="Arial MT"/>
                <a:cs typeface="Arial" panose="020B0604020202020204" pitchFamily="34" charset="0"/>
              </a:rPr>
              <a:t>high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 is: </a:t>
            </a:r>
          </a:p>
          <a:p>
            <a:pPr marL="971550" lvl="1" indent="-514350">
              <a:spcBef>
                <a:spcPts val="188"/>
              </a:spcBef>
              <a:buSzPct val="100000"/>
              <a:buFont typeface="+mj-lt"/>
              <a:buAutoNum type="arabicPeriod"/>
            </a:pPr>
            <a:r>
              <a:rPr lang="en-US" altLang="en-US" sz="2800" b="1" dirty="0">
                <a:ea typeface="Arial MT"/>
                <a:cs typeface="Arial" panose="020B0604020202020204" pitchFamily="34" charset="0"/>
              </a:rPr>
              <a:t>Browser default</a:t>
            </a:r>
          </a:p>
          <a:p>
            <a:pPr marL="971550" lvl="1" indent="-514350">
              <a:spcBef>
                <a:spcPts val="163"/>
              </a:spcBef>
              <a:buSzPct val="100000"/>
              <a:buFont typeface="+mj-lt"/>
              <a:buAutoNum type="arabicPeriod"/>
            </a:pPr>
            <a:r>
              <a:rPr lang="en-US" altLang="en-US" sz="2800" b="1" dirty="0">
                <a:ea typeface="Arial MT"/>
                <a:cs typeface="Arial" panose="020B0604020202020204" pitchFamily="34" charset="0"/>
              </a:rPr>
              <a:t>External style sheet</a:t>
            </a:r>
          </a:p>
          <a:p>
            <a:pPr marL="971550" lvl="1" indent="-514350">
              <a:spcBef>
                <a:spcPts val="188"/>
              </a:spcBef>
              <a:buSzPct val="100000"/>
              <a:buFont typeface="+mj-lt"/>
              <a:buAutoNum type="arabicPeriod"/>
            </a:pPr>
            <a:r>
              <a:rPr lang="en-US" altLang="en-US" sz="2800" b="1" dirty="0">
                <a:ea typeface="Arial MT"/>
                <a:cs typeface="Arial" panose="020B0604020202020204" pitchFamily="34" charset="0"/>
              </a:rPr>
              <a:t>Internal style sheet (in the head section)</a:t>
            </a:r>
          </a:p>
          <a:p>
            <a:pPr marL="971550" lvl="1" indent="-514350">
              <a:spcBef>
                <a:spcPts val="163"/>
              </a:spcBef>
              <a:buSzPct val="100000"/>
              <a:buFont typeface="+mj-lt"/>
              <a:buAutoNum type="arabicPeriod"/>
            </a:pPr>
            <a:r>
              <a:rPr lang="en-US" altLang="en-US" sz="2800" b="1" dirty="0">
                <a:ea typeface="Arial MT"/>
                <a:cs typeface="Arial" panose="020B0604020202020204" pitchFamily="34" charset="0"/>
              </a:rPr>
              <a:t>Inline style (inside an HTML element)</a:t>
            </a:r>
          </a:p>
          <a:p>
            <a:pPr marL="468313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The inline style (inside an HTML element) has the highest priority and overrides the styles defined inside the &lt;head&gt; tag, or in an external style sheet, or in a browser  (a default value).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38DB-CB51-99A8-ED17-214DA30DF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- 2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11EF27-9A44-0DA0-3422-6F8284A0D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52" y="1284297"/>
            <a:ext cx="11109423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What is an external CSS stylesheet?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A CSS file embedded within an HTML document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A separate CSS file linked from an HTML document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A CSS rule defined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head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section of an HTML document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Inline styles applied directly to HTML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How do you link an external CSS stylesheet to an HTML document?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&lt;link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rel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="stylesheet" type="text/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css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"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href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="style.css"&gt;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css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href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="style.css"&gt;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&lt;stylesheet&gt;style.css&lt;/stylesheet&gt;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&lt;style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src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="style.css"&gt;&lt;/style&gt;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Which of the following CSS rules has the highest specificity?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Element selector (e.g.,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div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Class selector (e.g.,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.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classname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ID selector (e.g.,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#idname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Inline style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07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C5CE85-66BF-8276-70A2-20DDD7BE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background</a:t>
            </a:r>
            <a:endParaRPr lang="en-GB" dirty="0"/>
          </a:p>
        </p:txBody>
      </p:sp>
      <p:pic>
        <p:nvPicPr>
          <p:cNvPr id="2050" name="Picture 2" descr="Free photo programming background collage">
            <a:extLst>
              <a:ext uri="{FF2B5EF4-FFF2-40B4-BE49-F238E27FC236}">
                <a16:creationId xmlns:a16="http://schemas.microsoft.com/office/drawing/2014/main" id="{20ABD1A3-D548-4AC6-E895-7C04A1795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684" y="1292226"/>
            <a:ext cx="6019918" cy="4873078"/>
          </a:xfrm>
          <a:prstGeom prst="rect">
            <a:avLst/>
          </a:prstGeom>
          <a:noFill/>
          <a:effectLst>
            <a:softEdge rad="139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915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834FFC-561D-E61C-E3F0-DFF2C45A8A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352" y="332656"/>
            <a:ext cx="7048500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dirty="0"/>
              <a:t>CSS</a:t>
            </a:r>
            <a:r>
              <a:rPr spc="-70" dirty="0"/>
              <a:t> </a:t>
            </a:r>
            <a:r>
              <a:rPr dirty="0"/>
              <a:t>Background</a:t>
            </a:r>
          </a:p>
        </p:txBody>
      </p:sp>
      <p:sp>
        <p:nvSpPr>
          <p:cNvPr id="25603" name="object 3">
            <a:extLst>
              <a:ext uri="{FF2B5EF4-FFF2-40B4-BE49-F238E27FC236}">
                <a16:creationId xmlns:a16="http://schemas.microsoft.com/office/drawing/2014/main" id="{4E1E12C3-C88F-F0FC-7BE9-F86CFCAA1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1628800"/>
            <a:ext cx="8056563" cy="283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331788" indent="-3206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1113" indent="0">
              <a:spcBef>
                <a:spcPts val="700"/>
              </a:spcBef>
            </a:pPr>
            <a:r>
              <a:rPr lang="en-US" altLang="en-US" sz="3200" dirty="0">
                <a:ea typeface="Arial MT"/>
                <a:cs typeface="Arial" panose="020B0604020202020204" pitchFamily="34" charset="0"/>
              </a:rPr>
              <a:t>CSS properties used for background effects:</a:t>
            </a:r>
          </a:p>
          <a:p>
            <a:pPr marL="11113" indent="0">
              <a:spcBef>
                <a:spcPts val="700"/>
              </a:spcBef>
            </a:pPr>
            <a:endParaRPr lang="en-US" altLang="en-US" sz="3200" dirty="0">
              <a:ea typeface="Arial MT"/>
              <a:cs typeface="Arial" panose="020B0604020202020204" pitchFamily="34" charset="0"/>
            </a:endParaRPr>
          </a:p>
          <a:p>
            <a:pPr marL="914400" lvl="1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3200" dirty="0">
                <a:ea typeface="Arial MT"/>
                <a:cs typeface="Arial" panose="020B0604020202020204" pitchFamily="34" charset="0"/>
              </a:rPr>
              <a:t>background-color</a:t>
            </a:r>
          </a:p>
          <a:p>
            <a:pPr marL="914400" lvl="1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3200" dirty="0">
                <a:ea typeface="Arial MT"/>
                <a:cs typeface="Arial" panose="020B0604020202020204" pitchFamily="34" charset="0"/>
              </a:rPr>
              <a:t>background-image</a:t>
            </a:r>
          </a:p>
          <a:p>
            <a:pPr marL="914400" lvl="1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3200" dirty="0">
                <a:ea typeface="Arial MT"/>
                <a:cs typeface="Arial" panose="020B0604020202020204" pitchFamily="34" charset="0"/>
              </a:rPr>
              <a:t>background-repeat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0B0B26-8DC7-8F95-FBFA-507A1A1AB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332656"/>
            <a:ext cx="7543800" cy="635000"/>
          </a:xfrm>
        </p:spPr>
        <p:txBody>
          <a:bodyPr vert="horz" wrap="square" lIns="0" tIns="1206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4000" spc="-10" dirty="0"/>
              <a:t>Background</a:t>
            </a:r>
            <a:r>
              <a:rPr sz="4000" spc="-35" dirty="0"/>
              <a:t> </a:t>
            </a:r>
            <a:r>
              <a:rPr sz="4000" spc="-5" dirty="0"/>
              <a:t>Color</a:t>
            </a:r>
            <a:endParaRPr sz="40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905D18-5F51-CEBF-2147-2A2DA38CEA9D}"/>
              </a:ext>
            </a:extLst>
          </p:cNvPr>
          <p:cNvSpPr txBox="1"/>
          <p:nvPr/>
        </p:nvSpPr>
        <p:spPr>
          <a:xfrm>
            <a:off x="551384" y="1622425"/>
            <a:ext cx="11017224" cy="3429785"/>
          </a:xfrm>
          <a:prstGeom prst="rect">
            <a:avLst/>
          </a:prstGeom>
        </p:spPr>
        <p:txBody>
          <a:bodyPr wrap="square" lIns="0" tIns="13335" rIns="0" bIns="0">
            <a:spAutoFit/>
          </a:bodyPr>
          <a:lstStyle>
            <a:lvl1pPr marL="331788" indent="-320675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1113" indent="0">
              <a:spcBef>
                <a:spcPts val="1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background-color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 property</a:t>
            </a:r>
          </a:p>
          <a:p>
            <a:pPr marL="11113" indent="0">
              <a:spcBef>
                <a:spcPts val="100"/>
              </a:spcBef>
              <a:buClr>
                <a:srgbClr val="DD8046"/>
              </a:buClr>
              <a:buSzPct val="60000"/>
              <a:defRPr/>
            </a:pPr>
            <a:endParaRPr lang="en-US" altLang="en-US" sz="2800" dirty="0">
              <a:ea typeface="Arial MT"/>
              <a:cs typeface="Arial" panose="020B0604020202020204" pitchFamily="34" charset="0"/>
            </a:endParaRPr>
          </a:p>
          <a:p>
            <a:pPr marL="468313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Specifies the  background color of an element.</a:t>
            </a:r>
          </a:p>
          <a:p>
            <a:pPr marL="468313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The background color of a page is defined in  the body selector.</a:t>
            </a:r>
          </a:p>
          <a:p>
            <a:pPr marL="468313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2800" dirty="0">
              <a:ea typeface="Arial MT"/>
              <a:cs typeface="Arial" panose="020B0604020202020204" pitchFamily="34" charset="0"/>
            </a:endParaRPr>
          </a:p>
          <a:p>
            <a:pPr marL="11113" indent="0">
              <a:spcBef>
                <a:spcPts val="713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Example:</a:t>
            </a:r>
          </a:p>
          <a:p>
            <a:pPr marL="11113" indent="0">
              <a:spcBef>
                <a:spcPts val="7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900" dirty="0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		body {background-color:#b0c4de;}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D94992-BA47-CDDA-9E99-54591E7D4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332656"/>
            <a:ext cx="6904038" cy="752475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dirty="0">
                <a:latin typeface="Arial MT"/>
                <a:cs typeface="Arial MT"/>
              </a:rPr>
              <a:t>Background</a:t>
            </a:r>
            <a:r>
              <a:rPr sz="4800" spc="-85" dirty="0">
                <a:latin typeface="Arial MT"/>
                <a:cs typeface="Arial MT"/>
              </a:rPr>
              <a:t> </a:t>
            </a:r>
            <a:r>
              <a:rPr sz="4800" dirty="0">
                <a:latin typeface="Arial MT"/>
                <a:cs typeface="Arial MT"/>
              </a:rPr>
              <a:t>Image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3EC189-96BC-6404-3017-955372538003}"/>
              </a:ext>
            </a:extLst>
          </p:cNvPr>
          <p:cNvSpPr txBox="1"/>
          <p:nvPr/>
        </p:nvSpPr>
        <p:spPr>
          <a:xfrm>
            <a:off x="335360" y="1622425"/>
            <a:ext cx="11089231" cy="3522118"/>
          </a:xfrm>
          <a:prstGeom prst="rect">
            <a:avLst/>
          </a:prstGeom>
        </p:spPr>
        <p:txBody>
          <a:bodyPr wrap="square" lIns="0" tIns="13335" rIns="0" bIns="0">
            <a:spAutoFit/>
          </a:bodyPr>
          <a:lstStyle>
            <a:lvl1pPr marL="331788" indent="-320675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33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1113" indent="0">
              <a:spcBef>
                <a:spcPts val="1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9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background-image </a:t>
            </a:r>
            <a:r>
              <a:rPr lang="en-US" altLang="en-US" sz="2900" dirty="0">
                <a:ea typeface="Arial MT"/>
                <a:cs typeface="Arial" panose="020B0604020202020204" pitchFamily="34" charset="0"/>
              </a:rPr>
              <a:t>property</a:t>
            </a:r>
          </a:p>
          <a:p>
            <a:pPr marL="11113" indent="0">
              <a:spcBef>
                <a:spcPts val="1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9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</a:t>
            </a:r>
          </a:p>
          <a:p>
            <a:pPr marL="468313" indent="-4572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900" dirty="0">
                <a:ea typeface="Arial MT"/>
                <a:cs typeface="Arial" panose="020B0604020202020204" pitchFamily="34" charset="0"/>
              </a:rPr>
              <a:t>Specifies an  image to use as the background of an  element.</a:t>
            </a:r>
          </a:p>
          <a:p>
            <a:pPr marL="468313" indent="-457200">
              <a:spcBef>
                <a:spcPts val="7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900" dirty="0">
                <a:ea typeface="Arial MT"/>
                <a:cs typeface="Arial" panose="020B0604020202020204" pitchFamily="34" charset="0"/>
              </a:rPr>
              <a:t>By default, the image is repeated so it covers  the entire element.</a:t>
            </a:r>
          </a:p>
          <a:p>
            <a:pPr marL="11113" indent="0">
              <a:spcBef>
                <a:spcPts val="700"/>
              </a:spcBef>
              <a:buClr>
                <a:srgbClr val="DD8046"/>
              </a:buClr>
              <a:buSzPct val="60000"/>
              <a:defRPr/>
            </a:pPr>
            <a:endParaRPr lang="en-US" altLang="en-US" sz="2900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 marL="11113" indent="0">
              <a:spcBef>
                <a:spcPts val="7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900" dirty="0">
                <a:solidFill>
                  <a:schemeClr val="accent2"/>
                </a:solidFill>
                <a:cs typeface="Arial" panose="020B0604020202020204" pitchFamily="34" charset="0"/>
              </a:rPr>
              <a:t>Example</a:t>
            </a:r>
            <a:r>
              <a:rPr lang="en-US" altLang="en-US" sz="2900" b="1" dirty="0">
                <a:solidFill>
                  <a:schemeClr val="accent2"/>
                </a:solidFill>
                <a:cs typeface="Arial" panose="020B0604020202020204" pitchFamily="34" charset="0"/>
              </a:rPr>
              <a:t>:</a:t>
            </a:r>
            <a:endParaRPr lang="en-US" altLang="en-US" sz="2900" dirty="0">
              <a:cs typeface="Arial" panose="020B0604020202020204" pitchFamily="34" charset="0"/>
            </a:endParaRPr>
          </a:p>
          <a:p>
            <a:pPr marL="11113" indent="0">
              <a:spcBef>
                <a:spcPts val="700"/>
              </a:spcBef>
              <a:buClr>
                <a:srgbClr val="DD8046"/>
              </a:buClr>
              <a:buSzPct val="60000"/>
              <a:defRPr/>
            </a:pPr>
            <a:r>
              <a:rPr lang="en-US" altLang="en-US" sz="2900" dirty="0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	body {</a:t>
            </a:r>
            <a:r>
              <a:rPr lang="en-US" altLang="en-US" sz="2900" dirty="0" err="1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background-image:url</a:t>
            </a:r>
            <a:r>
              <a:rPr lang="en-US" altLang="en-US" sz="2900" dirty="0">
                <a:highlight>
                  <a:srgbClr val="C0C0C0"/>
                </a:highlight>
                <a:latin typeface="Arial MT"/>
                <a:ea typeface="Arial MT"/>
                <a:cs typeface="Arial MT"/>
              </a:rPr>
              <a:t>("paper.gif");}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30D2BE-77C9-0CC9-2A9F-25514DFB0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248357"/>
            <a:ext cx="7953375" cy="750888"/>
          </a:xfrm>
        </p:spPr>
        <p:txBody>
          <a:bodyPr vert="horz" wrap="square" lIns="0" tIns="1206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4800" spc="-10" dirty="0"/>
              <a:t>Background</a:t>
            </a:r>
            <a:r>
              <a:rPr sz="4800" spc="10" dirty="0"/>
              <a:t> </a:t>
            </a:r>
            <a:r>
              <a:rPr sz="4800" spc="-5" dirty="0"/>
              <a:t>Image</a:t>
            </a:r>
            <a:endParaRPr sz="4800" dirty="0"/>
          </a:p>
        </p:txBody>
      </p:sp>
      <p:sp>
        <p:nvSpPr>
          <p:cNvPr id="28675" name="object 3">
            <a:extLst>
              <a:ext uri="{FF2B5EF4-FFF2-40B4-BE49-F238E27FC236}">
                <a16:creationId xmlns:a16="http://schemas.microsoft.com/office/drawing/2014/main" id="{73106259-A2CA-3FA2-9AFB-0F4EF5D26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521131"/>
            <a:ext cx="11017224" cy="1840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9900" indent="-457200"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By default, a background image repeats across pages.</a:t>
            </a:r>
          </a:p>
          <a:p>
            <a:pPr marL="469900" indent="-457200"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Arial MT"/>
                <a:cs typeface="Arial" panose="020B0604020202020204" pitchFamily="34" charset="0"/>
              </a:rPr>
              <a:t>To avoid repetition, use the </a:t>
            </a:r>
            <a:r>
              <a:rPr lang="en-US" altLang="en-US" sz="2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background-repeat</a:t>
            </a:r>
            <a:r>
              <a:rPr lang="en-US" altLang="en-US" sz="2800" dirty="0">
                <a:ea typeface="Arial MT"/>
                <a:cs typeface="Arial" panose="020B0604020202020204" pitchFamily="34" charset="0"/>
              </a:rPr>
              <a:t> property:</a:t>
            </a:r>
          </a:p>
          <a:p>
            <a:pPr marL="469900" indent="-457200">
              <a:buSzPct val="100000"/>
              <a:buFont typeface="Arial" panose="020B0604020202020204" pitchFamily="34" charset="0"/>
              <a:buChar char="•"/>
            </a:pPr>
            <a:endParaRPr lang="en-US" altLang="en-US" sz="2800" dirty="0">
              <a:ea typeface="Arial MT"/>
              <a:cs typeface="Arial" panose="020B0604020202020204" pitchFamily="34" charset="0"/>
            </a:endParaRPr>
          </a:p>
          <a:p>
            <a:pPr>
              <a:spcBef>
                <a:spcPts val="700"/>
              </a:spcBef>
              <a:buClr>
                <a:srgbClr val="DD8046"/>
              </a:buClr>
              <a:buSzPct val="60000"/>
            </a:pPr>
            <a:r>
              <a:rPr lang="en-US" altLang="en-US" sz="2900" dirty="0">
                <a:solidFill>
                  <a:schemeClr val="accent2"/>
                </a:solidFill>
                <a:cs typeface="Arial" panose="020B0604020202020204" pitchFamily="34" charset="0"/>
              </a:rPr>
              <a:t>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3977B-E503-026A-6CC1-461CB4BC7E3B}"/>
              </a:ext>
            </a:extLst>
          </p:cNvPr>
          <p:cNvSpPr txBox="1"/>
          <p:nvPr/>
        </p:nvSpPr>
        <p:spPr>
          <a:xfrm>
            <a:off x="2639616" y="3140968"/>
            <a:ext cx="5041900" cy="2308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spcBef>
                <a:spcPts val="700"/>
              </a:spcBef>
              <a:buClr>
                <a:srgbClr val="DD8046"/>
              </a:buClr>
              <a:buSzPct val="60000"/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body</a:t>
            </a:r>
          </a:p>
          <a:p>
            <a:pPr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{</a:t>
            </a:r>
          </a:p>
          <a:p>
            <a:pPr>
              <a:defRPr/>
            </a:pPr>
            <a:r>
              <a:rPr lang="en-US" altLang="en-US" dirty="0" err="1">
                <a:latin typeface="Arial MT"/>
                <a:ea typeface="Arial MT"/>
                <a:cs typeface="Arial MT"/>
              </a:rPr>
              <a:t>background-image:url</a:t>
            </a:r>
            <a:r>
              <a:rPr lang="en-US" altLang="en-US" dirty="0">
                <a:latin typeface="Arial MT"/>
                <a:ea typeface="Arial MT"/>
                <a:cs typeface="Arial MT"/>
              </a:rPr>
              <a:t>(“me.png");  </a:t>
            </a:r>
            <a:r>
              <a:rPr lang="en-US" altLang="en-US" dirty="0" err="1">
                <a:latin typeface="Arial MT"/>
                <a:ea typeface="Arial MT"/>
                <a:cs typeface="Arial MT"/>
              </a:rPr>
              <a:t>background-repeat:no-repeat</a:t>
            </a:r>
            <a:r>
              <a:rPr lang="en-US" altLang="en-US" dirty="0">
                <a:latin typeface="Arial MT"/>
                <a:ea typeface="Arial MT"/>
                <a:cs typeface="Arial MT"/>
              </a:rPr>
              <a:t>;</a:t>
            </a:r>
          </a:p>
          <a:p>
            <a:pPr>
              <a:defRPr/>
            </a:pPr>
            <a:r>
              <a:rPr lang="en-US" altLang="en-US" dirty="0">
                <a:latin typeface="Arial MT"/>
                <a:ea typeface="Arial MT"/>
                <a:cs typeface="Arial MT"/>
              </a:rPr>
              <a:t>}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4761FE-8AB9-6A01-236D-7DEB5D4E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Box model</a:t>
            </a:r>
            <a:endParaRPr lang="en-GB" dirty="0"/>
          </a:p>
        </p:txBody>
      </p:sp>
      <p:pic>
        <p:nvPicPr>
          <p:cNvPr id="3074" name="Picture 2" descr="Free vector hand coding concept illustration">
            <a:extLst>
              <a:ext uri="{FF2B5EF4-FFF2-40B4-BE49-F238E27FC236}">
                <a16:creationId xmlns:a16="http://schemas.microsoft.com/office/drawing/2014/main" id="{33378188-2B3B-B3D9-684F-8D62F8AF1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544" y="1844824"/>
            <a:ext cx="4104456" cy="428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814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object 3">
            <a:extLst>
              <a:ext uri="{FF2B5EF4-FFF2-40B4-BE49-F238E27FC236}">
                <a16:creationId xmlns:a16="http://schemas.microsoft.com/office/drawing/2014/main" id="{F06485C8-EC8F-0909-2B8A-262063426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2492896"/>
            <a:ext cx="7011467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object 4">
            <a:extLst>
              <a:ext uri="{FF2B5EF4-FFF2-40B4-BE49-F238E27FC236}">
                <a16:creationId xmlns:a16="http://schemas.microsoft.com/office/drawing/2014/main" id="{DB02C19D-3C5D-F1DC-1ECC-D26B5D1EB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349" y="2871159"/>
            <a:ext cx="3736057" cy="259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div {</a:t>
            </a:r>
          </a:p>
          <a:p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width: 300px;</a:t>
            </a:r>
          </a:p>
          <a:p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padding: 25px;</a:t>
            </a:r>
          </a:p>
          <a:p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border: 25px solid navy;  margin: 25px;</a:t>
            </a:r>
          </a:p>
          <a:p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B93D093-8734-447D-F556-2623E28C6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183" y="260648"/>
            <a:ext cx="11713633" cy="690574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0020">
              <a:spcBef>
                <a:spcPts val="105"/>
              </a:spcBef>
              <a:defRPr/>
            </a:pPr>
            <a:r>
              <a:rPr spc="-5" dirty="0"/>
              <a:t>CSS</a:t>
            </a:r>
            <a:r>
              <a:rPr spc="-35" dirty="0"/>
              <a:t> </a:t>
            </a:r>
            <a:r>
              <a:rPr spc="-10" dirty="0"/>
              <a:t>Box</a:t>
            </a:r>
            <a:r>
              <a:rPr spc="-35" dirty="0"/>
              <a:t> </a:t>
            </a:r>
            <a:r>
              <a:rPr dirty="0"/>
              <a:t>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3F5146-ECD9-D3D6-FC29-1AD642328FEE}"/>
              </a:ext>
            </a:extLst>
          </p:cNvPr>
          <p:cNvSpPr txBox="1"/>
          <p:nvPr/>
        </p:nvSpPr>
        <p:spPr>
          <a:xfrm>
            <a:off x="286535" y="1486164"/>
            <a:ext cx="117126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Defines the </a:t>
            </a:r>
            <a:r>
              <a:rPr lang="en-GB" sz="2800" b="1" dirty="0"/>
              <a:t>layout </a:t>
            </a:r>
            <a:r>
              <a:rPr lang="en-GB" sz="2800" dirty="0"/>
              <a:t>and </a:t>
            </a:r>
            <a:r>
              <a:rPr lang="en-GB" sz="2800" b="1" dirty="0"/>
              <a:t>spacing</a:t>
            </a:r>
            <a:r>
              <a:rPr lang="en-GB" sz="2800" dirty="0"/>
              <a:t> of HTML element on a website.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4 key components:  </a:t>
            </a:r>
            <a:r>
              <a:rPr lang="en-GB" sz="2800" dirty="0">
                <a:solidFill>
                  <a:srgbClr val="3312BE"/>
                </a:solidFill>
              </a:rPr>
              <a:t>margins, borders, padding</a:t>
            </a:r>
            <a:r>
              <a:rPr lang="en-GB" sz="2800" dirty="0"/>
              <a:t>, and </a:t>
            </a:r>
            <a:r>
              <a:rPr lang="en-GB" sz="2800" dirty="0">
                <a:solidFill>
                  <a:srgbClr val="3312BE"/>
                </a:solidFill>
              </a:rPr>
              <a:t>content</a:t>
            </a:r>
            <a:r>
              <a:rPr lang="en-GB" sz="2800" dirty="0"/>
              <a:t>.  </a:t>
            </a:r>
          </a:p>
          <a:p>
            <a:endParaRPr lang="en-GB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15C1601D-D7B8-0725-D620-E04E75D8351F}"/>
              </a:ext>
            </a:extLst>
          </p:cNvPr>
          <p:cNvSpPr txBox="1">
            <a:spLocks/>
          </p:cNvSpPr>
          <p:nvPr/>
        </p:nvSpPr>
        <p:spPr>
          <a:xfrm>
            <a:off x="263352" y="260648"/>
            <a:ext cx="4968875" cy="747713"/>
          </a:xfrm>
          <a:prstGeom prst="rect">
            <a:avLst/>
          </a:prstGeom>
        </p:spPr>
        <p:txBody>
          <a:bodyPr lIns="0" tIns="9525" rIns="0" bIns="0" anchor="ctr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9525">
              <a:spcBef>
                <a:spcPts val="75"/>
              </a:spcBef>
              <a:defRPr/>
            </a:pPr>
            <a:r>
              <a:rPr lang="en-GB" sz="4800" kern="0" spc="-64" dirty="0"/>
              <a:t>CSS</a:t>
            </a:r>
            <a:r>
              <a:rPr lang="en-GB" sz="4800" kern="0" spc="-176" dirty="0"/>
              <a:t> </a:t>
            </a:r>
            <a:r>
              <a:rPr lang="en-GB" sz="4800" kern="0" spc="-86" dirty="0"/>
              <a:t>Border</a:t>
            </a:r>
            <a:r>
              <a:rPr lang="en-GB" sz="4800" kern="0" spc="-184" dirty="0"/>
              <a:t> </a:t>
            </a:r>
            <a:r>
              <a:rPr lang="en-GB" sz="4800" kern="0" spc="-68" dirty="0"/>
              <a:t>Style</a:t>
            </a:r>
          </a:p>
        </p:txBody>
      </p:sp>
      <p:sp>
        <p:nvSpPr>
          <p:cNvPr id="31747" name="object 2">
            <a:extLst>
              <a:ext uri="{FF2B5EF4-FFF2-40B4-BE49-F238E27FC236}">
                <a16:creationId xmlns:a16="http://schemas.microsoft.com/office/drawing/2014/main" id="{596D71D7-9149-AE7D-DD5B-306B9F206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623938"/>
            <a:ext cx="8352928" cy="3610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049" rIns="0" bIns="0">
            <a:spAutoFit/>
          </a:bodyPr>
          <a:lstStyle>
            <a:lvl1pPr marL="352425" indent="-342900"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6725" indent="-457200">
              <a:spcBef>
                <a:spcPts val="75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800" b="1" dirty="0">
                <a:solidFill>
                  <a:srgbClr val="3312BE"/>
                </a:solidFill>
                <a:cs typeface="Arial" panose="020B0604020202020204" pitchFamily="34" charset="0"/>
              </a:rPr>
              <a:t>border-width </a:t>
            </a: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property specifies the width of the four borders.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marL="466725" indent="-457200">
              <a:spcBef>
                <a:spcPts val="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The width can be set as a specific size:</a:t>
            </a:r>
          </a:p>
          <a:p>
            <a:pPr marL="914400" lvl="1" indent="-457200">
              <a:spcBef>
                <a:spcPts val="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b="1" dirty="0" err="1">
                <a:solidFill>
                  <a:srgbClr val="252525"/>
                </a:solidFill>
                <a:cs typeface="Arial" panose="020B0604020202020204" pitchFamily="34" charset="0"/>
              </a:rPr>
              <a:t>px</a:t>
            </a:r>
            <a:endParaRPr lang="en-US" altLang="en-US" sz="2800" b="1" dirty="0">
              <a:solidFill>
                <a:srgbClr val="252525"/>
              </a:solidFill>
              <a:cs typeface="Arial" panose="020B0604020202020204" pitchFamily="34" charset="0"/>
            </a:endParaRPr>
          </a:p>
          <a:p>
            <a:pPr marL="914400" lvl="1" indent="-457200">
              <a:spcBef>
                <a:spcPts val="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252525"/>
                </a:solidFill>
                <a:cs typeface="Arial" panose="020B0604020202020204" pitchFamily="34" charset="0"/>
              </a:rPr>
              <a:t>pt</a:t>
            </a:r>
          </a:p>
          <a:p>
            <a:pPr marL="914400" lvl="1" indent="-457200">
              <a:spcBef>
                <a:spcPts val="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252525"/>
                </a:solidFill>
                <a:cs typeface="Arial" panose="020B0604020202020204" pitchFamily="34" charset="0"/>
              </a:rPr>
              <a:t>cm</a:t>
            </a:r>
          </a:p>
          <a:p>
            <a:pPr marL="914400" lvl="1" indent="-457200">
              <a:spcBef>
                <a:spcPts val="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b="1" dirty="0" err="1">
                <a:solidFill>
                  <a:srgbClr val="252525"/>
                </a:solidFill>
                <a:cs typeface="Arial" panose="020B0604020202020204" pitchFamily="34" charset="0"/>
              </a:rPr>
              <a:t>em</a:t>
            </a:r>
            <a:endParaRPr lang="en-US" altLang="en-US" sz="2800" b="1" dirty="0">
              <a:solidFill>
                <a:srgbClr val="252525"/>
              </a:solidFill>
              <a:cs typeface="Arial" panose="020B0604020202020204" pitchFamily="34" charset="0"/>
            </a:endParaRPr>
          </a:p>
          <a:p>
            <a:pPr marL="523875" indent="-457200">
              <a:spcBef>
                <a:spcPts val="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Three pre-defined values: thin, medium, or thick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C50E0-ACF9-232B-FBFF-A1B7A249BFDF}"/>
              </a:ext>
            </a:extLst>
          </p:cNvPr>
          <p:cNvSpPr txBox="1"/>
          <p:nvPr/>
        </p:nvSpPr>
        <p:spPr>
          <a:xfrm>
            <a:off x="8904312" y="1988840"/>
            <a:ext cx="3016250" cy="332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spcBef>
                <a:spcPts val="200"/>
              </a:spcBef>
              <a:buSzPct val="95000"/>
              <a:buFont typeface="Wingdings" panose="05000000000000000000" pitchFamily="2" charset="2"/>
              <a:buChar char=""/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en-US" sz="2000" dirty="0">
                <a:solidFill>
                  <a:srgbClr val="A42A2A"/>
                </a:solidFill>
                <a:cs typeface="Arial" panose="020B0604020202020204" pitchFamily="34" charset="0"/>
              </a:rPr>
              <a:t>p.one </a:t>
            </a:r>
            <a:r>
              <a:rPr lang="en-US" altLang="en-US" sz="2000" dirty="0">
                <a:cs typeface="Arial" panose="020B0604020202020204" pitchFamily="34" charset="0"/>
              </a:rPr>
              <a:t>{</a:t>
            </a:r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border-style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solid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border-width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5px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  <a:p>
            <a:pPr>
              <a:spcBef>
                <a:spcPts val="1188"/>
              </a:spcBef>
              <a:defRPr/>
            </a:pPr>
            <a:r>
              <a:rPr lang="en-US" altLang="en-US" sz="2000" dirty="0" err="1">
                <a:solidFill>
                  <a:srgbClr val="A42A2A"/>
                </a:solidFill>
                <a:cs typeface="Arial" panose="020B0604020202020204" pitchFamily="34" charset="0"/>
              </a:rPr>
              <a:t>p.two</a:t>
            </a:r>
            <a:r>
              <a:rPr lang="en-US" altLang="en-US" sz="2000" dirty="0">
                <a:solidFill>
                  <a:srgbClr val="A42A2A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{</a:t>
            </a:r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border-style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solid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border-width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medium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  <a:p>
            <a:pPr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5C8547-907A-C460-6967-0BB33025FA8B}"/>
              </a:ext>
            </a:extLst>
          </p:cNvPr>
          <p:cNvSpPr txBox="1"/>
          <p:nvPr/>
        </p:nvSpPr>
        <p:spPr>
          <a:xfrm>
            <a:off x="479376" y="1700808"/>
            <a:ext cx="11449272" cy="4242026"/>
          </a:xfrm>
          <a:prstGeom prst="rect">
            <a:avLst/>
          </a:prstGeom>
        </p:spPr>
        <p:txBody>
          <a:bodyPr wrap="square" lIns="0" tIns="10001" rIns="0" bIns="0">
            <a:spAutoFit/>
          </a:bodyPr>
          <a:lstStyle/>
          <a:p>
            <a:pPr marL="45720">
              <a:spcBef>
                <a:spcPts val="79"/>
              </a:spcBef>
              <a:defRPr/>
            </a:pPr>
            <a:r>
              <a:rPr sz="2000" dirty="0">
                <a:solidFill>
                  <a:srgbClr val="A42A2A"/>
                </a:solidFill>
                <a:latin typeface="Consolas"/>
                <a:cs typeface="Consolas"/>
              </a:rPr>
              <a:t>p.one</a:t>
            </a:r>
            <a:r>
              <a:rPr sz="2000" spc="-4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2000" spc="-38" dirty="0">
                <a:latin typeface="Consolas"/>
                <a:cs typeface="Consolas"/>
              </a:rPr>
              <a:t>{</a:t>
            </a:r>
            <a:endParaRPr sz="2000" dirty="0">
              <a:latin typeface="Consolas"/>
              <a:cs typeface="Consolas"/>
            </a:endParaRPr>
          </a:p>
          <a:p>
            <a:pPr marL="220028">
              <a:defRPr/>
            </a:pPr>
            <a:r>
              <a:rPr sz="2000" spc="-8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19" dirty="0">
                <a:latin typeface="Consolas"/>
                <a:cs typeface="Consolas"/>
              </a:rPr>
              <a:t> </a:t>
            </a:r>
            <a:r>
              <a:rPr sz="2000" spc="-8" dirty="0">
                <a:solidFill>
                  <a:srgbClr val="0000CD"/>
                </a:solidFill>
                <a:latin typeface="Consolas"/>
                <a:cs typeface="Consolas"/>
              </a:rPr>
              <a:t>solid</a:t>
            </a:r>
            <a:r>
              <a:rPr sz="2000" spc="-8" dirty="0">
                <a:latin typeface="Consolas"/>
                <a:cs typeface="Consolas"/>
              </a:rPr>
              <a:t>;</a:t>
            </a:r>
            <a:endParaRPr sz="2000" dirty="0">
              <a:latin typeface="Consolas"/>
              <a:cs typeface="Consolas"/>
            </a:endParaRPr>
          </a:p>
          <a:p>
            <a:pPr marL="220028">
              <a:defRPr/>
            </a:pPr>
            <a:r>
              <a:rPr sz="2000" spc="-8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width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-11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D"/>
                </a:solidFill>
                <a:latin typeface="Consolas"/>
                <a:cs typeface="Consolas"/>
              </a:rPr>
              <a:t>5px</a:t>
            </a:r>
            <a:r>
              <a:rPr sz="2000" spc="-4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lang="en-GB" sz="2000" spc="-4" dirty="0">
                <a:solidFill>
                  <a:srgbClr val="0000CD"/>
                </a:solidFill>
                <a:latin typeface="Consolas"/>
                <a:cs typeface="Consolas"/>
              </a:rPr>
              <a:t>10</a:t>
            </a:r>
            <a:r>
              <a:rPr sz="2000" dirty="0" err="1">
                <a:solidFill>
                  <a:srgbClr val="0000CD"/>
                </a:solidFill>
                <a:latin typeface="Consolas"/>
                <a:cs typeface="Consolas"/>
              </a:rPr>
              <a:t>px</a:t>
            </a:r>
            <a:r>
              <a:rPr sz="2000" dirty="0">
                <a:latin typeface="Consolas"/>
                <a:cs typeface="Consolas"/>
              </a:rPr>
              <a:t>;</a:t>
            </a:r>
            <a:r>
              <a:rPr sz="2000" spc="-11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sz="2000" spc="-8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5px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top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sz="2000" spc="-11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bottom,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20px</a:t>
            </a:r>
            <a:r>
              <a:rPr sz="2000" spc="-8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on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sides</a:t>
            </a:r>
            <a:r>
              <a:rPr sz="2000" spc="-11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spc="-19" dirty="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525">
              <a:defRPr/>
            </a:pPr>
            <a:r>
              <a:rPr sz="2000" dirty="0">
                <a:latin typeface="Consolas"/>
                <a:cs typeface="Consolas"/>
              </a:rPr>
              <a:t>}</a:t>
            </a:r>
          </a:p>
          <a:p>
            <a:pPr marL="9525">
              <a:spcBef>
                <a:spcPts val="900"/>
              </a:spcBef>
              <a:defRPr/>
            </a:pPr>
            <a:r>
              <a:rPr sz="2000" dirty="0">
                <a:solidFill>
                  <a:srgbClr val="A42A2A"/>
                </a:solidFill>
                <a:latin typeface="Consolas"/>
                <a:cs typeface="Consolas"/>
              </a:rPr>
              <a:t>p.two </a:t>
            </a:r>
            <a:r>
              <a:rPr sz="2000" spc="-38" dirty="0">
                <a:latin typeface="Consolas"/>
                <a:cs typeface="Consolas"/>
              </a:rPr>
              <a:t>{</a:t>
            </a:r>
            <a:endParaRPr sz="2000" dirty="0">
              <a:latin typeface="Consolas"/>
              <a:cs typeface="Consolas"/>
            </a:endParaRPr>
          </a:p>
          <a:p>
            <a:pPr marL="220028">
              <a:defRPr/>
            </a:pPr>
            <a:r>
              <a:rPr sz="2000" spc="-8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4" dirty="0">
                <a:latin typeface="Consolas"/>
                <a:cs typeface="Consolas"/>
              </a:rPr>
              <a:t> </a:t>
            </a:r>
            <a:r>
              <a:rPr lang="en-GB" sz="2000" spc="-8" dirty="0">
                <a:solidFill>
                  <a:srgbClr val="0000CD"/>
                </a:solidFill>
                <a:latin typeface="Consolas"/>
                <a:cs typeface="Consolas"/>
              </a:rPr>
              <a:t>dotted</a:t>
            </a:r>
            <a:r>
              <a:rPr sz="2000" spc="-8" dirty="0">
                <a:latin typeface="Consolas"/>
                <a:cs typeface="Consolas"/>
              </a:rPr>
              <a:t>;</a:t>
            </a:r>
            <a:endParaRPr sz="2000" dirty="0">
              <a:latin typeface="Consolas"/>
              <a:cs typeface="Consolas"/>
            </a:endParaRPr>
          </a:p>
          <a:p>
            <a:pPr marL="220028">
              <a:defRPr/>
            </a:pPr>
            <a:r>
              <a:rPr sz="2000" spc="-8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width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-26" dirty="0">
                <a:latin typeface="Consolas"/>
                <a:cs typeface="Consolas"/>
              </a:rPr>
              <a:t> </a:t>
            </a:r>
            <a:r>
              <a:rPr lang="en-GB" sz="2000" dirty="0">
                <a:solidFill>
                  <a:srgbClr val="0000CD"/>
                </a:solidFill>
                <a:latin typeface="Consolas"/>
                <a:cs typeface="Consolas"/>
              </a:rPr>
              <a:t>medium</a:t>
            </a:r>
            <a:r>
              <a:rPr sz="2000" dirty="0">
                <a:latin typeface="Consolas"/>
                <a:cs typeface="Consolas"/>
              </a:rPr>
              <a:t>;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GB" sz="2000" spc="-15" dirty="0">
                <a:solidFill>
                  <a:srgbClr val="008000"/>
                </a:solidFill>
                <a:latin typeface="Consolas"/>
                <a:cs typeface="Consolas"/>
              </a:rPr>
              <a:t>medium border-width</a:t>
            </a:r>
            <a:r>
              <a:rPr sz="2000" spc="-19" dirty="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525">
              <a:defRPr/>
            </a:pPr>
            <a:r>
              <a:rPr sz="2000" dirty="0">
                <a:latin typeface="Consolas"/>
                <a:cs typeface="Consolas"/>
              </a:rPr>
              <a:t>}</a:t>
            </a:r>
          </a:p>
          <a:p>
            <a:pPr marL="9525">
              <a:spcBef>
                <a:spcPts val="900"/>
              </a:spcBef>
              <a:defRPr/>
            </a:pPr>
            <a:r>
              <a:rPr sz="2000" dirty="0">
                <a:solidFill>
                  <a:srgbClr val="A42A2A"/>
                </a:solidFill>
                <a:latin typeface="Consolas"/>
                <a:cs typeface="Consolas"/>
              </a:rPr>
              <a:t>p.three</a:t>
            </a:r>
            <a:r>
              <a:rPr sz="2000" spc="-4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2000" spc="-38" dirty="0">
                <a:latin typeface="Consolas"/>
                <a:cs typeface="Consolas"/>
              </a:rPr>
              <a:t>{</a:t>
            </a:r>
            <a:endParaRPr sz="2000" dirty="0">
              <a:latin typeface="Consolas"/>
              <a:cs typeface="Consolas"/>
            </a:endParaRPr>
          </a:p>
          <a:p>
            <a:pPr marL="220028">
              <a:defRPr/>
            </a:pPr>
            <a:r>
              <a:rPr sz="2000" spc="-8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19" dirty="0">
                <a:latin typeface="Consolas"/>
                <a:cs typeface="Consolas"/>
              </a:rPr>
              <a:t> </a:t>
            </a:r>
            <a:r>
              <a:rPr lang="en-GB" sz="2000" spc="-8" dirty="0">
                <a:solidFill>
                  <a:srgbClr val="0000CD"/>
                </a:solidFill>
                <a:latin typeface="Consolas"/>
                <a:cs typeface="Consolas"/>
              </a:rPr>
              <a:t>solid</a:t>
            </a:r>
            <a:r>
              <a:rPr sz="2000" spc="-8" dirty="0">
                <a:latin typeface="Consolas"/>
                <a:cs typeface="Consolas"/>
              </a:rPr>
              <a:t>;</a:t>
            </a:r>
            <a:endParaRPr sz="2000" dirty="0">
              <a:latin typeface="Consolas"/>
              <a:cs typeface="Consolas"/>
            </a:endParaRPr>
          </a:p>
          <a:p>
            <a:pPr marL="220028">
              <a:defRPr/>
            </a:pPr>
            <a:r>
              <a:rPr sz="2000" spc="-8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width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lang="en-GB" sz="2000" dirty="0">
                <a:solidFill>
                  <a:srgbClr val="0000CD"/>
                </a:solidFill>
                <a:latin typeface="Consolas"/>
                <a:cs typeface="Consolas"/>
              </a:rPr>
              <a:t>8</a:t>
            </a:r>
            <a:r>
              <a:rPr sz="2000" dirty="0" err="1">
                <a:solidFill>
                  <a:srgbClr val="0000CD"/>
                </a:solidFill>
                <a:latin typeface="Consolas"/>
                <a:cs typeface="Consolas"/>
              </a:rPr>
              <a:t>px</a:t>
            </a:r>
            <a:r>
              <a:rPr sz="2000" spc="-8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D"/>
                </a:solidFill>
                <a:latin typeface="Consolas"/>
                <a:cs typeface="Consolas"/>
              </a:rPr>
              <a:t>10px</a:t>
            </a:r>
            <a:r>
              <a:rPr sz="2000" spc="-4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D"/>
                </a:solidFill>
                <a:latin typeface="Consolas"/>
                <a:cs typeface="Consolas"/>
              </a:rPr>
              <a:t>4px</a:t>
            </a:r>
            <a:r>
              <a:rPr sz="2000" spc="-11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lang="en-GB" sz="2000" dirty="0">
                <a:solidFill>
                  <a:srgbClr val="0000CD"/>
                </a:solidFill>
                <a:latin typeface="Consolas"/>
                <a:cs typeface="Consolas"/>
              </a:rPr>
              <a:t>5</a:t>
            </a:r>
            <a:r>
              <a:rPr sz="2000" dirty="0" err="1">
                <a:solidFill>
                  <a:srgbClr val="0000CD"/>
                </a:solidFill>
                <a:latin typeface="Consolas"/>
                <a:cs typeface="Consolas"/>
              </a:rPr>
              <a:t>px</a:t>
            </a:r>
            <a:r>
              <a:rPr sz="2000" dirty="0">
                <a:latin typeface="Consolas"/>
                <a:cs typeface="Consolas"/>
              </a:rPr>
              <a:t>;</a:t>
            </a:r>
            <a:r>
              <a:rPr sz="2000" spc="-4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GB" sz="2000" spc="-4" dirty="0">
                <a:solidFill>
                  <a:srgbClr val="008000"/>
                </a:solidFill>
                <a:latin typeface="Consolas"/>
                <a:cs typeface="Consolas"/>
              </a:rPr>
              <a:t>8</a:t>
            </a:r>
            <a:r>
              <a:rPr sz="2000" dirty="0" err="1">
                <a:solidFill>
                  <a:srgbClr val="008000"/>
                </a:solidFill>
                <a:latin typeface="Consolas"/>
                <a:cs typeface="Consolas"/>
              </a:rPr>
              <a:t>px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top,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10px</a:t>
            </a:r>
            <a:r>
              <a:rPr sz="2000" spc="-11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right,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4px</a:t>
            </a:r>
            <a:r>
              <a:rPr sz="2000" spc="-8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bottom</a:t>
            </a:r>
            <a:r>
              <a:rPr sz="2000" spc="-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spc="-19" dirty="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lang="en-GB" sz="2000" spc="-19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5px</a:t>
            </a:r>
            <a:r>
              <a:rPr sz="2000" spc="-11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left</a:t>
            </a:r>
            <a:r>
              <a:rPr sz="2000" spc="-11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spc="-26" dirty="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525">
              <a:defRPr/>
            </a:pPr>
            <a:r>
              <a:rPr sz="20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592A636-937A-E27A-889E-62805F6E82B8}"/>
              </a:ext>
            </a:extLst>
          </p:cNvPr>
          <p:cNvSpPr txBox="1">
            <a:spLocks/>
          </p:cNvSpPr>
          <p:nvPr/>
        </p:nvSpPr>
        <p:spPr>
          <a:xfrm>
            <a:off x="316224" y="332656"/>
            <a:ext cx="4968875" cy="747713"/>
          </a:xfrm>
          <a:prstGeom prst="rect">
            <a:avLst/>
          </a:prstGeom>
        </p:spPr>
        <p:txBody>
          <a:bodyPr lIns="0" tIns="9525" rIns="0" bIns="0" anchor="ctr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9525">
              <a:spcBef>
                <a:spcPts val="75"/>
              </a:spcBef>
              <a:defRPr/>
            </a:pPr>
            <a:r>
              <a:rPr lang="en-GB" sz="4800" kern="0" spc="-64" dirty="0"/>
              <a:t>CSS</a:t>
            </a:r>
            <a:r>
              <a:rPr lang="en-GB" sz="4800" kern="0" spc="-176" dirty="0"/>
              <a:t> </a:t>
            </a:r>
            <a:r>
              <a:rPr lang="en-GB" sz="4800" kern="0" spc="-86" dirty="0"/>
              <a:t>Border</a:t>
            </a:r>
            <a:r>
              <a:rPr lang="en-GB" sz="4800" kern="0" spc="-184" dirty="0"/>
              <a:t> </a:t>
            </a:r>
            <a:r>
              <a:rPr lang="en-GB" sz="4800" kern="0" spc="-68" dirty="0"/>
              <a:t>Style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7C36F2-E58E-B0D1-3C72-E2AD25AB5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260648"/>
            <a:ext cx="4968875" cy="747712"/>
          </a:xfr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4800" spc="-64" dirty="0"/>
              <a:t>CSS</a:t>
            </a:r>
            <a:r>
              <a:rPr sz="4800" spc="-176" dirty="0"/>
              <a:t> </a:t>
            </a:r>
            <a:r>
              <a:rPr sz="4800" spc="-86" dirty="0"/>
              <a:t>Border</a:t>
            </a:r>
            <a:r>
              <a:rPr sz="4800" spc="-184" dirty="0"/>
              <a:t> </a:t>
            </a:r>
            <a:r>
              <a:rPr sz="4800" spc="-68" dirty="0"/>
              <a:t>Style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ED863ED-BA22-0301-F74F-E0F7B23F37A2}"/>
              </a:ext>
            </a:extLst>
          </p:cNvPr>
          <p:cNvSpPr txBox="1"/>
          <p:nvPr/>
        </p:nvSpPr>
        <p:spPr>
          <a:xfrm>
            <a:off x="191344" y="1213492"/>
            <a:ext cx="11953328" cy="5096908"/>
          </a:xfrm>
          <a:prstGeom prst="rect">
            <a:avLst/>
          </a:prstGeom>
        </p:spPr>
        <p:txBody>
          <a:bodyPr wrap="square" lIns="0" tIns="5905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6725" indent="-457200">
              <a:spcBef>
                <a:spcPts val="463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border-style</a:t>
            </a:r>
            <a:r>
              <a:rPr lang="en-US" altLang="en-US" sz="2800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>
                <a:cs typeface="Arial" panose="020B0604020202020204" pitchFamily="34" charset="0"/>
              </a:rPr>
              <a:t>property has various properties of the border display: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dotted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</a:rPr>
              <a:t>- a dotted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dashed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</a:rPr>
              <a:t>- a dashed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solid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 </a:t>
            </a:r>
            <a:r>
              <a:rPr lang="en-US" altLang="en-US" dirty="0">
                <a:cs typeface="Arial" panose="020B0604020202020204" pitchFamily="34" charset="0"/>
              </a:rPr>
              <a:t>- a solid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double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</a:rPr>
              <a:t>- a double border</a:t>
            </a:r>
          </a:p>
          <a:p>
            <a:pPr marL="1085850" lvl="1" indent="-342900">
              <a:spcBef>
                <a:spcPts val="1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groove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</a:rPr>
              <a:t>- a 3D grooved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ridge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 </a:t>
            </a:r>
            <a:r>
              <a:rPr lang="en-US" altLang="en-US" dirty="0">
                <a:cs typeface="Arial" panose="020B0604020202020204" pitchFamily="34" charset="0"/>
              </a:rPr>
              <a:t>- a 3D ridged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inset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 </a:t>
            </a:r>
            <a:r>
              <a:rPr lang="en-US" altLang="en-US" dirty="0">
                <a:cs typeface="Arial" panose="020B0604020202020204" pitchFamily="34" charset="0"/>
              </a:rPr>
              <a:t>- a 3D inset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outset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</a:rPr>
              <a:t>- a 3D outset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none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  </a:t>
            </a:r>
            <a:r>
              <a:rPr lang="en-US" altLang="en-US" dirty="0">
                <a:cs typeface="Arial" panose="020B0604020202020204" pitchFamily="34" charset="0"/>
              </a:rPr>
              <a:t>- no border</a:t>
            </a:r>
          </a:p>
          <a:p>
            <a:pPr marL="1085850" lvl="1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hidden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</a:rPr>
              <a:t>- a hidden border</a:t>
            </a:r>
          </a:p>
          <a:p>
            <a:pPr marL="352425" indent="-342900">
              <a:spcBef>
                <a:spcPts val="163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border-style</a:t>
            </a:r>
            <a:r>
              <a:rPr lang="en-US" altLang="en-US" dirty="0">
                <a:solidFill>
                  <a:srgbClr val="DC133B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>
                <a:cs typeface="Arial" panose="020B0604020202020204" pitchFamily="34" charset="0"/>
              </a:rPr>
              <a:t>property can have from one to four values: for the top border, right border, bottom border, and the left border.</a:t>
            </a:r>
          </a:p>
        </p:txBody>
      </p:sp>
      <p:sp>
        <p:nvSpPr>
          <p:cNvPr id="30724" name="object 2">
            <a:extLst>
              <a:ext uri="{FF2B5EF4-FFF2-40B4-BE49-F238E27FC236}">
                <a16:creationId xmlns:a16="http://schemas.microsoft.com/office/drawing/2014/main" id="{7665B82A-A69F-B376-DD44-4B9490A99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952" y="1844824"/>
            <a:ext cx="5832648" cy="35986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50483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p.dotted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dotted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p.dashed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dashed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p.solid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solid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p.double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p.groove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groove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p.ridge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ridge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p.inset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inset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p.outset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outset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p.none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none</a:t>
            </a:r>
            <a:r>
              <a:rPr lang="en-US" altLang="en-US" sz="2000" dirty="0">
                <a:latin typeface="Consolas" panose="020B0609020204030204" pitchFamily="49" charset="0"/>
              </a:rPr>
              <a:t>;} 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p.hidden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hidden</a:t>
            </a:r>
            <a:r>
              <a:rPr lang="en-US" altLang="en-US" sz="2000" dirty="0"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1838"/>
              </a:lnSpc>
            </a:pPr>
            <a:r>
              <a:rPr lang="en-US" altLang="en-US" sz="2000" dirty="0" err="1">
                <a:solidFill>
                  <a:srgbClr val="A42A2A"/>
                </a:solidFill>
                <a:latin typeface="Consolas" panose="020B0609020204030204" pitchFamily="49" charset="0"/>
              </a:rPr>
              <a:t>p.mix</a:t>
            </a:r>
            <a:r>
              <a:rPr lang="en-US" altLang="en-US" sz="2000" dirty="0">
                <a:solidFill>
                  <a:srgbClr val="A42A2A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latin typeface="Consolas" panose="020B0609020204030204" pitchFamily="49" charset="0"/>
              </a:rPr>
              <a:t>{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000" dirty="0">
                <a:latin typeface="Consolas" panose="020B0609020204030204" pitchFamily="49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dotted dashed solid double</a:t>
            </a:r>
            <a:r>
              <a:rPr lang="en-US" altLang="en-US" sz="2000" dirty="0">
                <a:latin typeface="Consolas" panose="020B0609020204030204" pitchFamily="49" charset="0"/>
              </a:rPr>
              <a:t>;}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D2F6D6-E6AE-A2D3-A8D0-8011794BCE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352" y="180181"/>
            <a:ext cx="5472113" cy="749300"/>
          </a:xfr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4800" spc="-60" dirty="0"/>
              <a:t>CSS</a:t>
            </a:r>
            <a:r>
              <a:rPr sz="4800" spc="-176" dirty="0"/>
              <a:t> </a:t>
            </a:r>
            <a:r>
              <a:rPr sz="4800" spc="-86" dirty="0"/>
              <a:t>Margins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8382AFF-F526-0543-65F8-60FC3A82EEFC}"/>
              </a:ext>
            </a:extLst>
          </p:cNvPr>
          <p:cNvSpPr txBox="1"/>
          <p:nvPr/>
        </p:nvSpPr>
        <p:spPr>
          <a:xfrm>
            <a:off x="335360" y="1397000"/>
            <a:ext cx="11521280" cy="2215350"/>
          </a:xfrm>
          <a:prstGeom prst="rect">
            <a:avLst/>
          </a:prstGeom>
        </p:spPr>
        <p:txBody>
          <a:bodyPr wrap="square" lIns="0" tIns="9525" rIns="0" bIns="0">
            <a:spAutoFit/>
          </a:bodyPr>
          <a:lstStyle/>
          <a:p>
            <a:pPr marL="294800" indent="-285750">
              <a:spcBef>
                <a:spcPts val="75"/>
              </a:spcBef>
              <a:buSzPct val="100000"/>
              <a:buFont typeface="Arial" panose="020B0604020202020204" pitchFamily="34" charset="0"/>
              <a:buChar char="•"/>
              <a:tabLst>
                <a:tab pos="191928" algn="l"/>
              </a:tabLst>
              <a:defRPr/>
            </a:pPr>
            <a:r>
              <a:rPr 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Adds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space</a:t>
            </a:r>
            <a:r>
              <a:rPr sz="2800" spc="-11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around</a:t>
            </a:r>
            <a:r>
              <a:rPr sz="2800" spc="-19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elements,</a:t>
            </a:r>
            <a:r>
              <a:rPr sz="2800" spc="-30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outside</a:t>
            </a:r>
            <a:r>
              <a:rPr sz="2800" spc="-23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of</a:t>
            </a:r>
            <a:r>
              <a:rPr sz="2800" spc="-26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any</a:t>
            </a:r>
            <a:r>
              <a:rPr sz="2800" spc="-19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defined</a:t>
            </a:r>
            <a:r>
              <a:rPr sz="2800" spc="-30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spc="-8" dirty="0">
                <a:solidFill>
                  <a:srgbClr val="252525"/>
                </a:solidFill>
                <a:cs typeface="Arial" panose="020B0604020202020204" pitchFamily="34" charset="0"/>
              </a:rPr>
              <a:t>borders.</a:t>
            </a:r>
            <a:endParaRPr lang="en-GB" sz="2800" spc="-8" dirty="0">
              <a:solidFill>
                <a:srgbClr val="252525"/>
              </a:solidFill>
              <a:cs typeface="Arial" panose="020B0604020202020204" pitchFamily="34" charset="0"/>
            </a:endParaRPr>
          </a:p>
          <a:p>
            <a:pPr marL="294800" indent="-285750">
              <a:spcBef>
                <a:spcPts val="75"/>
              </a:spcBef>
              <a:buSzPct val="100000"/>
              <a:buFont typeface="Arial" panose="020B0604020202020204" pitchFamily="34" charset="0"/>
              <a:buChar char="•"/>
              <a:tabLst>
                <a:tab pos="191928" algn="l"/>
              </a:tabLst>
              <a:defRPr/>
            </a:pPr>
            <a:endParaRPr lang="en-GB" sz="2800" dirty="0">
              <a:cs typeface="Arial" panose="020B0604020202020204" pitchFamily="34" charset="0"/>
            </a:endParaRPr>
          </a:p>
          <a:p>
            <a:pPr marL="294800" indent="-285750">
              <a:spcBef>
                <a:spcPts val="75"/>
              </a:spcBef>
              <a:buSzPct val="100000"/>
              <a:buFont typeface="Arial" panose="020B0604020202020204" pitchFamily="34" charset="0"/>
              <a:buChar char="•"/>
              <a:tabLst>
                <a:tab pos="191928" algn="l"/>
              </a:tabLst>
              <a:defRPr/>
            </a:pPr>
            <a:r>
              <a:rPr lang="en-GB" sz="2800" dirty="0">
                <a:cs typeface="Arial" panose="020B0604020202020204" pitchFamily="34" charset="0"/>
              </a:rPr>
              <a:t>Margins are specified on each side of an element:</a:t>
            </a:r>
          </a:p>
          <a:p>
            <a:pPr marL="294800" indent="-285750">
              <a:spcBef>
                <a:spcPts val="75"/>
              </a:spcBef>
              <a:buSzPct val="100000"/>
              <a:buFont typeface="Arial" panose="020B0604020202020204" pitchFamily="34" charset="0"/>
              <a:buChar char="•"/>
              <a:tabLst>
                <a:tab pos="191928" algn="l"/>
              </a:tabLst>
              <a:defRPr/>
            </a:pPr>
            <a:r>
              <a:rPr lang="en-GB" sz="2800" dirty="0">
                <a:cs typeface="Arial" panose="020B0604020202020204" pitchFamily="34" charset="0"/>
              </a:rPr>
              <a:t>E.g.</a:t>
            </a:r>
          </a:p>
          <a:p>
            <a:pPr marL="294800" indent="-285750">
              <a:spcBef>
                <a:spcPts val="75"/>
              </a:spcBef>
              <a:buSzPct val="100000"/>
              <a:buFont typeface="Arial" panose="020B0604020202020204" pitchFamily="34" charset="0"/>
              <a:buChar char="•"/>
              <a:tabLst>
                <a:tab pos="191928" algn="l"/>
              </a:tabLst>
              <a:defRPr/>
            </a:pPr>
            <a:endParaRPr sz="2800" dirty="0">
              <a:cs typeface="Arial" panose="020B0604020202020204" pitchFamily="34" charset="0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91F0115-E7D1-5E8F-8341-FAAC3D418708}"/>
              </a:ext>
            </a:extLst>
          </p:cNvPr>
          <p:cNvSpPr txBox="1"/>
          <p:nvPr/>
        </p:nvSpPr>
        <p:spPr>
          <a:xfrm>
            <a:off x="1991544" y="2924944"/>
            <a:ext cx="7776864" cy="3112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9049" rIns="0" bIns="0">
            <a:spAutoFit/>
          </a:bodyPr>
          <a:lstStyle>
            <a:lvl1pPr marL="77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SzPct val="96000"/>
              <a:buFontTx/>
              <a:buChar char="•"/>
              <a:defRPr/>
            </a:pPr>
            <a:r>
              <a:rPr lang="en-US" altLang="en-US" sz="2000" dirty="0">
                <a:solidFill>
                  <a:srgbClr val="A42A2A"/>
                </a:solidFill>
                <a:cs typeface="Arial" panose="020B0604020202020204" pitchFamily="34" charset="0"/>
              </a:rPr>
              <a:t>p </a:t>
            </a:r>
            <a:r>
              <a:rPr lang="en-US" altLang="en-US" sz="2000" dirty="0">
                <a:cs typeface="Arial" panose="020B0604020202020204" pitchFamily="34" charset="0"/>
              </a:rPr>
              <a:t>{</a:t>
            </a:r>
          </a:p>
          <a:p>
            <a:pPr>
              <a:spcBef>
                <a:spcPts val="238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margin-top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100px</a:t>
            </a:r>
            <a:r>
              <a:rPr lang="en-US" altLang="en-US" sz="2000" dirty="0">
                <a:cs typeface="Arial" panose="020B0604020202020204" pitchFamily="34" charset="0"/>
              </a:rPr>
              <a:t>;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margin-bottom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100px</a:t>
            </a:r>
            <a:r>
              <a:rPr lang="en-US" altLang="en-US" sz="2000" dirty="0">
                <a:cs typeface="Arial" panose="020B0604020202020204" pitchFamily="34" charset="0"/>
              </a:rPr>
              <a:t>;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margin-right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150px</a:t>
            </a:r>
            <a:r>
              <a:rPr lang="en-US" altLang="en-US" sz="2000" dirty="0">
                <a:cs typeface="Arial" panose="020B0604020202020204" pitchFamily="34" charset="0"/>
              </a:rPr>
              <a:t>;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margin-left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80px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  <a:p>
            <a:pPr>
              <a:buSzPct val="95000"/>
              <a:buFontTx/>
              <a:buChar char="•"/>
              <a:defRPr/>
            </a:pPr>
            <a:r>
              <a:rPr lang="en-US" altLang="en-US" sz="2000" dirty="0">
                <a:solidFill>
                  <a:srgbClr val="A42A2A"/>
                </a:solidFill>
                <a:cs typeface="Arial" panose="020B0604020202020204" pitchFamily="34" charset="0"/>
              </a:rPr>
              <a:t>p </a:t>
            </a:r>
            <a:r>
              <a:rPr lang="en-US" altLang="en-US" sz="2000" dirty="0">
                <a:cs typeface="Arial" panose="020B0604020202020204" pitchFamily="34" charset="0"/>
              </a:rPr>
              <a:t>{</a:t>
            </a:r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margin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25px 50px 75px 100px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  <a:p>
            <a:pPr>
              <a:buFontTx/>
              <a:buChar char="•"/>
              <a:defRPr/>
            </a:pPr>
            <a:r>
              <a:rPr lang="en-US" altLang="en-US" sz="2000" dirty="0">
                <a:solidFill>
                  <a:srgbClr val="A42A2A"/>
                </a:solidFill>
                <a:cs typeface="Arial" panose="020B0604020202020204" pitchFamily="34" charset="0"/>
              </a:rPr>
              <a:t>p </a:t>
            </a:r>
            <a:r>
              <a:rPr lang="en-US" altLang="en-US" sz="2000" dirty="0">
                <a:cs typeface="Arial" panose="020B0604020202020204" pitchFamily="34" charset="0"/>
              </a:rPr>
              <a:t>{</a:t>
            </a:r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margin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25px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96384A4-E28A-1876-7534-88EDF13E3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963" y="1892301"/>
            <a:ext cx="67738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896481-F924-05F3-802A-D6A0596A7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9" y="1916832"/>
            <a:ext cx="11749467" cy="2232248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29FA73C-DD30-9501-36D5-757F039C00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675" y="260648"/>
            <a:ext cx="5832475" cy="747712"/>
          </a:xfr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4800" spc="-60" dirty="0"/>
              <a:t>CSS</a:t>
            </a:r>
            <a:r>
              <a:rPr sz="4800" spc="-176" dirty="0"/>
              <a:t> </a:t>
            </a:r>
            <a:r>
              <a:rPr sz="4800" spc="-86" dirty="0"/>
              <a:t>Padding</a:t>
            </a:r>
          </a:p>
        </p:txBody>
      </p:sp>
      <p:sp>
        <p:nvSpPr>
          <p:cNvPr id="34819" name="object 3">
            <a:extLst>
              <a:ext uri="{FF2B5EF4-FFF2-40B4-BE49-F238E27FC236}">
                <a16:creationId xmlns:a16="http://schemas.microsoft.com/office/drawing/2014/main" id="{CF2EC004-030D-4818-E1F3-8D1BB04DC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75" y="1523760"/>
            <a:ext cx="10585176" cy="841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1435" rIns="0" bIns="0">
            <a:spAutoFit/>
          </a:bodyPr>
          <a:lstStyle>
            <a:lvl1pPr marL="77788" indent="-68263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5275" indent="-285750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525"/>
                </a:solidFill>
                <a:cs typeface="Arial" panose="020B0604020202020204" pitchFamily="34" charset="0"/>
              </a:rPr>
              <a:t>Creates space around an element's content, inside of any defined borders.</a:t>
            </a:r>
          </a:p>
          <a:p>
            <a:pPr marL="295275" indent="-285750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A26221E-1B9A-DDCA-814D-4AA7B3512CC0}"/>
              </a:ext>
            </a:extLst>
          </p:cNvPr>
          <p:cNvSpPr txBox="1"/>
          <p:nvPr/>
        </p:nvSpPr>
        <p:spPr>
          <a:xfrm>
            <a:off x="4151784" y="4078117"/>
            <a:ext cx="4176712" cy="1958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9525" rIns="0" bIns="0">
            <a:spAutoFit/>
          </a:bodyPr>
          <a:lstStyle>
            <a:lvl1pPr marL="666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  <a:defRPr/>
            </a:pPr>
            <a:r>
              <a:rPr lang="en-US" altLang="en-US" sz="2000" dirty="0">
                <a:solidFill>
                  <a:srgbClr val="A42A2A"/>
                </a:solidFill>
                <a:cs typeface="Arial" panose="020B0604020202020204" pitchFamily="34" charset="0"/>
              </a:rPr>
              <a:t>div </a:t>
            </a:r>
            <a:r>
              <a:rPr lang="en-US" altLang="en-US" sz="2000" dirty="0">
                <a:cs typeface="Arial" panose="020B0604020202020204" pitchFamily="34" charset="0"/>
              </a:rPr>
              <a:t>{</a:t>
            </a:r>
          </a:p>
          <a:p>
            <a:pPr>
              <a:spcBef>
                <a:spcPts val="175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padding-top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50px</a:t>
            </a:r>
            <a:r>
              <a:rPr lang="en-US" altLang="en-US" sz="2000" dirty="0">
                <a:cs typeface="Arial" panose="020B0604020202020204" pitchFamily="34" charset="0"/>
              </a:rPr>
              <a:t>; </a:t>
            </a:r>
          </a:p>
          <a:p>
            <a:pPr>
              <a:spcBef>
                <a:spcPts val="175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padding-right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100px</a:t>
            </a:r>
            <a:r>
              <a:rPr lang="en-US" altLang="en-US" sz="2000" dirty="0">
                <a:cs typeface="Arial" panose="020B0604020202020204" pitchFamily="34" charset="0"/>
              </a:rPr>
              <a:t>; </a:t>
            </a:r>
          </a:p>
          <a:p>
            <a:pPr>
              <a:spcBef>
                <a:spcPts val="175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padding-bottom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50px</a:t>
            </a:r>
            <a:r>
              <a:rPr lang="en-US" altLang="en-US" sz="2000" dirty="0">
                <a:cs typeface="Arial" panose="020B0604020202020204" pitchFamily="34" charset="0"/>
              </a:rPr>
              <a:t>; </a:t>
            </a:r>
          </a:p>
          <a:p>
            <a:pPr>
              <a:spcBef>
                <a:spcPts val="175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padding-left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D"/>
                </a:solidFill>
                <a:cs typeface="Arial" panose="020B0604020202020204" pitchFamily="34" charset="0"/>
              </a:rPr>
              <a:t>100px</a:t>
            </a:r>
            <a:r>
              <a:rPr lang="en-US" altLang="en-US" sz="2000" dirty="0"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688762-90DF-63B7-4B8C-D060A567E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4437112"/>
            <a:ext cx="5204924" cy="1362075"/>
          </a:xfrm>
        </p:spPr>
        <p:txBody>
          <a:bodyPr/>
          <a:lstStyle/>
          <a:p>
            <a:r>
              <a:rPr lang="en-US" dirty="0"/>
              <a:t>Text formatting in </a:t>
            </a:r>
            <a:r>
              <a:rPr lang="en-US" dirty="0" err="1"/>
              <a:t>css</a:t>
            </a:r>
            <a:endParaRPr lang="en-GB" dirty="0"/>
          </a:p>
        </p:txBody>
      </p:sp>
      <p:pic>
        <p:nvPicPr>
          <p:cNvPr id="6146" name="Picture 2" descr="Free vector editing body text concept illustration">
            <a:extLst>
              <a:ext uri="{FF2B5EF4-FFF2-40B4-BE49-F238E27FC236}">
                <a16:creationId xmlns:a16="http://schemas.microsoft.com/office/drawing/2014/main" id="{FF258721-6797-3F08-01EC-769ABC37C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148" y="1412776"/>
            <a:ext cx="596265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930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AF33B13-77D9-F43E-8C0B-A4DAC4CD2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315242"/>
            <a:ext cx="5408612" cy="750887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800" spc="-5" dirty="0"/>
              <a:t>T</a:t>
            </a:r>
            <a:r>
              <a:rPr lang="en-US" sz="4800" spc="-5" dirty="0"/>
              <a:t>ext</a:t>
            </a:r>
            <a:r>
              <a:rPr sz="4800" spc="-60" dirty="0"/>
              <a:t> </a:t>
            </a:r>
            <a:r>
              <a:rPr lang="en-US" sz="4800" spc="-20" dirty="0"/>
              <a:t>Color</a:t>
            </a:r>
            <a:endParaRPr sz="4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6B8780-E314-8307-F2A1-9ADA1195C7E6}"/>
              </a:ext>
            </a:extLst>
          </p:cNvPr>
          <p:cNvSpPr txBox="1"/>
          <p:nvPr/>
        </p:nvSpPr>
        <p:spPr>
          <a:xfrm>
            <a:off x="551384" y="1576388"/>
            <a:ext cx="7560840" cy="157479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spc="-50" dirty="0">
                <a:solidFill>
                  <a:schemeClr val="accent2"/>
                </a:solidFill>
                <a:cs typeface="Arial" panose="020B0604020202020204" pitchFamily="34" charset="0"/>
              </a:rPr>
              <a:t>Text</a:t>
            </a:r>
            <a:r>
              <a:rPr sz="2800" b="1" spc="-45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sz="2800" b="1" spc="-5" dirty="0">
                <a:solidFill>
                  <a:schemeClr val="accent2"/>
                </a:solidFill>
                <a:cs typeface="Arial" panose="020B0604020202020204" pitchFamily="34" charset="0"/>
              </a:rPr>
              <a:t>Color</a:t>
            </a:r>
            <a:endParaRPr sz="28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US" sz="2800" spc="-5" dirty="0">
                <a:cs typeface="Arial" panose="020B0604020202020204" pitchFamily="34" charset="0"/>
              </a:rPr>
              <a:t>Sets</a:t>
            </a:r>
            <a:r>
              <a:rPr sz="2800" spc="5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the</a:t>
            </a:r>
            <a:r>
              <a:rPr sz="2800" spc="40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color</a:t>
            </a:r>
            <a:r>
              <a:rPr sz="2800" spc="5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of</a:t>
            </a:r>
            <a:r>
              <a:rPr sz="2800" spc="1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the</a:t>
            </a:r>
            <a:r>
              <a:rPr sz="2800" spc="5" dirty="0">
                <a:cs typeface="Arial" panose="020B0604020202020204" pitchFamily="34" charset="0"/>
              </a:rPr>
              <a:t> </a:t>
            </a:r>
            <a:r>
              <a:rPr sz="2800" spc="-15" dirty="0">
                <a:cs typeface="Arial" panose="020B0604020202020204" pitchFamily="34" charset="0"/>
              </a:rPr>
              <a:t>text</a:t>
            </a:r>
            <a:r>
              <a:rPr lang="en-GB" sz="2800" spc="-15" dirty="0">
                <a:cs typeface="Arial" panose="020B0604020202020204" pitchFamily="34" charset="0"/>
              </a:rPr>
              <a:t>.</a:t>
            </a:r>
            <a:endParaRPr sz="2800" dirty="0">
              <a:cs typeface="Arial" panose="020B0604020202020204" pitchFamily="34" charset="0"/>
            </a:endParaRPr>
          </a:p>
          <a:p>
            <a:pPr marL="469900" indent="-457200">
              <a:spcBef>
                <a:spcPts val="5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5" dirty="0">
                <a:cs typeface="Arial" panose="020B0604020202020204" pitchFamily="34" charset="0"/>
              </a:rPr>
              <a:t>S</a:t>
            </a:r>
            <a:r>
              <a:rPr sz="2800" spc="-5" dirty="0">
                <a:cs typeface="Arial" panose="020B0604020202020204" pitchFamily="34" charset="0"/>
              </a:rPr>
              <a:t>pecified</a:t>
            </a:r>
            <a:r>
              <a:rPr sz="2800" spc="-25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by:</a:t>
            </a:r>
            <a:r>
              <a:rPr lang="en-GB" sz="2800" spc="-5" dirty="0"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chemeClr val="accent2"/>
                </a:solidFill>
                <a:cs typeface="Arial" panose="020B0604020202020204" pitchFamily="34" charset="0"/>
              </a:rPr>
              <a:t>color:</a:t>
            </a:r>
            <a:r>
              <a:rPr spc="-20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i="1" spc="-5" dirty="0">
                <a:solidFill>
                  <a:schemeClr val="accent2"/>
                </a:solidFill>
                <a:cs typeface="Arial" panose="020B0604020202020204" pitchFamily="34" charset="0"/>
              </a:rPr>
              <a:t>color</a:t>
            </a:r>
            <a:r>
              <a:rPr spc="-5" dirty="0">
                <a:solidFill>
                  <a:schemeClr val="accent2"/>
                </a:solidFill>
                <a:cs typeface="Arial" panose="020B0604020202020204" pitchFamily="34" charset="0"/>
              </a:rPr>
              <a:t>|initial|inherit;</a:t>
            </a:r>
            <a:endParaRPr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>
              <a:spcBef>
                <a:spcPts val="20"/>
              </a:spcBef>
              <a:defRPr/>
            </a:pPr>
            <a:endParaRPr sz="1750" dirty="0">
              <a:cs typeface="Arial" panose="020B0604020202020204" pitchFamily="34" charset="0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07FFB7F4-119C-C743-06A7-EC9A6FD16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840908"/>
              </p:ext>
            </p:extLst>
          </p:nvPr>
        </p:nvGraphicFramePr>
        <p:xfrm>
          <a:off x="4727848" y="3413762"/>
          <a:ext cx="7272808" cy="2225633"/>
        </p:xfrm>
        <a:graphic>
          <a:graphicData uri="http://schemas.openxmlformats.org/drawingml/2006/table">
            <a:tbl>
              <a:tblPr/>
              <a:tblGrid>
                <a:gridCol w="160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2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75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marL="0" marR="0" marT="64135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64135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38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color</a:t>
                      </a:r>
                    </a:p>
                  </a:txBody>
                  <a:tcPr marL="0" marR="0" marT="64135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Specifies the text color.</a:t>
                      </a:r>
                    </a:p>
                  </a:txBody>
                  <a:tcPr marL="0" marR="0" marT="64135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311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initial</a:t>
                      </a:r>
                    </a:p>
                  </a:txBody>
                  <a:tcPr marL="0" marR="0" marT="64769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Sets this property to its default  value.</a:t>
                      </a:r>
                    </a:p>
                  </a:txBody>
                  <a:tcPr marL="0" marR="0" marT="64769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13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inherit</a:t>
                      </a:r>
                    </a:p>
                  </a:txBody>
                  <a:tcPr marL="0" marR="0" marT="64769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Inherits this property from its  parent element.</a:t>
                      </a:r>
                    </a:p>
                  </a:txBody>
                  <a:tcPr marL="0" marR="0" marT="64769" marB="0" horzOverflow="overflow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7656A50-9994-B6C9-7657-A06E009FFA73}"/>
              </a:ext>
            </a:extLst>
          </p:cNvPr>
          <p:cNvSpPr txBox="1"/>
          <p:nvPr/>
        </p:nvSpPr>
        <p:spPr>
          <a:xfrm>
            <a:off x="1236179" y="3423404"/>
            <a:ext cx="3095625" cy="22159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marL="12700">
              <a:defRPr/>
            </a:pPr>
            <a:r>
              <a:rPr lang="en-US" sz="2000" spc="-5" dirty="0">
                <a:cs typeface="Arial" panose="020B0604020202020204" pitchFamily="34" charset="0"/>
              </a:rPr>
              <a:t>body</a:t>
            </a:r>
            <a:r>
              <a:rPr lang="en-US" sz="2000" spc="-30" dirty="0">
                <a:cs typeface="Arial" panose="020B0604020202020204" pitchFamily="34" charset="0"/>
              </a:rPr>
              <a:t> </a:t>
            </a:r>
            <a:r>
              <a:rPr lang="en-US" sz="2000" dirty="0">
                <a:cs typeface="Arial" panose="020B0604020202020204" pitchFamily="34" charset="0"/>
              </a:rPr>
              <a:t>{</a:t>
            </a:r>
          </a:p>
          <a:p>
            <a:pPr marL="220979">
              <a:spcBef>
                <a:spcPts val="5"/>
              </a:spcBef>
              <a:defRPr/>
            </a:pPr>
            <a:r>
              <a:rPr lang="en-US" sz="2000" spc="-10" dirty="0">
                <a:cs typeface="Arial" panose="020B0604020202020204" pitchFamily="34" charset="0"/>
              </a:rPr>
              <a:t>color:</a:t>
            </a:r>
            <a:r>
              <a:rPr lang="en-US" sz="2000" spc="-5" dirty="0">
                <a:cs typeface="Arial" panose="020B0604020202020204" pitchFamily="34" charset="0"/>
              </a:rPr>
              <a:t> blue;</a:t>
            </a:r>
            <a:endParaRPr lang="en-US"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US" sz="2000" dirty="0">
                <a:cs typeface="Arial" panose="020B0604020202020204" pitchFamily="34" charset="0"/>
              </a:rPr>
              <a:t>}</a:t>
            </a:r>
          </a:p>
          <a:p>
            <a:pPr marL="12700">
              <a:defRPr/>
            </a:pPr>
            <a:r>
              <a:rPr lang="en-US" sz="2000" dirty="0">
                <a:cs typeface="Arial" panose="020B0604020202020204" pitchFamily="34" charset="0"/>
              </a:rPr>
              <a:t>h1</a:t>
            </a:r>
            <a:r>
              <a:rPr lang="en-US" sz="2000" spc="-35" dirty="0">
                <a:cs typeface="Arial" panose="020B0604020202020204" pitchFamily="34" charset="0"/>
              </a:rPr>
              <a:t> </a:t>
            </a:r>
            <a:r>
              <a:rPr lang="en-US" sz="2000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lang="en-US" sz="2000" spc="-10" dirty="0">
                <a:cs typeface="Arial" panose="020B0604020202020204" pitchFamily="34" charset="0"/>
              </a:rPr>
              <a:t>color:</a:t>
            </a:r>
            <a:r>
              <a:rPr lang="en-US" sz="2000" spc="10" dirty="0">
                <a:cs typeface="Arial" panose="020B0604020202020204" pitchFamily="34" charset="0"/>
              </a:rPr>
              <a:t> </a:t>
            </a:r>
            <a:r>
              <a:rPr lang="en-US" sz="2000" spc="-10" dirty="0">
                <a:cs typeface="Arial" panose="020B0604020202020204" pitchFamily="34" charset="0"/>
              </a:rPr>
              <a:t>#00ff00;</a:t>
            </a:r>
            <a:endParaRPr lang="en-US"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US" sz="2000" dirty="0">
                <a:cs typeface="Arial" panose="020B0604020202020204" pitchFamily="34" charset="0"/>
              </a:rPr>
              <a:t>}</a:t>
            </a:r>
          </a:p>
          <a:p>
            <a:pPr>
              <a:defRPr/>
            </a:pPr>
            <a:endParaRPr lang="en-GB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C41DB1F-4F35-0A3A-9CE4-387716B08E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436806"/>
            <a:ext cx="4905375" cy="628650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000" spc="-165" dirty="0"/>
              <a:t>T</a:t>
            </a:r>
            <a:r>
              <a:rPr sz="4000" spc="-20" dirty="0"/>
              <a:t>e</a:t>
            </a:r>
            <a:r>
              <a:rPr sz="4000" spc="-5" dirty="0"/>
              <a:t>x</a:t>
            </a:r>
            <a:r>
              <a:rPr sz="4000" dirty="0"/>
              <a:t>t</a:t>
            </a:r>
            <a:r>
              <a:rPr sz="4000" spc="-10" dirty="0"/>
              <a:t> </a:t>
            </a:r>
            <a:r>
              <a:rPr sz="4000" dirty="0"/>
              <a:t>Alignme</a:t>
            </a:r>
            <a:r>
              <a:rPr sz="4000" spc="-30" dirty="0"/>
              <a:t>n</a:t>
            </a:r>
            <a:r>
              <a:rPr sz="4000" dirty="0"/>
              <a:t>t</a:t>
            </a:r>
          </a:p>
        </p:txBody>
      </p:sp>
      <p:sp>
        <p:nvSpPr>
          <p:cNvPr id="36867" name="object 4">
            <a:extLst>
              <a:ext uri="{FF2B5EF4-FFF2-40B4-BE49-F238E27FC236}">
                <a16:creationId xmlns:a16="http://schemas.microsoft.com/office/drawing/2014/main" id="{7E03E1A4-72AF-3B3F-D8D8-39C7E2DA5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628800"/>
            <a:ext cx="11089232" cy="1331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2984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2700" indent="0">
              <a:spcBef>
                <a:spcPts val="100"/>
              </a:spcBef>
            </a:pPr>
            <a:r>
              <a:rPr lang="en-US" altLang="en-US" sz="2800" dirty="0">
                <a:cs typeface="Arial" panose="020B0604020202020204" pitchFamily="34" charset="0"/>
              </a:rPr>
              <a:t>Sets the horizontal alignment of a text.</a:t>
            </a: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spc="-5" dirty="0">
                <a:cs typeface="Arial" panose="020B0604020202020204" pitchFamily="34" charset="0"/>
              </a:rPr>
              <a:t>Specified</a:t>
            </a:r>
            <a:r>
              <a:rPr lang="en-US" sz="2800" spc="-25" dirty="0">
                <a:cs typeface="Arial" panose="020B0604020202020204" pitchFamily="34" charset="0"/>
              </a:rPr>
              <a:t> </a:t>
            </a:r>
            <a:r>
              <a:rPr lang="en-US" sz="2800" spc="-5" dirty="0">
                <a:cs typeface="Arial" panose="020B0604020202020204" pitchFamily="34" charset="0"/>
              </a:rPr>
              <a:t>by: </a:t>
            </a:r>
            <a:r>
              <a:rPr lang="en-US" spc="-5" dirty="0" err="1">
                <a:solidFill>
                  <a:schemeClr val="accent2"/>
                </a:solidFill>
                <a:cs typeface="Arial" panose="020B0604020202020204" pitchFamily="34" charset="0"/>
              </a:rPr>
              <a:t>t</a:t>
            </a:r>
            <a:r>
              <a:rPr lang="en-US" altLang="en-US" dirty="0" err="1">
                <a:solidFill>
                  <a:schemeClr val="accent2"/>
                </a:solidFill>
                <a:cs typeface="Arial" panose="020B0604020202020204" pitchFamily="34" charset="0"/>
              </a:rPr>
              <a:t>ext-align:center|right|left|justify</a:t>
            </a: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</a:p>
          <a:p>
            <a:pPr marL="12700" indent="0">
              <a:spcBef>
                <a:spcPts val="100"/>
              </a:spcBef>
            </a:pPr>
            <a:r>
              <a:rPr lang="en-US" altLang="en-US" sz="2800" dirty="0">
                <a:cs typeface="Arial" panose="020B0604020202020204" pitchFamily="34" charset="0"/>
              </a:rPr>
              <a:t> 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52BD17-3FD0-0262-C28B-D15680811070}"/>
              </a:ext>
            </a:extLst>
          </p:cNvPr>
          <p:cNvSpPr txBox="1"/>
          <p:nvPr/>
        </p:nvSpPr>
        <p:spPr>
          <a:xfrm>
            <a:off x="5240735" y="2776334"/>
            <a:ext cx="2592882" cy="3016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4325"/>
              </a:lnSpc>
              <a:spcBef>
                <a:spcPts val="500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h1 {</a:t>
            </a:r>
          </a:p>
          <a:p>
            <a:pPr>
              <a:lnSpc>
                <a:spcPts val="1663"/>
              </a:lnSpc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text-align: center;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  <a:p>
            <a:pPr>
              <a:defRPr/>
            </a:pPr>
            <a:r>
              <a:rPr lang="en-US" altLang="en-US" sz="2000" dirty="0" err="1">
                <a:cs typeface="Arial" panose="020B0604020202020204" pitchFamily="34" charset="0"/>
              </a:rPr>
              <a:t>p.date</a:t>
            </a:r>
            <a:r>
              <a:rPr lang="en-US" altLang="en-US" sz="2000" dirty="0">
                <a:cs typeface="Arial" panose="020B0604020202020204" pitchFamily="34" charset="0"/>
              </a:rPr>
              <a:t> {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text-align: right;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  <a:p>
            <a:pPr>
              <a:defRPr/>
            </a:pPr>
            <a:r>
              <a:rPr lang="en-US" altLang="en-US" sz="2000" dirty="0" err="1">
                <a:cs typeface="Arial" panose="020B0604020202020204" pitchFamily="34" charset="0"/>
              </a:rPr>
              <a:t>p.main</a:t>
            </a:r>
            <a:r>
              <a:rPr lang="en-US" altLang="en-US" sz="2000" dirty="0">
                <a:cs typeface="Arial" panose="020B0604020202020204" pitchFamily="34" charset="0"/>
              </a:rPr>
              <a:t> {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text-align: justify;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5937944-3FEB-8505-15E1-6823E255F2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336" y="358305"/>
            <a:ext cx="7620000" cy="628377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000" spc="-10" dirty="0"/>
              <a:t>Vertical-align</a:t>
            </a:r>
            <a:r>
              <a:rPr sz="4000" spc="-65" dirty="0"/>
              <a:t> </a:t>
            </a:r>
            <a:r>
              <a:rPr sz="4000" spc="-10" dirty="0"/>
              <a:t>Property</a:t>
            </a:r>
            <a:endParaRPr sz="40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3C9B40-5F23-DBAC-FDC4-CA59AD5CA3C6}"/>
              </a:ext>
            </a:extLst>
          </p:cNvPr>
          <p:cNvSpPr txBox="1"/>
          <p:nvPr/>
        </p:nvSpPr>
        <p:spPr>
          <a:xfrm>
            <a:off x="3431704" y="4005064"/>
            <a:ext cx="4680520" cy="13054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spc="-5" dirty="0">
                <a:cs typeface="Arial" panose="020B0604020202020204" pitchFamily="34" charset="0"/>
              </a:rPr>
              <a:t>img</a:t>
            </a:r>
            <a:r>
              <a:rPr sz="2800" spc="-3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z="2800" spc="-5" dirty="0">
                <a:cs typeface="Arial" panose="020B0604020202020204" pitchFamily="34" charset="0"/>
              </a:rPr>
              <a:t>vertical-align:</a:t>
            </a:r>
            <a:r>
              <a:rPr sz="2800" spc="-35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text-top;</a:t>
            </a:r>
            <a:endParaRPr sz="28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800" dirty="0">
                <a:cs typeface="Arial" panose="020B0604020202020204" pitchFamily="34" charset="0"/>
              </a:rPr>
              <a:t>}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06E849F-5DBE-1F2D-6C8C-3D087CB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45" y="1808845"/>
            <a:ext cx="11739755" cy="1774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2984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2700" indent="0">
              <a:spcBef>
                <a:spcPts val="100"/>
              </a:spcBef>
            </a:pPr>
            <a:r>
              <a:rPr lang="en-US" altLang="en-US" sz="2800" dirty="0">
                <a:cs typeface="Arial" panose="020B0604020202020204" pitchFamily="34" charset="0"/>
              </a:rPr>
              <a:t>Sets the vertical alignment of an element.</a:t>
            </a:r>
          </a:p>
          <a:p>
            <a:pPr marL="12700" indent="0">
              <a:spcBef>
                <a:spcPts val="100"/>
              </a:spcBef>
            </a:pPr>
            <a:endParaRPr lang="en-US" altLang="en-US" sz="2800" dirty="0">
              <a:cs typeface="Arial" panose="020B0604020202020204" pitchFamily="34" charset="0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spc="-5" dirty="0">
                <a:cs typeface="Arial" panose="020B0604020202020204" pitchFamily="34" charset="0"/>
              </a:rPr>
              <a:t>Specified</a:t>
            </a:r>
            <a:r>
              <a:rPr lang="en-US" sz="2800" spc="-25" dirty="0">
                <a:cs typeface="Arial" panose="020B0604020202020204" pitchFamily="34" charset="0"/>
              </a:rPr>
              <a:t> </a:t>
            </a:r>
            <a:r>
              <a:rPr lang="en-US" sz="2800" spc="-5" dirty="0">
                <a:cs typeface="Arial" panose="020B0604020202020204" pitchFamily="34" charset="0"/>
              </a:rPr>
              <a:t>by: 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vertical-align: </a:t>
            </a:r>
            <a:r>
              <a:rPr lang="en-US" altLang="en-US" sz="2800" dirty="0" err="1">
                <a:solidFill>
                  <a:schemeClr val="accent2"/>
                </a:solidFill>
                <a:cs typeface="Arial" panose="020B0604020202020204" pitchFamily="34" charset="0"/>
              </a:rPr>
              <a:t>baseline|</a:t>
            </a:r>
            <a:r>
              <a:rPr lang="en-US" altLang="en-US" sz="2800" i="1" dirty="0" err="1">
                <a:solidFill>
                  <a:schemeClr val="accent2"/>
                </a:solidFill>
                <a:cs typeface="Arial" panose="020B0604020202020204" pitchFamily="34" charset="0"/>
              </a:rPr>
              <a:t>length</a:t>
            </a:r>
            <a:r>
              <a:rPr lang="en-US" altLang="en-US" sz="2800" dirty="0" err="1">
                <a:solidFill>
                  <a:schemeClr val="accent2"/>
                </a:solidFill>
                <a:cs typeface="Arial" panose="020B0604020202020204" pitchFamily="34" charset="0"/>
              </a:rPr>
              <a:t>|sub|super|top|text-top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|</a:t>
            </a:r>
          </a:p>
          <a:p>
            <a:pPr marL="12700" indent="0">
              <a:spcBef>
                <a:spcPts val="100"/>
              </a:spcBef>
            </a:pP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      </a:t>
            </a:r>
            <a:r>
              <a:rPr lang="en-US" altLang="en-US" sz="2800" dirty="0" err="1">
                <a:solidFill>
                  <a:schemeClr val="accent2"/>
                </a:solidFill>
                <a:cs typeface="Arial" panose="020B0604020202020204" pitchFamily="34" charset="0"/>
              </a:rPr>
              <a:t>middle|bottom|text-bottom|initial|inherit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6EDAFD6B-70F1-2406-6638-DC7EB49D4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46030"/>
              </p:ext>
            </p:extLst>
          </p:nvPr>
        </p:nvGraphicFramePr>
        <p:xfrm>
          <a:off x="288081" y="1340768"/>
          <a:ext cx="11712575" cy="475252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74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7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</a:t>
                      </a:r>
                      <a:endParaRPr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3603464232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</a:t>
                      </a: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Align</a:t>
                      </a:r>
                      <a:r>
                        <a:rPr sz="2000" b="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b="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</a:t>
                      </a:r>
                      <a:r>
                        <a:rPr sz="2000" b="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sz="2000" b="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b="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b="0" spc="4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the</a:t>
                      </a:r>
                      <a:r>
                        <a:rPr sz="2000" b="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</a:t>
                      </a:r>
                      <a:r>
                        <a:rPr sz="2000" b="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sz="2000" b="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b="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parent</a:t>
                      </a:r>
                      <a:r>
                        <a:rPr sz="2000" b="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element.</a:t>
                      </a:r>
                      <a:r>
                        <a:rPr sz="2000" b="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This </a:t>
                      </a: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b="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</a:t>
                      </a:r>
                      <a:endParaRPr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</a:t>
                      </a: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Raises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the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specified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length.</a:t>
                      </a:r>
                      <a:r>
                        <a:rPr sz="200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Negative</a:t>
                      </a:r>
                      <a:r>
                        <a:rPr sz="2000" spc="4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values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allowed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601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Raises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percent</a:t>
                      </a:r>
                      <a:r>
                        <a:rPr sz="2000" spc="4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"line-height"</a:t>
                      </a:r>
                      <a:r>
                        <a:rPr sz="2000" spc="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property.</a:t>
                      </a:r>
                      <a:r>
                        <a:rPr sz="2000" spc="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Negative</a:t>
                      </a:r>
                      <a:r>
                        <a:rPr sz="2000" spc="4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values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allowed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Aligns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it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was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subscript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Aligns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it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was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superscript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 of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aligned</a:t>
                      </a:r>
                      <a:r>
                        <a:rPr sz="200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the top of 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tallest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text-top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 of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aligned</a:t>
                      </a:r>
                      <a:r>
                        <a:rPr sz="200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 of 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element's</a:t>
                      </a:r>
                      <a:r>
                        <a:rPr sz="200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font</a:t>
                      </a: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element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placed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the middle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bottom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bottom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 the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aligned</a:t>
                      </a:r>
                      <a:r>
                        <a:rPr sz="200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lowest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</a:t>
                      </a: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text-bottom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bottom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aligned</a:t>
                      </a:r>
                      <a:r>
                        <a:rPr sz="2000" spc="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bottom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element's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font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43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</a:t>
                      </a:r>
                      <a:endParaRPr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this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value.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339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117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</a:t>
                      </a:r>
                    </a:p>
                  </a:txBody>
                  <a:tcPr marL="0" marR="0" marT="13974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Inherits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this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parent</a:t>
                      </a:r>
                      <a:r>
                        <a:rPr sz="2000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element.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3974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17AAA24D-3006-0264-2E27-11C4EDC45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113" y="373199"/>
            <a:ext cx="11712575" cy="628377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000" spc="-10" dirty="0"/>
              <a:t>Vertical-align</a:t>
            </a:r>
            <a:r>
              <a:rPr sz="4000" spc="-65" dirty="0"/>
              <a:t> </a:t>
            </a:r>
            <a:r>
              <a:rPr sz="4000" spc="-10" dirty="0"/>
              <a:t>Property</a:t>
            </a:r>
            <a:r>
              <a:rPr lang="en-GB" sz="4000" spc="-10" dirty="0"/>
              <a:t> Values and Descriptions 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644157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91895A6-22E2-63C4-AD6C-4D4B04EC1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332656"/>
            <a:ext cx="4889500" cy="750888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sz="4800" spc="-160" dirty="0"/>
              <a:t>T</a:t>
            </a:r>
            <a:r>
              <a:rPr sz="4800" spc="-20" dirty="0"/>
              <a:t>e</a:t>
            </a:r>
            <a:r>
              <a:rPr sz="4800" spc="-5" dirty="0"/>
              <a:t>x</a:t>
            </a:r>
            <a:r>
              <a:rPr sz="4800" dirty="0"/>
              <a:t>t</a:t>
            </a:r>
            <a:r>
              <a:rPr sz="4800" spc="-10" dirty="0"/>
              <a:t> </a:t>
            </a:r>
            <a:r>
              <a:rPr sz="4800" dirty="0"/>
              <a:t>De</a:t>
            </a:r>
            <a:r>
              <a:rPr sz="4800" spc="-10" dirty="0"/>
              <a:t>c</a:t>
            </a:r>
            <a:r>
              <a:rPr sz="4800" dirty="0"/>
              <a:t>o</a:t>
            </a:r>
            <a:r>
              <a:rPr sz="4800" spc="-40" dirty="0"/>
              <a:t>r</a:t>
            </a:r>
            <a:r>
              <a:rPr sz="4800" spc="-15" dirty="0"/>
              <a:t>a</a:t>
            </a:r>
            <a:r>
              <a:rPr sz="4800" dirty="0"/>
              <a:t>ti</a:t>
            </a:r>
            <a:r>
              <a:rPr sz="4800" spc="-10" dirty="0"/>
              <a:t>o</a:t>
            </a:r>
            <a:r>
              <a:rPr sz="4800" dirty="0"/>
              <a:t>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0B614FC-AFCD-8BE0-4D4E-E17407756169}"/>
              </a:ext>
            </a:extLst>
          </p:cNvPr>
          <p:cNvSpPr txBox="1"/>
          <p:nvPr/>
        </p:nvSpPr>
        <p:spPr>
          <a:xfrm>
            <a:off x="479376" y="1556792"/>
            <a:ext cx="11161240" cy="1331134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2800" spc="-5" dirty="0">
                <a:cs typeface="Arial" panose="020B0604020202020204" pitchFamily="34" charset="0"/>
              </a:rPr>
              <a:t>S</a:t>
            </a:r>
            <a:r>
              <a:rPr sz="2800" spc="-5" dirty="0">
                <a:cs typeface="Arial" panose="020B0604020202020204" pitchFamily="34" charset="0"/>
              </a:rPr>
              <a:t>et or</a:t>
            </a:r>
            <a:r>
              <a:rPr sz="2800" spc="5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remove</a:t>
            </a:r>
            <a:r>
              <a:rPr sz="2800" spc="5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decorations</a:t>
            </a:r>
            <a:r>
              <a:rPr sz="2800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from</a:t>
            </a:r>
            <a:r>
              <a:rPr sz="2800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text.</a:t>
            </a:r>
            <a:endParaRPr lang="en-GB" sz="2800" spc="-5" dirty="0">
              <a:cs typeface="Arial" panose="020B0604020202020204" pitchFamily="34" charset="0"/>
            </a:endParaRPr>
          </a:p>
          <a:p>
            <a:pPr marL="12700">
              <a:spcBef>
                <a:spcPts val="100"/>
              </a:spcBef>
              <a:defRPr/>
            </a:pPr>
            <a:endParaRPr lang="en-GB" sz="2800" spc="-5" dirty="0">
              <a:cs typeface="Arial" panose="020B0604020202020204" pitchFamily="34" charset="0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5" dirty="0">
                <a:cs typeface="Arial" panose="020B0604020202020204" pitchFamily="34" charset="0"/>
              </a:rPr>
              <a:t>Specified</a:t>
            </a:r>
            <a:r>
              <a:rPr lang="en-US" sz="2800" spc="-25" dirty="0">
                <a:cs typeface="Arial" panose="020B0604020202020204" pitchFamily="34" charset="0"/>
              </a:rPr>
              <a:t> </a:t>
            </a:r>
            <a:r>
              <a:rPr lang="en-US" sz="2800" spc="-5" dirty="0">
                <a:cs typeface="Arial" panose="020B0604020202020204" pitchFamily="34" charset="0"/>
              </a:rPr>
              <a:t>by:</a:t>
            </a:r>
            <a:r>
              <a:rPr lang="en-GB" sz="2800" spc="-5" dirty="0">
                <a:cs typeface="Arial" panose="020B0604020202020204" pitchFamily="34" charset="0"/>
              </a:rPr>
              <a:t> </a:t>
            </a:r>
            <a:r>
              <a:rPr lang="en-GB" sz="2800" spc="-5" dirty="0">
                <a:solidFill>
                  <a:schemeClr val="accent2"/>
                </a:solidFill>
                <a:cs typeface="Arial" panose="020B0604020202020204" pitchFamily="34" charset="0"/>
              </a:rPr>
              <a:t>t</a:t>
            </a:r>
            <a:r>
              <a:rPr sz="2800" spc="-10" dirty="0" err="1">
                <a:solidFill>
                  <a:schemeClr val="accent2"/>
                </a:solidFill>
                <a:cs typeface="Arial" panose="020B0604020202020204" pitchFamily="34" charset="0"/>
              </a:rPr>
              <a:t>ext-decoration:none|overline|underline|line-through</a:t>
            </a:r>
            <a:r>
              <a:rPr sz="1800" spc="-10" dirty="0">
                <a:solidFill>
                  <a:schemeClr val="accent2"/>
                </a:solidFill>
                <a:latin typeface="Calibri"/>
                <a:cs typeface="Calibri"/>
              </a:rPr>
              <a:t>;</a:t>
            </a:r>
            <a:endParaRPr sz="1800" dirty="0">
              <a:solidFill>
                <a:schemeClr val="accent2"/>
              </a:solidFill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0815652-A4B6-A49A-A71B-113C86AC5CA8}"/>
              </a:ext>
            </a:extLst>
          </p:cNvPr>
          <p:cNvSpPr txBox="1"/>
          <p:nvPr/>
        </p:nvSpPr>
        <p:spPr>
          <a:xfrm>
            <a:off x="3755740" y="3501008"/>
            <a:ext cx="4608512" cy="22288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>
                <a:cs typeface="Arial" panose="020B0604020202020204" pitchFamily="34" charset="0"/>
              </a:rPr>
              <a:t>a</a:t>
            </a:r>
            <a:r>
              <a:rPr spc="-45" dirty="0">
                <a:cs typeface="Arial" panose="020B0604020202020204" pitchFamily="34" charset="0"/>
              </a:rPr>
              <a:t> </a:t>
            </a:r>
            <a:r>
              <a:rPr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pc="-10" dirty="0">
                <a:cs typeface="Arial" panose="020B0604020202020204" pitchFamily="34" charset="0"/>
              </a:rPr>
              <a:t>text-decoration: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none;</a:t>
            </a:r>
            <a:endParaRPr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dirty="0">
                <a:cs typeface="Arial" panose="020B0604020202020204" pitchFamily="34" charset="0"/>
              </a:rPr>
              <a:t>}</a:t>
            </a:r>
          </a:p>
          <a:p>
            <a:pPr marL="12700">
              <a:defRPr/>
            </a:pPr>
            <a:r>
              <a:rPr dirty="0">
                <a:cs typeface="Arial" panose="020B0604020202020204" pitchFamily="34" charset="0"/>
              </a:rPr>
              <a:t>h1</a:t>
            </a:r>
            <a:r>
              <a:rPr spc="-35" dirty="0">
                <a:cs typeface="Arial" panose="020B0604020202020204" pitchFamily="34" charset="0"/>
              </a:rPr>
              <a:t> </a:t>
            </a:r>
            <a:r>
              <a:rPr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pc="-10" dirty="0">
                <a:cs typeface="Arial" panose="020B0604020202020204" pitchFamily="34" charset="0"/>
              </a:rPr>
              <a:t>text-decoration:</a:t>
            </a:r>
            <a:r>
              <a:rPr spc="-5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overline;</a:t>
            </a:r>
            <a:endParaRPr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dirty="0"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F38D340-5E2D-21EB-757B-BDFEFF10F8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332656"/>
            <a:ext cx="6216650" cy="750888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sz="4800" spc="-160" dirty="0"/>
              <a:t>T</a:t>
            </a:r>
            <a:r>
              <a:rPr sz="4800" spc="-20" dirty="0"/>
              <a:t>e</a:t>
            </a:r>
            <a:r>
              <a:rPr sz="4800" spc="-5" dirty="0"/>
              <a:t>x</a:t>
            </a:r>
            <a:r>
              <a:rPr sz="4800" dirty="0"/>
              <a:t>t</a:t>
            </a:r>
            <a:r>
              <a:rPr sz="4800" spc="-10" dirty="0"/>
              <a:t> </a:t>
            </a:r>
            <a:r>
              <a:rPr sz="4800" spc="-100" dirty="0"/>
              <a:t>T</a:t>
            </a:r>
            <a:r>
              <a:rPr sz="4800" spc="-45" dirty="0"/>
              <a:t>r</a:t>
            </a:r>
            <a:r>
              <a:rPr sz="4800" dirty="0"/>
              <a:t>an</a:t>
            </a:r>
            <a:r>
              <a:rPr sz="4800" spc="-5" dirty="0"/>
              <a:t>s</a:t>
            </a:r>
            <a:r>
              <a:rPr sz="4800" spc="-30" dirty="0"/>
              <a:t>f</a:t>
            </a:r>
            <a:r>
              <a:rPr sz="4800" dirty="0"/>
              <a:t>orm</a:t>
            </a:r>
            <a:r>
              <a:rPr sz="4800" spc="-15" dirty="0"/>
              <a:t>a</a:t>
            </a:r>
            <a:r>
              <a:rPr sz="4800" dirty="0"/>
              <a:t>ti</a:t>
            </a:r>
            <a:r>
              <a:rPr sz="4800" spc="-10" dirty="0"/>
              <a:t>o</a:t>
            </a:r>
            <a:r>
              <a:rPr sz="4800" dirty="0"/>
              <a:t>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4AD9428-1FC3-325B-9330-CACE810577F7}"/>
              </a:ext>
            </a:extLst>
          </p:cNvPr>
          <p:cNvSpPr txBox="1"/>
          <p:nvPr/>
        </p:nvSpPr>
        <p:spPr>
          <a:xfrm>
            <a:off x="403248" y="1484784"/>
            <a:ext cx="11165360" cy="1595309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10" dirty="0">
                <a:cs typeface="Arial" panose="020B0604020202020204" pitchFamily="34" charset="0"/>
              </a:rPr>
              <a:t>Specifies the </a:t>
            </a:r>
            <a:r>
              <a:rPr sz="2800" spc="-10" dirty="0">
                <a:cs typeface="Arial" panose="020B0604020202020204" pitchFamily="34" charset="0"/>
              </a:rPr>
              <a:t>uppercase</a:t>
            </a:r>
            <a:r>
              <a:rPr sz="2800" spc="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and</a:t>
            </a:r>
            <a:r>
              <a:rPr sz="2800" spc="15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lowercase</a:t>
            </a:r>
            <a:r>
              <a:rPr sz="2800" spc="20" dirty="0">
                <a:cs typeface="Arial" panose="020B0604020202020204" pitchFamily="34" charset="0"/>
              </a:rPr>
              <a:t> </a:t>
            </a:r>
            <a:r>
              <a:rPr sz="2800" spc="-20" dirty="0">
                <a:cs typeface="Arial" panose="020B0604020202020204" pitchFamily="34" charset="0"/>
              </a:rPr>
              <a:t>letters</a:t>
            </a:r>
            <a:r>
              <a:rPr sz="2800" spc="20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in</a:t>
            </a:r>
            <a:r>
              <a:rPr sz="2800" spc="1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a</a:t>
            </a:r>
            <a:r>
              <a:rPr lang="en-US" sz="2800" dirty="0">
                <a:cs typeface="Arial" panose="020B0604020202020204" pitchFamily="34" charset="0"/>
              </a:rPr>
              <a:t> </a:t>
            </a:r>
            <a:r>
              <a:rPr sz="2800" spc="-15" dirty="0">
                <a:cs typeface="Arial" panose="020B0604020202020204" pitchFamily="34" charset="0"/>
              </a:rPr>
              <a:t>text</a:t>
            </a:r>
            <a:r>
              <a:rPr lang="en-GB" sz="2800" spc="-15" dirty="0">
                <a:cs typeface="Arial" panose="020B0604020202020204" pitchFamily="34" charset="0"/>
              </a:rPr>
              <a:t>: </a:t>
            </a: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endParaRPr sz="2800" dirty="0">
              <a:cs typeface="Arial" panose="020B0604020202020204" pitchFamily="34" charset="0"/>
            </a:endParaRPr>
          </a:p>
          <a:p>
            <a:pPr marL="469900" lvl="1">
              <a:defRPr/>
            </a:pPr>
            <a:r>
              <a:rPr sz="2800" spc="-15" dirty="0">
                <a:solidFill>
                  <a:schemeClr val="accent2"/>
                </a:solidFill>
                <a:cs typeface="Arial" panose="020B0604020202020204" pitchFamily="34" charset="0"/>
              </a:rPr>
              <a:t>text-transform:</a:t>
            </a:r>
            <a:r>
              <a:rPr lang="en-GB" sz="2800" spc="85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sz="2800" spc="-10" dirty="0" err="1">
                <a:solidFill>
                  <a:schemeClr val="accent2"/>
                </a:solidFill>
                <a:cs typeface="Arial" panose="020B0604020202020204" pitchFamily="34" charset="0"/>
              </a:rPr>
              <a:t>none|capitalize|uppercase|lowercase|initial|inherit</a:t>
            </a:r>
            <a:r>
              <a:rPr sz="1800" spc="-10" dirty="0">
                <a:solidFill>
                  <a:schemeClr val="accent2"/>
                </a:solidFill>
                <a:latin typeface="Calibri"/>
                <a:cs typeface="Calibri"/>
              </a:rPr>
              <a:t>;</a:t>
            </a:r>
            <a:endParaRPr sz="1800" dirty="0">
              <a:solidFill>
                <a:schemeClr val="accent2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6E0F6-E729-A49B-73B9-DD2EAA8F3BAB}"/>
              </a:ext>
            </a:extLst>
          </p:cNvPr>
          <p:cNvSpPr txBox="1"/>
          <p:nvPr/>
        </p:nvSpPr>
        <p:spPr>
          <a:xfrm>
            <a:off x="3473748" y="3157679"/>
            <a:ext cx="5868491" cy="27392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2700">
              <a:defRPr/>
            </a:pPr>
            <a:r>
              <a:rPr lang="en-GB" spc="-5" dirty="0">
                <a:cs typeface="Arial" panose="020B0604020202020204" pitchFamily="34" charset="0"/>
              </a:rPr>
              <a:t>p.class1</a:t>
            </a:r>
            <a:r>
              <a:rPr lang="en-GB" spc="-30" dirty="0">
                <a:cs typeface="Arial" panose="020B0604020202020204" pitchFamily="34" charset="0"/>
              </a:rPr>
              <a:t> </a:t>
            </a:r>
            <a:r>
              <a:rPr lang="en-GB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lang="en-GB" spc="-15" dirty="0">
                <a:cs typeface="Arial" panose="020B0604020202020204" pitchFamily="34" charset="0"/>
              </a:rPr>
              <a:t>text-transform: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spc="-10" dirty="0">
                <a:cs typeface="Arial" panose="020B0604020202020204" pitchFamily="34" charset="0"/>
              </a:rPr>
              <a:t>uppercase;</a:t>
            </a:r>
            <a:endParaRPr lang="en-GB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GB" dirty="0">
                <a:cs typeface="Arial" panose="020B0604020202020204" pitchFamily="34" charset="0"/>
              </a:rPr>
              <a:t>}</a:t>
            </a:r>
          </a:p>
          <a:p>
            <a:pPr marL="12700">
              <a:defRPr/>
            </a:pPr>
            <a:r>
              <a:rPr lang="en-GB" spc="-5" dirty="0">
                <a:cs typeface="Arial" panose="020B0604020202020204" pitchFamily="34" charset="0"/>
              </a:rPr>
              <a:t>h1{</a:t>
            </a:r>
            <a:endParaRPr lang="en-GB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GB" spc="-10" dirty="0">
                <a:cs typeface="Arial" panose="020B0604020202020204" pitchFamily="34" charset="0"/>
              </a:rPr>
              <a:t>   </a:t>
            </a:r>
            <a:r>
              <a:rPr lang="en-GB" spc="-10" dirty="0" err="1">
                <a:cs typeface="Arial" panose="020B0604020202020204" pitchFamily="34" charset="0"/>
              </a:rPr>
              <a:t>text-transform:lowercase</a:t>
            </a:r>
            <a:r>
              <a:rPr lang="en-GB" spc="-10" dirty="0">
                <a:cs typeface="Arial" panose="020B0604020202020204" pitchFamily="34" charset="0"/>
              </a:rPr>
              <a:t>;</a:t>
            </a:r>
            <a:endParaRPr lang="en-GB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GB" dirty="0">
                <a:cs typeface="Arial" panose="020B0604020202020204" pitchFamily="34" charset="0"/>
              </a:rPr>
              <a:t>}</a:t>
            </a:r>
          </a:p>
          <a:p>
            <a:pPr>
              <a:defRPr/>
            </a:pPr>
            <a:endParaRPr lang="en-GB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04AD21-EC26-036E-78AD-D98202F2B10B}"/>
              </a:ext>
            </a:extLst>
          </p:cNvPr>
          <p:cNvSpPr txBox="1"/>
          <p:nvPr/>
        </p:nvSpPr>
        <p:spPr>
          <a:xfrm>
            <a:off x="263352" y="1431926"/>
            <a:ext cx="10945216" cy="874598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469900" indent="-457200">
              <a:buFont typeface="Arial" panose="020B0604020202020204" pitchFamily="34" charset="0"/>
              <a:buChar char="•"/>
              <a:defRPr/>
            </a:pPr>
            <a:r>
              <a:rPr lang="en-US" sz="2800" spc="-5" dirty="0">
                <a:cs typeface="Arial" panose="020B0604020202020204" pitchFamily="34" charset="0"/>
              </a:rPr>
              <a:t>S</a:t>
            </a:r>
            <a:r>
              <a:rPr sz="2800" spc="-5" dirty="0">
                <a:cs typeface="Arial" panose="020B0604020202020204" pitchFamily="34" charset="0"/>
              </a:rPr>
              <a:t>pecify</a:t>
            </a:r>
            <a:r>
              <a:rPr sz="2800" spc="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the</a:t>
            </a:r>
            <a:r>
              <a:rPr sz="2800" spc="15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indentation</a:t>
            </a:r>
            <a:r>
              <a:rPr sz="2800" spc="15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of</a:t>
            </a:r>
            <a:r>
              <a:rPr sz="2800" dirty="0">
                <a:cs typeface="Arial" panose="020B0604020202020204" pitchFamily="34" charset="0"/>
              </a:rPr>
              <a:t> the</a:t>
            </a:r>
            <a:r>
              <a:rPr sz="2800" spc="60" dirty="0">
                <a:cs typeface="Arial" panose="020B0604020202020204" pitchFamily="34" charset="0"/>
              </a:rPr>
              <a:t> </a:t>
            </a:r>
            <a:r>
              <a:rPr sz="2800" b="1" spc="-15" dirty="0">
                <a:cs typeface="Arial" panose="020B0604020202020204" pitchFamily="34" charset="0"/>
              </a:rPr>
              <a:t>first</a:t>
            </a:r>
            <a:r>
              <a:rPr sz="2800" b="1" spc="15" dirty="0">
                <a:cs typeface="Arial" panose="020B0604020202020204" pitchFamily="34" charset="0"/>
              </a:rPr>
              <a:t> </a:t>
            </a:r>
            <a:r>
              <a:rPr sz="2800" b="1" dirty="0">
                <a:cs typeface="Arial" panose="020B0604020202020204" pitchFamily="34" charset="0"/>
              </a:rPr>
              <a:t>line</a:t>
            </a:r>
            <a:r>
              <a:rPr sz="2800" b="1" spc="-20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of</a:t>
            </a:r>
            <a:r>
              <a:rPr sz="2800" dirty="0">
                <a:cs typeface="Arial" panose="020B0604020202020204" pitchFamily="34" charset="0"/>
              </a:rPr>
              <a:t> a</a:t>
            </a:r>
            <a:r>
              <a:rPr sz="2800" spc="15" dirty="0">
                <a:cs typeface="Arial" panose="020B0604020202020204" pitchFamily="34" charset="0"/>
              </a:rPr>
              <a:t> </a:t>
            </a:r>
            <a:r>
              <a:rPr sz="2800" spc="-15" dirty="0">
                <a:cs typeface="Arial" panose="020B0604020202020204" pitchFamily="34" charset="0"/>
              </a:rPr>
              <a:t>text</a:t>
            </a:r>
            <a:r>
              <a:rPr lang="en-GB" sz="2800" spc="-15" dirty="0">
                <a:cs typeface="Arial" panose="020B0604020202020204" pitchFamily="34" charset="0"/>
              </a:rPr>
              <a:t>: </a:t>
            </a:r>
            <a:endParaRPr lang="en-GB" sz="28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GB" sz="2800" spc="-10" dirty="0">
                <a:solidFill>
                  <a:schemeClr val="accent2"/>
                </a:solidFill>
                <a:cs typeface="Arial" panose="020B0604020202020204" pitchFamily="34" charset="0"/>
              </a:rPr>
              <a:t>     </a:t>
            </a:r>
            <a:r>
              <a:rPr sz="2800" spc="-10" dirty="0">
                <a:solidFill>
                  <a:schemeClr val="accent2"/>
                </a:solidFill>
                <a:cs typeface="Arial" panose="020B0604020202020204" pitchFamily="34" charset="0"/>
              </a:rPr>
              <a:t>text-indent:</a:t>
            </a:r>
            <a:r>
              <a:rPr sz="2800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sz="2800" i="1" spc="-5" dirty="0">
                <a:solidFill>
                  <a:schemeClr val="accent2"/>
                </a:solidFill>
                <a:cs typeface="Arial" panose="020B0604020202020204" pitchFamily="34" charset="0"/>
              </a:rPr>
              <a:t>length</a:t>
            </a:r>
            <a:r>
              <a:rPr sz="2800" spc="-5" dirty="0">
                <a:solidFill>
                  <a:schemeClr val="accent2"/>
                </a:solidFill>
                <a:cs typeface="Arial" panose="020B0604020202020204" pitchFamily="34" charset="0"/>
              </a:rPr>
              <a:t>|initial|inherit;</a:t>
            </a:r>
            <a:endParaRPr sz="280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2A90AE5-2EC3-AC61-5247-57AD291C6501}"/>
              </a:ext>
            </a:extLst>
          </p:cNvPr>
          <p:cNvSpPr txBox="1"/>
          <p:nvPr/>
        </p:nvSpPr>
        <p:spPr>
          <a:xfrm>
            <a:off x="407369" y="3068960"/>
            <a:ext cx="3024336" cy="12439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000" dirty="0">
                <a:cs typeface="Arial" panose="020B0604020202020204" pitchFamily="34" charset="0"/>
              </a:rPr>
              <a:t>p</a:t>
            </a:r>
            <a:r>
              <a:rPr sz="2000" spc="-3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{</a:t>
            </a:r>
          </a:p>
          <a:p>
            <a:pPr marL="220979">
              <a:spcBef>
                <a:spcPts val="5"/>
              </a:spcBef>
              <a:defRPr/>
            </a:pPr>
            <a:r>
              <a:rPr sz="2000" spc="-10" dirty="0">
                <a:cs typeface="Arial" panose="020B0604020202020204" pitchFamily="34" charset="0"/>
              </a:rPr>
              <a:t>text-indent: 50px;</a:t>
            </a:r>
            <a:endParaRPr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000" dirty="0">
                <a:cs typeface="Arial" panose="020B0604020202020204" pitchFamily="34" charset="0"/>
              </a:rPr>
              <a:t>}</a:t>
            </a:r>
          </a:p>
          <a:p>
            <a:pPr marL="12700">
              <a:defRPr/>
            </a:pPr>
            <a:endParaRPr lang="en-US" sz="2000" dirty="0">
              <a:cs typeface="Arial" panose="020B0604020202020204" pitchFamily="34" charset="0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2CA98C1-AECB-6AAD-C512-A3D4564DF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004662"/>
              </p:ext>
            </p:extLst>
          </p:nvPr>
        </p:nvGraphicFramePr>
        <p:xfrm>
          <a:off x="3647728" y="2721480"/>
          <a:ext cx="8362950" cy="29644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685">
                <a:tc>
                  <a:txBody>
                    <a:bodyPr/>
                    <a:lstStyle/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Descriptions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209429"/>
                  </a:ext>
                </a:extLst>
              </a:tr>
              <a:tr h="715963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Defines a fixed indentation in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px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pt, cm,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etc. Default  value is 0.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Defines the indentation in % of the width of the parent element.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this property to its default value.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Inherits this property from its parent element.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B3C087FA-C196-3245-D990-F8B3E2EBDC3E}"/>
              </a:ext>
            </a:extLst>
          </p:cNvPr>
          <p:cNvSpPr txBox="1">
            <a:spLocks/>
          </p:cNvSpPr>
          <p:nvPr/>
        </p:nvSpPr>
        <p:spPr>
          <a:xfrm>
            <a:off x="263352" y="332656"/>
            <a:ext cx="5032375" cy="628377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12700">
              <a:spcBef>
                <a:spcPts val="100"/>
              </a:spcBef>
              <a:defRPr/>
            </a:pPr>
            <a:r>
              <a:rPr lang="en-GB" sz="4000" kern="0" spc="-160" dirty="0"/>
              <a:t>T</a:t>
            </a:r>
            <a:r>
              <a:rPr lang="en-GB" sz="4000" kern="0" spc="-20" dirty="0"/>
              <a:t>e</a:t>
            </a:r>
            <a:r>
              <a:rPr lang="en-GB" sz="4000" kern="0" spc="-5" dirty="0"/>
              <a:t>x</a:t>
            </a:r>
            <a:r>
              <a:rPr lang="en-GB" sz="4000" kern="0" dirty="0"/>
              <a:t>t</a:t>
            </a:r>
            <a:r>
              <a:rPr lang="en-GB" sz="4000" kern="0" spc="-10" dirty="0"/>
              <a:t> </a:t>
            </a:r>
            <a:r>
              <a:rPr lang="en-GB" sz="4000" kern="0" spc="-100" dirty="0"/>
              <a:t>Indentation</a:t>
            </a:r>
            <a:endParaRPr lang="en-GB" sz="4000" kern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83BDF-4AD5-11CB-55D3-898BA537443C}"/>
              </a:ext>
            </a:extLst>
          </p:cNvPr>
          <p:cNvSpPr txBox="1"/>
          <p:nvPr/>
        </p:nvSpPr>
        <p:spPr>
          <a:xfrm>
            <a:off x="314001" y="4558825"/>
            <a:ext cx="288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defRPr/>
            </a:pPr>
            <a:r>
              <a:rPr lang="en-GB" sz="2000" dirty="0">
                <a:solidFill>
                  <a:srgbClr val="FF0000"/>
                </a:solidFill>
                <a:cs typeface="Arial" panose="020B0604020202020204" pitchFamily="34" charset="0"/>
              </a:rPr>
              <a:t>It</a:t>
            </a:r>
            <a:r>
              <a:rPr lang="en-GB" sz="2000" spc="-1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GB" sz="2000" spc="-15" dirty="0">
                <a:solidFill>
                  <a:srgbClr val="FF0000"/>
                </a:solidFill>
                <a:cs typeface="Arial" panose="020B0604020202020204" pitchFamily="34" charset="0"/>
              </a:rPr>
              <a:t>may</a:t>
            </a:r>
            <a:r>
              <a:rPr lang="en-GB" sz="2000" spc="-5" dirty="0">
                <a:solidFill>
                  <a:srgbClr val="FF0000"/>
                </a:solidFill>
                <a:cs typeface="Arial" panose="020B0604020202020204" pitchFamily="34" charset="0"/>
              </a:rPr>
              <a:t> be</a:t>
            </a:r>
            <a:r>
              <a:rPr lang="en-GB" sz="2000" spc="-1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GB" sz="2000" spc="-5" dirty="0">
                <a:solidFill>
                  <a:srgbClr val="FF0000"/>
                </a:solidFill>
                <a:cs typeface="Arial" panose="020B0604020202020204" pitchFamily="34" charset="0"/>
              </a:rPr>
              <a:t>both</a:t>
            </a:r>
            <a:r>
              <a:rPr lang="en-GB" sz="2000" spc="5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GB" sz="2000" spc="-5" dirty="0">
                <a:solidFill>
                  <a:srgbClr val="FF0000"/>
                </a:solidFill>
                <a:cs typeface="Arial" panose="020B0604020202020204" pitchFamily="34" charset="0"/>
              </a:rPr>
              <a:t>in</a:t>
            </a:r>
            <a:r>
              <a:rPr lang="en-GB" sz="2000" spc="5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GB" sz="2000" spc="-10" dirty="0">
                <a:solidFill>
                  <a:srgbClr val="FF0000"/>
                </a:solidFill>
                <a:cs typeface="Arial" panose="020B0604020202020204" pitchFamily="34" charset="0"/>
              </a:rPr>
              <a:t>percentage</a:t>
            </a:r>
            <a:r>
              <a:rPr lang="en-GB" sz="2000" spc="5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GB" sz="2000" spc="-5" dirty="0">
                <a:solidFill>
                  <a:srgbClr val="FF0000"/>
                </a:solidFill>
                <a:cs typeface="Arial" panose="020B0604020202020204" pitchFamily="34" charset="0"/>
              </a:rPr>
              <a:t>or</a:t>
            </a:r>
            <a:r>
              <a:rPr lang="en-GB" sz="2000" spc="-15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GB" sz="2000" spc="-5" dirty="0">
                <a:solidFill>
                  <a:srgbClr val="FF0000"/>
                </a:solidFill>
                <a:cs typeface="Arial" panose="020B0604020202020204" pitchFamily="34" charset="0"/>
              </a:rPr>
              <a:t>in</a:t>
            </a:r>
            <a:r>
              <a:rPr lang="en-GB" sz="2000" spc="5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GB" sz="2000" spc="-10" dirty="0">
                <a:solidFill>
                  <a:srgbClr val="FF0000"/>
                </a:solidFill>
                <a:cs typeface="Arial" panose="020B0604020202020204" pitchFamily="34" charset="0"/>
              </a:rPr>
              <a:t>pixels!</a:t>
            </a:r>
            <a:endParaRPr lang="en-GB" sz="2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FEE9F34-8419-8320-0B4C-1EC538C337FF}"/>
              </a:ext>
            </a:extLst>
          </p:cNvPr>
          <p:cNvSpPr/>
          <p:nvPr/>
        </p:nvSpPr>
        <p:spPr bwMode="auto">
          <a:xfrm rot="18643679">
            <a:off x="1430126" y="4035770"/>
            <a:ext cx="648071" cy="335856"/>
          </a:xfrm>
          <a:prstGeom prst="rightArrow">
            <a:avLst>
              <a:gd name="adj1" fmla="val 50000"/>
              <a:gd name="adj2" fmla="val 54039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F9F7348-5581-E9BA-0B9A-D335B9510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28" y="156371"/>
            <a:ext cx="7408862" cy="752475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lang="en-US" sz="4800" spc="-5" dirty="0"/>
              <a:t>W</a:t>
            </a:r>
            <a:r>
              <a:rPr sz="4800" spc="-5" dirty="0"/>
              <a:t>ord-spacing</a:t>
            </a:r>
            <a:r>
              <a:rPr sz="4800" spc="-75" dirty="0"/>
              <a:t> </a:t>
            </a:r>
            <a:r>
              <a:rPr sz="4800" spc="-10" dirty="0"/>
              <a:t>Property</a:t>
            </a:r>
            <a:endParaRPr sz="4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F3FF70D-BA12-F8CF-F0F8-E701504C068C}"/>
              </a:ext>
            </a:extLst>
          </p:cNvPr>
          <p:cNvSpPr txBox="1"/>
          <p:nvPr/>
        </p:nvSpPr>
        <p:spPr>
          <a:xfrm>
            <a:off x="407368" y="1484784"/>
            <a:ext cx="9937104" cy="887422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GB" sz="2800" spc="-5" dirty="0">
                <a:cs typeface="Arial" panose="020B0604020202020204" pitchFamily="34" charset="0"/>
              </a:rPr>
              <a:t>Specify the space between words: </a:t>
            </a:r>
          </a:p>
          <a:p>
            <a:pPr marL="12700">
              <a:spcBef>
                <a:spcPts val="100"/>
              </a:spcBef>
              <a:defRPr/>
            </a:pPr>
            <a:r>
              <a:rPr lang="en-GB" sz="2800" spc="-5" dirty="0">
                <a:solidFill>
                  <a:schemeClr val="accent2"/>
                </a:solidFill>
                <a:cs typeface="Arial" panose="020B0604020202020204" pitchFamily="34" charset="0"/>
              </a:rPr>
              <a:t>     </a:t>
            </a:r>
            <a:r>
              <a:rPr sz="2800" spc="-5" dirty="0">
                <a:solidFill>
                  <a:schemeClr val="accent2"/>
                </a:solidFill>
                <a:cs typeface="Arial" panose="020B0604020202020204" pitchFamily="34" charset="0"/>
              </a:rPr>
              <a:t>word-spacing:</a:t>
            </a:r>
            <a:r>
              <a:rPr sz="2800" spc="-30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sz="2800" spc="-5" dirty="0" err="1">
                <a:solidFill>
                  <a:schemeClr val="accent2"/>
                </a:solidFill>
                <a:cs typeface="Arial" panose="020B0604020202020204" pitchFamily="34" charset="0"/>
              </a:rPr>
              <a:t>normal|</a:t>
            </a:r>
            <a:r>
              <a:rPr sz="2800" i="1" spc="-5" dirty="0" err="1">
                <a:solidFill>
                  <a:schemeClr val="accent2"/>
                </a:solidFill>
                <a:cs typeface="Arial" panose="020B0604020202020204" pitchFamily="34" charset="0"/>
              </a:rPr>
              <a:t>length</a:t>
            </a:r>
            <a:r>
              <a:rPr sz="2800" spc="-5" dirty="0" err="1">
                <a:solidFill>
                  <a:schemeClr val="accent2"/>
                </a:solidFill>
                <a:cs typeface="Arial" panose="020B0604020202020204" pitchFamily="34" charset="0"/>
              </a:rPr>
              <a:t>|initial|inherit</a:t>
            </a:r>
            <a:r>
              <a:rPr sz="2800" spc="-5" dirty="0">
                <a:solidFill>
                  <a:schemeClr val="accent2"/>
                </a:solidFill>
                <a:cs typeface="Arial" panose="020B0604020202020204" pitchFamily="34" charset="0"/>
              </a:rPr>
              <a:t>;</a:t>
            </a:r>
            <a:endParaRPr sz="280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350497BB-09E1-28AA-C0BF-9CDD4AC1A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526478"/>
              </p:ext>
            </p:extLst>
          </p:nvPr>
        </p:nvGraphicFramePr>
        <p:xfrm>
          <a:off x="4043438" y="2636912"/>
          <a:ext cx="7632848" cy="336349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263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000" b="1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sz="2000" b="1" i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139" marB="0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00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sz="20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139" marB="0">
                    <a:solidFill>
                      <a:schemeClr val="accent5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497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sz="2000" i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139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Defines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normal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space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between 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words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This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</a:t>
                      </a:r>
                      <a:r>
                        <a:rPr lang="en-GB"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13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145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</a:t>
                      </a:r>
                      <a:endParaRPr sz="2000" i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139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Defines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r>
                        <a:rPr sz="2000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extra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space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between</a:t>
                      </a:r>
                      <a:r>
                        <a:rPr sz="20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words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r>
                        <a:rPr sz="2000" spc="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px,</a:t>
                      </a:r>
                      <a:r>
                        <a:rPr sz="2000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pt,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cm,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em, 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etc.</a:t>
                      </a:r>
                      <a:endParaRPr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Negative</a:t>
                      </a:r>
                      <a:r>
                        <a:rPr sz="2000" spc="-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values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</a:t>
                      </a:r>
                      <a:r>
                        <a:rPr sz="20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allowed</a:t>
                      </a:r>
                      <a:r>
                        <a:rPr lang="en-GB"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13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75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</a:t>
                      </a:r>
                      <a:endParaRPr sz="2000" i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773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this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value.</a:t>
                      </a:r>
                      <a:endParaRPr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773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86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</a:t>
                      </a:r>
                      <a:endParaRPr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773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Inherits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this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</a:t>
                      </a:r>
                      <a:r>
                        <a:rPr sz="2000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parent</a:t>
                      </a:r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element.</a:t>
                      </a:r>
                      <a:endParaRPr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4773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A3DA37-1D4E-8E42-F8A0-278C7170BF0E}"/>
              </a:ext>
            </a:extLst>
          </p:cNvPr>
          <p:cNvSpPr txBox="1"/>
          <p:nvPr/>
        </p:nvSpPr>
        <p:spPr>
          <a:xfrm>
            <a:off x="551384" y="3501008"/>
            <a:ext cx="3005875" cy="120032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marL="12700">
              <a:defRPr/>
            </a:pPr>
            <a:r>
              <a:rPr lang="en-GB" sz="2400" dirty="0">
                <a:latin typeface="Calibri"/>
                <a:cs typeface="Calibri"/>
              </a:rPr>
              <a:t>p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{</a:t>
            </a:r>
          </a:p>
          <a:p>
            <a:pPr marL="221615">
              <a:spcBef>
                <a:spcPts val="5"/>
              </a:spcBef>
              <a:defRPr/>
            </a:pPr>
            <a:r>
              <a:rPr lang="en-GB" sz="2400" spc="-5" dirty="0">
                <a:latin typeface="Calibri"/>
                <a:cs typeface="Calibri"/>
              </a:rPr>
              <a:t>word-spacing:</a:t>
            </a:r>
            <a:r>
              <a:rPr lang="en-GB" sz="2400" spc="-1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30px;</a:t>
            </a:r>
            <a:endParaRPr lang="en-GB" sz="2400" dirty="0">
              <a:latin typeface="Calibri"/>
              <a:cs typeface="Calibri"/>
            </a:endParaRPr>
          </a:p>
          <a:p>
            <a:pPr marL="12700">
              <a:defRPr/>
            </a:pPr>
            <a:r>
              <a:rPr lang="en-GB" sz="2400" dirty="0">
                <a:latin typeface="Calibri"/>
                <a:cs typeface="Calibri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86A1819-00C4-A088-3428-237CDA710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368" y="263525"/>
            <a:ext cx="7337425" cy="752475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4800" spc="-10" dirty="0"/>
              <a:t>L</a:t>
            </a:r>
            <a:r>
              <a:rPr sz="4800" spc="-10" dirty="0"/>
              <a:t>etter-spacing</a:t>
            </a:r>
            <a:r>
              <a:rPr sz="4800" spc="-25" dirty="0"/>
              <a:t> </a:t>
            </a:r>
            <a:r>
              <a:rPr sz="4800" spc="-10" dirty="0"/>
              <a:t>Property</a:t>
            </a:r>
            <a:endParaRPr sz="480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B595688-59ED-D336-7E30-15B0FD8FB6BC}"/>
              </a:ext>
            </a:extLst>
          </p:cNvPr>
          <p:cNvSpPr txBox="1"/>
          <p:nvPr/>
        </p:nvSpPr>
        <p:spPr>
          <a:xfrm>
            <a:off x="635794" y="3025617"/>
            <a:ext cx="2592288" cy="2167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000" dirty="0">
                <a:cs typeface="Arial" panose="020B0604020202020204" pitchFamily="34" charset="0"/>
              </a:rPr>
              <a:t>h1</a:t>
            </a:r>
            <a:r>
              <a:rPr sz="2000" spc="-3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z="2000" spc="-10" dirty="0">
                <a:cs typeface="Arial" panose="020B0604020202020204" pitchFamily="34" charset="0"/>
              </a:rPr>
              <a:t>letter-spacing:</a:t>
            </a:r>
            <a:r>
              <a:rPr sz="2000" spc="25" dirty="0">
                <a:cs typeface="Arial" panose="020B0604020202020204" pitchFamily="34" charset="0"/>
              </a:rPr>
              <a:t> </a:t>
            </a:r>
            <a:r>
              <a:rPr sz="2000" spc="-15" dirty="0">
                <a:cs typeface="Arial" panose="020B0604020202020204" pitchFamily="34" charset="0"/>
              </a:rPr>
              <a:t>2px;</a:t>
            </a:r>
            <a:endParaRPr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000" dirty="0">
                <a:cs typeface="Arial" panose="020B0604020202020204" pitchFamily="34" charset="0"/>
              </a:rPr>
              <a:t>}</a:t>
            </a:r>
          </a:p>
          <a:p>
            <a:pPr>
              <a:spcBef>
                <a:spcPts val="25"/>
              </a:spcBef>
              <a:defRPr/>
            </a:pPr>
            <a:endParaRPr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000" dirty="0">
                <a:cs typeface="Arial" panose="020B0604020202020204" pitchFamily="34" charset="0"/>
              </a:rPr>
              <a:t>h2</a:t>
            </a:r>
            <a:r>
              <a:rPr sz="2000" spc="-3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z="2000" spc="-10" dirty="0">
                <a:cs typeface="Arial" panose="020B0604020202020204" pitchFamily="34" charset="0"/>
              </a:rPr>
              <a:t>letter-spacing: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-3px;</a:t>
            </a:r>
            <a:endParaRPr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000" dirty="0">
                <a:cs typeface="Arial" panose="020B0604020202020204" pitchFamily="34" charset="0"/>
              </a:rPr>
              <a:t>}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9D96630-E1D2-AF17-0922-EE18236B8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19816"/>
              </p:ext>
            </p:extLst>
          </p:nvPr>
        </p:nvGraphicFramePr>
        <p:xfrm>
          <a:off x="3791744" y="2776030"/>
          <a:ext cx="7764462" cy="262858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1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445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3500" marB="0" horzOverflow="overflow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3500" marB="0" horzOverflow="overflow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36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3500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extra space between characters. This is the default.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350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339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Defines an extra space between characters (negative values are  allowed).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036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this property to its default value.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729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Inherits this property from its parent element.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35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57F4B5B-02A2-3609-53E5-E5F5CB35C293}"/>
              </a:ext>
            </a:extLst>
          </p:cNvPr>
          <p:cNvSpPr txBox="1"/>
          <p:nvPr/>
        </p:nvSpPr>
        <p:spPr>
          <a:xfrm>
            <a:off x="635794" y="1350935"/>
            <a:ext cx="10197518" cy="1397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GB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 used to control the space between individual characters.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5" dirty="0">
                <a:cs typeface="Arial" panose="020B0604020202020204" pitchFamily="34" charset="0"/>
              </a:rPr>
              <a:t>Specified</a:t>
            </a:r>
            <a:r>
              <a:rPr lang="en-US" sz="2800" spc="-25" dirty="0">
                <a:cs typeface="Arial" panose="020B0604020202020204" pitchFamily="34" charset="0"/>
              </a:rPr>
              <a:t> </a:t>
            </a:r>
            <a:r>
              <a:rPr lang="en-US" sz="2800" spc="-5" dirty="0">
                <a:cs typeface="Arial" panose="020B0604020202020204" pitchFamily="34" charset="0"/>
              </a:rPr>
              <a:t>by: </a:t>
            </a:r>
            <a:r>
              <a:rPr lang="en-GB" sz="2800" spc="-5" dirty="0">
                <a:solidFill>
                  <a:schemeClr val="accent2"/>
                </a:solidFill>
                <a:latin typeface="Calibri"/>
                <a:cs typeface="Calibri"/>
              </a:rPr>
              <a:t>letter-spacing:</a:t>
            </a:r>
            <a:r>
              <a:rPr lang="en-GB" sz="2800" spc="-20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GB" sz="2800" spc="-5" dirty="0" err="1">
                <a:solidFill>
                  <a:schemeClr val="accent2"/>
                </a:solidFill>
                <a:latin typeface="Calibri"/>
                <a:cs typeface="Calibri"/>
              </a:rPr>
              <a:t>normal|</a:t>
            </a:r>
            <a:r>
              <a:rPr lang="en-GB" sz="2800" i="1" spc="-5" dirty="0" err="1">
                <a:solidFill>
                  <a:schemeClr val="accent2"/>
                </a:solidFill>
                <a:latin typeface="Calibri"/>
                <a:cs typeface="Calibri"/>
              </a:rPr>
              <a:t>length</a:t>
            </a:r>
            <a:r>
              <a:rPr lang="en-GB" sz="2800" spc="-5" dirty="0" err="1">
                <a:solidFill>
                  <a:schemeClr val="accent2"/>
                </a:solidFill>
                <a:latin typeface="Calibri"/>
                <a:cs typeface="Calibri"/>
              </a:rPr>
              <a:t>|initial|inherit</a:t>
            </a:r>
            <a:r>
              <a:rPr lang="en-GB" sz="2800" spc="-5" dirty="0">
                <a:solidFill>
                  <a:schemeClr val="accent2"/>
                </a:solidFill>
                <a:latin typeface="Calibri"/>
                <a:cs typeface="Calibri"/>
              </a:rPr>
              <a:t>;</a:t>
            </a:r>
            <a:endParaRPr lang="en-GB" sz="2800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93E372A5-BB47-32A5-527D-0E147F1F7C54}"/>
              </a:ext>
            </a:extLst>
          </p:cNvPr>
          <p:cNvSpPr txBox="1"/>
          <p:nvPr/>
        </p:nvSpPr>
        <p:spPr>
          <a:xfrm>
            <a:off x="479376" y="3783589"/>
            <a:ext cx="2587377" cy="13054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spc="-5" dirty="0">
                <a:cs typeface="Arial" panose="020B0604020202020204" pitchFamily="34" charset="0"/>
              </a:rPr>
              <a:t>div</a:t>
            </a:r>
            <a:r>
              <a:rPr sz="2800" spc="-30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z="2800" spc="-10" dirty="0">
                <a:cs typeface="Arial" panose="020B0604020202020204" pitchFamily="34" charset="0"/>
              </a:rPr>
              <a:t>direction:</a:t>
            </a:r>
            <a:r>
              <a:rPr sz="2800" spc="-15" dirty="0">
                <a:cs typeface="Arial" panose="020B0604020202020204" pitchFamily="34" charset="0"/>
              </a:rPr>
              <a:t> </a:t>
            </a:r>
            <a:r>
              <a:rPr sz="2800" spc="-5" dirty="0">
                <a:cs typeface="Arial" panose="020B0604020202020204" pitchFamily="34" charset="0"/>
              </a:rPr>
              <a:t>rtl;</a:t>
            </a:r>
            <a:endParaRPr sz="28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800" dirty="0">
                <a:cs typeface="Arial" panose="020B0604020202020204" pitchFamily="34" charset="0"/>
              </a:rPr>
              <a:t>}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8B3C0D67-7F92-3079-017B-9E7DC2B65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54524"/>
              </p:ext>
            </p:extLst>
          </p:nvPr>
        </p:nvGraphicFramePr>
        <p:xfrm>
          <a:off x="3431704" y="3217222"/>
          <a:ext cx="8352928" cy="274716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47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5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5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083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ltr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writing direction is left-to-right.  This is the default.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29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rtl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writing direction is right-to-left.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629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this property to its default  value.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128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947"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762" marB="0" horzOverflow="overflow"/>
                </a:tc>
                <a:tc>
                  <a:txBody>
                    <a:bodyPr/>
                    <a:lstStyle>
                      <a:lvl1pPr marL="7302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730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Inherits this property from its  parent element.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64762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3701627B-BCDF-3122-3F0B-2CFFFDF61B67}"/>
              </a:ext>
            </a:extLst>
          </p:cNvPr>
          <p:cNvSpPr txBox="1">
            <a:spLocks/>
          </p:cNvSpPr>
          <p:nvPr/>
        </p:nvSpPr>
        <p:spPr>
          <a:xfrm>
            <a:off x="-96688" y="305594"/>
            <a:ext cx="6038850" cy="75247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12700" algn="ctr">
              <a:spcBef>
                <a:spcPts val="100"/>
              </a:spcBef>
              <a:defRPr/>
            </a:pPr>
            <a:r>
              <a:rPr lang="en-GB" sz="4800" kern="0" spc="-20" dirty="0"/>
              <a:t>Direction</a:t>
            </a:r>
            <a:r>
              <a:rPr lang="en-GB" sz="4800" kern="0" spc="-50" dirty="0"/>
              <a:t> </a:t>
            </a:r>
            <a:r>
              <a:rPr lang="en-GB" sz="4800" kern="0" spc="-10" dirty="0"/>
              <a:t>Property</a:t>
            </a:r>
            <a:endParaRPr lang="en-GB" sz="4800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0C704-428D-0784-3373-F87594CC8235}"/>
              </a:ext>
            </a:extLst>
          </p:cNvPr>
          <p:cNvSpPr txBox="1"/>
          <p:nvPr/>
        </p:nvSpPr>
        <p:spPr>
          <a:xfrm>
            <a:off x="623392" y="1512888"/>
            <a:ext cx="97683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Defines the direction of text within HTML elements.</a:t>
            </a:r>
          </a:p>
          <a:p>
            <a:endParaRPr lang="en-GB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ea typeface="Calibri" panose="020F0502020204030204" pitchFamily="34" charset="0"/>
                <a:cs typeface="Arial" panose="020B0604020202020204" pitchFamily="34" charset="0"/>
              </a:rPr>
              <a:t>Specified by:</a:t>
            </a:r>
            <a:r>
              <a:rPr lang="en-GB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800" spc="-10" dirty="0">
                <a:solidFill>
                  <a:schemeClr val="accent2"/>
                </a:solidFill>
                <a:latin typeface="Calibri"/>
                <a:cs typeface="Calibri"/>
              </a:rPr>
              <a:t>direction:</a:t>
            </a:r>
            <a:r>
              <a:rPr lang="en-GB" sz="2800" spc="1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GB" sz="2800" spc="-5" dirty="0" err="1">
                <a:solidFill>
                  <a:schemeClr val="accent2"/>
                </a:solidFill>
                <a:latin typeface="Calibri"/>
                <a:cs typeface="Calibri"/>
              </a:rPr>
              <a:t>ltr|rtl|initial|inherit</a:t>
            </a:r>
            <a:r>
              <a:rPr lang="en-GB" sz="2800" spc="1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GB" sz="2800" dirty="0">
                <a:solidFill>
                  <a:schemeClr val="accent2"/>
                </a:solidFill>
                <a:latin typeface="Calibri"/>
                <a:cs typeface="Calibri"/>
              </a:rPr>
              <a:t>;</a:t>
            </a:r>
          </a:p>
          <a:p>
            <a:endParaRPr lang="en-GB"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8A295BC-F594-A216-D5C6-5203247A8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336" y="188640"/>
            <a:ext cx="7305675" cy="750887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800" spc="-20" dirty="0"/>
              <a:t>Text-shadow</a:t>
            </a:r>
            <a:r>
              <a:rPr sz="4800" spc="-50" dirty="0"/>
              <a:t> </a:t>
            </a:r>
            <a:r>
              <a:rPr sz="4800" spc="-10" dirty="0"/>
              <a:t>Property</a:t>
            </a:r>
            <a:endParaRPr sz="4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A3853CA-9669-7FB0-240F-4B8495318305}"/>
              </a:ext>
            </a:extLst>
          </p:cNvPr>
          <p:cNvSpPr txBox="1"/>
          <p:nvPr/>
        </p:nvSpPr>
        <p:spPr>
          <a:xfrm>
            <a:off x="747254" y="3429000"/>
            <a:ext cx="3568700" cy="1243930"/>
          </a:xfrm>
          <a:prstGeom prst="rect">
            <a:avLst/>
          </a:prstGeom>
          <a:solidFill>
            <a:schemeClr val="accent5"/>
          </a:solidFill>
        </p:spPr>
        <p:txBody>
          <a:bodyPr wrap="square" lIns="0" tIns="12700" rIns="0" bIns="0">
            <a:spAutoFit/>
          </a:bodyPr>
          <a:lstStyle/>
          <a:p>
            <a:pPr>
              <a:spcBef>
                <a:spcPts val="25"/>
              </a:spcBef>
              <a:defRPr/>
            </a:pPr>
            <a:endParaRPr lang="en-GB"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GB" sz="2000" dirty="0">
                <a:cs typeface="Arial" panose="020B0604020202020204" pitchFamily="34" charset="0"/>
              </a:rPr>
              <a:t>h1</a:t>
            </a:r>
            <a:r>
              <a:rPr lang="en-GB" sz="2000" spc="-30" dirty="0">
                <a:cs typeface="Arial" panose="020B0604020202020204" pitchFamily="34" charset="0"/>
              </a:rPr>
              <a:t> </a:t>
            </a:r>
            <a:r>
              <a:rPr lang="en-GB" sz="2000" dirty="0">
                <a:cs typeface="Arial" panose="020B0604020202020204" pitchFamily="34" charset="0"/>
              </a:rPr>
              <a:t>{</a:t>
            </a:r>
          </a:p>
          <a:p>
            <a:pPr marL="221615">
              <a:defRPr/>
            </a:pPr>
            <a:r>
              <a:rPr lang="en-GB" sz="2000" spc="-10" dirty="0">
                <a:cs typeface="Arial" panose="020B0604020202020204" pitchFamily="34" charset="0"/>
              </a:rPr>
              <a:t>text-shadow:</a:t>
            </a:r>
            <a:r>
              <a:rPr lang="en-GB" sz="2000" spc="5" dirty="0">
                <a:cs typeface="Arial" panose="020B0604020202020204" pitchFamily="34" charset="0"/>
              </a:rPr>
              <a:t> </a:t>
            </a:r>
            <a:r>
              <a:rPr lang="en-GB" sz="2000" spc="-15" dirty="0">
                <a:cs typeface="Arial" panose="020B0604020202020204" pitchFamily="34" charset="0"/>
              </a:rPr>
              <a:t>2px</a:t>
            </a:r>
            <a:r>
              <a:rPr lang="en-GB" sz="2000" spc="-10" dirty="0">
                <a:cs typeface="Arial" panose="020B0604020202020204" pitchFamily="34" charset="0"/>
              </a:rPr>
              <a:t> </a:t>
            </a:r>
            <a:r>
              <a:rPr lang="en-GB" sz="2000" spc="-10" dirty="0" err="1">
                <a:cs typeface="Arial" panose="020B0604020202020204" pitchFamily="34" charset="0"/>
              </a:rPr>
              <a:t>2px</a:t>
            </a:r>
            <a:r>
              <a:rPr lang="en-GB" sz="2000" spc="-15" dirty="0">
                <a:cs typeface="Arial" panose="020B0604020202020204" pitchFamily="34" charset="0"/>
              </a:rPr>
              <a:t> </a:t>
            </a:r>
            <a:r>
              <a:rPr lang="en-GB" sz="2000" spc="-5" dirty="0">
                <a:cs typeface="Arial" panose="020B0604020202020204" pitchFamily="34" charset="0"/>
              </a:rPr>
              <a:t>#ff0000;</a:t>
            </a:r>
            <a:endParaRPr lang="en-GB"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lang="en-GB" sz="2000" dirty="0">
                <a:cs typeface="Arial" panose="020B0604020202020204" pitchFamily="34" charset="0"/>
              </a:rPr>
              <a:t>}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C3E60067-2031-AFD2-3DD0-C41F6205C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71134"/>
              </p:ext>
            </p:extLst>
          </p:nvPr>
        </p:nvGraphicFramePr>
        <p:xfrm>
          <a:off x="4799856" y="2451570"/>
          <a:ext cx="7208848" cy="364172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13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39162"/>
                  </a:ext>
                </a:extLst>
              </a:tr>
              <a:tr h="536575"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h-shadow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Required. The position of the horizontal shadow. Negative values are allowed.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v-shadow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Required. The position of the vertical shadow. Negative values are allowed.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13"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blur-radius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Optional. The blur radius. Default value is 0.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Optional. The color of the shadow.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value. No shadow.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this property to its default value.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7625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8260" marB="0" horzOverflow="overflow"/>
                </a:tc>
                <a:tc>
                  <a:txBody>
                    <a:bodyPr/>
                    <a:lstStyle>
                      <a:lvl1pPr marL="539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9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Inherits this property from its parent element.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8260" marB="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983831-CB92-D9B4-E17E-2C87F9359250}"/>
              </a:ext>
            </a:extLst>
          </p:cNvPr>
          <p:cNvSpPr txBox="1"/>
          <p:nvPr/>
        </p:nvSpPr>
        <p:spPr>
          <a:xfrm>
            <a:off x="263351" y="1340768"/>
            <a:ext cx="114492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GB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 used to apply a shadow effect to text within HTML elements.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cs typeface="Arial" panose="020B0604020202020204" pitchFamily="34" charset="0"/>
              </a:rPr>
              <a:t>Specified by: </a:t>
            </a:r>
            <a:r>
              <a:rPr lang="en-GB" sz="2800" spc="-10" dirty="0">
                <a:solidFill>
                  <a:schemeClr val="accent2"/>
                </a:solidFill>
                <a:latin typeface="Calibri"/>
                <a:cs typeface="Calibri"/>
              </a:rPr>
              <a:t>text-shadow:</a:t>
            </a:r>
            <a:r>
              <a:rPr lang="en-GB" sz="2800" spc="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GB" sz="2800" i="1" spc="-10" dirty="0">
                <a:solidFill>
                  <a:schemeClr val="accent2"/>
                </a:solidFill>
                <a:latin typeface="Calibri"/>
                <a:cs typeface="Calibri"/>
              </a:rPr>
              <a:t>h-shadow</a:t>
            </a:r>
            <a:r>
              <a:rPr lang="en-GB" sz="2800" i="1" spc="20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GB" sz="2800" i="1" spc="-5" dirty="0">
                <a:solidFill>
                  <a:schemeClr val="accent2"/>
                </a:solidFill>
                <a:latin typeface="Calibri"/>
                <a:cs typeface="Calibri"/>
              </a:rPr>
              <a:t>v-shadow</a:t>
            </a:r>
            <a:r>
              <a:rPr lang="en-GB" sz="2800" i="1" spc="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GB" sz="2800" i="1" spc="-5" dirty="0">
                <a:solidFill>
                  <a:schemeClr val="accent2"/>
                </a:solidFill>
                <a:latin typeface="Calibri"/>
                <a:cs typeface="Calibri"/>
              </a:rPr>
              <a:t>blur-radius</a:t>
            </a:r>
            <a:r>
              <a:rPr lang="en-GB" sz="2800" i="1" spc="20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GB" sz="2800" i="1" spc="-5" dirty="0" err="1">
                <a:solidFill>
                  <a:schemeClr val="accent2"/>
                </a:solidFill>
                <a:latin typeface="Calibri"/>
                <a:cs typeface="Calibri"/>
              </a:rPr>
              <a:t>color</a:t>
            </a:r>
            <a:r>
              <a:rPr lang="en-GB" sz="2800" spc="-5" dirty="0" err="1">
                <a:solidFill>
                  <a:schemeClr val="accent2"/>
                </a:solidFill>
                <a:latin typeface="Calibri"/>
                <a:cs typeface="Calibri"/>
              </a:rPr>
              <a:t>|none|initial|inherit</a:t>
            </a:r>
            <a:r>
              <a:rPr lang="en-GB" sz="2800" spc="-5" dirty="0">
                <a:solidFill>
                  <a:schemeClr val="accent2"/>
                </a:solidFill>
                <a:latin typeface="Calibri"/>
                <a:cs typeface="Calibri"/>
              </a:rPr>
              <a:t>;</a:t>
            </a:r>
            <a:endParaRPr lang="en-GB"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49F50D-983E-8769-4005-BC05FD6D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4365104"/>
            <a:ext cx="3980788" cy="1362075"/>
          </a:xfrm>
        </p:spPr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font and styling</a:t>
            </a:r>
            <a:endParaRPr lang="en-GB" dirty="0"/>
          </a:p>
        </p:txBody>
      </p:sp>
      <p:pic>
        <p:nvPicPr>
          <p:cNvPr id="4098" name="Picture 2" descr="Free vector gradient font template flat design">
            <a:extLst>
              <a:ext uri="{FF2B5EF4-FFF2-40B4-BE49-F238E27FC236}">
                <a16:creationId xmlns:a16="http://schemas.microsoft.com/office/drawing/2014/main" id="{405B002E-A330-55D3-C7C8-DA991809B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84" y="1268760"/>
            <a:ext cx="6240016" cy="4968552"/>
          </a:xfrm>
          <a:prstGeom prst="rect">
            <a:avLst/>
          </a:prstGeom>
          <a:noFill/>
          <a:effectLst>
            <a:softEdge rad="1778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534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B54D3-4970-FE2E-B5DB-B1DAFE5B8F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6516" y="260648"/>
            <a:ext cx="4025900" cy="752475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spc="-5" dirty="0"/>
              <a:t>CSS</a:t>
            </a:r>
            <a:r>
              <a:rPr sz="4800" spc="-60" dirty="0"/>
              <a:t> </a:t>
            </a:r>
            <a:r>
              <a:rPr sz="4800" spc="-10" dirty="0"/>
              <a:t>Font</a:t>
            </a:r>
          </a:p>
        </p:txBody>
      </p:sp>
      <p:pic>
        <p:nvPicPr>
          <p:cNvPr id="46083" name="object 4">
            <a:extLst>
              <a:ext uri="{FF2B5EF4-FFF2-40B4-BE49-F238E27FC236}">
                <a16:creationId xmlns:a16="http://schemas.microsoft.com/office/drawing/2014/main" id="{D4CD38AC-AB3D-F1B3-F3E8-865C9900A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944" y="4326904"/>
            <a:ext cx="379095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object 6">
            <a:extLst>
              <a:ext uri="{FF2B5EF4-FFF2-40B4-BE49-F238E27FC236}">
                <a16:creationId xmlns:a16="http://schemas.microsoft.com/office/drawing/2014/main" id="{E3957057-C66A-C6F3-7FF2-2A8749B94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2776257"/>
            <a:ext cx="10873208" cy="130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</a:pP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font: </a:t>
            </a:r>
            <a:r>
              <a:rPr lang="en-US" altLang="en-US" sz="2800" i="1" dirty="0">
                <a:solidFill>
                  <a:schemeClr val="accent2"/>
                </a:solidFill>
                <a:cs typeface="Arial" panose="020B0604020202020204" pitchFamily="34" charset="0"/>
              </a:rPr>
              <a:t>font-style font-variant font-weight font-size/line-height font-  family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|caption|icon|menu|message-box|small-caption|status-bar|initial|inherit;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F71159-A1F5-0276-8414-F27E1B5901DE}"/>
              </a:ext>
            </a:extLst>
          </p:cNvPr>
          <p:cNvSpPr txBox="1"/>
          <p:nvPr/>
        </p:nvSpPr>
        <p:spPr>
          <a:xfrm>
            <a:off x="1783191" y="4437112"/>
            <a:ext cx="2689225" cy="12439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000" spc="-10" dirty="0">
                <a:cs typeface="Arial" panose="020B0604020202020204" pitchFamily="34" charset="0"/>
              </a:rPr>
              <a:t>p.ex1</a:t>
            </a:r>
            <a:r>
              <a:rPr sz="2000" spc="-4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z="2000" spc="-10" dirty="0">
                <a:cs typeface="Arial" panose="020B0604020202020204" pitchFamily="34" charset="0"/>
              </a:rPr>
              <a:t>font: 15px </a:t>
            </a:r>
            <a:r>
              <a:rPr sz="2000" spc="-5" dirty="0">
                <a:cs typeface="Arial" panose="020B0604020202020204" pitchFamily="34" charset="0"/>
              </a:rPr>
              <a:t>arial,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sans-serif;</a:t>
            </a:r>
            <a:endParaRPr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000" dirty="0">
                <a:cs typeface="Arial" panose="020B0604020202020204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32623-BE9C-742E-E58A-015CE39DB8E0}"/>
              </a:ext>
            </a:extLst>
          </p:cNvPr>
          <p:cNvSpPr txBox="1"/>
          <p:nvPr/>
        </p:nvSpPr>
        <p:spPr>
          <a:xfrm>
            <a:off x="446516" y="1761756"/>
            <a:ext cx="107291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GB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ont properties collectively provide extensive control over the appearance of text within webpages</a:t>
            </a:r>
            <a:r>
              <a:rPr lang="en-GB" sz="28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GB"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5BCFF8-64DF-86B7-4AB5-2A8CE71A1D90}"/>
              </a:ext>
            </a:extLst>
          </p:cNvPr>
          <p:cNvSpPr txBox="1"/>
          <p:nvPr/>
        </p:nvSpPr>
        <p:spPr>
          <a:xfrm>
            <a:off x="7824191" y="1847911"/>
            <a:ext cx="3528393" cy="936154"/>
          </a:xfrm>
          <a:prstGeom prst="rect">
            <a:avLst/>
          </a:prstGeom>
          <a:solidFill>
            <a:schemeClr val="accent5"/>
          </a:solidFill>
        </p:spPr>
        <p:txBody>
          <a:bodyPr wrap="square" lIns="0" tIns="12700" rIns="0" bIns="0">
            <a:spAutoFit/>
          </a:bodyPr>
          <a:lstStyle/>
          <a:p>
            <a:pPr marL="12700">
              <a:defRPr/>
            </a:pPr>
            <a:r>
              <a:rPr sz="2000" spc="-5" dirty="0">
                <a:cs typeface="Arial" panose="020B0604020202020204" pitchFamily="34" charset="0"/>
              </a:rPr>
              <a:t>p.</a:t>
            </a:r>
            <a:r>
              <a:rPr lang="en-GB" sz="2000" spc="-5" dirty="0">
                <a:cs typeface="Arial" panose="020B0604020202020204" pitchFamily="34" charset="0"/>
              </a:rPr>
              <a:t>italic</a:t>
            </a:r>
            <a:r>
              <a:rPr sz="2000" spc="-1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{</a:t>
            </a:r>
          </a:p>
          <a:p>
            <a:pPr marL="220979">
              <a:defRPr/>
            </a:pPr>
            <a:r>
              <a:rPr sz="2000" spc="-10" dirty="0">
                <a:cs typeface="Arial" panose="020B0604020202020204" pitchFamily="34" charset="0"/>
              </a:rPr>
              <a:t>font-style:</a:t>
            </a:r>
            <a:r>
              <a:rPr sz="2000" spc="-1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italic</a:t>
            </a:r>
            <a:endParaRPr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000" dirty="0"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C8FD94-616E-1FB0-61E8-11AF42C76FE8}"/>
              </a:ext>
            </a:extLst>
          </p:cNvPr>
          <p:cNvSpPr txBox="1"/>
          <p:nvPr/>
        </p:nvSpPr>
        <p:spPr>
          <a:xfrm>
            <a:off x="695400" y="3707840"/>
            <a:ext cx="8517061" cy="130548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spc="-10" dirty="0">
                <a:cs typeface="Arial" panose="020B0604020202020204" pitchFamily="34" charset="0"/>
              </a:rPr>
              <a:t>Font-variant</a:t>
            </a:r>
            <a:endParaRPr sz="2800" dirty="0">
              <a:cs typeface="Arial" panose="020B0604020202020204" pitchFamily="34" charset="0"/>
            </a:endParaRPr>
          </a:p>
          <a:p>
            <a:pPr>
              <a:spcBef>
                <a:spcPts val="20"/>
              </a:spcBef>
              <a:defRPr/>
            </a:pPr>
            <a:endParaRPr sz="28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800" spc="-10" dirty="0">
                <a:solidFill>
                  <a:schemeClr val="accent2"/>
                </a:solidFill>
                <a:cs typeface="Arial" panose="020B0604020202020204" pitchFamily="34" charset="0"/>
              </a:rPr>
              <a:t>font-variant:</a:t>
            </a:r>
            <a:r>
              <a:rPr sz="2800" spc="-45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2"/>
                </a:solidFill>
                <a:cs typeface="Arial" panose="020B0604020202020204" pitchFamily="34" charset="0"/>
              </a:rPr>
              <a:t>normal|small-caps|initial|inherit;</a:t>
            </a:r>
            <a:endParaRPr sz="280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A8E7C0F-CCF6-C483-3F89-CBE5D64B7F25}"/>
              </a:ext>
            </a:extLst>
          </p:cNvPr>
          <p:cNvSpPr txBox="1"/>
          <p:nvPr/>
        </p:nvSpPr>
        <p:spPr>
          <a:xfrm>
            <a:off x="7824191" y="4284977"/>
            <a:ext cx="3528393" cy="936154"/>
          </a:xfrm>
          <a:prstGeom prst="rect">
            <a:avLst/>
          </a:prstGeom>
          <a:solidFill>
            <a:schemeClr val="accent5"/>
          </a:solidFill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000" spc="-5" dirty="0">
                <a:cs typeface="Arial" panose="020B0604020202020204" pitchFamily="34" charset="0"/>
              </a:rPr>
              <a:t>p.small</a:t>
            </a:r>
            <a:r>
              <a:rPr sz="2000" spc="-3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{</a:t>
            </a:r>
          </a:p>
          <a:p>
            <a:pPr marL="221615">
              <a:defRPr/>
            </a:pPr>
            <a:r>
              <a:rPr sz="2000" spc="-10" dirty="0">
                <a:cs typeface="Arial" panose="020B0604020202020204" pitchFamily="34" charset="0"/>
              </a:rPr>
              <a:t>font-variant:</a:t>
            </a:r>
            <a:r>
              <a:rPr sz="2000" spc="-6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small-caps;</a:t>
            </a:r>
            <a:endParaRPr sz="2000" dirty="0">
              <a:cs typeface="Arial" panose="020B0604020202020204" pitchFamily="34" charset="0"/>
            </a:endParaRPr>
          </a:p>
          <a:p>
            <a:pPr marL="12700">
              <a:defRPr/>
            </a:pPr>
            <a:r>
              <a:rPr sz="2000" dirty="0"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03CA84C-BC68-FFC9-C78D-7E472A55C789}"/>
              </a:ext>
            </a:extLst>
          </p:cNvPr>
          <p:cNvSpPr txBox="1">
            <a:spLocks/>
          </p:cNvSpPr>
          <p:nvPr/>
        </p:nvSpPr>
        <p:spPr>
          <a:xfrm>
            <a:off x="119336" y="260648"/>
            <a:ext cx="4025900" cy="750888"/>
          </a:xfrm>
          <a:prstGeom prst="rect">
            <a:avLst/>
          </a:prstGeom>
        </p:spPr>
        <p:txBody>
          <a:bodyPr lIns="0" tIns="13335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12700">
              <a:spcBef>
                <a:spcPts val="105"/>
              </a:spcBef>
              <a:defRPr/>
            </a:pPr>
            <a:r>
              <a:rPr lang="en-GB" sz="4800" kern="0" spc="-5" dirty="0"/>
              <a:t>CSS</a:t>
            </a:r>
            <a:r>
              <a:rPr lang="en-GB" sz="4800" kern="0" spc="-60" dirty="0"/>
              <a:t> </a:t>
            </a:r>
            <a:r>
              <a:rPr lang="en-GB" sz="4800" kern="0" spc="-10" dirty="0"/>
              <a:t>Font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08DF9-E783-D3F2-5EBC-297C149B01A8}"/>
              </a:ext>
            </a:extLst>
          </p:cNvPr>
          <p:cNvSpPr txBox="1"/>
          <p:nvPr/>
        </p:nvSpPr>
        <p:spPr>
          <a:xfrm>
            <a:off x="562760" y="1636869"/>
            <a:ext cx="7261431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">
              <a:spcBef>
                <a:spcPts val="100"/>
              </a:spcBef>
              <a:defRPr/>
            </a:pPr>
            <a:r>
              <a:rPr lang="en-GB" sz="2800" b="1" spc="-10" dirty="0">
                <a:cs typeface="Arial" panose="020B0604020202020204" pitchFamily="34" charset="0"/>
              </a:rPr>
              <a:t>Font-style</a:t>
            </a:r>
            <a:endParaRPr lang="en-GB" sz="2800" dirty="0">
              <a:cs typeface="Arial" panose="020B0604020202020204" pitchFamily="34" charset="0"/>
            </a:endParaRPr>
          </a:p>
          <a:p>
            <a:pPr marL="28575">
              <a:spcBef>
                <a:spcPts val="1380"/>
              </a:spcBef>
              <a:defRPr/>
            </a:pPr>
            <a:r>
              <a:rPr lang="en-GB" sz="2800" spc="-10" dirty="0">
                <a:solidFill>
                  <a:schemeClr val="accent2"/>
                </a:solidFill>
                <a:cs typeface="Arial" panose="020B0604020202020204" pitchFamily="34" charset="0"/>
              </a:rPr>
              <a:t>font-style:</a:t>
            </a:r>
            <a:r>
              <a:rPr lang="en-GB" sz="2800" spc="-30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GB" sz="2800" spc="-5" dirty="0" err="1">
                <a:solidFill>
                  <a:schemeClr val="accent2"/>
                </a:solidFill>
                <a:cs typeface="Arial" panose="020B0604020202020204" pitchFamily="34" charset="0"/>
              </a:rPr>
              <a:t>normal|italic|oblique|initial|inherit</a:t>
            </a:r>
            <a:r>
              <a:rPr lang="en-GB" sz="2800" spc="-5" dirty="0">
                <a:solidFill>
                  <a:schemeClr val="accent2"/>
                </a:solidFill>
                <a:cs typeface="Arial" panose="020B0604020202020204" pitchFamily="34" charset="0"/>
              </a:rPr>
              <a:t>;</a:t>
            </a:r>
            <a:endParaRPr lang="en-GB" sz="280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2FC8C0-EF9F-36ED-B4CE-541C93A08D36}"/>
              </a:ext>
            </a:extLst>
          </p:cNvPr>
          <p:cNvSpPr txBox="1"/>
          <p:nvPr/>
        </p:nvSpPr>
        <p:spPr>
          <a:xfrm>
            <a:off x="119336" y="4328775"/>
            <a:ext cx="8129587" cy="895053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25"/>
              </a:spcBef>
              <a:defRPr/>
            </a:pP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5"/>
              </a:spcBef>
              <a:defRPr/>
            </a:pP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750"/>
              </a:lnSpc>
              <a:defRPr/>
            </a:pP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750"/>
              </a:lnSpc>
              <a:defRPr/>
            </a:pP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CB7715D-5C36-4163-5AA9-62B53373409F}"/>
              </a:ext>
            </a:extLst>
          </p:cNvPr>
          <p:cNvSpPr txBox="1"/>
          <p:nvPr/>
        </p:nvSpPr>
        <p:spPr>
          <a:xfrm>
            <a:off x="8858719" y="4834241"/>
            <a:ext cx="2988332" cy="1243930"/>
          </a:xfrm>
          <a:prstGeom prst="rect">
            <a:avLst/>
          </a:prstGeom>
          <a:solidFill>
            <a:schemeClr val="accent5"/>
          </a:solidFill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p {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font-family: Times New Roman;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6A63DA8-F2E2-6AC6-A456-87EF68737F88}"/>
              </a:ext>
            </a:extLst>
          </p:cNvPr>
          <p:cNvSpPr txBox="1">
            <a:spLocks/>
          </p:cNvSpPr>
          <p:nvPr/>
        </p:nvSpPr>
        <p:spPr>
          <a:xfrm>
            <a:off x="407368" y="188640"/>
            <a:ext cx="4025900" cy="750888"/>
          </a:xfrm>
          <a:prstGeom prst="rect">
            <a:avLst/>
          </a:prstGeom>
        </p:spPr>
        <p:txBody>
          <a:bodyPr lIns="0" tIns="13335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12700">
              <a:spcBef>
                <a:spcPts val="105"/>
              </a:spcBef>
              <a:defRPr/>
            </a:pPr>
            <a:r>
              <a:rPr lang="en-GB" sz="4800" kern="0" spc="-5" dirty="0"/>
              <a:t>CSS</a:t>
            </a:r>
            <a:r>
              <a:rPr lang="en-GB" sz="4800" kern="0" spc="-60" dirty="0"/>
              <a:t> </a:t>
            </a:r>
            <a:r>
              <a:rPr lang="en-GB" sz="4800" kern="0" spc="-10" dirty="0"/>
              <a:t>Font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9665C-6D61-21C1-5B19-625F2CED465F}"/>
              </a:ext>
            </a:extLst>
          </p:cNvPr>
          <p:cNvSpPr txBox="1"/>
          <p:nvPr/>
        </p:nvSpPr>
        <p:spPr>
          <a:xfrm>
            <a:off x="191344" y="1401794"/>
            <a:ext cx="9001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/>
            </a:pPr>
            <a:r>
              <a:rPr lang="en-US" altLang="en-US" b="1" dirty="0">
                <a:cs typeface="Arial" panose="020B0604020202020204" pitchFamily="34" charset="0"/>
              </a:rPr>
              <a:t>Font-weight</a:t>
            </a:r>
            <a:endParaRPr lang="en-US" altLang="en-US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font-weight: </a:t>
            </a:r>
            <a:r>
              <a:rPr lang="en-US" altLang="en-US" dirty="0" err="1">
                <a:solidFill>
                  <a:schemeClr val="accent2"/>
                </a:solidFill>
                <a:cs typeface="Arial" panose="020B0604020202020204" pitchFamily="34" charset="0"/>
              </a:rPr>
              <a:t>normal|bold|bolder|lighter|</a:t>
            </a:r>
            <a:r>
              <a:rPr lang="en-US" altLang="en-US" i="1" dirty="0" err="1">
                <a:solidFill>
                  <a:schemeClr val="accent2"/>
                </a:solidFill>
                <a:cs typeface="Arial" panose="020B0604020202020204" pitchFamily="34" charset="0"/>
              </a:rPr>
              <a:t>number</a:t>
            </a:r>
            <a:r>
              <a:rPr lang="en-US" altLang="en-US" dirty="0" err="1">
                <a:solidFill>
                  <a:schemeClr val="accent2"/>
                </a:solidFill>
                <a:cs typeface="Arial" panose="020B0604020202020204" pitchFamily="34" charset="0"/>
              </a:rPr>
              <a:t>|initial|inherit</a:t>
            </a: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6CC55-AE21-43A4-EEB2-BFC45C336095}"/>
              </a:ext>
            </a:extLst>
          </p:cNvPr>
          <p:cNvSpPr txBox="1"/>
          <p:nvPr/>
        </p:nvSpPr>
        <p:spPr>
          <a:xfrm>
            <a:off x="8670193" y="1347180"/>
            <a:ext cx="3155950" cy="101566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000" dirty="0" err="1">
                <a:cs typeface="Arial" panose="020B0604020202020204" pitchFamily="34" charset="0"/>
              </a:rPr>
              <a:t>p.normal</a:t>
            </a:r>
            <a:r>
              <a:rPr lang="en-US" altLang="en-US" sz="2000" dirty="0">
                <a:cs typeface="Arial" panose="020B0604020202020204" pitchFamily="34" charset="0"/>
              </a:rPr>
              <a:t> {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font-weight: normal;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4F15F-481D-EBA5-BD0B-35212BD41D68}"/>
              </a:ext>
            </a:extLst>
          </p:cNvPr>
          <p:cNvSpPr txBox="1"/>
          <p:nvPr/>
        </p:nvSpPr>
        <p:spPr>
          <a:xfrm>
            <a:off x="191344" y="2467977"/>
            <a:ext cx="72728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b="1" dirty="0">
                <a:cs typeface="Arial" panose="020B0604020202020204" pitchFamily="34" charset="0"/>
              </a:rPr>
              <a:t>F</a:t>
            </a:r>
            <a:r>
              <a:rPr lang="en-US" altLang="en-US" sz="2400" b="1" dirty="0">
                <a:cs typeface="Arial" panose="020B0604020202020204" pitchFamily="34" charset="0"/>
              </a:rPr>
              <a:t>ont-size</a:t>
            </a:r>
            <a:endParaRPr lang="en-US" altLang="en-US" sz="2400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en-US" sz="2400" dirty="0" err="1">
                <a:solidFill>
                  <a:schemeClr val="accent2"/>
                </a:solidFill>
                <a:cs typeface="Arial" panose="020B0604020202020204" pitchFamily="34" charset="0"/>
              </a:rPr>
              <a:t>font-size:medium|xx-small|x-small|small|large|x-large|xx</a:t>
            </a: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  </a:t>
            </a:r>
            <a:r>
              <a:rPr lang="en-US" altLang="en-US" sz="2400" dirty="0" err="1">
                <a:solidFill>
                  <a:schemeClr val="accent2"/>
                </a:solidFill>
                <a:cs typeface="Arial" panose="020B0604020202020204" pitchFamily="34" charset="0"/>
              </a:rPr>
              <a:t>large|smaller|larger|</a:t>
            </a:r>
            <a:r>
              <a:rPr lang="en-US" altLang="en-US" sz="2400" i="1" dirty="0" err="1">
                <a:solidFill>
                  <a:schemeClr val="accent2"/>
                </a:solidFill>
                <a:cs typeface="Arial" panose="020B0604020202020204" pitchFamily="34" charset="0"/>
              </a:rPr>
              <a:t>length</a:t>
            </a:r>
            <a:r>
              <a:rPr lang="en-US" altLang="en-US" sz="2400" dirty="0" err="1">
                <a:solidFill>
                  <a:schemeClr val="accent2"/>
                </a:solidFill>
                <a:cs typeface="Arial" panose="020B0604020202020204" pitchFamily="34" charset="0"/>
              </a:rPr>
              <a:t>|initial|inherit</a:t>
            </a: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;</a:t>
            </a:r>
          </a:p>
          <a:p>
            <a:pPr>
              <a:defRPr/>
            </a:pPr>
            <a:endParaRPr lang="en-US" altLang="en-US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75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</a:t>
            </a:r>
          </a:p>
          <a:p>
            <a:pPr>
              <a:lnSpc>
                <a:spcPts val="1750"/>
              </a:lnSpc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Smaller-Sets the font-size to a smaller size than the parent element</a:t>
            </a:r>
          </a:p>
          <a:p>
            <a:pPr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%-Sets the font-size to a percent of the parent element's font size</a:t>
            </a:r>
            <a:endParaRPr lang="en-US" altLang="en-US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DD966-25C7-0F67-9FC0-CEB6CF1925CB}"/>
              </a:ext>
            </a:extLst>
          </p:cNvPr>
          <p:cNvSpPr txBox="1"/>
          <p:nvPr/>
        </p:nvSpPr>
        <p:spPr>
          <a:xfrm>
            <a:off x="7572286" y="2492896"/>
            <a:ext cx="4274765" cy="2170531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h1 {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font-size: 250%;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}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h1 {</a:t>
            </a:r>
          </a:p>
          <a:p>
            <a:pPr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font-size: 2.5em; /* 40px/16=2.5em */</a:t>
            </a:r>
          </a:p>
          <a:p>
            <a:pPr>
              <a:lnSpc>
                <a:spcPts val="1750"/>
              </a:lnSpc>
              <a:defRPr/>
            </a:pPr>
            <a:r>
              <a:rPr lang="en-US" altLang="en-US" sz="2000" dirty="0">
                <a:highlight>
                  <a:srgbClr val="C0C0C0"/>
                </a:highlight>
                <a:cs typeface="Arial" panose="020B0604020202020204" pitchFamily="34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7B241-7E28-DAF5-52DF-21141BC274CD}"/>
              </a:ext>
            </a:extLst>
          </p:cNvPr>
          <p:cNvSpPr txBox="1"/>
          <p:nvPr/>
        </p:nvSpPr>
        <p:spPr>
          <a:xfrm>
            <a:off x="220468" y="5255571"/>
            <a:ext cx="5436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/>
            </a:pPr>
            <a:r>
              <a:rPr lang="en-US" altLang="en-US" b="1" dirty="0">
                <a:cs typeface="Arial" panose="020B0604020202020204" pitchFamily="34" charset="0"/>
              </a:rPr>
              <a:t>Font-family</a:t>
            </a:r>
          </a:p>
          <a:p>
            <a:pPr>
              <a:defRPr/>
            </a:pP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font-family: </a:t>
            </a:r>
            <a:r>
              <a:rPr lang="en-US" altLang="en-US" i="1" dirty="0" err="1">
                <a:solidFill>
                  <a:schemeClr val="accent2"/>
                </a:solidFill>
                <a:cs typeface="Arial" panose="020B0604020202020204" pitchFamily="34" charset="0"/>
              </a:rPr>
              <a:t>font</a:t>
            </a:r>
            <a:r>
              <a:rPr lang="en-US" altLang="en-US" dirty="0" err="1">
                <a:solidFill>
                  <a:schemeClr val="accent2"/>
                </a:solidFill>
                <a:cs typeface="Arial" panose="020B0604020202020204" pitchFamily="34" charset="0"/>
              </a:rPr>
              <a:t>|initial|inherit</a:t>
            </a:r>
            <a:r>
              <a:rPr lang="en-US" altLang="en-US" dirty="0">
                <a:solidFill>
                  <a:schemeClr val="accent2"/>
                </a:solidFill>
                <a:cs typeface="Arial" panose="020B0604020202020204" pitchFamily="34" charset="0"/>
              </a:rPr>
              <a:t>; 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079AD0-2A15-2928-B901-FB0788CE5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368" y="165858"/>
            <a:ext cx="5394325" cy="752475"/>
          </a:xfr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Styling</a:t>
            </a:r>
            <a:r>
              <a:rPr sz="4800" b="0" spc="-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Links</a:t>
            </a:r>
          </a:p>
        </p:txBody>
      </p:sp>
      <p:sp>
        <p:nvSpPr>
          <p:cNvPr id="49155" name="object 3">
            <a:extLst>
              <a:ext uri="{FF2B5EF4-FFF2-40B4-BE49-F238E27FC236}">
                <a16:creationId xmlns:a16="http://schemas.microsoft.com/office/drawing/2014/main" id="{59528776-26C0-BB1E-FC03-BD165FA2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391503"/>
            <a:ext cx="5315013" cy="75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a:link </a:t>
            </a:r>
            <a:r>
              <a:rPr lang="en-US" altLang="en-US" dirty="0">
                <a:cs typeface="Arial" panose="020B0604020202020204" pitchFamily="34" charset="0"/>
              </a:rPr>
              <a:t>- a normal, unvisited link</a:t>
            </a:r>
          </a:p>
          <a:p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a:visited </a:t>
            </a:r>
            <a:r>
              <a:rPr lang="en-US" altLang="en-US" dirty="0">
                <a:cs typeface="Arial" panose="020B0604020202020204" pitchFamily="34" charset="0"/>
              </a:rPr>
              <a:t>- a link the user has visited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17CB28-2AC5-5B3A-961C-7E9A7AD9E4BC}"/>
              </a:ext>
            </a:extLst>
          </p:cNvPr>
          <p:cNvSpPr txBox="1">
            <a:spLocks noGrp="1"/>
          </p:cNvSpPr>
          <p:nvPr>
            <p:ph sz="half" idx="3"/>
          </p:nvPr>
        </p:nvSpPr>
        <p:spPr>
          <a:xfrm>
            <a:off x="5829844" y="2205118"/>
            <a:ext cx="4465116" cy="3213700"/>
          </a:xfrm>
          <a:solidFill>
            <a:schemeClr val="bg1">
              <a:lumMod val="95000"/>
            </a:schemeClr>
          </a:solidFill>
        </p:spPr>
        <p:txBody>
          <a:bodyPr vert="horz" wrap="square" lIns="0" tIns="1270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/* mouse over link */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a:hover {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color: #FF00FF;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background-color: #FF704D;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spcBef>
                <a:spcPts val="25"/>
              </a:spcBef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/* selected link */  a:active {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color: #0000FF;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49157" name="object 6">
            <a:extLst>
              <a:ext uri="{FF2B5EF4-FFF2-40B4-BE49-F238E27FC236}">
                <a16:creationId xmlns:a16="http://schemas.microsoft.com/office/drawing/2014/main" id="{941D2E4D-350E-CDC0-92E0-7027F58D8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0373" y="5524277"/>
            <a:ext cx="648072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</a:pPr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Notes: </a:t>
            </a:r>
            <a:r>
              <a:rPr lang="en-US" altLang="en-US" sz="1800" dirty="0">
                <a:cs typeface="Arial" panose="020B0604020202020204" pitchFamily="34" charset="0"/>
              </a:rPr>
              <a:t>a:hover </a:t>
            </a:r>
            <a:r>
              <a:rPr lang="en-US" altLang="en-US" sz="1800" b="1" dirty="0">
                <a:cs typeface="Arial" panose="020B0604020202020204" pitchFamily="34" charset="0"/>
              </a:rPr>
              <a:t>MUST </a:t>
            </a:r>
            <a:r>
              <a:rPr lang="en-US" altLang="en-US" sz="1800" dirty="0">
                <a:cs typeface="Arial" panose="020B0604020202020204" pitchFamily="34" charset="0"/>
              </a:rPr>
              <a:t>come after a:link and a:visited and a:active</a:t>
            </a:r>
            <a:r>
              <a:rPr lang="en-US" altLang="en-US" sz="1800" b="1" dirty="0">
                <a:cs typeface="Arial" panose="020B0604020202020204" pitchFamily="34" charset="0"/>
              </a:rPr>
              <a:t> MUST </a:t>
            </a:r>
            <a:r>
              <a:rPr lang="en-US" altLang="en-US" sz="1800" dirty="0">
                <a:cs typeface="Arial" panose="020B0604020202020204" pitchFamily="34" charset="0"/>
              </a:rPr>
              <a:t>come after a:hover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C95A9-7AAB-F429-8BE7-DED8730B52B2}"/>
              </a:ext>
            </a:extLst>
          </p:cNvPr>
          <p:cNvSpPr txBox="1"/>
          <p:nvPr/>
        </p:nvSpPr>
        <p:spPr>
          <a:xfrm>
            <a:off x="5664262" y="1268760"/>
            <a:ext cx="6624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a:hover </a:t>
            </a:r>
            <a:r>
              <a:rPr lang="en-US" altLang="en-US" dirty="0">
                <a:cs typeface="Arial" panose="020B0604020202020204" pitchFamily="34" charset="0"/>
              </a:rPr>
              <a:t>- a link when the user’s mouse over it  </a:t>
            </a:r>
          </a:p>
          <a:p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a:active </a:t>
            </a:r>
            <a:r>
              <a:rPr lang="en-US" altLang="en-US" dirty="0">
                <a:cs typeface="Arial" panose="020B0604020202020204" pitchFamily="34" charset="0"/>
              </a:rPr>
              <a:t>- a link the moment it is clicked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707A2-989F-B754-75E1-5C680649F6CE}"/>
              </a:ext>
            </a:extLst>
          </p:cNvPr>
          <p:cNvSpPr txBox="1"/>
          <p:nvPr/>
        </p:nvSpPr>
        <p:spPr>
          <a:xfrm>
            <a:off x="367563" y="2229568"/>
            <a:ext cx="4576309" cy="35291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indent="0">
              <a:spcBef>
                <a:spcPts val="100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/* unvisited link */  </a:t>
            </a:r>
          </a:p>
          <a:p>
            <a:pPr marL="0" indent="0">
              <a:spcBef>
                <a:spcPts val="100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a:link {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color: #FF0000;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text-decoration: none;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spcBef>
                <a:spcPts val="100"/>
              </a:spcBef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00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/* visited link */ </a:t>
            </a:r>
          </a:p>
          <a:p>
            <a:pPr marL="0" indent="0">
              <a:spcBef>
                <a:spcPts val="100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a:visited {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color: #00FF00;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text-decoration: underline;</a:t>
            </a:r>
          </a:p>
          <a:p>
            <a:pPr marL="0" indent="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83ECE-6831-FF01-2574-CFE466F9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colors</a:t>
            </a:r>
            <a:endParaRPr lang="en-GB" dirty="0"/>
          </a:p>
        </p:txBody>
      </p:sp>
      <p:pic>
        <p:nvPicPr>
          <p:cNvPr id="5122" name="Picture 2" descr="Free vector vibrant colorful set of gradients">
            <a:extLst>
              <a:ext uri="{FF2B5EF4-FFF2-40B4-BE49-F238E27FC236}">
                <a16:creationId xmlns:a16="http://schemas.microsoft.com/office/drawing/2014/main" id="{08421812-8403-F882-F545-658AF2211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752" y="1268760"/>
            <a:ext cx="6085247" cy="4968552"/>
          </a:xfrm>
          <a:prstGeom prst="rect">
            <a:avLst/>
          </a:prstGeom>
          <a:noFill/>
          <a:effectLst>
            <a:softEdge rad="152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5811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3335EF-C3C7-61FF-254E-9BDE9B5DE0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368" y="260648"/>
            <a:ext cx="6589712" cy="749300"/>
          </a:xfr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4800" spc="-64" dirty="0"/>
              <a:t>CSS</a:t>
            </a:r>
            <a:r>
              <a:rPr sz="4800" spc="-169" dirty="0"/>
              <a:t> </a:t>
            </a:r>
            <a:r>
              <a:rPr lang="en-GB" sz="4800" spc="-94" dirty="0"/>
              <a:t>C</a:t>
            </a:r>
            <a:r>
              <a:rPr sz="4800" spc="-94" dirty="0" err="1"/>
              <a:t>olors</a:t>
            </a:r>
            <a:endParaRPr sz="4800" spc="-94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B4A001-1D30-A184-95B6-448D1A3C8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04652" y="1772816"/>
            <a:ext cx="7992888" cy="3921426"/>
          </a:xfrm>
          <a:solidFill>
            <a:schemeClr val="bg1">
              <a:lumMod val="95000"/>
            </a:schemeClr>
          </a:solidFill>
        </p:spPr>
        <p:txBody>
          <a:bodyPr vert="horz" wrap="square" lIns="0" tIns="10001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color:Tomato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;"&gt;Tomato 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&lt;/h1&gt;</a:t>
            </a:r>
          </a:p>
          <a:p>
            <a:pPr marL="9525"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color:DodgerBlue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;"&gt;Dodger Blue 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&lt;/h1&gt;</a:t>
            </a:r>
          </a:p>
          <a:p>
            <a:pPr marL="9525"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color:MediumSeaGreen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;"&gt; Medium Sea Green 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&lt;/h1&gt;</a:t>
            </a:r>
          </a:p>
          <a:p>
            <a:pPr marL="9525">
              <a:spcBef>
                <a:spcPts val="338"/>
              </a:spcBef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style="border:2px solid Tomato;"&gt;Hello World&lt;/h1&gt;</a:t>
            </a:r>
          </a:p>
          <a:p>
            <a:pPr marL="9525"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style="border:2px solid 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DodgerBlue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;"&gt;Hello World&lt;/h1&gt;</a:t>
            </a:r>
          </a:p>
          <a:p>
            <a:pPr marL="9525"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style="border:2px solid Violet;"&gt;Hello World&lt;/h1&gt;</a:t>
            </a:r>
          </a:p>
          <a:p>
            <a:pPr marL="9525">
              <a:spcBef>
                <a:spcPts val="338"/>
              </a:spcBef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background-color:rgb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(255, 99,71);"&gt;...&lt;/h1&gt;</a:t>
            </a:r>
          </a:p>
          <a:p>
            <a:pPr marL="9525"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style="background-color:#ff6347;"&gt;...&lt;/h1&gt;</a:t>
            </a:r>
          </a:p>
          <a:p>
            <a:pPr marL="9525">
              <a:spcBef>
                <a:spcPts val="313"/>
              </a:spcBef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background-color:hsl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(9, 100%, 64%);"&gt;...&lt;/h1&gt;</a:t>
            </a:r>
          </a:p>
          <a:p>
            <a:pPr marL="9525">
              <a:spcBef>
                <a:spcPts val="538"/>
              </a:spcBef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background-color:rgba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(255, 99, 71,0.5);"&gt;...&lt;/h1&gt;</a:t>
            </a:r>
          </a:p>
          <a:p>
            <a:pPr marL="9525">
              <a:spcBef>
                <a:spcPts val="313"/>
              </a:spcBef>
              <a:defRPr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 style="</a:t>
            </a:r>
            <a:r>
              <a:rPr lang="en-US" alt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background-color:hsla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(9, 100%, 64%, 0.5);"&gt;...&lt;/h1&gt;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2289BCA-C4E3-8870-6D1F-F09B13901DB0}"/>
              </a:ext>
            </a:extLst>
          </p:cNvPr>
          <p:cNvSpPr txBox="1"/>
          <p:nvPr/>
        </p:nvSpPr>
        <p:spPr>
          <a:xfrm>
            <a:off x="126185" y="2000644"/>
            <a:ext cx="3888432" cy="2856712"/>
          </a:xfrm>
          <a:prstGeom prst="rect">
            <a:avLst/>
          </a:prstGeom>
        </p:spPr>
        <p:txBody>
          <a:bodyPr wrap="square" lIns="0" tIns="52864" rIns="0" bIns="0">
            <a:spAutoFit/>
          </a:bodyPr>
          <a:lstStyle/>
          <a:p>
            <a:pPr marL="9049">
              <a:spcBef>
                <a:spcPts val="416"/>
              </a:spcBef>
              <a:buSzPct val="95000"/>
              <a:tabLst>
                <a:tab pos="161925" algn="l"/>
              </a:tabLst>
              <a:defRPr/>
            </a:pPr>
            <a:r>
              <a:rPr 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Colors can be set by:</a:t>
            </a:r>
          </a:p>
          <a:p>
            <a:pPr marL="809149" lvl="1" indent="-342900">
              <a:spcBef>
                <a:spcPts val="416"/>
              </a:spcBef>
              <a:buSzPct val="95000"/>
              <a:buFont typeface="Arial" panose="020B0604020202020204" pitchFamily="34" charset="0"/>
              <a:buChar char="•"/>
              <a:tabLst>
                <a:tab pos="161925" algn="l"/>
              </a:tabLst>
              <a:defRPr/>
            </a:pP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By</a:t>
            </a:r>
            <a:r>
              <a:rPr sz="2800" spc="-34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color</a:t>
            </a:r>
            <a:r>
              <a:rPr sz="2800" spc="-38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spc="-8" dirty="0">
                <a:solidFill>
                  <a:srgbClr val="252525"/>
                </a:solidFill>
                <a:cs typeface="Arial" panose="020B0604020202020204" pitchFamily="34" charset="0"/>
              </a:rPr>
              <a:t>names</a:t>
            </a:r>
            <a:endParaRPr sz="2800" dirty="0">
              <a:cs typeface="Arial" panose="020B0604020202020204" pitchFamily="34" charset="0"/>
            </a:endParaRPr>
          </a:p>
          <a:p>
            <a:pPr marL="809149" lvl="1" indent="-342900">
              <a:spcBef>
                <a:spcPts val="341"/>
              </a:spcBef>
              <a:buSzPct val="95000"/>
              <a:buFont typeface="Arial" panose="020B0604020202020204" pitchFamily="34" charset="0"/>
              <a:buChar char="•"/>
              <a:tabLst>
                <a:tab pos="161925" algn="l"/>
              </a:tabLst>
              <a:defRPr/>
            </a:pP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By</a:t>
            </a:r>
            <a:r>
              <a:rPr sz="2800" spc="-23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RGB</a:t>
            </a:r>
            <a:r>
              <a:rPr sz="2800" spc="-23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spc="-8" dirty="0">
                <a:solidFill>
                  <a:srgbClr val="252525"/>
                </a:solidFill>
                <a:cs typeface="Arial" panose="020B0604020202020204" pitchFamily="34" charset="0"/>
              </a:rPr>
              <a:t>values</a:t>
            </a:r>
            <a:endParaRPr sz="2800" dirty="0">
              <a:cs typeface="Arial" panose="020B0604020202020204" pitchFamily="34" charset="0"/>
            </a:endParaRPr>
          </a:p>
          <a:p>
            <a:pPr marL="809149" lvl="1" indent="-342900">
              <a:spcBef>
                <a:spcPts val="341"/>
              </a:spcBef>
              <a:buSzPct val="95000"/>
              <a:buFont typeface="Arial" panose="020B0604020202020204" pitchFamily="34" charset="0"/>
              <a:buChar char="•"/>
              <a:tabLst>
                <a:tab pos="161925" algn="l"/>
              </a:tabLst>
              <a:defRPr/>
            </a:pP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By</a:t>
            </a:r>
            <a:r>
              <a:rPr sz="2800" spc="-23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hex</a:t>
            </a:r>
            <a:r>
              <a:rPr sz="2800" spc="-38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spc="-8" dirty="0">
                <a:solidFill>
                  <a:srgbClr val="252525"/>
                </a:solidFill>
                <a:cs typeface="Arial" panose="020B0604020202020204" pitchFamily="34" charset="0"/>
              </a:rPr>
              <a:t>values</a:t>
            </a:r>
            <a:endParaRPr sz="2800" dirty="0">
              <a:cs typeface="Arial" panose="020B0604020202020204" pitchFamily="34" charset="0"/>
            </a:endParaRPr>
          </a:p>
          <a:p>
            <a:pPr marL="809149" lvl="1" indent="-342900">
              <a:spcBef>
                <a:spcPts val="353"/>
              </a:spcBef>
              <a:buSzPct val="95000"/>
              <a:buFont typeface="Arial" panose="020B0604020202020204" pitchFamily="34" charset="0"/>
              <a:buChar char="•"/>
              <a:tabLst>
                <a:tab pos="161925" algn="l"/>
              </a:tabLst>
              <a:defRPr/>
            </a:pP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By</a:t>
            </a:r>
            <a:r>
              <a:rPr sz="2800" spc="-26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sz="2800" spc="-15" dirty="0">
                <a:solidFill>
                  <a:srgbClr val="252525"/>
                </a:solidFill>
                <a:cs typeface="Arial" panose="020B0604020202020204" pitchFamily="34" charset="0"/>
              </a:rPr>
              <a:t>RGBA</a:t>
            </a:r>
            <a:endParaRPr sz="2800" dirty="0">
              <a:cs typeface="Arial" panose="020B0604020202020204" pitchFamily="34" charset="0"/>
            </a:endParaRPr>
          </a:p>
          <a:p>
            <a:pPr marL="809149" lvl="1" indent="-342900">
              <a:spcBef>
                <a:spcPts val="341"/>
              </a:spcBef>
              <a:buSzPct val="95000"/>
              <a:buFont typeface="Arial" panose="020B0604020202020204" pitchFamily="34" charset="0"/>
              <a:buChar char="•"/>
              <a:tabLst>
                <a:tab pos="161925" algn="l"/>
              </a:tabLst>
              <a:defRPr/>
            </a:pPr>
            <a:r>
              <a:rPr sz="2800" dirty="0">
                <a:solidFill>
                  <a:srgbClr val="252525"/>
                </a:solidFill>
                <a:cs typeface="Arial" panose="020B0604020202020204" pitchFamily="34" charset="0"/>
              </a:rPr>
              <a:t>By</a:t>
            </a:r>
            <a:r>
              <a:rPr sz="2800" spc="-19" dirty="0">
                <a:solidFill>
                  <a:srgbClr val="252525"/>
                </a:solidFill>
                <a:cs typeface="Arial" panose="020B0604020202020204" pitchFamily="34" charset="0"/>
              </a:rPr>
              <a:t> HSL</a:t>
            </a:r>
            <a:endParaRPr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CA8D46-70EC-1671-8C9A-2341C775E9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332656"/>
            <a:ext cx="4376738" cy="749300"/>
          </a:xfr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4800" spc="-79" dirty="0"/>
              <a:t>RGB</a:t>
            </a:r>
            <a:r>
              <a:rPr sz="4800" spc="-169" dirty="0"/>
              <a:t> </a:t>
            </a:r>
            <a:r>
              <a:rPr sz="4800" spc="-113" dirty="0"/>
              <a:t>Value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C0E608-2208-26F7-A0C1-BC67B74DE137}"/>
              </a:ext>
            </a:extLst>
          </p:cNvPr>
          <p:cNvSpPr txBox="1"/>
          <p:nvPr/>
        </p:nvSpPr>
        <p:spPr>
          <a:xfrm>
            <a:off x="623392" y="1556792"/>
            <a:ext cx="10657184" cy="4065696"/>
          </a:xfrm>
          <a:prstGeom prst="rect">
            <a:avLst/>
          </a:prstGeom>
        </p:spPr>
        <p:txBody>
          <a:bodyPr wrap="square" lIns="0" tIns="91916" rIns="0" bIns="0">
            <a:spAutoFit/>
          </a:bodyPr>
          <a:lstStyle>
            <a:lvl1pPr marL="190500" indent="-180975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6725" indent="-457200">
              <a:spcBef>
                <a:spcPts val="725"/>
              </a:spcBef>
              <a:buSzPct val="96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252525"/>
                </a:solidFill>
                <a:cs typeface="Arial" panose="020B0604020202020204" pitchFamily="34" charset="0"/>
              </a:rPr>
              <a:t>Colour</a:t>
            </a: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 can be specified as an RGB value: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marL="857250" lvl="2" indent="0">
              <a:spcBef>
                <a:spcPts val="650"/>
              </a:spcBef>
              <a:buSzPct val="96000"/>
              <a:defRPr/>
            </a:pPr>
            <a:r>
              <a:rPr lang="en-US" altLang="en-US" sz="2800" dirty="0" err="1">
                <a:solidFill>
                  <a:schemeClr val="accent2"/>
                </a:solidFill>
                <a:cs typeface="Arial" panose="020B0604020202020204" pitchFamily="34" charset="0"/>
              </a:rPr>
              <a:t>rgb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(red, green, blue)</a:t>
            </a:r>
          </a:p>
          <a:p>
            <a:pPr marL="466725" indent="-457200">
              <a:spcBef>
                <a:spcPts val="988"/>
              </a:spcBef>
              <a:buSzPct val="96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Each parameter (red, green, and blue) defines the intensity of the color between 0 and 255.</a:t>
            </a:r>
          </a:p>
          <a:p>
            <a:pPr marL="9525" indent="0">
              <a:spcBef>
                <a:spcPts val="638"/>
              </a:spcBef>
              <a:buSzPct val="96000"/>
              <a:defRPr/>
            </a:pPr>
            <a:r>
              <a:rPr lang="en-US" altLang="en-US" sz="2800" b="1" dirty="0">
                <a:solidFill>
                  <a:srgbClr val="252525"/>
                </a:solidFill>
                <a:cs typeface="Arial" panose="020B0604020202020204" pitchFamily="34" charset="0"/>
              </a:rPr>
              <a:t>    For example</a:t>
            </a: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:</a:t>
            </a:r>
          </a:p>
          <a:p>
            <a:pPr marL="1019175" lvl="1" indent="-457200">
              <a:spcBef>
                <a:spcPts val="638"/>
              </a:spcBef>
              <a:buSzPct val="96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 err="1">
                <a:solidFill>
                  <a:schemeClr val="accent2"/>
                </a:solidFill>
                <a:cs typeface="Arial" panose="020B0604020202020204" pitchFamily="34" charset="0"/>
              </a:rPr>
              <a:t>rgb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(255, 0, 0) </a:t>
            </a: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-  displayed as red</a:t>
            </a:r>
          </a:p>
          <a:p>
            <a:pPr marL="1019175" lvl="1" indent="-457200">
              <a:spcBef>
                <a:spcPts val="638"/>
              </a:spcBef>
              <a:buSzPct val="96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 err="1">
                <a:solidFill>
                  <a:schemeClr val="accent2"/>
                </a:solidFill>
                <a:cs typeface="Arial" panose="020B0604020202020204" pitchFamily="34" charset="0"/>
              </a:rPr>
              <a:t>rgb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(0,0,0) </a:t>
            </a: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– displayed as black</a:t>
            </a:r>
          </a:p>
          <a:p>
            <a:pPr marL="1019175" lvl="1" indent="-457200">
              <a:spcBef>
                <a:spcPts val="638"/>
              </a:spcBef>
              <a:buSzPct val="96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 err="1">
                <a:solidFill>
                  <a:schemeClr val="accent2"/>
                </a:solidFill>
                <a:cs typeface="Arial" panose="020B0604020202020204" pitchFamily="34" charset="0"/>
              </a:rPr>
              <a:t>rgb</a:t>
            </a: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(255,255,255) </a:t>
            </a:r>
            <a:r>
              <a:rPr lang="en-US" altLang="en-US" sz="2800" dirty="0">
                <a:solidFill>
                  <a:srgbClr val="252525"/>
                </a:solidFill>
                <a:cs typeface="Arial" panose="020B0604020202020204" pitchFamily="34" charset="0"/>
              </a:rPr>
              <a:t>– displayed as white</a:t>
            </a:r>
            <a:endParaRPr lang="en-US" altLang="en-US"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DAF4-B5EC-7999-37A1-FF4DC18E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RGBA Value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B81A-8300-91B9-12A8-EB3E052A4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575"/>
              </a:spcBef>
              <a:buSzPct val="96000"/>
              <a:buFont typeface="Arial" panose="020B0604020202020204" pitchFamily="34" charset="0"/>
              <a:buChar char="•"/>
              <a:defRPr/>
            </a:pPr>
            <a:r>
              <a:rPr lang="en-US" alt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An RGBA color value is specified with alpha (for </a:t>
            </a:r>
            <a:r>
              <a:rPr lang="en-US" altLang="en-US" sz="28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opacity</a:t>
            </a:r>
            <a:r>
              <a:rPr lang="en-US" alt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0" indent="0">
              <a:spcBef>
                <a:spcPts val="600"/>
              </a:spcBef>
              <a:buSzPct val="96000"/>
              <a:defRPr/>
            </a:pPr>
            <a:r>
              <a:rPr lang="en-US" altLang="en-US" sz="28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US" altLang="en-US" sz="2800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rgba</a:t>
            </a:r>
            <a:r>
              <a:rPr lang="en-US" altLang="en-US" sz="28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(red, green, blue, alpha)</a:t>
            </a:r>
          </a:p>
          <a:p>
            <a:pPr marL="457200" indent="-457200">
              <a:spcBef>
                <a:spcPts val="988"/>
              </a:spcBef>
              <a:buSzPct val="96000"/>
              <a:buFont typeface="Arial" panose="020B0604020202020204" pitchFamily="34" charset="0"/>
              <a:buChar char="•"/>
              <a:defRPr/>
            </a:pPr>
            <a:r>
              <a:rPr lang="en-US" alt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Alpha parameter is a number between 0.0 (fully transparent) and 1.0 (not transparent at all). </a:t>
            </a:r>
            <a:endParaRPr lang="en-GB" sz="28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93083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16C5BE-BBB6-F187-DC90-68148715B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0274" y="332656"/>
            <a:ext cx="4751387" cy="747713"/>
          </a:xfr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4800" spc="-64" dirty="0"/>
              <a:t>HEX</a:t>
            </a:r>
            <a:r>
              <a:rPr sz="4800" spc="-172" dirty="0"/>
              <a:t> </a:t>
            </a:r>
            <a:r>
              <a:rPr sz="4800" spc="-113" dirty="0"/>
              <a:t>Value</a:t>
            </a:r>
          </a:p>
        </p:txBody>
      </p:sp>
      <p:sp>
        <p:nvSpPr>
          <p:cNvPr id="52227" name="object 3">
            <a:extLst>
              <a:ext uri="{FF2B5EF4-FFF2-40B4-BE49-F238E27FC236}">
                <a16:creationId xmlns:a16="http://schemas.microsoft.com/office/drawing/2014/main" id="{0CE3606B-5AAB-A278-4A62-90CA40B51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1556792"/>
            <a:ext cx="11377264" cy="2976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7626" rIns="0" bIns="0">
            <a:spAutoFit/>
          </a:bodyPr>
          <a:lstStyle>
            <a:lvl1pPr marL="352425" indent="-342900"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30350"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6725" indent="-457200">
              <a:spcBef>
                <a:spcPts val="450"/>
              </a:spcBef>
              <a:buSzPct val="96000"/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Color can be specified using a hexadecimal value in the form:</a:t>
            </a:r>
          </a:p>
          <a:p>
            <a:pPr lvl="3">
              <a:spcBef>
                <a:spcPts val="588"/>
              </a:spcBef>
              <a:buSzPct val="96000"/>
            </a:pPr>
            <a:r>
              <a:rPr lang="en-US" altLang="en-US" sz="2800" dirty="0">
                <a:solidFill>
                  <a:schemeClr val="accent2"/>
                </a:solidFill>
                <a:cs typeface="Arial" panose="020B0604020202020204" pitchFamily="34" charset="0"/>
              </a:rPr>
              <a:t>           #</a:t>
            </a:r>
            <a:r>
              <a:rPr lang="en-US" altLang="en-US" sz="2800" i="1" dirty="0">
                <a:solidFill>
                  <a:schemeClr val="accent2"/>
                </a:solidFill>
                <a:cs typeface="Arial" panose="020B0604020202020204" pitchFamily="34" charset="0"/>
              </a:rPr>
              <a:t>rrggbb</a:t>
            </a:r>
            <a:endParaRPr lang="en-US" altLang="en-US" sz="2800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 marL="466725" indent="-457200">
              <a:spcBef>
                <a:spcPts val="975"/>
              </a:spcBef>
              <a:buSzPct val="96000"/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Where </a:t>
            </a:r>
            <a:r>
              <a:rPr lang="en-US" altLang="en-US" sz="2800" dirty="0" err="1">
                <a:cs typeface="Arial" panose="020B0604020202020204" pitchFamily="34" charset="0"/>
              </a:rPr>
              <a:t>rr</a:t>
            </a:r>
            <a:r>
              <a:rPr lang="en-US" altLang="en-US" sz="2800" dirty="0">
                <a:cs typeface="Arial" panose="020B0604020202020204" pitchFamily="34" charset="0"/>
              </a:rPr>
              <a:t> (red), gg (green) and bb (blue) are hexadecimal values between 00 and ff (same as decimal 0-255).</a:t>
            </a:r>
          </a:p>
          <a:p>
            <a:pPr marL="466725" indent="-457200">
              <a:spcBef>
                <a:spcPts val="975"/>
              </a:spcBef>
              <a:buSzPct val="96000"/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For example, #ff0000 is displayed as red, because red is set to its highest value (ff) and the others are set to the lowest value (00).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D1DA-B4BE-4CAE-16E8-179F6E4C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32599-82A4-FF63-2206-6B85EC494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5" y="1412776"/>
            <a:ext cx="11808884" cy="4319587"/>
          </a:xfrm>
        </p:spPr>
        <p:txBody>
          <a:bodyPr/>
          <a:lstStyle/>
          <a:p>
            <a:r>
              <a:rPr lang="en-GB" sz="1600" b="1" i="0" dirty="0">
                <a:latin typeface="Arial" panose="020B0604020202020204" pitchFamily="34" charset="0"/>
                <a:cs typeface="Arial" panose="020B0604020202020204" pitchFamily="34" charset="0"/>
              </a:rPr>
              <a:t>CSS Definition: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(n.d.).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is CSS? - Learn web development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https://developer.mozilla.org/en-US/docs/Learn/CSS/First_steps/What_is_CSS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i="0" dirty="0">
                <a:latin typeface="Arial" panose="020B0604020202020204" pitchFamily="34" charset="0"/>
                <a:cs typeface="Arial" panose="020B0604020202020204" pitchFamily="34" charset="0"/>
              </a:rPr>
              <a:t>CSS Syntax: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(n.d.).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CSS: Cascading Style Sheets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https://developer.mozilla.org/en-US/docs/Web/CSS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Wikipedia. (n.d.).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https://en.wikipedia.org/wiki/Cascading_Style_Sheets</a:t>
            </a:r>
          </a:p>
          <a:p>
            <a:r>
              <a:rPr lang="en-GB" sz="1600" b="1" i="0" dirty="0">
                <a:latin typeface="Arial" panose="020B0604020202020204" pitchFamily="34" charset="0"/>
                <a:cs typeface="Arial" panose="020B0604020202020204" pitchFamily="34" charset="0"/>
              </a:rPr>
              <a:t>CSS Class: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W3Schools. (n.d.).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CSS Introduction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https://www.w3schools.com/css/css_intro.asp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i="0" dirty="0">
                <a:latin typeface="Arial" panose="020B0604020202020204" pitchFamily="34" charset="0"/>
                <a:cs typeface="Arial" panose="020B0604020202020204" pitchFamily="34" charset="0"/>
              </a:rPr>
              <a:t>CSS Style Sheets: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(n.d.).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CSS: Cascading Style Sheets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https://developer.mozilla.org/en-US/docs/Web/CSS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i="0" dirty="0">
                <a:latin typeface="Arial" panose="020B0604020202020204" pitchFamily="34" charset="0"/>
                <a:cs typeface="Arial" panose="020B0604020202020204" pitchFamily="34" charset="0"/>
              </a:rPr>
              <a:t>CSS Background: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W3Schools. (n.d.).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CSS Backgrounds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https://www.w3schools.com/css/css_background.asp</a:t>
            </a:r>
          </a:p>
          <a:p>
            <a:r>
              <a:rPr lang="en-GB" sz="1600" b="1" i="0" dirty="0">
                <a:latin typeface="Arial" panose="020B0604020202020204" pitchFamily="34" charset="0"/>
                <a:cs typeface="Arial" panose="020B0604020202020204" pitchFamily="34" charset="0"/>
              </a:rPr>
              <a:t>CSS Box Model:</a:t>
            </a:r>
            <a:endParaRPr lang="en-GB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(n.d.).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Box model</a:t>
            </a:r>
            <a:r>
              <a:rPr lang="en-GB" sz="16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https://developer.mozilla.org/en-US/docs/Web/CSS/CSS_Box_Model/Introduction_to_the_CSS_box_model</a:t>
            </a:r>
          </a:p>
        </p:txBody>
      </p:sp>
    </p:spTree>
    <p:extLst>
      <p:ext uri="{BB962C8B-B14F-4D97-AF65-F5344CB8AC3E}">
        <p14:creationId xmlns:p14="http://schemas.microsoft.com/office/powerpoint/2010/main" val="12118613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42709F3-03B6-149B-68C8-0F3D7F12E9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Topic 3 – Introduction to CSS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9389F19-E91C-FC2F-9B39-49B3521A66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Any Questions?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387877-92A1-4017-999F-C3E825E28C0D}"/>
</file>

<file path=customXml/itemProps2.xml><?xml version="1.0" encoding="utf-8"?>
<ds:datastoreItem xmlns:ds="http://schemas.openxmlformats.org/officeDocument/2006/customXml" ds:itemID="{43A18DCA-5824-4860-AE22-0CA7E226B63E}">
  <ds:schemaRefs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dbeaa6b5-7a21-43b8-ab59-31e7cbf2c187"/>
    <ds:schemaRef ds:uri="http://schemas.microsoft.com/office/2006/documentManagement/types"/>
    <ds:schemaRef ds:uri="http://schemas.microsoft.com/office/infopath/2007/PartnerControls"/>
    <ds:schemaRef ds:uri="bdeceafc-5c0f-406d-b95f-35e6593d664b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824</TotalTime>
  <Words>3736</Words>
  <Application>Microsoft Office PowerPoint</Application>
  <PresentationFormat>Widescreen</PresentationFormat>
  <Paragraphs>613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 MT</vt:lpstr>
      <vt:lpstr>Gill Sans</vt:lpstr>
      <vt:lpstr>Arial</vt:lpstr>
      <vt:lpstr>Calibri</vt:lpstr>
      <vt:lpstr>Consolas</vt:lpstr>
      <vt:lpstr>Wingdings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CSS Basics</vt:lpstr>
      <vt:lpstr>Cascading Style Sheets (CSS)</vt:lpstr>
      <vt:lpstr>CSS Syntax</vt:lpstr>
      <vt:lpstr>CSS Syntax</vt:lpstr>
      <vt:lpstr>CSS Comment</vt:lpstr>
      <vt:lpstr>CSS id and class</vt:lpstr>
      <vt:lpstr>Class Selector</vt:lpstr>
      <vt:lpstr>Quiz - 1</vt:lpstr>
      <vt:lpstr>Ways to insert style sheets</vt:lpstr>
      <vt:lpstr>How to Insert CSS</vt:lpstr>
      <vt:lpstr>External Style Sheet</vt:lpstr>
      <vt:lpstr>PowerPoint Presentation</vt:lpstr>
      <vt:lpstr>Internal Style Sheet</vt:lpstr>
      <vt:lpstr>Inline Styles</vt:lpstr>
      <vt:lpstr>Cascading Order</vt:lpstr>
      <vt:lpstr>Quiz - 2</vt:lpstr>
      <vt:lpstr>Css background</vt:lpstr>
      <vt:lpstr>CSS Background</vt:lpstr>
      <vt:lpstr>Background Color</vt:lpstr>
      <vt:lpstr>Background Image</vt:lpstr>
      <vt:lpstr>Background Image</vt:lpstr>
      <vt:lpstr>CSS Box model</vt:lpstr>
      <vt:lpstr>CSS Box Model</vt:lpstr>
      <vt:lpstr>PowerPoint Presentation</vt:lpstr>
      <vt:lpstr>PowerPoint Presentation</vt:lpstr>
      <vt:lpstr>CSS Border Style</vt:lpstr>
      <vt:lpstr>CSS Margins</vt:lpstr>
      <vt:lpstr>CSS Padding</vt:lpstr>
      <vt:lpstr>Text formatting in css</vt:lpstr>
      <vt:lpstr>Text Color</vt:lpstr>
      <vt:lpstr>Text Alignment</vt:lpstr>
      <vt:lpstr>Vertical-align Property</vt:lpstr>
      <vt:lpstr>Vertical-align Property Values and Descriptions </vt:lpstr>
      <vt:lpstr>Text Decoration</vt:lpstr>
      <vt:lpstr>Text Transformation</vt:lpstr>
      <vt:lpstr>PowerPoint Presentation</vt:lpstr>
      <vt:lpstr>Word-spacing Property</vt:lpstr>
      <vt:lpstr>Letter-spacing Property</vt:lpstr>
      <vt:lpstr>PowerPoint Presentation</vt:lpstr>
      <vt:lpstr>Text-shadow Property</vt:lpstr>
      <vt:lpstr>Css font and styling</vt:lpstr>
      <vt:lpstr>CSS Font</vt:lpstr>
      <vt:lpstr>PowerPoint Presentation</vt:lpstr>
      <vt:lpstr>PowerPoint Presentation</vt:lpstr>
      <vt:lpstr>Styling Links</vt:lpstr>
      <vt:lpstr>CSS colors</vt:lpstr>
      <vt:lpstr>CSS Colors</vt:lpstr>
      <vt:lpstr>RGB Value</vt:lpstr>
      <vt:lpstr>RGBA Value </vt:lpstr>
      <vt:lpstr>HEX Value</vt:lpstr>
      <vt:lpstr>References</vt:lpstr>
      <vt:lpstr>Topic 3 – Introduction to CSS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Liew Pei Ling</cp:lastModifiedBy>
  <cp:revision>110</cp:revision>
  <dcterms:created xsi:type="dcterms:W3CDTF">2008-01-18T13:21:43Z</dcterms:created>
  <dcterms:modified xsi:type="dcterms:W3CDTF">2024-03-07T07:17:37Z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