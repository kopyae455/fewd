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80"/>
  </p:notesMasterIdLst>
  <p:handoutMasterIdLst>
    <p:handoutMasterId r:id="rId81"/>
  </p:handoutMasterIdLst>
  <p:sldIdLst>
    <p:sldId id="261" r:id="rId6"/>
    <p:sldId id="263" r:id="rId7"/>
    <p:sldId id="264" r:id="rId8"/>
    <p:sldId id="343" r:id="rId9"/>
    <p:sldId id="334" r:id="rId10"/>
    <p:sldId id="265" r:id="rId11"/>
    <p:sldId id="278" r:id="rId12"/>
    <p:sldId id="275" r:id="rId13"/>
    <p:sldId id="277" r:id="rId14"/>
    <p:sldId id="276" r:id="rId15"/>
    <p:sldId id="279" r:id="rId16"/>
    <p:sldId id="280" r:id="rId17"/>
    <p:sldId id="281" r:id="rId18"/>
    <p:sldId id="282" r:id="rId19"/>
    <p:sldId id="284" r:id="rId20"/>
    <p:sldId id="283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344" r:id="rId33"/>
    <p:sldId id="296" r:id="rId34"/>
    <p:sldId id="304" r:id="rId35"/>
    <p:sldId id="298" r:id="rId36"/>
    <p:sldId id="300" r:id="rId37"/>
    <p:sldId id="301" r:id="rId38"/>
    <p:sldId id="299" r:id="rId39"/>
    <p:sldId id="303" r:id="rId40"/>
    <p:sldId id="305" r:id="rId41"/>
    <p:sldId id="345" r:id="rId42"/>
    <p:sldId id="297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07" r:id="rId52"/>
    <p:sldId id="346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  <p:sldId id="316" r:id="rId63"/>
    <p:sldId id="319" r:id="rId64"/>
    <p:sldId id="320" r:id="rId65"/>
    <p:sldId id="321" r:id="rId66"/>
    <p:sldId id="322" r:id="rId67"/>
    <p:sldId id="323" r:id="rId68"/>
    <p:sldId id="324" r:id="rId69"/>
    <p:sldId id="326" r:id="rId70"/>
    <p:sldId id="328" r:id="rId71"/>
    <p:sldId id="329" r:id="rId72"/>
    <p:sldId id="330" r:id="rId73"/>
    <p:sldId id="333" r:id="rId74"/>
    <p:sldId id="347" r:id="rId75"/>
    <p:sldId id="348" r:id="rId76"/>
    <p:sldId id="349" r:id="rId77"/>
    <p:sldId id="350" r:id="rId78"/>
    <p:sldId id="262" r:id="rId7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2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929"/>
    <a:srgbClr val="CB9535"/>
    <a:srgbClr val="974F8E"/>
    <a:srgbClr val="286A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7642A-9E97-4568-982E-03891F597A64}" v="4" dt="2024-03-07T05:34:28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3265" autoAdjust="0"/>
  </p:normalViewPr>
  <p:slideViewPr>
    <p:cSldViewPr>
      <p:cViewPr varScale="1">
        <p:scale>
          <a:sx n="84" d="100"/>
          <a:sy n="84" d="100"/>
        </p:scale>
        <p:origin x="582" y="78"/>
      </p:cViewPr>
      <p:guideLst>
        <p:guide orient="horz" pos="2160"/>
        <p:guide pos="3840"/>
        <p:guide pos="12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theme" Target="theme/theme1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handoutMaster" Target="handoutMasters/handoutMaster1.xml"/><Relationship Id="rId86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microsoft.com/office/2015/10/relationships/revisionInfo" Target="revisionInfo.xml"/><Relationship Id="rId61" Type="http://schemas.openxmlformats.org/officeDocument/2006/relationships/slide" Target="slides/slide56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20B7642A-9E97-4568-982E-03891F597A64}"/>
    <pc:docChg chg="custSel addSld modSld">
      <pc:chgData name="Liew Pei Ling" userId="c3090c8e-0726-43ba-95b9-123e980a216d" providerId="ADAL" clId="{20B7642A-9E97-4568-982E-03891F597A64}" dt="2024-03-07T07:16:09.131" v="39" actId="6549"/>
      <pc:docMkLst>
        <pc:docMk/>
      </pc:docMkLst>
      <pc:sldChg chg="modSp mod">
        <pc:chgData name="Liew Pei Ling" userId="c3090c8e-0726-43ba-95b9-123e980a216d" providerId="ADAL" clId="{20B7642A-9E97-4568-982E-03891F597A64}" dt="2024-03-04T09:17:32.838" v="21" actId="6549"/>
        <pc:sldMkLst>
          <pc:docMk/>
          <pc:sldMk cId="0" sldId="264"/>
        </pc:sldMkLst>
        <pc:spChg chg="mod">
          <ac:chgData name="Liew Pei Ling" userId="c3090c8e-0726-43ba-95b9-123e980a216d" providerId="ADAL" clId="{20B7642A-9E97-4568-982E-03891F597A64}" dt="2024-03-04T09:17:32.838" v="21" actId="6549"/>
          <ac:spMkLst>
            <pc:docMk/>
            <pc:sldMk cId="0" sldId="264"/>
            <ac:spMk id="10243" creationId="{F9BB78F9-DE09-FC58-1219-26C476A1C41D}"/>
          </ac:spMkLst>
        </pc:spChg>
      </pc:sldChg>
      <pc:sldChg chg="modSp mod">
        <pc:chgData name="Liew Pei Ling" userId="c3090c8e-0726-43ba-95b9-123e980a216d" providerId="ADAL" clId="{20B7642A-9E97-4568-982E-03891F597A64}" dt="2024-03-07T07:16:09.131" v="39" actId="6549"/>
        <pc:sldMkLst>
          <pc:docMk/>
          <pc:sldMk cId="3459152918" sldId="343"/>
        </pc:sldMkLst>
        <pc:graphicFrameChg chg="mod modGraphic">
          <ac:chgData name="Liew Pei Ling" userId="c3090c8e-0726-43ba-95b9-123e980a216d" providerId="ADAL" clId="{20B7642A-9E97-4568-982E-03891F597A64}" dt="2024-03-07T07:16:09.131" v="39" actId="6549"/>
          <ac:graphicFrameMkLst>
            <pc:docMk/>
            <pc:sldMk cId="3459152918" sldId="343"/>
            <ac:graphicFrameMk id="4" creationId="{8FD64872-AB8B-372F-97B6-899200497D77}"/>
          </ac:graphicFrameMkLst>
        </pc:graphicFrameChg>
      </pc:sldChg>
      <pc:sldChg chg="modSp add mod">
        <pc:chgData name="Liew Pei Ling" userId="c3090c8e-0726-43ba-95b9-123e980a216d" providerId="ADAL" clId="{20B7642A-9E97-4568-982E-03891F597A64}" dt="2024-03-04T08:52:54.018" v="6" actId="255"/>
        <pc:sldMkLst>
          <pc:docMk/>
          <pc:sldMk cId="2692677047" sldId="347"/>
        </pc:sldMkLst>
        <pc:spChg chg="mod">
          <ac:chgData name="Liew Pei Ling" userId="c3090c8e-0726-43ba-95b9-123e980a216d" providerId="ADAL" clId="{20B7642A-9E97-4568-982E-03891F597A64}" dt="2024-03-04T08:52:54.018" v="6" actId="255"/>
          <ac:spMkLst>
            <pc:docMk/>
            <pc:sldMk cId="2692677047" sldId="347"/>
            <ac:spMk id="3" creationId="{D3A6B916-1223-34C3-9987-3ADD94F11BF4}"/>
          </ac:spMkLst>
        </pc:spChg>
      </pc:sldChg>
      <pc:sldChg chg="modSp add mod">
        <pc:chgData name="Liew Pei Ling" userId="c3090c8e-0726-43ba-95b9-123e980a216d" providerId="ADAL" clId="{20B7642A-9E97-4568-982E-03891F597A64}" dt="2024-03-04T08:53:10.325" v="7" actId="2711"/>
        <pc:sldMkLst>
          <pc:docMk/>
          <pc:sldMk cId="3798358458" sldId="348"/>
        </pc:sldMkLst>
        <pc:spChg chg="mod">
          <ac:chgData name="Liew Pei Ling" userId="c3090c8e-0726-43ba-95b9-123e980a216d" providerId="ADAL" clId="{20B7642A-9E97-4568-982E-03891F597A64}" dt="2024-03-04T08:53:10.325" v="7" actId="2711"/>
          <ac:spMkLst>
            <pc:docMk/>
            <pc:sldMk cId="3798358458" sldId="348"/>
            <ac:spMk id="3" creationId="{D3A6B916-1223-34C3-9987-3ADD94F11BF4}"/>
          </ac:spMkLst>
        </pc:spChg>
      </pc:sldChg>
      <pc:sldChg chg="modSp add mod">
        <pc:chgData name="Liew Pei Ling" userId="c3090c8e-0726-43ba-95b9-123e980a216d" providerId="ADAL" clId="{20B7642A-9E97-4568-982E-03891F597A64}" dt="2024-03-04T08:53:22.245" v="8" actId="2711"/>
        <pc:sldMkLst>
          <pc:docMk/>
          <pc:sldMk cId="3354534307" sldId="349"/>
        </pc:sldMkLst>
        <pc:spChg chg="mod">
          <ac:chgData name="Liew Pei Ling" userId="c3090c8e-0726-43ba-95b9-123e980a216d" providerId="ADAL" clId="{20B7642A-9E97-4568-982E-03891F597A64}" dt="2024-03-04T08:53:22.245" v="8" actId="2711"/>
          <ac:spMkLst>
            <pc:docMk/>
            <pc:sldMk cId="3354534307" sldId="349"/>
            <ac:spMk id="3" creationId="{0F6EDE59-D3F1-922D-9D8A-280D554FC691}"/>
          </ac:spMkLst>
        </pc:spChg>
      </pc:sldChg>
      <pc:sldChg chg="modSp add mod">
        <pc:chgData name="Liew Pei Ling" userId="c3090c8e-0726-43ba-95b9-123e980a216d" providerId="ADAL" clId="{20B7642A-9E97-4568-982E-03891F597A64}" dt="2024-03-04T08:54:07.781" v="17" actId="1076"/>
        <pc:sldMkLst>
          <pc:docMk/>
          <pc:sldMk cId="2223477013" sldId="350"/>
        </pc:sldMkLst>
        <pc:spChg chg="mod">
          <ac:chgData name="Liew Pei Ling" userId="c3090c8e-0726-43ba-95b9-123e980a216d" providerId="ADAL" clId="{20B7642A-9E97-4568-982E-03891F597A64}" dt="2024-03-04T08:54:07.781" v="17" actId="1076"/>
          <ac:spMkLst>
            <pc:docMk/>
            <pc:sldMk cId="2223477013" sldId="350"/>
            <ac:spMk id="3" creationId="{730A62AE-A9F5-7909-8B99-2A515263C76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4B10FBE-7228-6610-E881-B099454D0B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72A4A1D-3DF3-DEF5-00DB-E7E6B93FCF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CAD3DCF-496B-6258-0C56-827569D2330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CCB34089-57FD-0713-6BCA-1C6C8D2F253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CD003767-D570-4E97-BAA4-DDF4D7355C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3529EF8-1EF6-F748-D532-E02A49FC523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792CA97-976A-70E8-ED83-8CD66AD501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4FB4ADD-475C-70B0-C417-42A984DC7FB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215643F-31AF-CD31-152B-5A9412BD70C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B1DD68E-C732-1A27-5F9A-0B70FAA183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4C1ED20-C801-06B4-4394-92F80D7A82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3A1B122-98F1-4B52-A522-F10FB6268D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EF0BB43-0369-6680-0D1E-8C303250C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1CC4BA2-34D3-4D99-B88E-78F8C5B7D256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19F4F646-F094-F8DB-F1FD-18E0A66B55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D0FBC6B-D19D-8A1D-6100-B15A4087A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7177A99-40DF-F8F2-CF9D-C5845E138A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5EF007-84D8-431E-82D8-760DFC935F22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64A21660-2063-E075-1AF6-9023195FC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A5143FE3-41C5-69D5-E21E-7C87336BA3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C) To structure the application for both client and server-side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The application server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Using Application Programming Interfaces (APIs)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1B122-98F1-4B52-A522-F10FB6268D29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2977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Server-Side Rendered (SSR)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It involves multiple interconnected APIs.</a:t>
            </a:r>
          </a:p>
          <a:p>
            <a:pPr algn="l"/>
            <a:endParaRPr lang="en-US" sz="1200" b="0" i="0" dirty="0">
              <a:solidFill>
                <a:srgbClr val="0D0D0D"/>
              </a:solidFill>
              <a:effectLst/>
              <a:latin typeface="Söhn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1B122-98F1-4B52-A522-F10FB6268D29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300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C) 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To style and layout web pages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A1B122-98F1-4B52-A522-F10FB6268D29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0027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1A5A9D5-509C-61AF-9234-DA520D46A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422A761-734D-4864-A762-9DFAA13DC0DD}" type="slidenum">
              <a:rPr lang="en-US" altLang="en-US" sz="1200" smtClean="0"/>
              <a:pPr/>
              <a:t>74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6B68B18-89AA-03C7-3F0A-3ED9AF0EC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07513C6D-1C68-173C-AB10-C4D777A98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31C29D3F-49DD-C70A-FD55-2788099DF0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9918699" y="6616700"/>
            <a:ext cx="1742017" cy="242888"/>
            <a:chOff x="4513" y="4156"/>
            <a:chExt cx="823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8815BC1A-47A2-0F4A-BC73-1F1923E3F5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3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41C2354F-24A4-51E3-BB08-0636C81F052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713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F7172C3A-8408-FB56-8518-09B90D4E6E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62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12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117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933" y="1845718"/>
            <a:ext cx="5801784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8918" y="1845718"/>
            <a:ext cx="5803900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28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662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599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09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844824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844825"/>
            <a:ext cx="6815667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3019277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5560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110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077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00067" y="404813"/>
            <a:ext cx="2952751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584" y="404813"/>
            <a:ext cx="8659283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8122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26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27829DFF-E830-C13F-3A40-FE6C01B08B7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12192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125F57D7-F2D3-B66D-83C3-0BA8F374C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585" y="115888"/>
            <a:ext cx="1171363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1F67E108-AD59-ABC4-812C-DAFB992672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14267" y="0"/>
            <a:ext cx="3877733" cy="241300"/>
          </a:xfrm>
          <a:prstGeom prst="rect">
            <a:avLst/>
          </a:prstGeom>
          <a:noFill/>
          <a:ln>
            <a:noFill/>
          </a:ln>
          <a:effectLst/>
        </p:spPr>
        <p:txBody>
          <a:bodyPr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Overview of Web </a:t>
            </a:r>
            <a:r>
              <a:rPr lang="en-GB" altLang="en-US" sz="1000">
                <a:solidFill>
                  <a:schemeClr val="bg1"/>
                </a:solidFill>
                <a:latin typeface="Gill Sans" charset="0"/>
              </a:rPr>
              <a:t>Application Architecture Topic </a:t>
            </a: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1 - 1.</a:t>
            </a:r>
            <a:fld id="{45ACB793-23FF-468E-80E8-B596465569C1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277C07F9-CFB5-4EAD-A495-3FB80F0391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846263"/>
            <a:ext cx="11808884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4AEB994D-2650-D195-46AF-706CD9B721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A843B34F-5379-4BAA-2F1E-9DABCB82F3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2798763"/>
            <a:ext cx="7315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65FBB3B8-BC87-4456-F439-9A96892769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46867" y="3794125"/>
            <a:ext cx="7315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amsperambulation.com/2020/07/06/the-world-wide-web-is-my-parish-zoom-editionpart-1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obrava.wordpress.com/2015/09/01/african-broadband-internet-capacity-growth-fuels-economy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ngall.com/networking-png/download/13330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pen.luiss.it/2018/04/13/volevo-che-le-persone-mettessero-di-tutto-su-internet-ma-non-pensavo-sarei-stato-preso-cosi-alla-lettera-la-storia-di-tim-berners-lee-e-la-nascita-del-world-wide-web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svg"/><Relationship Id="rId7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hyperlink" Target="https://www.manuelradovanovic.com/2017/09/uvod-u-html-5.html" TargetMode="External"/><Relationship Id="rId4" Type="http://schemas.openxmlformats.org/officeDocument/2006/relationships/image" Target="../media/image10.jpg"/><Relationship Id="rId9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734D10B-F516-C325-DED9-726B826229FC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5303838" y="4365625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28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28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1: </a:t>
            </a:r>
          </a:p>
          <a:p>
            <a:pPr algn="ctr" eaLnBrk="1" hangingPunct="1"/>
            <a:r>
              <a:rPr lang="en-GB" altLang="en-US" sz="2800" b="1" i="0" dirty="0">
                <a:solidFill>
                  <a:schemeClr val="bg1"/>
                </a:solidFill>
                <a:latin typeface="Arial" panose="020B0604020202020204" pitchFamily="34" charset="0"/>
              </a:rPr>
              <a:t>Overview of Web Application Architecture</a:t>
            </a:r>
            <a:endParaRPr lang="en-US" altLang="en-US" sz="2800" b="1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6">
            <a:extLst>
              <a:ext uri="{FF2B5EF4-FFF2-40B4-BE49-F238E27FC236}">
                <a16:creationId xmlns:a16="http://schemas.microsoft.com/office/drawing/2014/main" id="{2F9BE9C3-2DD6-9585-EB18-DAFF11B4E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Scope and Coverage</a:t>
            </a:r>
          </a:p>
        </p:txBody>
      </p:sp>
      <p:sp>
        <p:nvSpPr>
          <p:cNvPr id="8195" name="Rectangle 7">
            <a:extLst>
              <a:ext uri="{FF2B5EF4-FFF2-40B4-BE49-F238E27FC236}">
                <a16:creationId xmlns:a16="http://schemas.microsoft.com/office/drawing/2014/main" id="{40E57639-3538-C604-7A91-D09ED3624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Overview of Internet and WWW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Evolution of Website Development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Web Application Architecture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Types of Web Application Architecture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Overview of Front-end Web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88C8262B-0685-E0BC-847B-4FB87ABAB6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Learning Outcomes</a:t>
            </a:r>
            <a:endParaRPr lang="en-US" altLang="en-US" dirty="0"/>
          </a:p>
        </p:txBody>
      </p:sp>
      <p:sp>
        <p:nvSpPr>
          <p:cNvPr id="10243" name="Rectangle 5">
            <a:extLst>
              <a:ext uri="{FF2B5EF4-FFF2-40B4-BE49-F238E27FC236}">
                <a16:creationId xmlns:a16="http://schemas.microsoft.com/office/drawing/2014/main" id="{F9BB78F9-DE09-FC58-1219-26C476A1C4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b="1" dirty="0"/>
              <a:t>By the end of this topic students will be able to: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Describe  the underlying technologies for building websites.</a:t>
            </a:r>
            <a:endParaRPr lang="en-GB" altLang="en-US" dirty="0">
              <a:latin typeface="Arial" panose="020B0604020202020204" pitchFamily="34" charset="0"/>
            </a:endParaRP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Explain about fundamental concepts of website design including the client-server model.</a:t>
            </a:r>
          </a:p>
          <a:p>
            <a:pPr lvl="1" eaLnBrk="1" hangingPunct="1"/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Distinguish between front-end web development and back-end web </a:t>
            </a:r>
            <a:r>
              <a:rPr lang="en-US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development.</a:t>
            </a:r>
            <a:endParaRPr lang="en-GB" altLang="en-US" dirty="0">
              <a:latin typeface="Arial" panose="020B0604020202020204" pitchFamily="34" charset="0"/>
            </a:endParaRP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Identify key concepts and technologies needed for front-end web development.</a:t>
            </a:r>
            <a:endParaRPr lang="en-GB" altLang="en-US" dirty="0">
              <a:latin typeface="Arial" panose="020B0604020202020204" pitchFamily="34" charset="0"/>
            </a:endParaRPr>
          </a:p>
          <a:p>
            <a:pPr lvl="1" eaLnBrk="1" hangingPunct="1"/>
            <a:endParaRPr lang="en-GB" altLang="en-US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3371-3DB6-E845-CCEB-080031A8C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Roadmap</a:t>
            </a:r>
            <a:endParaRPr lang="en-GB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FD64872-AB8B-372F-97B6-899200497D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599005"/>
              </p:ext>
            </p:extLst>
          </p:nvPr>
        </p:nvGraphicFramePr>
        <p:xfrm>
          <a:off x="665810" y="1340768"/>
          <a:ext cx="10657182" cy="477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2909">
                  <a:extLst>
                    <a:ext uri="{9D8B030D-6E8A-4147-A177-3AD203B41FA5}">
                      <a16:colId xmlns:a16="http://schemas.microsoft.com/office/drawing/2014/main" val="18378162"/>
                    </a:ext>
                  </a:extLst>
                </a:gridCol>
                <a:gridCol w="3723225">
                  <a:extLst>
                    <a:ext uri="{9D8B030D-6E8A-4147-A177-3AD203B41FA5}">
                      <a16:colId xmlns:a16="http://schemas.microsoft.com/office/drawing/2014/main" val="3377387048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751228994"/>
                    </a:ext>
                  </a:extLst>
                </a:gridCol>
                <a:gridCol w="4578920">
                  <a:extLst>
                    <a:ext uri="{9D8B030D-6E8A-4147-A177-3AD203B41FA5}">
                      <a16:colId xmlns:a16="http://schemas.microsoft.com/office/drawing/2014/main" val="152595518"/>
                    </a:ext>
                  </a:extLst>
                </a:gridCol>
              </a:tblGrid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51709"/>
                  </a:ext>
                </a:extLst>
              </a:tr>
              <a:tr h="101496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4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400" b="1" dirty="0">
                        <a:solidFill>
                          <a:schemeClr val="accent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22313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68370"/>
                  </a:ext>
                </a:extLst>
              </a:tr>
              <a:tr h="68015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7970438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b="0" kern="1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- II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1344130"/>
                  </a:ext>
                </a:extLst>
              </a:tr>
              <a:tr h="6089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</a:t>
                      </a:r>
                      <a:r>
                        <a:rPr lang="en-US" sz="2400" kern="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Review, Testing </a:t>
                      </a:r>
                      <a:r>
                        <a:rPr lang="en-US" sz="24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and Collaboration</a:t>
                      </a:r>
                      <a:endParaRPr lang="en-GB" sz="24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5109633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15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54760-9223-D000-1B89-C429AE5B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4404146"/>
            <a:ext cx="10363200" cy="1362075"/>
          </a:xfrm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4200" kern="1200" dirty="0">
                <a:solidFill>
                  <a:schemeClr val="tx1"/>
                </a:solidFill>
                <a:latin typeface="+mj-lt"/>
                <a:cs typeface="+mj-cs"/>
              </a:rPr>
              <a:t>The internet and WWW</a:t>
            </a:r>
          </a:p>
        </p:txBody>
      </p:sp>
      <p:pic>
        <p:nvPicPr>
          <p:cNvPr id="4" name="Picture 4" descr="A hand cursor and a globe&#10;&#10;Description automatically generated">
            <a:extLst>
              <a:ext uri="{FF2B5EF4-FFF2-40B4-BE49-F238E27FC236}">
                <a16:creationId xmlns:a16="http://schemas.microsoft.com/office/drawing/2014/main" id="{FDCDF176-F5F3-C880-4801-45DF90A631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571" r="1" b="5118"/>
          <a:stretch/>
        </p:blipFill>
        <p:spPr>
          <a:xfrm>
            <a:off x="1967132" y="1484784"/>
            <a:ext cx="8257735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5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>
            <a:extLst>
              <a:ext uri="{FF2B5EF4-FFF2-40B4-BE49-F238E27FC236}">
                <a16:creationId xmlns:a16="http://schemas.microsoft.com/office/drawing/2014/main" id="{D51508A7-99D7-DBE3-8206-866652975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Internet</a:t>
            </a:r>
          </a:p>
        </p:txBody>
      </p:sp>
      <p:sp>
        <p:nvSpPr>
          <p:cNvPr id="12291" name="Rectangle 5">
            <a:extLst>
              <a:ext uri="{FF2B5EF4-FFF2-40B4-BE49-F238E27FC236}">
                <a16:creationId xmlns:a16="http://schemas.microsoft.com/office/drawing/2014/main" id="{E257F642-E607-9F53-79C6-7F376AD80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84032" y="1472242"/>
            <a:ext cx="5328592" cy="18252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/>
                <a:cs typeface="Arial"/>
              </a:rPr>
              <a:t>Internet connectivity is powered by technologies like optical fibres, wireless and satellite communication. </a:t>
            </a:r>
            <a:endParaRPr lang="en-US" sz="2400" dirty="0"/>
          </a:p>
          <a:p>
            <a:pPr algn="just"/>
            <a:endParaRPr lang="en-US" sz="2000" i="0" dirty="0">
              <a:latin typeface="Gill Sans"/>
              <a:cs typeface="Arial"/>
            </a:endParaRPr>
          </a:p>
          <a:p>
            <a:pPr lvl="1" indent="-264795" algn="just">
              <a:buClr>
                <a:srgbClr val="3F3F3F"/>
              </a:buClr>
            </a:pPr>
            <a:endParaRPr lang="en-US" sz="2000" dirty="0">
              <a:cs typeface="Arial"/>
            </a:endParaRPr>
          </a:p>
        </p:txBody>
      </p:sp>
      <p:pic>
        <p:nvPicPr>
          <p:cNvPr id="2" name="Picture 2" descr="A close-up of a cable&#10;&#10;Description automatically generated">
            <a:extLst>
              <a:ext uri="{FF2B5EF4-FFF2-40B4-BE49-F238E27FC236}">
                <a16:creationId xmlns:a16="http://schemas.microsoft.com/office/drawing/2014/main" id="{FCB3C787-E6E3-BC06-830F-A9105EA9B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62556" y="2852936"/>
            <a:ext cx="2743200" cy="1825228"/>
          </a:xfrm>
          <a:prstGeom prst="rect">
            <a:avLst/>
          </a:prstGeom>
        </p:spPr>
      </p:pic>
      <p:pic>
        <p:nvPicPr>
          <p:cNvPr id="5" name="Picture 5" descr="A computer network with laptops and a globe&#10;&#10;Description automatically generated">
            <a:extLst>
              <a:ext uri="{FF2B5EF4-FFF2-40B4-BE49-F238E27FC236}">
                <a16:creationId xmlns:a16="http://schemas.microsoft.com/office/drawing/2014/main" id="{CB8C20A1-8547-B559-2429-F635F05069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189317" y="3965429"/>
            <a:ext cx="4896544" cy="2265019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1D0A9837-635F-FF47-1903-D555A9BC0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1472242"/>
            <a:ext cx="5616624" cy="341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88900" indent="-88900" algn="l" rtl="0" eaLnBrk="0" fontAlgn="base" hangingPunct="0">
              <a:spcBef>
                <a:spcPct val="20000"/>
              </a:spcBef>
              <a:spcAft>
                <a:spcPct val="0"/>
              </a:spcAft>
              <a:defRPr sz="3000" i="1">
                <a:solidFill>
                  <a:srgbClr val="002060"/>
                </a:solidFill>
                <a:latin typeface="+mn-lt"/>
                <a:ea typeface="+mn-ea"/>
                <a:cs typeface="ＭＳ Ｐゴシック" charset="0"/>
              </a:defRPr>
            </a:lvl1pPr>
            <a:lvl2pPr marL="533400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•"/>
              <a:defRPr sz="2800">
                <a:solidFill>
                  <a:schemeClr val="bg2"/>
                </a:solidFill>
                <a:latin typeface="Arial" charset="0"/>
                <a:ea typeface="+mn-ea"/>
              </a:defRPr>
            </a:lvl2pPr>
            <a:lvl3pPr marL="1068388" indent="-355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Gill Sans" charset="0"/>
              <a:buChar char="–"/>
              <a:defRPr sz="2400">
                <a:solidFill>
                  <a:schemeClr val="bg2"/>
                </a:solidFill>
                <a:latin typeface="Arial" charset="0"/>
                <a:ea typeface="+mn-ea"/>
              </a:defRPr>
            </a:lvl3pPr>
            <a:lvl4pPr marL="1435100" indent="-187325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>
                <a:solidFill>
                  <a:schemeClr val="bg2"/>
                </a:solidFill>
                <a:latin typeface="Arial" charset="0"/>
                <a:ea typeface="+mn-ea"/>
              </a:defRPr>
            </a:lvl4pPr>
            <a:lvl5pPr marL="209867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5pPr>
            <a:lvl6pPr marL="25558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6pPr>
            <a:lvl7pPr marL="30130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7pPr>
            <a:lvl8pPr marL="34702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8pPr>
            <a:lvl9pPr marL="3927475" indent="-395288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0" kern="0" dirty="0">
                <a:latin typeface="Arial"/>
                <a:cs typeface="Arial"/>
              </a:rPr>
              <a:t>A global network of interconnected computers and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kern="0" dirty="0">
                <a:latin typeface="Arial"/>
                <a:cs typeface="Arial"/>
              </a:rPr>
              <a:t>Enables communication and the exchange of information with support of numerous protocols and technologies.</a:t>
            </a:r>
          </a:p>
          <a:p>
            <a:pPr algn="just">
              <a:buFont typeface="Symbol"/>
              <a:buChar char="•"/>
            </a:pPr>
            <a:endParaRPr lang="en-US" sz="1800" i="0" kern="0" dirty="0">
              <a:latin typeface="Arial"/>
              <a:cs typeface="Arial"/>
            </a:endParaRPr>
          </a:p>
          <a:p>
            <a:pPr algn="just"/>
            <a:endParaRPr lang="en-US" sz="1800" i="0" kern="0" dirty="0">
              <a:latin typeface="Gill Sans"/>
              <a:cs typeface="Arial"/>
            </a:endParaRPr>
          </a:p>
          <a:p>
            <a:pPr lvl="1" indent="-264795" algn="just"/>
            <a:endParaRPr lang="en-US" sz="1800" kern="0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A6B2E-C0EF-A814-4F04-13102D9DD47C}"/>
              </a:ext>
            </a:extLst>
          </p:cNvPr>
          <p:cNvSpPr txBox="1"/>
          <p:nvPr/>
        </p:nvSpPr>
        <p:spPr>
          <a:xfrm>
            <a:off x="6765079" y="4785593"/>
            <a:ext cx="504067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A website or a web-application is a gateway to establish connection between devices.</a:t>
            </a:r>
            <a:endParaRPr lang="en-US" b="1" dirty="0">
              <a:latin typeface="Arial"/>
              <a:ea typeface="ＭＳ Ｐゴシック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43E2-1E05-FC45-36E0-59913BEA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Key Components of the Internet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82A5-2E47-28EE-84E1-CC167F25B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Servers: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Computers that host the websites, and store and serve the web contents.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Clients: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Devices (e.g., laptops, smartphones) that access and interact with web content.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Protocols: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Rules and standards that govern how data is transmitted over the Internet (e.g., HTTP, HTTPS).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54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9D5B-AD11-1ADA-E470-C741AF6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World Wide Web (WWW)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2965-99D0-BEAF-CF00-8FF9EBDF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832" y="1988840"/>
            <a:ext cx="5231865" cy="3543379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WWW - World Wide Web – or simply "Web"</a:t>
            </a:r>
            <a:endParaRPr lang="en-US" sz="2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An interconnected network of webpages and resources accessible through the Internet.</a:t>
            </a:r>
            <a:endParaRPr lang="en-US" sz="2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Sir Tim Berners-Lee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invented in 1989 to share information and documents electronically.</a:t>
            </a:r>
            <a:endParaRPr lang="en-US" sz="2400" dirty="0"/>
          </a:p>
        </p:txBody>
      </p:sp>
      <p:pic>
        <p:nvPicPr>
          <p:cNvPr id="4" name="Picture 4" descr="A person in a suit and tie&#10;&#10;Description automatically generated">
            <a:extLst>
              <a:ext uri="{FF2B5EF4-FFF2-40B4-BE49-F238E27FC236}">
                <a16:creationId xmlns:a16="http://schemas.microsoft.com/office/drawing/2014/main" id="{1D259997-9F4E-51F1-4D53-6B0D21580E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92305" y="1988840"/>
            <a:ext cx="4818773" cy="321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05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977D-0AAB-D3D4-E07F-7932844D3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How the World Wide Web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88F37-C22F-B5DD-7DE3-1A44E9588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171" y="1709840"/>
            <a:ext cx="9369423" cy="4015287"/>
          </a:xfrm>
        </p:spPr>
        <p:txBody>
          <a:bodyPr/>
          <a:lstStyle/>
          <a:p>
            <a:pPr marL="285750" indent="-285750">
              <a:buClr>
                <a:srgbClr val="002060"/>
              </a:buClr>
              <a:buFont typeface="Arial"/>
              <a:buChar char="•"/>
            </a:pPr>
            <a:r>
              <a:rPr lang="en-US" sz="2800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pages </a:t>
            </a: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are hosted on servers connected to the Internet.</a:t>
            </a:r>
            <a:endParaRPr lang="en-US" sz="2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Users access web pages using web </a:t>
            </a:r>
            <a:r>
              <a:rPr lang="en-US" sz="2800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browsers</a:t>
            </a: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which send requests to the appropriate servers.</a:t>
            </a:r>
            <a:endParaRPr lang="en-US" sz="2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/>
              <a:buChar char="•"/>
            </a:pPr>
            <a:r>
              <a:rPr lang="en-US" sz="2800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Servers</a:t>
            </a: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respond to these requests by sending back the requested web pages, which the browsers then render for users to view.</a:t>
            </a:r>
            <a:endParaRPr lang="en-US" sz="2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24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3DAEB0-F0DF-26D4-3F31-28F0FD9E00DF}"/>
              </a:ext>
            </a:extLst>
          </p:cNvPr>
          <p:cNvGrpSpPr/>
          <p:nvPr/>
        </p:nvGrpSpPr>
        <p:grpSpPr>
          <a:xfrm>
            <a:off x="9048328" y="3284984"/>
            <a:ext cx="3348618" cy="2998873"/>
            <a:chOff x="3635896" y="1258888"/>
            <a:chExt cx="1857164" cy="181007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C15D4D-F752-A83C-B243-653116EAEF78}"/>
                </a:ext>
              </a:extLst>
            </p:cNvPr>
            <p:cNvGrpSpPr/>
            <p:nvPr/>
          </p:nvGrpSpPr>
          <p:grpSpPr>
            <a:xfrm>
              <a:off x="3635896" y="1258888"/>
              <a:ext cx="1857164" cy="1810072"/>
              <a:chOff x="6134472" y="1628800"/>
              <a:chExt cx="3024336" cy="3024336"/>
            </a:xfrm>
          </p:grpSpPr>
          <p:pic>
            <p:nvPicPr>
              <p:cNvPr id="7" name="Graphic 6" descr="Cloud Computing with solid fill">
                <a:extLst>
                  <a:ext uri="{FF2B5EF4-FFF2-40B4-BE49-F238E27FC236}">
                    <a16:creationId xmlns:a16="http://schemas.microsoft.com/office/drawing/2014/main" id="{587E8499-0DB3-C18F-F730-E360A3128C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134472" y="1628800"/>
                <a:ext cx="3024336" cy="3024336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D1CA0EA-A218-31DD-C1F8-FE0B8F96E4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5"/>
                  </a:ext>
                </a:extLst>
              </a:blip>
              <a:stretch>
                <a:fillRect/>
              </a:stretch>
            </p:blipFill>
            <p:spPr>
              <a:xfrm>
                <a:off x="6660232" y="3284984"/>
                <a:ext cx="893992" cy="576240"/>
              </a:xfrm>
              <a:prstGeom prst="rect">
                <a:avLst/>
              </a:prstGeom>
            </p:spPr>
          </p:pic>
          <p:pic>
            <p:nvPicPr>
              <p:cNvPr id="12" name="Graphic 11" descr="Database with solid fill">
                <a:extLst>
                  <a:ext uri="{FF2B5EF4-FFF2-40B4-BE49-F238E27FC236}">
                    <a16:creationId xmlns:a16="http://schemas.microsoft.com/office/drawing/2014/main" id="{2DD9EA41-9AF1-FC39-E50B-1899E766C9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740352" y="2276872"/>
                <a:ext cx="432048" cy="432048"/>
              </a:xfrm>
              <a:prstGeom prst="rect">
                <a:avLst/>
              </a:prstGeom>
            </p:spPr>
          </p:pic>
          <p:pic>
            <p:nvPicPr>
              <p:cNvPr id="13" name="Graphic 12" descr="Database with solid fill">
                <a:extLst>
                  <a:ext uri="{FF2B5EF4-FFF2-40B4-BE49-F238E27FC236}">
                    <a16:creationId xmlns:a16="http://schemas.microsoft.com/office/drawing/2014/main" id="{F9878C20-A634-AF58-58E8-924F6BD92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53474" y="2276872"/>
                <a:ext cx="432048" cy="432048"/>
              </a:xfrm>
              <a:prstGeom prst="rect">
                <a:avLst/>
              </a:prstGeom>
            </p:spPr>
          </p:pic>
        </p:grpSp>
        <p:pic>
          <p:nvPicPr>
            <p:cNvPr id="16" name="Graphic 15" descr="User with solid fill">
              <a:extLst>
                <a:ext uri="{FF2B5EF4-FFF2-40B4-BE49-F238E27FC236}">
                  <a16:creationId xmlns:a16="http://schemas.microsoft.com/office/drawing/2014/main" id="{E4870795-155F-0192-ECCC-3F1A7D3BE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635896" y="2450189"/>
              <a:ext cx="548978" cy="548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5514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8C538-965C-9760-C624-D3E7D077D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Key Components of the World Wide Web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33F76-6A71-8888-69BF-599DCE308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556792"/>
            <a:ext cx="11808884" cy="4319587"/>
          </a:xfrm>
        </p:spPr>
        <p:txBody>
          <a:bodyPr/>
          <a:lstStyle/>
          <a:p>
            <a:pPr marL="285750" indent="-285750">
              <a:buClr>
                <a:srgbClr val="002060"/>
              </a:buClr>
              <a:buFont typeface="Arial"/>
              <a:buChar char="•"/>
            </a:pPr>
            <a:r>
              <a:rPr lang="en-US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Website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A platform with one or more webpages (documents) containing text, images, multimedia, and other resources.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/>
              <a:buChar char="•"/>
            </a:pPr>
            <a:r>
              <a:rPr lang="en-US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Hyperlinks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Links within web pages that connect different documents or resources.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/>
              <a:buChar char="•"/>
            </a:pPr>
            <a:r>
              <a:rPr lang="en-US" b="1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Browsers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Software applications that allow users to access and view web pages, e.g. Google Chrome, Microsoft Edge.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229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43E2-1E05-FC45-36E0-59913BEA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What is a Website?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882A5-2E47-28EE-84E1-CC167F25B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48" y="1556792"/>
            <a:ext cx="9120418" cy="4319587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website is a collection of web pages hosted on a server and accessible through the Internet.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pages consist of text, images, multimedia elements, and other resources.</a:t>
            </a:r>
          </a:p>
          <a:p>
            <a:endParaRPr lang="en-US" sz="4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8B086B-6C34-48CC-1C08-5EEB4370F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387" y="2708920"/>
            <a:ext cx="3341365" cy="334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3BA8-F218-9227-174A-A3204337C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Arial"/>
                <a:ea typeface="Calibri"/>
                <a:cs typeface="Arial"/>
              </a:rPr>
              <a:t>Evolution of Website Development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78AFD-795F-A27C-1638-D6CAEF4C8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837" y="1559235"/>
            <a:ext cx="6408711" cy="447516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Early websites were simple, consisting mainly of text and basic formatting.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Advancements in web technologies led to more interactive and visually appealing websites.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Today, websites are dynamic, responsive, and feature-rich, providing seamless user experiences.</a:t>
            </a:r>
          </a:p>
          <a:p>
            <a:endParaRPr lang="en-US" sz="24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E735E0F-6DD1-0051-B1C4-CB585D184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032" y="1772816"/>
            <a:ext cx="5641131" cy="351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38C7A6-0FCF-84B7-C9F7-D5879E76F856}"/>
              </a:ext>
            </a:extLst>
          </p:cNvPr>
          <p:cNvSpPr txBox="1"/>
          <p:nvPr/>
        </p:nvSpPr>
        <p:spPr>
          <a:xfrm>
            <a:off x="7176120" y="5517232"/>
            <a:ext cx="46085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>
                <a:solidFill>
                  <a:srgbClr val="0070C0"/>
                </a:solidFill>
              </a:rPr>
              <a:t>Screengrab of an earlier version of BBC website</a:t>
            </a:r>
            <a:endParaRPr lang="en-GB" sz="1100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57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029C4-A22A-A45B-4711-53241EA41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latin typeface="Arial"/>
                <a:ea typeface="Calibri"/>
                <a:cs typeface="Arial"/>
              </a:rPr>
              <a:t>Evolution of Website Development (2)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15D6-945C-BEA9-1452-727CF31F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833" y="2420888"/>
            <a:ext cx="10225136" cy="367240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Early websites emerged in the 1990s</a:t>
            </a:r>
          </a:p>
          <a:p>
            <a:pPr marL="901700" lvl="1" indent="-457200"/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primarily consisted of static pages with basic text and limited styling.</a:t>
            </a:r>
          </a:p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HTML (Hypertext Markup Language)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was the main language used for structuring web content.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3501C5A-1D57-5E07-FF1C-6593693FC15B}"/>
              </a:ext>
            </a:extLst>
          </p:cNvPr>
          <p:cNvSpPr txBox="1">
            <a:spLocks/>
          </p:cNvSpPr>
          <p:nvPr/>
        </p:nvSpPr>
        <p:spPr bwMode="auto">
          <a:xfrm>
            <a:off x="137585" y="1258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cs typeface="Arial"/>
              </a:rPr>
              <a:t>Early Websites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6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DD74-4D69-27FC-C516-F75EA0A8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77F22-B257-58C1-7D68-A3BC36E94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400" y="2276872"/>
            <a:ext cx="9793088" cy="3168648"/>
          </a:xfrm>
        </p:spPr>
        <p:txBody>
          <a:bodyPr/>
          <a:lstStyle/>
          <a:p>
            <a:pPr marL="457200" indent="-4572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US" i="0" dirty="0">
                <a:solidFill>
                  <a:srgbClr val="0070C0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Cascading Style Sheets (CSS)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in the late 1990</a:t>
            </a:r>
          </a:p>
          <a:p>
            <a:pPr marL="901700" lvl="1" indent="-457200"/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Separate the presentation and layout from the HTML structure.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CSS enabled better control over typography, colors, spacing, and overall design.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F2CAF64-BCA0-D7CF-3FB9-0E0B9D0AB1B1}"/>
              </a:ext>
            </a:extLst>
          </p:cNvPr>
          <p:cNvSpPr txBox="1">
            <a:spLocks/>
          </p:cNvSpPr>
          <p:nvPr/>
        </p:nvSpPr>
        <p:spPr bwMode="auto">
          <a:xfrm>
            <a:off x="340782" y="1258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CSS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455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85B5-65FD-868A-0E7B-68D667885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(4)</a:t>
            </a:r>
            <a:endParaRPr lang="en-US" dirty="0">
              <a:latin typeface="Arial"/>
              <a:ea typeface="Calibri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10D71-AA43-FFA8-2C77-5319E250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2296319"/>
            <a:ext cx="10801200" cy="3364929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 advent of JavaScript in the late 1990s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revolutionised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website development.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JavaScript enabled client-side interactivity, such as form validation, image sliders, and dynamic page updates.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4000845-F790-C0E4-521D-0001EEE72261}"/>
              </a:ext>
            </a:extLst>
          </p:cNvPr>
          <p:cNvSpPr txBox="1">
            <a:spLocks/>
          </p:cNvSpPr>
          <p:nvPr/>
        </p:nvSpPr>
        <p:spPr bwMode="auto">
          <a:xfrm>
            <a:off x="263352" y="1258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Client-Side Scripting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33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FD263-4FE0-EA28-EC3D-F20E15CEA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EC41C-35D1-8B4D-1C14-983535B9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424" y="2387791"/>
            <a:ext cx="10657184" cy="36004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With the introduction of server-side scripting languages like PHP, websites became capable of generating dynamic content.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Server-side scripting enabled the inclusion of databases, user authentication, and dynamic page rendering.</a:t>
            </a:r>
          </a:p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F27AEE-4965-B69F-ED36-E4F5306DFD25}"/>
              </a:ext>
            </a:extLst>
          </p:cNvPr>
          <p:cNvSpPr txBox="1">
            <a:spLocks/>
          </p:cNvSpPr>
          <p:nvPr/>
        </p:nvSpPr>
        <p:spPr bwMode="auto">
          <a:xfrm>
            <a:off x="141721" y="1269419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Server-Side Scripting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12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879C-494A-9EC9-6E0A-EA51B1B58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3108E-1708-78FB-367B-C8F925F6F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2529899"/>
            <a:ext cx="9581379" cy="327536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2.0, coined in the early 2000s, marked a shift towards user-generated content, social media, and interactive web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Rich Internet Applications (RIAs) emerged,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utilising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technologies like AJAX (Asynchronous JavaScript and XML) for seamless user experiences.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2CF231-D1E5-7B18-D705-AFCB2D4AF323}"/>
              </a:ext>
            </a:extLst>
          </p:cNvPr>
          <p:cNvSpPr txBox="1">
            <a:spLocks/>
          </p:cNvSpPr>
          <p:nvPr/>
        </p:nvSpPr>
        <p:spPr bwMode="auto">
          <a:xfrm>
            <a:off x="407368" y="1478670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Web 2.0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896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105F1-F442-8CDF-9766-272477CE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(7)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6F8BD-44B8-DF50-3EAF-DA84950AA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63" y="2386780"/>
            <a:ext cx="6912768" cy="34474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 increasing use of mobile devices prompted the need for responsive web design.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Responsive web design allows websites to adapt and provide optimal user experiences across various screen sizes and devices.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55542E-075D-76AC-24E3-5A9A253C2A63}"/>
              </a:ext>
            </a:extLst>
          </p:cNvPr>
          <p:cNvSpPr txBox="1">
            <a:spLocks/>
          </p:cNvSpPr>
          <p:nvPr/>
        </p:nvSpPr>
        <p:spPr bwMode="auto">
          <a:xfrm>
            <a:off x="212600" y="1243780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Responsive Web Design</a:t>
            </a:r>
            <a:endParaRPr lang="en-US" kern="0" dirty="0">
              <a:solidFill>
                <a:srgbClr val="0070C0"/>
              </a:solidFill>
            </a:endParaRPr>
          </a:p>
        </p:txBody>
      </p:sp>
      <p:pic>
        <p:nvPicPr>
          <p:cNvPr id="2050" name="Picture 2" descr="Free vector furniture shopping app interface">
            <a:extLst>
              <a:ext uri="{FF2B5EF4-FFF2-40B4-BE49-F238E27FC236}">
                <a16:creationId xmlns:a16="http://schemas.microsoft.com/office/drawing/2014/main" id="{04B692A1-D545-FCB2-37B7-C331C1C75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947" y="1700808"/>
            <a:ext cx="4133453" cy="4133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536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5782-D513-F0E6-C944-9A70862B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(8)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6289-0805-F18A-386A-37928404E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970" y="2367787"/>
            <a:ext cx="10494598" cy="36535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Front-end frameworks and libraries, such as Bootstrap, Foundation, and React, gained popularity.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These tools provide pre-built components, responsive grids, and streamlined development workflows.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61B789-129C-F9F8-78E9-97A8A156381F}"/>
              </a:ext>
            </a:extLst>
          </p:cNvPr>
          <p:cNvSpPr txBox="1">
            <a:spLocks/>
          </p:cNvSpPr>
          <p:nvPr/>
        </p:nvSpPr>
        <p:spPr bwMode="auto">
          <a:xfrm>
            <a:off x="137585" y="1258888"/>
            <a:ext cx="943304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Front-End Frameworks and Libraries</a:t>
            </a:r>
            <a:endParaRPr lang="en-US" kern="0" dirty="0">
              <a:solidFill>
                <a:srgbClr val="0070C0"/>
              </a:solidFill>
            </a:endParaRPr>
          </a:p>
        </p:txBody>
      </p:sp>
      <p:pic>
        <p:nvPicPr>
          <p:cNvPr id="3074" name="Picture 2" descr="upload.wikimedia.org/wikipedia/commons/thumb/a/...">
            <a:extLst>
              <a:ext uri="{FF2B5EF4-FFF2-40B4-BE49-F238E27FC236}">
                <a16:creationId xmlns:a16="http://schemas.microsoft.com/office/drawing/2014/main" id="{7C6EE72A-72BF-BFE0-86BD-C64353FA3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195" y="4817009"/>
            <a:ext cx="1506746" cy="131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Download Bootstrap Logo PNG and Vector (PDF, SVG, Ai, EPS) Free">
            <a:extLst>
              <a:ext uri="{FF2B5EF4-FFF2-40B4-BE49-F238E27FC236}">
                <a16:creationId xmlns:a16="http://schemas.microsoft.com/office/drawing/2014/main" id="{6E2C1FCF-781B-1BB7-CA8E-39E78C6B8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143" y="4382619"/>
            <a:ext cx="2709341" cy="203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most advanced responsive front-end framework in the world. | Foundation">
            <a:extLst>
              <a:ext uri="{FF2B5EF4-FFF2-40B4-BE49-F238E27FC236}">
                <a16:creationId xmlns:a16="http://schemas.microsoft.com/office/drawing/2014/main" id="{F0E333E1-AA5A-8DA5-E2D3-264740623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820" y="4382619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978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6384-6485-9AE3-1754-E9F7438D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(9)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D48A-6D6A-C388-1851-DB28023A1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2270241"/>
            <a:ext cx="10009112" cy="375104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Single-Page Applications (SPAs) emerged as a popular approach, delivering a more app-like experience within a single web page.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Frameworks like Angular, React, and Vue.js enable the development of SPAs by managing state and updating content dynamically.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C79282-44ED-470D-41BB-7CA80F010114}"/>
              </a:ext>
            </a:extLst>
          </p:cNvPr>
          <p:cNvSpPr txBox="1">
            <a:spLocks/>
          </p:cNvSpPr>
          <p:nvPr/>
        </p:nvSpPr>
        <p:spPr bwMode="auto">
          <a:xfrm>
            <a:off x="335360" y="1284967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Single Page Applications (SPAs)</a:t>
            </a:r>
            <a:endParaRPr lang="en-US" kern="0" dirty="0">
              <a:solidFill>
                <a:srgbClr val="0070C0"/>
              </a:solidFill>
            </a:endParaRPr>
          </a:p>
        </p:txBody>
      </p:sp>
      <p:pic>
        <p:nvPicPr>
          <p:cNvPr id="1028" name="Picture 4" descr="Angular logo - Social media &amp; Logos Icons">
            <a:extLst>
              <a:ext uri="{FF2B5EF4-FFF2-40B4-BE49-F238E27FC236}">
                <a16:creationId xmlns:a16="http://schemas.microsoft.com/office/drawing/2014/main" id="{C41202DC-96F2-EB94-7C92-5F653763B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585" y="4836234"/>
            <a:ext cx="1358800" cy="129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BE7DAA7-F2E8-0F64-EAEB-BCBEB382D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4857306"/>
            <a:ext cx="1318846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20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39E7-E4D0-063D-5F9C-F292C02F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(10)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2211E-6BC6-84C9-E5F1-4FF28A42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2429025"/>
            <a:ext cx="10297143" cy="330423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Progressive Web Apps (PWAs) combine the capabilities of web technologies with mobile app features.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PWAs can be installed on a user's device, work offline, and provide push notifications, enhancing user engagement.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E2C35B5-F643-03AD-11BA-2B6F015AB2A7}"/>
              </a:ext>
            </a:extLst>
          </p:cNvPr>
          <p:cNvSpPr txBox="1">
            <a:spLocks/>
          </p:cNvSpPr>
          <p:nvPr/>
        </p:nvSpPr>
        <p:spPr bwMode="auto">
          <a:xfrm>
            <a:off x="407368" y="1291153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Progressive Web Apps (PWAs)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5999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38A9-740A-5C8F-B942-9093BB92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>
                <a:solidFill>
                  <a:srgbClr val="FFFFFF"/>
                </a:solidFill>
                <a:latin typeface="Arial"/>
                <a:ea typeface="Calibri"/>
                <a:cs typeface="Arial"/>
              </a:rPr>
              <a:t>Evolution of Website Development (11)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048BC-EDB5-4721-CBEA-A407F1B8E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404" y="2348880"/>
            <a:ext cx="10729192" cy="356861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Developers focus on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website performance through techniques like minification, code splitting, lazy loading, and caching.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Content Delivery Networks (CDNs) help deliver assets efficiently across global networks.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90B441-DF52-8389-7181-29A82544BA4F}"/>
              </a:ext>
            </a:extLst>
          </p:cNvPr>
          <p:cNvSpPr txBox="1">
            <a:spLocks/>
          </p:cNvSpPr>
          <p:nvPr/>
        </p:nvSpPr>
        <p:spPr bwMode="auto">
          <a:xfrm>
            <a:off x="335360" y="131450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bg1"/>
                </a:solidFill>
                <a:latin typeface="Arial" charset="0"/>
                <a:ea typeface="ＭＳ Ｐゴシック" pitchFamily="-32" charset="-128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CB9535"/>
                </a:solidFill>
                <a:latin typeface="Gill Sans" pitchFamily="-32" charset="0"/>
                <a:ea typeface="ＭＳ Ｐゴシック" pitchFamily="-32" charset="-128"/>
              </a:defRPr>
            </a:lvl9pPr>
          </a:lstStyle>
          <a:p>
            <a:r>
              <a:rPr lang="en-US" kern="0" dirty="0">
                <a:solidFill>
                  <a:srgbClr val="0070C0"/>
                </a:solidFill>
                <a:latin typeface="Arial"/>
                <a:ea typeface="Calibri"/>
                <a:cs typeface="Arial"/>
              </a:rPr>
              <a:t>Performance </a:t>
            </a:r>
            <a:r>
              <a:rPr lang="en-US" kern="0" dirty="0" err="1">
                <a:solidFill>
                  <a:srgbClr val="0070C0"/>
                </a:solidFill>
                <a:latin typeface="Arial"/>
                <a:ea typeface="Calibri"/>
                <a:cs typeface="Arial"/>
              </a:rPr>
              <a:t>Optimisation</a:t>
            </a:r>
            <a:endParaRPr lang="en-US" kern="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817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80D4-7115-5815-8EA9-5FD3634A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BCC4-5BB4-6008-4C36-BE49A1613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Website development has come a long way, evolving from simple static pages to dynamic, interactive, and performant web applications.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Staying up-to-date with the latest technologies and trends is crucial for modern web developers.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588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C046-CEBA-09FB-A2AD-1E77820D5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8048" y="4365104"/>
            <a:ext cx="5402539" cy="1362075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Web application</a:t>
            </a:r>
            <a:endParaRPr lang="en-US" dirty="0"/>
          </a:p>
        </p:txBody>
      </p:sp>
      <p:pic>
        <p:nvPicPr>
          <p:cNvPr id="2050" name="Picture 2" descr="Free vector laptop website strategy report information">
            <a:extLst>
              <a:ext uri="{FF2B5EF4-FFF2-40B4-BE49-F238E27FC236}">
                <a16:creationId xmlns:a16="http://schemas.microsoft.com/office/drawing/2014/main" id="{64CB9732-779B-D605-B487-9DBC49BFA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13" y="1412776"/>
            <a:ext cx="5962650" cy="458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6118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5E61-C23E-2CB5-8C6C-41451606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Web Application System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7FE13-5653-A96F-2AB0-BA60B935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web application system is a software application accessed through a web browser.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provides functionality and services to users over the Internet.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Example: Gmail, LinkedIn, Amazon, E-bay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35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7E7-098E-5A86-874C-120EDA84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Characteristics of Web Application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98E7-7766-DD83-3FE6-6F1978269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algn="just">
              <a:buFont typeface="Arial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Web-Based: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Accessed and operated using web browsers on various devices.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Client-Server Architecture: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Consists of client-side (browser) and server-side components.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Interactivity: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Enables user interactions, data submission, and real-time updates.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Scalability: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Supports concurrent users and handles increased traffic as needed.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53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857E-F62F-7A3D-AA47-C450F5F7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Key Technologies in Web Application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40AB7-1FF6-BC78-A6DC-59FD4861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80" y="1258888"/>
            <a:ext cx="12125920" cy="4967659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Front-end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</a:t>
            </a:r>
          </a:p>
          <a:p>
            <a:pPr lvl="1" indent="-264795">
              <a:buFont typeface="Arial"/>
              <a:buChar char="•"/>
            </a:pP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HTML (Hypertext Markup Language): Defines the structure and content of web pages.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264795">
              <a:buFont typeface="Arial"/>
              <a:buChar char="•"/>
            </a:pP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CSS (Cascading Style Sheets): Styles and presents the visual aspects of web pages.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indent="-264795">
              <a:buFont typeface="Arial"/>
              <a:buChar char="•"/>
            </a:pP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JavaScript: Enables client-side interactivity and dynamic content manipulation.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Back-end / Server-Side: </a:t>
            </a:r>
            <a:endParaRPr lang="en-US" sz="2400" b="1" dirty="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lvl="1" indent="-264795">
              <a:buFont typeface="Arial"/>
              <a:buChar char="•"/>
            </a:pP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PHP, Python, Ruby, Node.js, etc., for processing requests and generating responses.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Databases: </a:t>
            </a:r>
          </a:p>
          <a:p>
            <a:pPr marL="730250" lvl="1" indent="-285750">
              <a:buFont typeface="Arial"/>
              <a:buChar char="•"/>
            </a:pP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Store and retrieve data for the web application, such as MySQL, PostgreSQL, MongoDB, or SQLite.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5119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A2D18-531D-D391-DC83-8B786C30A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221088"/>
            <a:ext cx="5348940" cy="1362075"/>
          </a:xfrm>
        </p:spPr>
        <p:txBody>
          <a:bodyPr/>
          <a:lstStyle/>
          <a:p>
            <a:pPr algn="ctr"/>
            <a:r>
              <a:rPr lang="en-US" dirty="0"/>
              <a:t>Web application architecture</a:t>
            </a:r>
            <a:endParaRPr lang="en-GB" dirty="0"/>
          </a:p>
        </p:txBody>
      </p:sp>
      <p:pic>
        <p:nvPicPr>
          <p:cNvPr id="3074" name="Picture 2" descr="Free vector application development background">
            <a:extLst>
              <a:ext uri="{FF2B5EF4-FFF2-40B4-BE49-F238E27FC236}">
                <a16:creationId xmlns:a16="http://schemas.microsoft.com/office/drawing/2014/main" id="{D0C735B6-F556-27EC-1C67-7A874A4E1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984" y="1412776"/>
            <a:ext cx="5962650" cy="4670474"/>
          </a:xfrm>
          <a:prstGeom prst="rect">
            <a:avLst/>
          </a:prstGeom>
          <a:noFill/>
          <a:effectLst>
            <a:softEdge rad="355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9412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5A26-BC27-5180-7149-58B2221E9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Web Application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B204-2825-4E94-F4D1-FEFB2789E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3577637"/>
            <a:ext cx="11515858" cy="238212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refers to the structure and </a:t>
            </a:r>
            <a:r>
              <a:rPr lang="en-US" sz="2400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organisation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of a web application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Defines the relationship of different components in a web application such as databases, server, and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Enables to define the functionality and logic of the web application between the server and the client side.</a:t>
            </a:r>
            <a:endParaRPr lang="en-US" sz="2400" i="0" dirty="0">
              <a:ea typeface="+mn-lt"/>
              <a:cs typeface="+mn-lt"/>
            </a:endParaRPr>
          </a:p>
          <a:p>
            <a:endParaRPr lang="en-US" sz="24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4172051-B8CD-F11E-BD92-8E441365D56F}"/>
              </a:ext>
            </a:extLst>
          </p:cNvPr>
          <p:cNvGrpSpPr/>
          <p:nvPr/>
        </p:nvGrpSpPr>
        <p:grpSpPr>
          <a:xfrm>
            <a:off x="2063553" y="1374222"/>
            <a:ext cx="7128792" cy="2270801"/>
            <a:chOff x="2052667" y="1507283"/>
            <a:chExt cx="4472192" cy="1624784"/>
          </a:xfrm>
        </p:grpSpPr>
        <p:pic>
          <p:nvPicPr>
            <p:cNvPr id="5" name="Graphic 4" descr="Monitor with solid fill">
              <a:extLst>
                <a:ext uri="{FF2B5EF4-FFF2-40B4-BE49-F238E27FC236}">
                  <a16:creationId xmlns:a16="http://schemas.microsoft.com/office/drawing/2014/main" id="{B745E7A7-BA14-B9E5-4E8C-F705A4561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52667" y="1632353"/>
              <a:ext cx="1452574" cy="1452574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F19B33D-18A6-F2E1-71BD-05ABC53B9D99}"/>
                </a:ext>
              </a:extLst>
            </p:cNvPr>
            <p:cNvGrpSpPr/>
            <p:nvPr/>
          </p:nvGrpSpPr>
          <p:grpSpPr>
            <a:xfrm>
              <a:off x="4651486" y="1507283"/>
              <a:ext cx="1873373" cy="1142999"/>
              <a:chOff x="4245285" y="1507283"/>
              <a:chExt cx="1873373" cy="1142999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38C3F38-2350-4567-7E7B-E55423C020CE}"/>
                  </a:ext>
                </a:extLst>
              </p:cNvPr>
              <p:cNvSpPr/>
              <p:nvPr/>
            </p:nvSpPr>
            <p:spPr bwMode="auto">
              <a:xfrm>
                <a:off x="4245285" y="1507283"/>
                <a:ext cx="1873373" cy="1142999"/>
              </a:xfrm>
              <a:prstGeom prst="roundRect">
                <a:avLst/>
              </a:prstGeom>
              <a:ln w="76200"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D1017DE-9C21-BD4F-45BD-CF8AF828565D}"/>
                  </a:ext>
                </a:extLst>
              </p:cNvPr>
              <p:cNvSpPr/>
              <p:nvPr/>
            </p:nvSpPr>
            <p:spPr bwMode="auto">
              <a:xfrm>
                <a:off x="4495800" y="1660125"/>
                <a:ext cx="1372344" cy="406873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Arial" charset="0"/>
                    <a:ea typeface="ＭＳ Ｐゴシック" pitchFamily="-32" charset="-128"/>
                  </a:rPr>
                  <a:t>Web service</a:t>
                </a:r>
                <a:endParaRPr lang="en-GB" sz="14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7B97762-8F39-4234-76A9-71E9BF246B26}"/>
                  </a:ext>
                </a:extLst>
              </p:cNvPr>
              <p:cNvSpPr/>
              <p:nvPr/>
            </p:nvSpPr>
            <p:spPr bwMode="auto">
              <a:xfrm>
                <a:off x="4495800" y="2150254"/>
                <a:ext cx="1372344" cy="406873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1200" b="1" dirty="0">
                    <a:solidFill>
                      <a:schemeClr val="tx1"/>
                    </a:solidFill>
                    <a:latin typeface="Arial" charset="0"/>
                    <a:ea typeface="ＭＳ Ｐゴシック" pitchFamily="-32" charset="-128"/>
                  </a:rPr>
                  <a:t>Business logic</a:t>
                </a:r>
                <a:endParaRPr lang="en-GB" sz="12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</p:grp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3C7DB2C8-5BE9-954F-0052-E389D7FB2030}"/>
                </a:ext>
              </a:extLst>
            </p:cNvPr>
            <p:cNvCxnSpPr>
              <a:cxnSpLocks/>
              <a:stCxn id="23" idx="6"/>
              <a:endCxn id="7" idx="1"/>
            </p:cNvCxnSpPr>
            <p:nvPr/>
          </p:nvCxnSpPr>
          <p:spPr bwMode="auto">
            <a:xfrm flipV="1">
              <a:off x="3133379" y="1863562"/>
              <a:ext cx="1768622" cy="183411"/>
            </a:xfrm>
            <a:prstGeom prst="bentConnector3">
              <a:avLst/>
            </a:prstGeom>
            <a:ln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70605633-397F-4B84-F074-C9F76DE696AB}"/>
                </a:ext>
              </a:extLst>
            </p:cNvPr>
            <p:cNvCxnSpPr>
              <a:cxnSpLocks/>
              <a:stCxn id="6" idx="1"/>
              <a:endCxn id="20" idx="6"/>
            </p:cNvCxnSpPr>
            <p:nvPr/>
          </p:nvCxnSpPr>
          <p:spPr bwMode="auto">
            <a:xfrm rot="10800000" flipV="1">
              <a:off x="2888442" y="2078782"/>
              <a:ext cx="1763045" cy="160353"/>
            </a:xfrm>
            <a:prstGeom prst="bentConnector3">
              <a:avLst>
                <a:gd name="adj1" fmla="val 17585"/>
              </a:avLst>
            </a:prstGeom>
            <a:ln>
              <a:headEnd type="none" w="med" len="med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0C78C10-198A-584E-C2EF-344E658B5F7C}"/>
                </a:ext>
              </a:extLst>
            </p:cNvPr>
            <p:cNvSpPr/>
            <p:nvPr/>
          </p:nvSpPr>
          <p:spPr bwMode="auto">
            <a:xfrm>
              <a:off x="2934098" y="2309991"/>
              <a:ext cx="204857" cy="236610"/>
            </a:xfrm>
            <a:prstGeom prst="ellipse">
              <a:avLst/>
            </a:prstGeom>
            <a:solidFill>
              <a:srgbClr val="F47929">
                <a:alpha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GB">
                <a:latin typeface="Arial" charset="0"/>
                <a:ea typeface="ＭＳ Ｐゴシック" pitchFamily="-32" charset="-128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F6222FC-8547-3912-99BC-C93A1AD152F6}"/>
                </a:ext>
              </a:extLst>
            </p:cNvPr>
            <p:cNvCxnSpPr/>
            <p:nvPr/>
          </p:nvCxnSpPr>
          <p:spPr bwMode="auto">
            <a:xfrm>
              <a:off x="3030950" y="2429883"/>
              <a:ext cx="1728192" cy="0"/>
            </a:xfrm>
            <a:prstGeom prst="straightConnector1">
              <a:avLst/>
            </a:prstGeom>
            <a:ln>
              <a:headEnd type="triangle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862F6B5-7739-FBE8-45F1-4EA5D6990604}"/>
                </a:ext>
              </a:extLst>
            </p:cNvPr>
            <p:cNvSpPr/>
            <p:nvPr/>
          </p:nvSpPr>
          <p:spPr bwMode="auto">
            <a:xfrm>
              <a:off x="2683584" y="2120831"/>
              <a:ext cx="204857" cy="236610"/>
            </a:xfrm>
            <a:prstGeom prst="ellipse">
              <a:avLst/>
            </a:prstGeom>
            <a:solidFill>
              <a:srgbClr val="F47929">
                <a:alpha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GB"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9E91601-73BE-4CD7-2E31-C3DA872969A1}"/>
                </a:ext>
              </a:extLst>
            </p:cNvPr>
            <p:cNvSpPr/>
            <p:nvPr/>
          </p:nvSpPr>
          <p:spPr bwMode="auto">
            <a:xfrm>
              <a:off x="2928522" y="1928668"/>
              <a:ext cx="204857" cy="236610"/>
            </a:xfrm>
            <a:prstGeom prst="ellipse">
              <a:avLst/>
            </a:prstGeom>
            <a:solidFill>
              <a:srgbClr val="F47929">
                <a:alpha val="75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GB"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EEC8F6A-E1D1-A835-EEB6-5EC3ECE9D036}"/>
                </a:ext>
              </a:extLst>
            </p:cNvPr>
            <p:cNvSpPr txBox="1"/>
            <p:nvPr/>
          </p:nvSpPr>
          <p:spPr>
            <a:xfrm>
              <a:off x="3506077" y="2465408"/>
              <a:ext cx="639064" cy="219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HTML</a:t>
              </a:r>
              <a:endParaRPr lang="en-GB" sz="105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D5BA0A-9067-5AD3-C95A-1B9232BC2CCE}"/>
                </a:ext>
              </a:extLst>
            </p:cNvPr>
            <p:cNvSpPr txBox="1"/>
            <p:nvPr/>
          </p:nvSpPr>
          <p:spPr>
            <a:xfrm>
              <a:off x="4009234" y="1845889"/>
              <a:ext cx="639064" cy="219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AJAX</a:t>
              </a:r>
              <a:endParaRPr lang="en-GB" sz="105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6AE77EA-05C8-539F-CB52-505BA80D2DC0}"/>
                </a:ext>
              </a:extLst>
            </p:cNvPr>
            <p:cNvSpPr txBox="1"/>
            <p:nvPr/>
          </p:nvSpPr>
          <p:spPr>
            <a:xfrm>
              <a:off x="3764321" y="2206027"/>
              <a:ext cx="639064" cy="219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JSON</a:t>
              </a:r>
              <a:endParaRPr lang="en-GB" sz="1050" b="1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38FF4D4-A022-9D70-2156-BEB36AB4D75D}"/>
                </a:ext>
              </a:extLst>
            </p:cNvPr>
            <p:cNvSpPr txBox="1"/>
            <p:nvPr/>
          </p:nvSpPr>
          <p:spPr>
            <a:xfrm>
              <a:off x="2338805" y="2892476"/>
              <a:ext cx="1081067" cy="239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Client side</a:t>
              </a:r>
              <a:endParaRPr lang="en-GB" sz="12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22DBCB-429A-6691-171D-AFCB905F528D}"/>
                </a:ext>
              </a:extLst>
            </p:cNvPr>
            <p:cNvSpPr txBox="1"/>
            <p:nvPr/>
          </p:nvSpPr>
          <p:spPr>
            <a:xfrm>
              <a:off x="5072285" y="2682595"/>
              <a:ext cx="1011883" cy="239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Server side</a:t>
              </a:r>
              <a:endParaRPr lang="en-GB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26012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2B17-0BF1-2F7A-21A0-FE99687D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/>
                <a:cs typeface="Arial"/>
              </a:rPr>
              <a:t>Need for Web Application Architecture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5A89D-D433-7854-6526-4455F2B3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484785"/>
            <a:ext cx="11377263" cy="4319587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As web applications become increasingly complex, the need for a well-defined architecture becomes crucial.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Addresses the increasing complexity and demands of modern web applications.</a:t>
            </a:r>
            <a:endParaRPr lang="en-US" sz="2800" dirty="0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provides a structured approach to design, develop, and maintain web applications.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Benefits obtained include - scalability, manageability, maintainability, reusability, and fosters collaboration while enhancing performance and security.</a:t>
            </a:r>
            <a:endParaRPr lang="en-US" sz="28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 algn="just">
              <a:buFont typeface="Arial"/>
              <a:buChar char="•"/>
            </a:pPr>
            <a:endParaRPr lang="en-US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553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D0E2-B3E4-6F9F-C34D-82177579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Benefits of Web Application Architecture (1)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35AA7-63E1-9F18-1C7C-D30D5CBD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1: Scalability</a:t>
            </a:r>
            <a:endParaRPr lang="en-US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enables scalability to accommodate increasing user traffic and concurrent user demands.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allows for horizontal scaling by adding more servers or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utilising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cloud-based infrastructure as needed.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3648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D0E2-B3E4-6F9F-C34D-82177579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Benefits of Web Application Architecture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35AA7-63E1-9F18-1C7C-D30D5CBD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2: Modularity and Maintainability</a:t>
            </a:r>
            <a:endParaRPr lang="en-US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promotes modularity, dividing the system into separate components or modules.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Modularity enhances maintainability by allowing developers to update or replace specific components without impacting the entire application.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33721714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D0E2-B3E4-6F9F-C34D-82177579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Benefits of Web Application Architecture (3)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35AA7-63E1-9F18-1C7C-D30D5CBDB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3: Reusability</a:t>
            </a:r>
            <a:endParaRPr lang="en-US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Components in web application architecture can be designed to be reusable, saving time and effort in development.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Reusability allows for the creation of libraries, frameworks, and modules that can be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utilised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across multiple projects.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3617095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3D32-E48C-7A5A-4FFD-8E7736F3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73" y="120650"/>
            <a:ext cx="8785225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Benefits of Web Application Architecture (4)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790B-8C59-A01F-D22C-7307281A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4: Separation of Concerns</a:t>
            </a:r>
            <a:endParaRPr lang="en-US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promotes the separation of concerns, dividing responsibilities into distinct components.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Separation of concerns allows for better code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organisation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easier debugging, and improved collaboration among development teams.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336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3D32-E48C-7A5A-4FFD-8E7736F3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" y="120650"/>
            <a:ext cx="8785225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Benefits of Web Application Architecture (5)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790B-8C59-A01F-D22C-7307281A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5: Performance and Efficiency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enables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optimisation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for performance and efficiency.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allows for caching strategies, database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optimisation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and load balancing techniques to enhance application speed and responsiveness.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2430664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F3D32-E48C-7A5A-4FFD-8E7736F3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55" y="120650"/>
            <a:ext cx="8785225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Benefits of Web Application Architecture (6)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5790B-8C59-A01F-D22C-7307281A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Benefit 6: Security and Stability</a:t>
            </a:r>
            <a:endParaRPr lang="en-US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architecture incorporates security measures and best practices to protect user data and ensure system stability.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By considering security requirements upfront, architecture helps prevent vulnerabilities and ensures a robust application.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endParaRPr lang="en-US" i="0" dirty="0">
              <a:ea typeface="+mn-lt"/>
              <a:cs typeface="+mn-lt"/>
            </a:endParaRPr>
          </a:p>
          <a:p>
            <a:endParaRPr lang="en-US" i="0" dirty="0"/>
          </a:p>
        </p:txBody>
      </p:sp>
    </p:spTree>
    <p:extLst>
      <p:ext uri="{BB962C8B-B14F-4D97-AF65-F5344CB8AC3E}">
        <p14:creationId xmlns:p14="http://schemas.microsoft.com/office/powerpoint/2010/main" val="3870308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9CAB69-FF80-C569-3DEC-9A357340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05064"/>
            <a:ext cx="10363200" cy="1362075"/>
          </a:xfrm>
        </p:spPr>
        <p:txBody>
          <a:bodyPr/>
          <a:lstStyle/>
          <a:p>
            <a:r>
              <a:rPr lang="en-US" dirty="0"/>
              <a:t>Types of web application architecture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4401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8A6ED-C10B-D33A-A99B-E7939295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/>
                <a:ea typeface="Calibri"/>
                <a:cs typeface="Arial"/>
              </a:rPr>
              <a:t>Types of Web Application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AF1E5-A8FB-7F39-188C-0256CBA16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556793"/>
            <a:ext cx="11659873" cy="43195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Monolithic Architecture: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traditional approach where the entire application is built as a single unit.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Microservices Architecture: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modular approach where the application is divided into smaller, independent services.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Serverless Architecture: 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Applications built using serverless functions or "Functions as a Service" (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FaaS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)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861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C59D-AC86-745D-3AD8-D7CC4AB8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7ECBC-A1C4-A4FB-2D56-B1B910075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7928" y="1508986"/>
            <a:ext cx="6624736" cy="45123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Web application is developed and deployed as a single, self-contained codebase unit.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All components including the user interface, business logic, and data access, are tightly coupled and reside within the same codebase.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1203D0C-6391-995E-577E-D288A39E959D}"/>
              </a:ext>
            </a:extLst>
          </p:cNvPr>
          <p:cNvGrpSpPr/>
          <p:nvPr/>
        </p:nvGrpSpPr>
        <p:grpSpPr>
          <a:xfrm>
            <a:off x="335360" y="1748913"/>
            <a:ext cx="5400601" cy="4032448"/>
            <a:chOff x="3275856" y="1340768"/>
            <a:chExt cx="3866729" cy="196001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D50EE04-0146-D0F6-9983-95438D290EAF}"/>
                </a:ext>
              </a:extLst>
            </p:cNvPr>
            <p:cNvGrpSpPr/>
            <p:nvPr/>
          </p:nvGrpSpPr>
          <p:grpSpPr>
            <a:xfrm>
              <a:off x="3275856" y="1340768"/>
              <a:ext cx="2376264" cy="1541859"/>
              <a:chOff x="3059832" y="1455093"/>
              <a:chExt cx="2736304" cy="1818854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ED4EC691-B1E0-A639-134A-0B1C14C8BA76}"/>
                  </a:ext>
                </a:extLst>
              </p:cNvPr>
              <p:cNvSpPr/>
              <p:nvPr/>
            </p:nvSpPr>
            <p:spPr bwMode="auto">
              <a:xfrm>
                <a:off x="3059832" y="1455093"/>
                <a:ext cx="2736304" cy="181885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BFC2A04F-5C54-048A-C4E8-1606B55353E0}"/>
                  </a:ext>
                </a:extLst>
              </p:cNvPr>
              <p:cNvSpPr/>
              <p:nvPr/>
            </p:nvSpPr>
            <p:spPr bwMode="auto">
              <a:xfrm>
                <a:off x="3239852" y="1627895"/>
                <a:ext cx="2376264" cy="43204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Arial" charset="0"/>
                    <a:ea typeface="ＭＳ Ｐゴシック" pitchFamily="-32" charset="-128"/>
                  </a:rPr>
                  <a:t>User Interface</a:t>
                </a:r>
                <a:endParaRPr lang="en-GB" sz="20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CB265CE-82FF-5763-D020-EE686AE1864B}"/>
                  </a:ext>
                </a:extLst>
              </p:cNvPr>
              <p:cNvSpPr/>
              <p:nvPr/>
            </p:nvSpPr>
            <p:spPr bwMode="auto">
              <a:xfrm>
                <a:off x="3239852" y="2150605"/>
                <a:ext cx="2376264" cy="43204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Arial" charset="0"/>
                    <a:ea typeface="ＭＳ Ｐゴシック" pitchFamily="-32" charset="-128"/>
                  </a:rPr>
                  <a:t>Business logic</a:t>
                </a:r>
                <a:endParaRPr lang="en-GB" sz="20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8F2CFC7-48D8-2C3A-FBC0-B5C41E133EC3}"/>
                  </a:ext>
                </a:extLst>
              </p:cNvPr>
              <p:cNvSpPr/>
              <p:nvPr/>
            </p:nvSpPr>
            <p:spPr bwMode="auto">
              <a:xfrm>
                <a:off x="3307668" y="2688556"/>
                <a:ext cx="2376264" cy="432048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b="1" dirty="0">
                    <a:solidFill>
                      <a:schemeClr val="tx1"/>
                    </a:solidFill>
                    <a:latin typeface="Arial" charset="0"/>
                    <a:ea typeface="ＭＳ Ｐゴシック" pitchFamily="-32" charset="-128"/>
                  </a:rPr>
                  <a:t>Data access</a:t>
                </a:r>
                <a:endParaRPr lang="en-GB" sz="20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endParaRPr>
              </a:p>
            </p:txBody>
          </p:sp>
        </p:grp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79BA40BA-1ACF-00C7-4E00-EAF55CFA4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008345" y="2386386"/>
              <a:ext cx="1134240" cy="914400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2A25984-07F4-5231-1342-3ABFA7F16A1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55461" y="2569511"/>
              <a:ext cx="507552" cy="183126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099182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0B04-AF75-1404-D6A7-E3BECFEB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Monolithic Architecture - Characteristics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167F-BB23-3AB2-454B-D326ABD7C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556793"/>
            <a:ext cx="11587865" cy="43195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Single Codebase: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The entire application is written and maintained within a single code repository.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 err="1">
                <a:latin typeface="Arial" panose="020B0604020202020204" pitchFamily="34" charset="0"/>
                <a:cs typeface="Arial" panose="020B0604020202020204" pitchFamily="34" charset="0"/>
              </a:rPr>
              <a:t>Centralised</a:t>
            </a:r>
            <a:r>
              <a:rPr lang="en-US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 Database: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All data access and storage functions are handled by a </a:t>
            </a:r>
            <a:r>
              <a:rPr lang="en-US" sz="2800" i="0" dirty="0" err="1">
                <a:latin typeface="Arial" panose="020B0604020202020204" pitchFamily="34" charset="0"/>
                <a:cs typeface="Arial" panose="020B0604020202020204" pitchFamily="34" charset="0"/>
              </a:rPr>
              <a:t>centralised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 database shared across the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Tight Coupling: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Components are interconnected, making it challenging to modify or replace individual elements without affecting the entire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Workflow: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developers work on different parts of the application within the same codebase.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190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249B-3107-7536-49AC-05133719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" y="72233"/>
            <a:ext cx="10972800" cy="1143000"/>
          </a:xfrm>
        </p:spPr>
        <p:txBody>
          <a:bodyPr/>
          <a:lstStyle/>
          <a:p>
            <a:r>
              <a:rPr lang="en-US" sz="3600" dirty="0"/>
              <a:t>Monolithic Architecture – Pros &amp; Cons</a:t>
            </a:r>
            <a:endParaRPr lang="en-GB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4A675-3EAB-0AE5-71BB-E25DAAD60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841" y="1239595"/>
            <a:ext cx="4040188" cy="639762"/>
          </a:xfrm>
        </p:spPr>
        <p:txBody>
          <a:bodyPr/>
          <a:lstStyle/>
          <a:p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BCBFA8-FE30-B3C5-6ACD-4FBF9F0EA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1344" y="1903719"/>
            <a:ext cx="5400600" cy="39512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Simplicity: 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relatively straightforward to develop, deploy, and maintain.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Easy to Scale: 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With low user traffic, monolithic applications can be cost-effective and easy to manage.</a:t>
            </a:r>
            <a:endParaRPr lang="en-GB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320A5D-E440-9CF7-043C-C52B137CBC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5401" y="1239595"/>
            <a:ext cx="4041775" cy="639762"/>
          </a:xfrm>
        </p:spPr>
        <p:txBody>
          <a:bodyPr/>
          <a:lstStyle/>
          <a:p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4CB89B-4161-DDBA-AC22-7600F6A6B0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677744" y="1854994"/>
            <a:ext cx="6322912" cy="431031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Scalability Issues: 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As user traffic increases scalability is challenging.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Development Bottlenecks: 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Collaboration with large teams is challenging and slower development cycles.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Maintenance Complexity: 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Modifying or adding new features can be risky with side effects.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Lack of Flexibility: C</a:t>
            </a: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hallenging to adopt new technologies or scale specific components independently.</a:t>
            </a:r>
            <a:endParaRPr lang="en-GB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1817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6E97DF-294B-CFA0-9072-C685D38F8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Architecture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D85905-DD94-F431-247E-F41DC6612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490" y="1554568"/>
            <a:ext cx="6155443" cy="439471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The web application is broken into smaller, loosely coupled services.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Each service is called as a microservice.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Responsible for a specific business capability.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Easier to develop, deploy, and scaled independently.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E5CCC9-6A7D-2D3C-869D-C2CBB13829C6}"/>
              </a:ext>
            </a:extLst>
          </p:cNvPr>
          <p:cNvGrpSpPr/>
          <p:nvPr/>
        </p:nvGrpSpPr>
        <p:grpSpPr>
          <a:xfrm>
            <a:off x="6594634" y="1689409"/>
            <a:ext cx="5256585" cy="4078974"/>
            <a:chOff x="2474588" y="1412776"/>
            <a:chExt cx="3191658" cy="228489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DF80625-171D-970D-52A1-54F7A15E2EAD}"/>
                </a:ext>
              </a:extLst>
            </p:cNvPr>
            <p:cNvSpPr/>
            <p:nvPr/>
          </p:nvSpPr>
          <p:spPr bwMode="auto">
            <a:xfrm>
              <a:off x="3851920" y="1412776"/>
              <a:ext cx="792090" cy="50405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rPr>
                <a:t>User interface</a:t>
              </a:r>
              <a:endParaRPr lang="en-GB" sz="1600" b="1" dirty="0">
                <a:solidFill>
                  <a:schemeClr val="tx1"/>
                </a:solidFill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9B3CE2D-3D69-7A36-D0C5-1F154099B6F6}"/>
                </a:ext>
              </a:extLst>
            </p:cNvPr>
            <p:cNvSpPr/>
            <p:nvPr/>
          </p:nvSpPr>
          <p:spPr bwMode="auto">
            <a:xfrm>
              <a:off x="2729136" y="2251187"/>
              <a:ext cx="770384" cy="770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b="1" dirty="0">
                  <a:latin typeface="Arial" charset="0"/>
                  <a:ea typeface="ＭＳ Ｐゴシック" pitchFamily="-32" charset="-128"/>
                </a:rPr>
                <a:t>Micro-service</a:t>
              </a:r>
              <a:endParaRPr lang="en-GB" sz="1600" b="1" dirty="0"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7404F10-D24D-F9D3-CE40-A932F39B621C}"/>
                </a:ext>
              </a:extLst>
            </p:cNvPr>
            <p:cNvSpPr/>
            <p:nvPr/>
          </p:nvSpPr>
          <p:spPr bwMode="auto">
            <a:xfrm>
              <a:off x="3768578" y="2636379"/>
              <a:ext cx="770384" cy="770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b="1" dirty="0">
                  <a:latin typeface="Arial" charset="0"/>
                  <a:ea typeface="ＭＳ Ｐゴシック" pitchFamily="-32" charset="-128"/>
                </a:rPr>
                <a:t>Micro-service</a:t>
              </a:r>
              <a:endParaRPr lang="en-GB" sz="1600" b="1" dirty="0"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582F364-9530-006C-2D50-BF6F2658F681}"/>
                </a:ext>
              </a:extLst>
            </p:cNvPr>
            <p:cNvSpPr/>
            <p:nvPr/>
          </p:nvSpPr>
          <p:spPr bwMode="auto">
            <a:xfrm>
              <a:off x="4808020" y="2334314"/>
              <a:ext cx="770384" cy="770384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b="1" dirty="0">
                  <a:latin typeface="Arial" charset="0"/>
                  <a:ea typeface="ＭＳ Ｐゴシック" pitchFamily="-32" charset="-128"/>
                </a:rPr>
                <a:t>Micro-service</a:t>
              </a:r>
              <a:endParaRPr lang="en-GB" sz="1600" b="1" dirty="0">
                <a:latin typeface="Arial" charset="0"/>
                <a:ea typeface="ＭＳ Ｐゴシック" pitchFamily="-32" charset="-128"/>
              </a:endParaRPr>
            </a:p>
          </p:txBody>
        </p:sp>
        <p:pic>
          <p:nvPicPr>
            <p:cNvPr id="13" name="Graphic 12" descr="Database with solid fill">
              <a:extLst>
                <a:ext uri="{FF2B5EF4-FFF2-40B4-BE49-F238E27FC236}">
                  <a16:creationId xmlns:a16="http://schemas.microsoft.com/office/drawing/2014/main" id="{205AFC13-A5E7-415E-10D3-081F951AC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74588" y="2748238"/>
              <a:ext cx="615390" cy="546665"/>
            </a:xfrm>
            <a:prstGeom prst="rect">
              <a:avLst/>
            </a:prstGeom>
          </p:spPr>
        </p:pic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1E8F0397-9B6C-4BDA-BED3-04626842E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45304" y="3065525"/>
              <a:ext cx="608466" cy="546665"/>
            </a:xfrm>
            <a:prstGeom prst="rect">
              <a:avLst/>
            </a:prstGeom>
          </p:spPr>
        </p:pic>
        <p:pic>
          <p:nvPicPr>
            <p:cNvPr id="18" name="Graphic 17" descr="Database with solid fill">
              <a:extLst>
                <a:ext uri="{FF2B5EF4-FFF2-40B4-BE49-F238E27FC236}">
                  <a16:creationId xmlns:a16="http://schemas.microsoft.com/office/drawing/2014/main" id="{25F70EC7-6481-64C0-38C2-AB9B62CBB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77524" y="2836146"/>
              <a:ext cx="628681" cy="54666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E9F247-D9D7-6822-9E50-47F084881779}"/>
                </a:ext>
              </a:extLst>
            </p:cNvPr>
            <p:cNvSpPr txBox="1"/>
            <p:nvPr/>
          </p:nvSpPr>
          <p:spPr>
            <a:xfrm>
              <a:off x="2474589" y="3211776"/>
              <a:ext cx="906705" cy="189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Database</a:t>
              </a:r>
              <a:endParaRPr lang="en-GB" sz="1600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22BF4B-AC46-4C46-C58C-C84EA7372161}"/>
                </a:ext>
              </a:extLst>
            </p:cNvPr>
            <p:cNvSpPr txBox="1"/>
            <p:nvPr/>
          </p:nvSpPr>
          <p:spPr>
            <a:xfrm>
              <a:off x="3589095" y="3508025"/>
              <a:ext cx="906705" cy="189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Database</a:t>
              </a:r>
              <a:endParaRPr lang="en-GB" sz="1600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4B1904D-4FC3-6507-D214-678ECFFA632B}"/>
                </a:ext>
              </a:extLst>
            </p:cNvPr>
            <p:cNvSpPr txBox="1"/>
            <p:nvPr/>
          </p:nvSpPr>
          <p:spPr>
            <a:xfrm>
              <a:off x="4759541" y="3338857"/>
              <a:ext cx="906705" cy="189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/>
                <a:t>Database</a:t>
              </a:r>
              <a:endParaRPr lang="en-GB" sz="1600" b="1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261D84E-BA58-5CD7-17BA-FF25DDF6405D}"/>
                </a:ext>
              </a:extLst>
            </p:cNvPr>
            <p:cNvCxnSpPr>
              <a:stCxn id="14" idx="7"/>
            </p:cNvCxnSpPr>
            <p:nvPr/>
          </p:nvCxnSpPr>
          <p:spPr bwMode="auto">
            <a:xfrm flipV="1">
              <a:off x="3386700" y="1939795"/>
              <a:ext cx="506314" cy="42421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1F18904-166A-A7ED-C63C-9B02DE79E3B7}"/>
                </a:ext>
              </a:extLst>
            </p:cNvPr>
            <p:cNvCxnSpPr>
              <a:cxnSpLocks/>
              <a:stCxn id="9" idx="2"/>
              <a:endCxn id="15" idx="0"/>
            </p:cNvCxnSpPr>
            <p:nvPr/>
          </p:nvCxnSpPr>
          <p:spPr bwMode="auto">
            <a:xfrm flipH="1">
              <a:off x="4153770" y="1916832"/>
              <a:ext cx="94195" cy="71954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C76E333-D6B4-6602-A0BF-CF25EB3AD4A6}"/>
                </a:ext>
              </a:extLst>
            </p:cNvPr>
            <p:cNvCxnSpPr>
              <a:endCxn id="16" idx="0"/>
            </p:cNvCxnSpPr>
            <p:nvPr/>
          </p:nvCxnSpPr>
          <p:spPr bwMode="auto">
            <a:xfrm>
              <a:off x="4644010" y="1916832"/>
              <a:ext cx="549202" cy="41748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963552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042C1-1AA2-B8EC-9987-57C3975AC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Microservices Architecture - Characteristics</a:t>
            </a:r>
            <a:endParaRPr lang="en-GB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F5140-08C0-4C86-638F-FEAFC5A5F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412776"/>
            <a:ext cx="11809311" cy="4752528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Service Independence: </a:t>
            </a:r>
            <a:r>
              <a:rPr lang="en-GB" sz="2800" i="0" dirty="0">
                <a:latin typeface="Arial" panose="020B0604020202020204" pitchFamily="34" charset="0"/>
                <a:cs typeface="Arial" panose="020B0604020202020204" pitchFamily="34" charset="0"/>
              </a:rPr>
              <a:t>Each microservice operates as an independent unit, with its own codebase, database, and APIs.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Decentralised Data Management: </a:t>
            </a:r>
            <a:r>
              <a:rPr lang="en-GB" sz="2800" i="0" dirty="0">
                <a:latin typeface="Arial" panose="020B0604020202020204" pitchFamily="34" charset="0"/>
                <a:cs typeface="Arial" panose="020B0604020202020204" pitchFamily="34" charset="0"/>
              </a:rPr>
              <a:t>Microservices often manage their data, reducing dependencies on a centralized database.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Communication: </a:t>
            </a:r>
            <a:r>
              <a:rPr lang="en-GB" sz="2800" i="0" dirty="0">
                <a:latin typeface="Arial" panose="020B0604020202020204" pitchFamily="34" charset="0"/>
                <a:cs typeface="Arial" panose="020B0604020202020204" pitchFamily="34" charset="0"/>
              </a:rPr>
              <a:t>Services communicate through lightweight protocols like HTTP/REST or message queues.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GB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Workflow: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Development teams work on individual microservices independently.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i="0" dirty="0">
                <a:latin typeface="Arial" panose="020B0604020202020204" pitchFamily="34" charset="0"/>
                <a:cs typeface="Arial" panose="020B0604020202020204" pitchFamily="34" charset="0"/>
              </a:rPr>
              <a:t>Multi-platform: 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Each microservice can use different programming languages.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3207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C2C965-125B-BD85-E7B1-5655F554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00596"/>
            <a:ext cx="10972800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ea typeface="ＭＳ Ｐゴシック"/>
              </a:rPr>
              <a:t>Microservices Architecture – Pros &amp; Cons</a:t>
            </a:r>
            <a:endParaRPr lang="en-GB" sz="4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D41E10-E3A4-4EDE-6748-D40B875F6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395" y="1312804"/>
            <a:ext cx="4040188" cy="639762"/>
          </a:xfrm>
        </p:spPr>
        <p:txBody>
          <a:bodyPr/>
          <a:lstStyle/>
          <a:p>
            <a:pPr algn="ctr"/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D896A-D158-0816-B566-10CE8250A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781" y="1879840"/>
            <a:ext cx="6529283" cy="421345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Scalability: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Enables</a:t>
            </a: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granular scaling, where only specific services handle increased load.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: Allows adoption of new technologies and frameworks for individual services without impacting the entire application.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Reduced risk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: Isolating services reduces the risk of affecting other parts of the application during updates or bug fixes.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Faster Development: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Smaller teams working on individual services enable faster development cycles.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Fault Isolation: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A failure in one microservice doesn't necessarily affect the entire system, promoting fault tolerance.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CE328A-21BC-4934-7FF1-4B8A0E89E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60096" y="1319085"/>
            <a:ext cx="4041775" cy="639762"/>
          </a:xfrm>
        </p:spPr>
        <p:txBody>
          <a:bodyPr/>
          <a:lstStyle/>
          <a:p>
            <a:pPr algn="ctr"/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4CEF7B-1661-A153-AB42-00D25B280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4870" y="1870043"/>
            <a:ext cx="5244349" cy="3951288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Complexity: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Managing a distributed system introduces additional complexities in deployment, monitoring, and debugging.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Communication Overhead: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As services communicate over networks, additional overhead may occur due to latency and message passing.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i="0" dirty="0">
                <a:latin typeface="Arial" panose="020B0604020202020204" pitchFamily="34" charset="0"/>
                <a:cs typeface="Arial" panose="020B0604020202020204" pitchFamily="34" charset="0"/>
              </a:rPr>
              <a:t>Data Consistency: 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Maintaining data consistency across microservices can be challenging due to </a:t>
            </a:r>
            <a:r>
              <a:rPr lang="en-US" sz="2000" i="0" dirty="0" err="1">
                <a:latin typeface="Arial" panose="020B0604020202020204" pitchFamily="34" charset="0"/>
                <a:cs typeface="Arial" panose="020B0604020202020204" pitchFamily="34" charset="0"/>
              </a:rPr>
              <a:t>decentralised</a:t>
            </a:r>
            <a:r>
              <a:rPr lang="en-US" sz="2000" i="0" dirty="0">
                <a:latin typeface="Arial" panose="020B0604020202020204" pitchFamily="34" charset="0"/>
                <a:cs typeface="Arial" panose="020B0604020202020204" pitchFamily="34" charset="0"/>
              </a:rPr>
              <a:t> data management.</a:t>
            </a:r>
            <a:endParaRPr lang="en-GB" sz="20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3337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2CCDAA1-054C-B560-AC45-A101E84B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Serverless Architecture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55B919-3A11-FCF9-052A-713ACB703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67" y="4031504"/>
            <a:ext cx="11713633" cy="206179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Serverless architecture - also known as Function as a Service (</a:t>
            </a:r>
            <a:r>
              <a:rPr lang="en-US" sz="2800" i="0" dirty="0" err="1">
                <a:latin typeface="Arial" panose="020B0604020202020204" pitchFamily="34" charset="0"/>
                <a:cs typeface="Arial" panose="020B0604020202020204" pitchFamily="34" charset="0"/>
              </a:rPr>
              <a:t>FaaS</a:t>
            </a: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Build and run applications and services without having to manage infrastructure (servers).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latin typeface="Arial" panose="020B0604020202020204" pitchFamily="34" charset="0"/>
                <a:cs typeface="Arial" panose="020B0604020202020204" pitchFamily="34" charset="0"/>
              </a:rPr>
              <a:t>The cloud provider handles the infrastructure.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79D480-6759-3AAD-F017-3F2BCE24351D}"/>
              </a:ext>
            </a:extLst>
          </p:cNvPr>
          <p:cNvGrpSpPr/>
          <p:nvPr/>
        </p:nvGrpSpPr>
        <p:grpSpPr>
          <a:xfrm>
            <a:off x="1991544" y="1412776"/>
            <a:ext cx="8496943" cy="2660503"/>
            <a:chOff x="2061642" y="1525098"/>
            <a:chExt cx="5346079" cy="1960396"/>
          </a:xfrm>
        </p:grpSpPr>
        <p:pic>
          <p:nvPicPr>
            <p:cNvPr id="10" name="Graphic 9" descr="Monitor with solid fill">
              <a:extLst>
                <a:ext uri="{FF2B5EF4-FFF2-40B4-BE49-F238E27FC236}">
                  <a16:creationId xmlns:a16="http://schemas.microsoft.com/office/drawing/2014/main" id="{42778739-439B-6AB8-BEAC-192CD9847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67744" y="1867880"/>
              <a:ext cx="914400" cy="914400"/>
            </a:xfrm>
            <a:prstGeom prst="rect">
              <a:avLst/>
            </a:prstGeom>
          </p:spPr>
        </p:pic>
        <p:pic>
          <p:nvPicPr>
            <p:cNvPr id="12" name="Graphic 11" descr="Cloud with solid fill">
              <a:extLst>
                <a:ext uri="{FF2B5EF4-FFF2-40B4-BE49-F238E27FC236}">
                  <a16:creationId xmlns:a16="http://schemas.microsoft.com/office/drawing/2014/main" id="{676572A8-AC14-C70B-7B96-7C9782496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31940" y="1842729"/>
              <a:ext cx="914400" cy="914400"/>
            </a:xfrm>
            <a:prstGeom prst="rect">
              <a:avLst/>
            </a:prstGeom>
          </p:spPr>
        </p:pic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175338F-4CC0-9440-739E-7DE3BF8F6962}"/>
                </a:ext>
              </a:extLst>
            </p:cNvPr>
            <p:cNvSpPr/>
            <p:nvPr/>
          </p:nvSpPr>
          <p:spPr bwMode="auto">
            <a:xfrm>
              <a:off x="5796136" y="1525098"/>
              <a:ext cx="1080120" cy="36004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rPr>
                <a:t>Service 1</a:t>
              </a:r>
              <a:endParaRPr lang="en-GB" sz="1600" dirty="0">
                <a:solidFill>
                  <a:schemeClr val="tx1"/>
                </a:solidFill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545ABCD-6ADB-9CEF-793A-9664D92FE88E}"/>
                </a:ext>
              </a:extLst>
            </p:cNvPr>
            <p:cNvSpPr/>
            <p:nvPr/>
          </p:nvSpPr>
          <p:spPr bwMode="auto">
            <a:xfrm>
              <a:off x="5796136" y="2085570"/>
              <a:ext cx="1080120" cy="36004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rPr>
                <a:t>Service 2</a:t>
              </a:r>
              <a:endParaRPr lang="en-GB" sz="1800" dirty="0">
                <a:solidFill>
                  <a:schemeClr val="tx1"/>
                </a:solidFill>
                <a:latin typeface="Arial" charset="0"/>
                <a:ea typeface="ＭＳ Ｐゴシック" pitchFamily="-32" charset="-128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CCF2BC4-9048-ACF3-670F-C701CDE42BC5}"/>
                </a:ext>
              </a:extLst>
            </p:cNvPr>
            <p:cNvSpPr/>
            <p:nvPr/>
          </p:nvSpPr>
          <p:spPr bwMode="auto">
            <a:xfrm>
              <a:off x="5796136" y="2646042"/>
              <a:ext cx="1080120" cy="36004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1800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rPr>
                <a:t>Service</a:t>
              </a:r>
              <a:r>
                <a:rPr lang="en-US" sz="1600" dirty="0">
                  <a:solidFill>
                    <a:schemeClr val="tx1"/>
                  </a:solidFill>
                  <a:latin typeface="Arial" charset="0"/>
                  <a:ea typeface="ＭＳ Ｐゴシック" pitchFamily="-32" charset="-128"/>
                </a:rPr>
                <a:t> 3</a:t>
              </a:r>
              <a:endParaRPr lang="en-GB" sz="1600" dirty="0">
                <a:solidFill>
                  <a:schemeClr val="tx1"/>
                </a:solidFill>
                <a:latin typeface="Arial" charset="0"/>
                <a:ea typeface="ＭＳ Ｐゴシック" pitchFamily="-32" charset="-128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76D5EDA-E571-FED4-F9B8-02C4B9DF0156}"/>
                </a:ext>
              </a:extLst>
            </p:cNvPr>
            <p:cNvCxnSpPr>
              <a:stCxn id="10" idx="3"/>
            </p:cNvCxnSpPr>
            <p:nvPr/>
          </p:nvCxnSpPr>
          <p:spPr bwMode="auto">
            <a:xfrm>
              <a:off x="3182144" y="2325080"/>
              <a:ext cx="741784" cy="0"/>
            </a:xfrm>
            <a:prstGeom prst="straightConnector1">
              <a:avLst/>
            </a:prstGeom>
            <a:ln>
              <a:headEnd type="triangle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9496B57-EB7B-43F0-A00A-E271391955FF}"/>
                </a:ext>
              </a:extLst>
            </p:cNvPr>
            <p:cNvCxnSpPr/>
            <p:nvPr/>
          </p:nvCxnSpPr>
          <p:spPr bwMode="auto">
            <a:xfrm flipV="1">
              <a:off x="4716016" y="1705118"/>
              <a:ext cx="1008112" cy="380452"/>
            </a:xfrm>
            <a:prstGeom prst="straightConnector1">
              <a:avLst/>
            </a:prstGeom>
            <a:ln>
              <a:headEnd type="triangle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B8F5D69-145F-7137-A6F4-CA7122300574}"/>
                </a:ext>
              </a:extLst>
            </p:cNvPr>
            <p:cNvCxnSpPr>
              <a:stCxn id="12" idx="3"/>
            </p:cNvCxnSpPr>
            <p:nvPr/>
          </p:nvCxnSpPr>
          <p:spPr bwMode="auto">
            <a:xfrm>
              <a:off x="4946340" y="2299929"/>
              <a:ext cx="777788" cy="25151"/>
            </a:xfrm>
            <a:prstGeom prst="straightConnector1">
              <a:avLst/>
            </a:prstGeom>
            <a:ln>
              <a:headEnd type="triangle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BA727EB-6612-2668-9584-13FE7DB2562F}"/>
                </a:ext>
              </a:extLst>
            </p:cNvPr>
            <p:cNvCxnSpPr/>
            <p:nvPr/>
          </p:nvCxnSpPr>
          <p:spPr bwMode="auto">
            <a:xfrm>
              <a:off x="4946340" y="2539439"/>
              <a:ext cx="777788" cy="353851"/>
            </a:xfrm>
            <a:prstGeom prst="straightConnector1">
              <a:avLst/>
            </a:prstGeom>
            <a:ln>
              <a:headEnd type="triangle"/>
              <a:tailEnd type="triangle"/>
            </a:ln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736B62-3E03-1F01-F347-BCF7458D8CEA}"/>
                </a:ext>
              </a:extLst>
            </p:cNvPr>
            <p:cNvSpPr txBox="1"/>
            <p:nvPr/>
          </p:nvSpPr>
          <p:spPr>
            <a:xfrm>
              <a:off x="3991279" y="2630171"/>
              <a:ext cx="954106" cy="4762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b="1" dirty="0"/>
                <a:t>API Gateway</a:t>
              </a:r>
              <a:endParaRPr lang="en-GB" sz="18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32A180-4834-00AC-7928-78F2DBCF2A85}"/>
                </a:ext>
              </a:extLst>
            </p:cNvPr>
            <p:cNvSpPr txBox="1"/>
            <p:nvPr/>
          </p:nvSpPr>
          <p:spPr>
            <a:xfrm>
              <a:off x="2061642" y="2645546"/>
              <a:ext cx="1271389" cy="430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User upload application code</a:t>
              </a:r>
              <a:endParaRPr lang="en-GB" sz="1600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114953-AE27-2AD5-BF7B-264F52E10134}"/>
                </a:ext>
              </a:extLst>
            </p:cNvPr>
            <p:cNvSpPr txBox="1"/>
            <p:nvPr/>
          </p:nvSpPr>
          <p:spPr>
            <a:xfrm>
              <a:off x="5508104" y="3054602"/>
              <a:ext cx="1899617" cy="430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Cloud provider executes application code</a:t>
              </a:r>
              <a:endParaRPr lang="en-GB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696634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871292-F13A-D673-2DAB-28026FC59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1" y="140494"/>
            <a:ext cx="10972800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ea typeface="ＭＳ Ｐゴシック"/>
              </a:rPr>
              <a:t>Serverless Architecture – Pros &amp; Cons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2CC87-C13C-7FC0-3AB1-3A555B33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722" y="1283494"/>
            <a:ext cx="5386917" cy="639762"/>
          </a:xfrm>
        </p:spPr>
        <p:txBody>
          <a:bodyPr/>
          <a:lstStyle/>
          <a:p>
            <a:pPr algn="ctr"/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020FD-3A03-66FC-A2EA-BA90A6482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21" y="1844824"/>
            <a:ext cx="6344041" cy="4217641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Scalability: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Handle sudden spikes in demand, automatically scaling functions as needed.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Cost-Efficiency: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Cost-effective as users will be billed only for the actual code requests for low to moderate traffic applications.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Reduced Operational Overhead: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Developers don't need to manage servers, allowing them to focus on writing code and business logic.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Easy Deployment: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Serverless platforms handle deployment and configuration, making it easier to release updates and new features.</a:t>
            </a:r>
            <a:endParaRPr lang="en-GB" sz="2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69C65E-BCF5-4928-F939-5C4B956BC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268760"/>
            <a:ext cx="5389033" cy="639762"/>
          </a:xfrm>
        </p:spPr>
        <p:txBody>
          <a:bodyPr/>
          <a:lstStyle/>
          <a:p>
            <a:pPr algn="ctr"/>
            <a:r>
              <a:rPr lang="en-US" sz="3200" i="0" dirty="0"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GB" sz="3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3E803C-9877-8900-0A2E-0DE910A02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4362" y="1772816"/>
            <a:ext cx="5666324" cy="3951288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Cold Start Latency: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When a function is invoked after being idle, there may be a slight delay due to cold start latency.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Limited Execution Time: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Functions typically have a maximum execution time limit, which may impact tasks with long-running processes.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Vendor Lock-In: </a:t>
            </a:r>
            <a:r>
              <a:rPr lang="en-US" sz="2200" i="0" dirty="0">
                <a:latin typeface="Arial" panose="020B0604020202020204" pitchFamily="34" charset="0"/>
                <a:cs typeface="Arial" panose="020B0604020202020204" pitchFamily="34" charset="0"/>
              </a:rPr>
              <a:t>Moving between serverless providers may require code adjustments and introduces vendor-specific dependencies.</a:t>
            </a:r>
            <a:endParaRPr lang="en-GB" sz="22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055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77CB-4854-8E18-3318-66B5C0E0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3-Tier Web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FE5C1-22B7-9D06-65C6-81B0C206D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772816"/>
            <a:ext cx="6870261" cy="43195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Presentation Tier: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Handles user interface and interaction, typically implemented using HTML, CSS, and JavaScript.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Application (Logic) Tier: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Contains the business logic and processes user requests, often using a server-side language like Python, Ruby, or Node.js.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 Tier: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Stores and retrieves data, commonly using databases such as MySQL, PostgreSQL, or MongoDB.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68E291-C4A0-8EB2-5CF3-811D9FE90CC9}"/>
              </a:ext>
            </a:extLst>
          </p:cNvPr>
          <p:cNvGrpSpPr/>
          <p:nvPr/>
        </p:nvGrpSpPr>
        <p:grpSpPr>
          <a:xfrm>
            <a:off x="7464151" y="1988840"/>
            <a:ext cx="4387067" cy="3429747"/>
            <a:chOff x="3471663" y="1323654"/>
            <a:chExt cx="3831586" cy="2675854"/>
          </a:xfrm>
        </p:grpSpPr>
        <p:pic>
          <p:nvPicPr>
            <p:cNvPr id="5" name="Graphic 4" descr="Monitor with solid fill">
              <a:extLst>
                <a:ext uri="{FF2B5EF4-FFF2-40B4-BE49-F238E27FC236}">
                  <a16:creationId xmlns:a16="http://schemas.microsoft.com/office/drawing/2014/main" id="{07E37508-1BF3-C5EC-6736-497CC6223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63887" y="1323654"/>
              <a:ext cx="859042" cy="729952"/>
            </a:xfrm>
            <a:prstGeom prst="rect">
              <a:avLst/>
            </a:prstGeom>
          </p:spPr>
        </p:pic>
        <p:pic>
          <p:nvPicPr>
            <p:cNvPr id="7" name="Graphic 6" descr="Document with solid fill">
              <a:extLst>
                <a:ext uri="{FF2B5EF4-FFF2-40B4-BE49-F238E27FC236}">
                  <a16:creationId xmlns:a16="http://schemas.microsoft.com/office/drawing/2014/main" id="{5AF65E7C-4AED-0E8D-903A-AC705EBF6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71663" y="2119015"/>
              <a:ext cx="1069139" cy="914400"/>
            </a:xfrm>
            <a:prstGeom prst="rect">
              <a:avLst/>
            </a:prstGeom>
          </p:spPr>
        </p:pic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3A431ABE-D5CC-AD22-8A78-23A5D32848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75830" y="3085108"/>
              <a:ext cx="1127862" cy="914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65024E6-E668-D5BD-8014-3D5A61A6BA62}"/>
                </a:ext>
              </a:extLst>
            </p:cNvPr>
            <p:cNvSpPr txBox="1"/>
            <p:nvPr/>
          </p:nvSpPr>
          <p:spPr>
            <a:xfrm>
              <a:off x="4422930" y="1487406"/>
              <a:ext cx="2880319" cy="28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</a:rPr>
                <a:t>Presentation Layer</a:t>
              </a:r>
              <a:endParaRPr lang="en-GB" sz="1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0E261D-733C-6E78-74D1-44ED05BACDBB}"/>
                </a:ext>
              </a:extLst>
            </p:cNvPr>
            <p:cNvSpPr txBox="1"/>
            <p:nvPr/>
          </p:nvSpPr>
          <p:spPr>
            <a:xfrm>
              <a:off x="4422930" y="2447252"/>
              <a:ext cx="2880319" cy="28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</a:rPr>
                <a:t>Application Layer</a:t>
              </a:r>
              <a:endParaRPr lang="en-GB" sz="1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713A7B-85EF-E982-7C84-DF2F7E65CE2F}"/>
                </a:ext>
              </a:extLst>
            </p:cNvPr>
            <p:cNvSpPr txBox="1"/>
            <p:nvPr/>
          </p:nvSpPr>
          <p:spPr>
            <a:xfrm>
              <a:off x="4394610" y="3360248"/>
              <a:ext cx="2880319" cy="2881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chemeClr val="accent5">
                      <a:lumMod val="50000"/>
                    </a:schemeClr>
                  </a:solidFill>
                </a:rPr>
                <a:t>Data Layer</a:t>
              </a:r>
              <a:endParaRPr lang="en-GB" sz="1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7955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8D533B-2EA3-D7BD-4598-24FCA8DB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Layers of Modern Web Application Architecture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65920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140B-FF70-7E2F-0911-17D53588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"/>
                <a:ea typeface="Calibri"/>
                <a:cs typeface="Arial"/>
              </a:rPr>
              <a:t>Layers of Modern Web Application Architecture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67FB6-87C0-0E7A-EAF0-F1959D400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551296"/>
            <a:ext cx="11305256" cy="43195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User Interface (UI) Layer: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Handles the presentation and user interaction using HTML, CSS, and JavaScript frameworks like React, Angular, or Vue.js.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Application Layer: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Implements the business logic, validation, and data processing. It may include server-side frameworks or APIs.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Data Layer: 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Manages the storage and retrieval of data, often through relational or NoSQL databases.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Infrastructure Layer</a:t>
            </a:r>
            <a:r>
              <a:rPr lang="en-US" sz="2400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Includes the servers, networking, and other components required to host and deploy the application.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67910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2D12-5B2E-6193-6498-FA864328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D15B0-52FB-5D4A-C0EA-475AD15D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Responsible for rendering the user interface and managing user interactions.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Utilizes HTML, CSS, and JavaScript frameworks to create responsive and engaging UIs.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Enables client-side interactivity, AJAX requests, and handling events.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544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9F53A-193A-6F74-42B7-E4FB1882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ea typeface="Calibri"/>
                <a:cs typeface="Arial"/>
              </a:rPr>
              <a:t>Application Layer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45642-83B6-8A17-6750-AFC923949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Implements the core logic of the web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Handles user requests, performs data processing, and communicates with the data layer.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Can be built using server-side frameworks, microservices, or serverless functions.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905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0375-9CAE-D07D-0B25-7A65C94A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FA9F6-07EE-10EC-6D5E-DB7321485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Manages the storage, retrieval, and manipulation of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Includes databases, such as relational databases or NoSQL solutions.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Involves techniques like data modeling, querying, and caching.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1771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670E-3FF8-7FC9-BD06-1E09F06B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Infrastructure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7F4B-F48A-3C93-EF4B-061909FF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Provides the necessary infrastructure for hosting and deploying the web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Involves servers, cloud services, load balancers, and networking components.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May use technologies like containers, virtual machines, or serverless platforms.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6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B6334-A4B8-9D40-572B-D4127EF4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2C7D0-D68F-9FE4-E157-DC9F22F9C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application systems are complex software applications accessed through web browsers.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Different web application architectures, such as monolithic, microservices, and serverless, offer various advantages and trade-offs.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Understanding the layers of modern web application architecture helps in designing scalable, maintainable, and efficient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235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FEC1-A982-FF10-4D19-F2261031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Arial"/>
                <a:cs typeface="Arial"/>
              </a:rPr>
              <a:t>Front-End Web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9429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F28FB-52F8-CA9B-9C4B-5CFD526C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Front-End Web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977DD-6D3A-DEC9-2F11-5D973BEA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Front-end web development focuses on the user-facing aspects of a website or web application.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involves creating the visual and interactive components that users see and interact with in their browsers.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To ensure successful development, several key considerations need to be taken into account as presented in the following slides.</a:t>
            </a:r>
            <a:endParaRPr lang="en-US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7436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98180-9269-2DC6-8131-760B02C0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(1)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FA475-D1A1-3BA1-37FF-16174D593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2144052"/>
            <a:ext cx="11808884" cy="3672954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UX design focuses on creating a seamless and enjoyable user experience.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intuitive navigation, clear information hierarchy, and visually appealing design.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0B5418-C71A-4ED2-13F2-55D05F66A228}"/>
              </a:ext>
            </a:extLst>
          </p:cNvPr>
          <p:cNvSpPr txBox="1"/>
          <p:nvPr/>
        </p:nvSpPr>
        <p:spPr>
          <a:xfrm>
            <a:off x="263352" y="1614282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/>
                <a:cs typeface="Arial"/>
              </a:rPr>
              <a:t>User Experience (UX) Design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5025937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F3FEB-FF9A-D13A-39A9-99645E33B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(2)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27684-2CC6-4640-3839-976F2FBEB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2204864"/>
            <a:ext cx="11545450" cy="3960986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Websites should be responsive, adapting to different devices and screen sizes.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Mobile-first design ensures optimal experiences on mobile devices by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prioritising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their needs during development.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930EE-5DF4-6379-D3DE-D5CB47D14C2F}"/>
              </a:ext>
            </a:extLst>
          </p:cNvPr>
          <p:cNvSpPr txBox="1"/>
          <p:nvPr/>
        </p:nvSpPr>
        <p:spPr>
          <a:xfrm>
            <a:off x="263352" y="1556792"/>
            <a:ext cx="8280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/>
                <a:cs typeface="Arial"/>
              </a:rPr>
              <a:t>Responsiveness and Mobile-First Design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2092493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813D-0B32-FF12-923F-69C0F7E52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(3)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3DF2-250E-5650-67BC-CB6B15263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149" y="2063919"/>
            <a:ext cx="11569702" cy="402937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Performance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optimisation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is crucial for a smooth user experience and search engine visibility.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minimising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file sizes,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images, and leveraging caching and compression techniques.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0C33E-B6C4-F344-60D5-AFF486AF96E8}"/>
              </a:ext>
            </a:extLst>
          </p:cNvPr>
          <p:cNvSpPr txBox="1"/>
          <p:nvPr/>
        </p:nvSpPr>
        <p:spPr>
          <a:xfrm>
            <a:off x="239182" y="1484784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/>
                <a:cs typeface="Arial"/>
              </a:rPr>
              <a:t>Performance </a:t>
            </a:r>
            <a:r>
              <a:rPr lang="en-US" sz="2800" b="1" dirty="0" err="1">
                <a:latin typeface="Arial"/>
                <a:cs typeface="Arial"/>
              </a:rPr>
              <a:t>Optimisation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2899920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1A75-48F3-E027-542E-6C900DB7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(4)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4B26-2DC3-0206-528B-F20B0D5AB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873" y="2054422"/>
            <a:ext cx="11808884" cy="407634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Designing websites with accessibility in mind ensures inclusivity and usability for people with disabilities.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proper semantic markup, keyboard accessibility, and alternative text for images.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BCBDCA-8230-177B-3DCD-AB85FA112525}"/>
              </a:ext>
            </a:extLst>
          </p:cNvPr>
          <p:cNvSpPr txBox="1"/>
          <p:nvPr/>
        </p:nvSpPr>
        <p:spPr>
          <a:xfrm>
            <a:off x="242873" y="1412585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Accessibility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7225006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42DC8-2494-B8A9-8542-2F2F32264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(5)</a:t>
            </a:r>
            <a:endParaRPr lang="en-US" sz="3600" dirty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84F9D-F92E-36FF-8652-C292771FF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92" y="1935805"/>
            <a:ext cx="11257418" cy="4319587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Websites should be compatible with different web browsers and their various versions.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testing and addressing browser-specific quirks and using progressive enhancement techniques.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2D26C-9256-0C8D-D7B9-BB528AB9A7F7}"/>
              </a:ext>
            </a:extLst>
          </p:cNvPr>
          <p:cNvSpPr txBox="1"/>
          <p:nvPr/>
        </p:nvSpPr>
        <p:spPr>
          <a:xfrm>
            <a:off x="335360" y="1412585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/>
                <a:cs typeface="Arial"/>
              </a:rPr>
              <a:t>Cross-Browser Compatibility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9431037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15D9-FD81-C6FA-2D1E-B068A609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(6)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45A94-1191-897E-2265-C1257A52B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2033528"/>
            <a:ext cx="11473442" cy="4132322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SEO practices help websites rank higher in search engine results and increase visibility.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optimising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page titles, meta tags, URLs, and ensuring proper content structure.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6336D-AA5E-B2FE-BA9D-32ACFE9698F1}"/>
              </a:ext>
            </a:extLst>
          </p:cNvPr>
          <p:cNvSpPr txBox="1"/>
          <p:nvPr/>
        </p:nvSpPr>
        <p:spPr>
          <a:xfrm>
            <a:off x="239182" y="1384598"/>
            <a:ext cx="61388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Search Engine </a:t>
            </a:r>
            <a:r>
              <a:rPr lang="en-US" sz="2800" b="1" dirty="0" err="1"/>
              <a:t>Optimisation</a:t>
            </a:r>
            <a:r>
              <a:rPr lang="en-US" sz="2800" b="1" dirty="0"/>
              <a:t> (SEO)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47732303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8EA7-CDC3-F980-B1DC-01245A1E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(7)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C0091-0C59-754E-9CCF-271DB005A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177" y="1935805"/>
            <a:ext cx="11401434" cy="407634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Writing clean and efficient code improves performance, maintainability, and scalability.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using proper code organization,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minimising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dependencies, and avoiding unnecessary network requests.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E108A5-FD06-637C-D5C8-C2600A23A312}"/>
              </a:ext>
            </a:extLst>
          </p:cNvPr>
          <p:cNvSpPr txBox="1"/>
          <p:nvPr/>
        </p:nvSpPr>
        <p:spPr>
          <a:xfrm>
            <a:off x="239182" y="1412585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Code Efficiency and Performance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0410468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ECD2-B41E-11E2-9F73-275542AB2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ffectLst/>
                <a:ea typeface="Calibri" panose="020F0502020204030204" pitchFamily="34" charset="0"/>
              </a:rPr>
              <a:t>Key Considerations of Front-end Web </a:t>
            </a:r>
            <a:r>
              <a:rPr lang="en-US" sz="3600" dirty="0">
                <a:ea typeface="Calibri" panose="020F0502020204030204" pitchFamily="34" charset="0"/>
              </a:rPr>
              <a:t>D</a:t>
            </a:r>
            <a:r>
              <a:rPr lang="en-US" sz="3600" dirty="0">
                <a:effectLst/>
                <a:ea typeface="Calibri" panose="020F0502020204030204" pitchFamily="34" charset="0"/>
              </a:rPr>
              <a:t>evelopment (8)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9E0C4-C8DD-1264-B1FA-AFC690158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2029490"/>
            <a:ext cx="11329426" cy="388897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Web development should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prioritise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security to protect user data and prevent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unauthorised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access.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Considerations include implementing secure authentication, input validation, and protecting against common vulnerabilities.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2FA9E-E3A8-D43C-135A-865F3CC09C12}"/>
              </a:ext>
            </a:extLst>
          </p:cNvPr>
          <p:cNvSpPr txBox="1"/>
          <p:nvPr/>
        </p:nvSpPr>
        <p:spPr>
          <a:xfrm>
            <a:off x="407368" y="1506270"/>
            <a:ext cx="61542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Security</a:t>
            </a: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9065912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28AF-F6C7-9FC5-94F1-39BB0D72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1" y="63000"/>
            <a:ext cx="12054415" cy="1143000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Key Concepts and Technologies for Front-End Web Development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0DA6C-759C-9DCA-5002-10C12BA92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21" y="1196752"/>
            <a:ext cx="12176079" cy="4968552"/>
          </a:xfrm>
        </p:spPr>
        <p:txBody>
          <a:bodyPr/>
          <a:lstStyle/>
          <a:p>
            <a:pPr marL="0" indent="0"/>
            <a:r>
              <a:rPr lang="en-US" sz="24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Programming Languages:</a:t>
            </a:r>
          </a:p>
          <a:p>
            <a:pPr marL="285750" indent="-285750">
              <a:buFont typeface="Arial"/>
              <a:buChar char="•"/>
            </a:pPr>
            <a:r>
              <a:rPr lang="en-US" sz="22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HTML (Hypertext Markup Language)</a:t>
            </a:r>
            <a:endParaRPr lang="en-US" sz="2200" b="1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HTML is the standard markup language used to structure and </a:t>
            </a:r>
            <a:r>
              <a:rPr lang="en-US" sz="220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organise</a:t>
            </a: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content on the web.</a:t>
            </a: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defines the elements, tags, and attributes that determine the structure and semantics of web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CSS (Cascading Style Sheets)</a:t>
            </a: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CSS is a stylesheet language used to control the presentation and layout of web pages.</a:t>
            </a: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enables the styling of HTML elements, including colors, typography, spacing, and positioning.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JavaScript</a:t>
            </a: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JavaScript is a programming language that adds interactivity and behavior to web pages.</a:t>
            </a:r>
          </a:p>
          <a:p>
            <a:pPr lvl="1">
              <a:buFont typeface="Arial"/>
              <a:buChar char="•"/>
            </a:pPr>
            <a:r>
              <a:rPr lang="en-US" sz="22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It allows for dynamic content updates, user input validation, animations, and interactions with APIs and services.</a:t>
            </a:r>
          </a:p>
          <a:p>
            <a:pPr>
              <a:buFont typeface="Arial"/>
              <a:buChar char="•"/>
            </a:pPr>
            <a:endParaRPr lang="en-US" sz="1800" i="0" dirty="0"/>
          </a:p>
          <a:p>
            <a:pPr>
              <a:buFont typeface="Arial"/>
              <a:buChar char="•"/>
            </a:pPr>
            <a:endParaRPr lang="en-US" sz="1800" i="0" dirty="0"/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493672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499B-06D8-9046-8451-3E2BA20F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85" y="115888"/>
            <a:ext cx="12054415" cy="1143000"/>
          </a:xfrm>
        </p:spPr>
        <p:txBody>
          <a:bodyPr/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ea typeface="ＭＳ Ｐゴシック"/>
                <a:cs typeface="Arial"/>
              </a:rPr>
              <a:t>Key Concepts and Technologies for Front-End Web Development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1D96D-5D06-39CA-A186-7D9C8F57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72" y="2118029"/>
            <a:ext cx="11305256" cy="3382738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Front-end frameworks like React, Angular, and Vue.js provide pre-built components and tools to streamline development.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They facilitate building complex user interfaces, managing state, and enhancing code reusability.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F83CC-375F-FAA6-ADBD-E57A4F42E3E6}"/>
              </a:ext>
            </a:extLst>
          </p:cNvPr>
          <p:cNvSpPr txBox="1"/>
          <p:nvPr/>
        </p:nvSpPr>
        <p:spPr>
          <a:xfrm>
            <a:off x="263352" y="1533254"/>
            <a:ext cx="45862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b="1" kern="0" dirty="0">
                <a:solidFill>
                  <a:srgbClr val="002060"/>
                </a:solidFill>
                <a:ea typeface="+mn-lt"/>
                <a:cs typeface="Arial" panose="020B0604020202020204" pitchFamily="34" charset="0"/>
              </a:rPr>
              <a:t>Frameworks:</a:t>
            </a:r>
          </a:p>
        </p:txBody>
      </p:sp>
    </p:spTree>
    <p:extLst>
      <p:ext uri="{BB962C8B-B14F-4D97-AF65-F5344CB8AC3E}">
        <p14:creationId xmlns:p14="http://schemas.microsoft.com/office/powerpoint/2010/main" val="6850596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0115-5B73-EC83-1668-B3C1D505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Browser Developer Tools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4D65-18B2-19DA-4B15-9478B9C8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938" y="1700808"/>
            <a:ext cx="11521280" cy="4319587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Browser developer tools, such as Chrome </a:t>
            </a:r>
            <a:r>
              <a:rPr lang="en-US" i="0" dirty="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DevTools</a:t>
            </a: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or Firefox Developer Tools, are essential for front-end development.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They provide debugging capabilities, inspecting and manipulating HTML, CSS, and JavaScript in real-time.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1131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30AA-E7F2-736D-4B08-1D75EA1F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Version Control Systems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DE29B-9F10-27B6-65C8-CE106C26F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556792"/>
            <a:ext cx="11227826" cy="4319587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Version control systems like Git help manage and track changes in code and collaborate with other developers.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They enable code versioning, branching, merging, and facilitate teamwork in web development projects.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8671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D051-50D0-D408-A3E5-EE52D804E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63889-2782-8EFA-3D34-0BCD6BF9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Understanding key concepts and technologies in front-end web development is crucial for building modern, interactive, and responsive websites.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i="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HTML, CSS, JavaScript, responsive design, frameworks, developer tools, version control, and build tools are essential components of front-end development.</a:t>
            </a:r>
            <a:endParaRPr lang="en-US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430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A8EF-4AE3-7085-FAA6-65262B53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B916-1223-34C3-9987-3ADD94F11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484784"/>
            <a:ext cx="11808884" cy="4680520"/>
          </a:xfrm>
        </p:spPr>
        <p:txBody>
          <a:bodyPr/>
          <a:lstStyle/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What is the primary role of a web application's architecture?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To define the user interface design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To outline the application’s interaction with databases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To structure the application for both client and server-side operations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To manage the application's security protocols</a:t>
            </a: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Which component is responsible for handling the business logic in a web application architecture?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The database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The application server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The client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The firewall</a:t>
            </a:r>
          </a:p>
          <a:p>
            <a:pPr algn="l"/>
            <a:r>
              <a:rPr lang="en-US" sz="16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How do web applications typically communicate with databases?</a:t>
            </a:r>
            <a:endParaRPr lang="en-US" sz="16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Through direct file access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Using Application Programming Interfaces (APIs)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Via email protocols</a:t>
            </a:r>
          </a:p>
          <a:p>
            <a:pPr algn="l"/>
            <a:r>
              <a:rPr lang="en-US" sz="16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With desktop software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6926770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3A8EF-4AE3-7085-FAA6-65262B530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B916-1223-34C3-9987-3ADD94F11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484784"/>
            <a:ext cx="11808884" cy="4319587"/>
          </a:xfrm>
        </p:spPr>
        <p:txBody>
          <a:bodyPr/>
          <a:lstStyle/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Which type of web application architecture involves generating HTML, CSS, and JavaScript by the server and sending them to the client?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Single-Page Applications (SPA)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Server-Side Rendered (SSR) Applications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Microservices Architecture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Client-Side Rendered (CSR) Applications</a:t>
            </a:r>
          </a:p>
          <a:p>
            <a:pPr algn="l"/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What is a defining characteristic of a Microservices Architecture?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It uses a single monolithic server for all operations.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It involves multiple interconnected APIs.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It requires all components to be written in the same programming language.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It is primarily used for desktop applications, not web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7983584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316C-D25F-2673-77DD-9771C0FD3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- 3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EDE59-D3F1-922D-9D8A-280D554F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85" y="1484784"/>
            <a:ext cx="11808884" cy="4319587"/>
          </a:xfrm>
        </p:spPr>
        <p:txBody>
          <a:bodyPr/>
          <a:lstStyle/>
          <a:p>
            <a:pPr algn="l"/>
            <a:r>
              <a:rPr lang="en-US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Which technology is primarily used for structuring the content of web pages?</a:t>
            </a:r>
            <a:endParaRPr lang="en-US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JavaScript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CSS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HTML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PHP</a:t>
            </a:r>
          </a:p>
          <a:p>
            <a:pPr algn="l"/>
            <a:r>
              <a:rPr lang="en-US" sz="20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What is the main purpose of CSS in front-end development?</a:t>
            </a:r>
            <a:endParaRPr lang="en-US" sz="20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To create interactive elements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To style and layout web pages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To manage the database</a:t>
            </a:r>
          </a:p>
          <a:p>
            <a:pPr algn="l"/>
            <a:r>
              <a:rPr lang="en-US" sz="20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To program server-side applications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3545343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134BA-AED1-728A-144D-2F1F1D391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62AE-A9F5-7909-8B99-2A515263C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" y="1340768"/>
            <a:ext cx="11808884" cy="4319587"/>
          </a:xfrm>
        </p:spPr>
        <p:txBody>
          <a:bodyPr/>
          <a:lstStyle/>
          <a:p>
            <a:r>
              <a:rPr lang="en-US" sz="20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 of Internet and WWW:</a:t>
            </a:r>
          </a:p>
          <a:p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Internet Society. (n.d.). *A Brief History of the Internet*. Available at: https://www.internetsociety.org/internet/history-internet/brief-history-internet/</a:t>
            </a:r>
          </a:p>
          <a:p>
            <a:endParaRPr 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Application Architecture:</a:t>
            </a:r>
          </a:p>
          <a:p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Microsoft. (n.d.). *Common web application architectures*. Available at: https://learn.microsoft.com/en-us/dotnet/architecture/modern-web-apps-azure/common-web-application-architectures</a:t>
            </a:r>
          </a:p>
          <a:p>
            <a:endParaRPr 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Web Application Architecture:</a:t>
            </a:r>
          </a:p>
          <a:p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Radixweb</a:t>
            </a: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(n.d.). *Web Application Architecture: Comprehensive Overview*. Available at: https://radixweb.com/blog/web-application-architecture-guide</a:t>
            </a:r>
          </a:p>
          <a:p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ClickIT</a:t>
            </a:r>
            <a:r>
              <a:rPr 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Smart Technologies. (2024). *Web Application Architecture: The Latest Guide 2024*. Available at: https://www.clickittech.com/web-application-architecture/</a:t>
            </a:r>
            <a:endParaRPr lang="en-GB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4770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75D8A69-60FC-CAF7-CC61-DC7D6C58E0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Topic  – </a:t>
            </a:r>
            <a:r>
              <a:rPr lang="en-US" altLang="en-US" dirty="0"/>
              <a:t>1.	Overview of Web Application Architecture</a:t>
            </a:r>
            <a:endParaRPr lang="en-GB" altLang="en-US" dirty="0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360D9FE-296C-79AC-ED07-AC105EE42A7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Any Questions?</a:t>
            </a:r>
          </a:p>
          <a:p>
            <a:pPr eaLnBrk="1" hangingPunct="1"/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36EB273-FA9D-4A37-B035-B02A3EB9FCB6}"/>
</file>

<file path=customXml/itemProps2.xml><?xml version="1.0" encoding="utf-8"?>
<ds:datastoreItem xmlns:ds="http://schemas.openxmlformats.org/officeDocument/2006/customXml" ds:itemID="{CC53BCC0-A20C-42C5-9B84-00660B40787A}">
  <ds:schemaRefs>
    <ds:schemaRef ds:uri="http://schemas.microsoft.com/office/2006/metadata/properties"/>
    <ds:schemaRef ds:uri="bdeceafc-5c0f-406d-b95f-35e6593d664b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dbeaa6b5-7a21-43b8-ab59-31e7cbf2c187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568</TotalTime>
  <Words>4037</Words>
  <Application>Microsoft Office PowerPoint</Application>
  <PresentationFormat>Widescreen</PresentationFormat>
  <Paragraphs>417</Paragraphs>
  <Slides>74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2" baseType="lpstr">
      <vt:lpstr>Gill Sans</vt:lpstr>
      <vt:lpstr>ＭＳ Ｐゴシック</vt:lpstr>
      <vt:lpstr>Söhne</vt:lpstr>
      <vt:lpstr>Arial</vt:lpstr>
      <vt:lpstr>Calibri</vt:lpstr>
      <vt:lpstr>Symbol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The internet and WWW</vt:lpstr>
      <vt:lpstr>Internet</vt:lpstr>
      <vt:lpstr>Key Components of the Internet</vt:lpstr>
      <vt:lpstr>World Wide Web (WWW)</vt:lpstr>
      <vt:lpstr>How the World Wide Web Works</vt:lpstr>
      <vt:lpstr>Key Components of the World Wide Web</vt:lpstr>
      <vt:lpstr>What is a Website?</vt:lpstr>
      <vt:lpstr>Evolution of Website Development (1)</vt:lpstr>
      <vt:lpstr>Evolution of Website Development (2)</vt:lpstr>
      <vt:lpstr>Evolution of Website Development (3)</vt:lpstr>
      <vt:lpstr>Evolution of Website Development (4)</vt:lpstr>
      <vt:lpstr>Evolution of Website Development (5)</vt:lpstr>
      <vt:lpstr>Evolution of Website Development (6)</vt:lpstr>
      <vt:lpstr>Evolution of Website Development (7)</vt:lpstr>
      <vt:lpstr>Evolution of Website Development (8)</vt:lpstr>
      <vt:lpstr>Evolution of Website Development (9)</vt:lpstr>
      <vt:lpstr>Evolution of Website Development (10)</vt:lpstr>
      <vt:lpstr>Evolution of Website Development (11)</vt:lpstr>
      <vt:lpstr>Conclusion</vt:lpstr>
      <vt:lpstr>Web application</vt:lpstr>
      <vt:lpstr>Web Application System</vt:lpstr>
      <vt:lpstr>Characteristics of Web Application Systems</vt:lpstr>
      <vt:lpstr>Key Technologies in Web Application Systems</vt:lpstr>
      <vt:lpstr>Web application architecture</vt:lpstr>
      <vt:lpstr>Web Application Architecture</vt:lpstr>
      <vt:lpstr>Need for Web Application Architecture</vt:lpstr>
      <vt:lpstr>Benefits of Web Application Architecture (1)</vt:lpstr>
      <vt:lpstr>Benefits of Web Application Architecture (2)</vt:lpstr>
      <vt:lpstr>Benefits of Web Application Architecture (3)</vt:lpstr>
      <vt:lpstr>Benefits of Web Application Architecture (4)</vt:lpstr>
      <vt:lpstr>Benefits of Web Application Architecture (5)</vt:lpstr>
      <vt:lpstr>Benefits of Web Application Architecture (6)</vt:lpstr>
      <vt:lpstr>Types of web application architecture</vt:lpstr>
      <vt:lpstr>Types of Web Application Architecture</vt:lpstr>
      <vt:lpstr>Monolithic Architecture</vt:lpstr>
      <vt:lpstr>Monolithic Architecture - Characteristics</vt:lpstr>
      <vt:lpstr>Monolithic Architecture – Pros &amp; Cons</vt:lpstr>
      <vt:lpstr>Microservices Architecture</vt:lpstr>
      <vt:lpstr>Microservices Architecture - Characteristics</vt:lpstr>
      <vt:lpstr>Microservices Architecture – Pros &amp; Cons</vt:lpstr>
      <vt:lpstr>Serverless Architecture</vt:lpstr>
      <vt:lpstr>Serverless Architecture – Pros &amp; Cons</vt:lpstr>
      <vt:lpstr>3-Tier Web Architecture</vt:lpstr>
      <vt:lpstr>Layers of Modern Web Application Architecture</vt:lpstr>
      <vt:lpstr>Layers of Modern Web Application Architecture</vt:lpstr>
      <vt:lpstr>User Interface Layer</vt:lpstr>
      <vt:lpstr>Application Layer</vt:lpstr>
      <vt:lpstr>Data Layer</vt:lpstr>
      <vt:lpstr>Infrastructure Layer</vt:lpstr>
      <vt:lpstr>Conclusion</vt:lpstr>
      <vt:lpstr>Front-End Web Development</vt:lpstr>
      <vt:lpstr>Front-End Web Development</vt:lpstr>
      <vt:lpstr>Key Considerations of Front-end Web Development (1)</vt:lpstr>
      <vt:lpstr>Key Considerations of Front-end Web Development (2)</vt:lpstr>
      <vt:lpstr>Key Considerations of Front-end Web Development (3)</vt:lpstr>
      <vt:lpstr>Key Considerations of Front-end Web Development (4)</vt:lpstr>
      <vt:lpstr>Key Considerations of Front-end Web Development (5)</vt:lpstr>
      <vt:lpstr>Key Considerations of Front-end Web Development (6)</vt:lpstr>
      <vt:lpstr>Key Considerations of Front-end Web Development (7)</vt:lpstr>
      <vt:lpstr>Key Considerations of Front-end Web Development (8)</vt:lpstr>
      <vt:lpstr>Key Concepts and Technologies for Front-End Web Development</vt:lpstr>
      <vt:lpstr>Key Concepts and Technologies for Front-End Web Development</vt:lpstr>
      <vt:lpstr>Browser Developer Tools</vt:lpstr>
      <vt:lpstr>Version Control Systems </vt:lpstr>
      <vt:lpstr>Conclusion</vt:lpstr>
      <vt:lpstr>Quiz - 1</vt:lpstr>
      <vt:lpstr>Quiz - 2</vt:lpstr>
      <vt:lpstr>Quiz - 3</vt:lpstr>
      <vt:lpstr>References</vt:lpstr>
      <vt:lpstr>Topic  – 1. Overview of Web Application Architecture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Liew Pei Ling</cp:lastModifiedBy>
  <cp:revision>510</cp:revision>
  <dcterms:created xsi:type="dcterms:W3CDTF">2008-01-18T13:21:43Z</dcterms:created>
  <dcterms:modified xsi:type="dcterms:W3CDTF">2024-03-07T07:16:11Z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